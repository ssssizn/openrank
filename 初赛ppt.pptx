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3"/>
  </p:sldMasterIdLst>
  <p:notesMasterIdLst>
    <p:notesMasterId r:id="rId5"/>
  </p:notesMasterIdLst>
  <p:sldIdLst>
    <p:sldId id="256" r:id="rId4"/>
    <p:sldId id="272" r:id="rId6"/>
    <p:sldId id="258" r:id="rId7"/>
    <p:sldId id="259" r:id="rId8"/>
    <p:sldId id="260" r:id="rId9"/>
    <p:sldId id="261" r:id="rId10"/>
    <p:sldId id="262" r:id="rId11"/>
    <p:sldId id="271" r:id="rId12"/>
    <p:sldId id="264" r:id="rId13"/>
    <p:sldId id="265" r:id="rId14"/>
    <p:sldId id="266" r:id="rId15"/>
    <p:sldId id="267" r:id="rId16"/>
    <p:sldId id="268" r:id="rId17"/>
    <p:sldId id="269" r:id="rId18"/>
  </p:sldIdLst>
  <p:sldSz cx="16256000" cy="9144000"/>
  <p:notesSz cx="9144000" cy="16256000"/>
  <p:embeddedFontLst>
    <p:embeddedFont>
      <p:font typeface="MiSans" pitchFamily="34" charset="-122"/>
      <p:regular r:id="rId22"/>
    </p:embeddedFont>
    <p:embeddedFont>
      <p:font typeface="MiSans" pitchFamily="34" charset="-120"/>
      <p:regular r:id="rId23"/>
    </p:embeddedFont>
    <p:embeddedFont>
      <p:font typeface="阿里妈妈数黑体" pitchFamily="34" charset="-122"/>
      <p:bold r:id="rId24"/>
    </p:embeddedFont>
    <p:embeddedFont>
      <p:font typeface="阿里妈妈数黑体" pitchFamily="34" charset="-120"/>
      <p:bold r:id="rId25"/>
    </p:embeddedFont>
    <p:embeddedFont>
      <p:font typeface="微软雅黑" panose="020B0503020204020204" charset="-122"/>
      <p:regular r:id="rId26"/>
    </p:embeddedFont>
    <p:embeddedFont>
      <p:font typeface="Calibri" panose="020F0502020204030204" charset="0"/>
      <p:regular r:id="rId27"/>
      <p:bold r:id="rId28"/>
      <p:italic r:id="rId29"/>
      <p:boldItalic r:id="rId30"/>
    </p:embeddedFont>
    <p:embeddedFont>
      <p:font typeface="黑体" panose="02010609060101010101" charset="-122"/>
      <p:regular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1" Type="http://schemas.openxmlformats.org/officeDocument/2006/relationships/font" Target="fonts/font10.fntdata"/><Relationship Id="rId30" Type="http://schemas.openxmlformats.org/officeDocument/2006/relationships/font" Target="fonts/font9.fntdata"/><Relationship Id="rId3" Type="http://schemas.openxmlformats.org/officeDocument/2006/relationships/slideMaster" Target="slideMasters/slideMaster2.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notesSlide" Target="../notesSlides/notesSlide1.xml"/><Relationship Id="rId11" Type="http://schemas.openxmlformats.org/officeDocument/2006/relationships/slideLayout" Target="../slideLayouts/slideLayout1.xml"/><Relationship Id="rId10"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2" Type="http://schemas.openxmlformats.org/officeDocument/2006/relationships/notesSlide" Target="../notesSlides/notesSlide2.xml"/><Relationship Id="rId31" Type="http://schemas.openxmlformats.org/officeDocument/2006/relationships/slideLayout" Target="../slideLayouts/slideLayout1.xml"/><Relationship Id="rId30" Type="http://schemas.openxmlformats.org/officeDocument/2006/relationships/tags" Target="../tags/tag38.xml"/><Relationship Id="rId3" Type="http://schemas.openxmlformats.org/officeDocument/2006/relationships/tags" Target="../tags/tag11.xml"/><Relationship Id="rId29" Type="http://schemas.openxmlformats.org/officeDocument/2006/relationships/tags" Target="../tags/tag37.xml"/><Relationship Id="rId28" Type="http://schemas.openxmlformats.org/officeDocument/2006/relationships/tags" Target="../tags/tag36.xml"/><Relationship Id="rId27" Type="http://schemas.openxmlformats.org/officeDocument/2006/relationships/tags" Target="../tags/tag35.xml"/><Relationship Id="rId26" Type="http://schemas.openxmlformats.org/officeDocument/2006/relationships/tags" Target="../tags/tag34.xml"/><Relationship Id="rId25" Type="http://schemas.openxmlformats.org/officeDocument/2006/relationships/tags" Target="../tags/tag33.xml"/><Relationship Id="rId24" Type="http://schemas.openxmlformats.org/officeDocument/2006/relationships/tags" Target="../tags/tag32.xml"/><Relationship Id="rId23" Type="http://schemas.openxmlformats.org/officeDocument/2006/relationships/tags" Target="../tags/tag31.xml"/><Relationship Id="rId22" Type="http://schemas.openxmlformats.org/officeDocument/2006/relationships/tags" Target="../tags/tag30.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tags" Target="../tags/tag10.xml"/><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7" Type="http://schemas.openxmlformats.org/officeDocument/2006/relationships/notesSlide" Target="../notesSlides/notesSlide4.xml"/><Relationship Id="rId36" Type="http://schemas.openxmlformats.org/officeDocument/2006/relationships/slideLayout" Target="../slideLayouts/slideLayout1.xml"/><Relationship Id="rId35" Type="http://schemas.openxmlformats.org/officeDocument/2006/relationships/tags" Target="../tags/tag73.xml"/><Relationship Id="rId34" Type="http://schemas.openxmlformats.org/officeDocument/2006/relationships/tags" Target="../tags/tag72.xml"/><Relationship Id="rId33" Type="http://schemas.openxmlformats.org/officeDocument/2006/relationships/tags" Target="../tags/tag71.xml"/><Relationship Id="rId32" Type="http://schemas.openxmlformats.org/officeDocument/2006/relationships/tags" Target="../tags/tag70.xml"/><Relationship Id="rId31" Type="http://schemas.openxmlformats.org/officeDocument/2006/relationships/tags" Target="../tags/tag69.xml"/><Relationship Id="rId30" Type="http://schemas.openxmlformats.org/officeDocument/2006/relationships/tags" Target="../tags/tag68.xml"/><Relationship Id="rId3" Type="http://schemas.openxmlformats.org/officeDocument/2006/relationships/tags" Target="../tags/tag41.xml"/><Relationship Id="rId29" Type="http://schemas.openxmlformats.org/officeDocument/2006/relationships/tags" Target="../tags/tag67.xml"/><Relationship Id="rId28" Type="http://schemas.openxmlformats.org/officeDocument/2006/relationships/tags" Target="../tags/tag66.xml"/><Relationship Id="rId27" Type="http://schemas.openxmlformats.org/officeDocument/2006/relationships/tags" Target="../tags/tag65.xml"/><Relationship Id="rId26" Type="http://schemas.openxmlformats.org/officeDocument/2006/relationships/tags" Target="../tags/tag64.xml"/><Relationship Id="rId25" Type="http://schemas.openxmlformats.org/officeDocument/2006/relationships/tags" Target="../tags/tag63.xml"/><Relationship Id="rId24" Type="http://schemas.openxmlformats.org/officeDocument/2006/relationships/tags" Target="../tags/tag62.xml"/><Relationship Id="rId23" Type="http://schemas.openxmlformats.org/officeDocument/2006/relationships/tags" Target="../tags/tag61.xml"/><Relationship Id="rId22" Type="http://schemas.openxmlformats.org/officeDocument/2006/relationships/tags" Target="../tags/tag60.xml"/><Relationship Id="rId21" Type="http://schemas.openxmlformats.org/officeDocument/2006/relationships/tags" Target="../tags/tag59.xml"/><Relationship Id="rId20" Type="http://schemas.openxmlformats.org/officeDocument/2006/relationships/tags" Target="../tags/tag58.xml"/><Relationship Id="rId2" Type="http://schemas.openxmlformats.org/officeDocument/2006/relationships/tags" Target="../tags/tag40.xml"/><Relationship Id="rId19" Type="http://schemas.openxmlformats.org/officeDocument/2006/relationships/tags" Target="../tags/tag57.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3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4" Type="http://schemas.openxmlformats.org/officeDocument/2006/relationships/notesSlide" Target="../notesSlides/notesSlide8.xml"/><Relationship Id="rId43" Type="http://schemas.openxmlformats.org/officeDocument/2006/relationships/slideLayout" Target="../slideLayouts/slideLayout3.xml"/><Relationship Id="rId42" Type="http://schemas.openxmlformats.org/officeDocument/2006/relationships/tags" Target="../tags/tag115.xml"/><Relationship Id="rId41" Type="http://schemas.openxmlformats.org/officeDocument/2006/relationships/tags" Target="../tags/tag114.xml"/><Relationship Id="rId40" Type="http://schemas.openxmlformats.org/officeDocument/2006/relationships/tags" Target="../tags/tag113.xml"/><Relationship Id="rId4" Type="http://schemas.openxmlformats.org/officeDocument/2006/relationships/tags" Target="../tags/tag77.xml"/><Relationship Id="rId39" Type="http://schemas.openxmlformats.org/officeDocument/2006/relationships/tags" Target="../tags/tag112.xml"/><Relationship Id="rId38" Type="http://schemas.openxmlformats.org/officeDocument/2006/relationships/tags" Target="../tags/tag111.xml"/><Relationship Id="rId37" Type="http://schemas.openxmlformats.org/officeDocument/2006/relationships/tags" Target="../tags/tag110.xml"/><Relationship Id="rId36" Type="http://schemas.openxmlformats.org/officeDocument/2006/relationships/tags" Target="../tags/tag109.xml"/><Relationship Id="rId35" Type="http://schemas.openxmlformats.org/officeDocument/2006/relationships/tags" Target="../tags/tag108.xml"/><Relationship Id="rId34" Type="http://schemas.openxmlformats.org/officeDocument/2006/relationships/tags" Target="../tags/tag107.xml"/><Relationship Id="rId33" Type="http://schemas.openxmlformats.org/officeDocument/2006/relationships/tags" Target="../tags/tag106.xml"/><Relationship Id="rId32" Type="http://schemas.openxmlformats.org/officeDocument/2006/relationships/tags" Target="../tags/tag105.xml"/><Relationship Id="rId31" Type="http://schemas.openxmlformats.org/officeDocument/2006/relationships/tags" Target="../tags/tag104.xml"/><Relationship Id="rId30" Type="http://schemas.openxmlformats.org/officeDocument/2006/relationships/tags" Target="../tags/tag103.xml"/><Relationship Id="rId3" Type="http://schemas.openxmlformats.org/officeDocument/2006/relationships/tags" Target="../tags/tag76.xml"/><Relationship Id="rId29" Type="http://schemas.openxmlformats.org/officeDocument/2006/relationships/tags" Target="../tags/tag102.xml"/><Relationship Id="rId28" Type="http://schemas.openxmlformats.org/officeDocument/2006/relationships/tags" Target="../tags/tag101.xml"/><Relationship Id="rId27" Type="http://schemas.openxmlformats.org/officeDocument/2006/relationships/tags" Target="../tags/tag100.xml"/><Relationship Id="rId26" Type="http://schemas.openxmlformats.org/officeDocument/2006/relationships/tags" Target="../tags/tag99.xml"/><Relationship Id="rId25" Type="http://schemas.openxmlformats.org/officeDocument/2006/relationships/tags" Target="../tags/tag98.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tags" Target="../tags/tag93.xml"/><Relationship Id="rId2" Type="http://schemas.openxmlformats.org/officeDocument/2006/relationships/tags" Target="../tags/tag75.xml"/><Relationship Id="rId19" Type="http://schemas.openxmlformats.org/officeDocument/2006/relationships/tags" Target="../tags/tag92.xml"/><Relationship Id="rId18" Type="http://schemas.openxmlformats.org/officeDocument/2006/relationships/tags" Target="../tags/tag91.xml"/><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tags" Target="../tags/tag7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images.stockcake.com/c567fb2041e1fae967c30b551cb60e22e20e91f3.jpg"/>
          <p:cNvPicPr>
            <a:picLocks noChangeAspect="1"/>
          </p:cNvPicPr>
          <p:nvPr/>
        </p:nvPicPr>
        <p:blipFill>
          <a:blip r:embed="rId1">
            <a:alphaModFix amt="40000"/>
          </a:blip>
          <a:srcRect t="21875" b="21875"/>
          <a:stretch>
            <a:fillRect/>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1D21">
                  <a:alpha val="95000"/>
                </a:srgbClr>
              </a:gs>
              <a:gs pos="50000">
                <a:srgbClr val="1A1D21">
                  <a:alpha val="85000"/>
                </a:srgbClr>
              </a:gs>
              <a:gs pos="100000">
                <a:srgbClr val="000000">
                  <a:alpha val="0"/>
                </a:srgbClr>
              </a:gs>
            </a:gsLst>
            <a:lin ang="2700000" scaled="1"/>
          </a:gradFill>
        </p:spPr>
      </p:sp>
      <p:sp>
        <p:nvSpPr>
          <p:cNvPr id="4" name="Shape 1"/>
          <p:cNvSpPr/>
          <p:nvPr/>
        </p:nvSpPr>
        <p:spPr>
          <a:xfrm>
            <a:off x="493818" y="712258"/>
            <a:ext cx="1849967" cy="567267"/>
          </a:xfrm>
          <a:custGeom>
            <a:avLst/>
            <a:gdLst/>
            <a:ahLst/>
            <a:cxnLst/>
            <a:rect l="l" t="t" r="r" b="b"/>
            <a:pathLst>
              <a:path w="1849967" h="567267">
                <a:moveTo>
                  <a:pt x="101597" y="0"/>
                </a:moveTo>
                <a:lnTo>
                  <a:pt x="1748369" y="0"/>
                </a:lnTo>
                <a:cubicBezTo>
                  <a:pt x="1804480" y="0"/>
                  <a:pt x="1849967" y="45487"/>
                  <a:pt x="1849967" y="101597"/>
                </a:cubicBezTo>
                <a:lnTo>
                  <a:pt x="1849967" y="465669"/>
                </a:lnTo>
                <a:cubicBezTo>
                  <a:pt x="1849967" y="521780"/>
                  <a:pt x="1804480" y="567267"/>
                  <a:pt x="1748369" y="567267"/>
                </a:cubicBezTo>
                <a:lnTo>
                  <a:pt x="101597" y="567267"/>
                </a:lnTo>
                <a:cubicBezTo>
                  <a:pt x="45487" y="567267"/>
                  <a:pt x="0" y="521780"/>
                  <a:pt x="0" y="465669"/>
                </a:cubicBezTo>
                <a:lnTo>
                  <a:pt x="0" y="101597"/>
                </a:lnTo>
                <a:cubicBezTo>
                  <a:pt x="0" y="45524"/>
                  <a:pt x="45524" y="0"/>
                  <a:pt x="101597" y="0"/>
                </a:cubicBezTo>
                <a:close/>
              </a:path>
            </a:pathLst>
          </a:custGeom>
          <a:solidFill>
            <a:srgbClr val="3D8F8A">
              <a:alpha val="20000"/>
            </a:srgbClr>
          </a:solidFill>
          <a:ln w="8467">
            <a:solidFill>
              <a:srgbClr val="3D8F8A">
                <a:alpha val="50196"/>
              </a:srgbClr>
            </a:solidFill>
            <a:prstDash val="solid"/>
          </a:ln>
        </p:spPr>
      </p:sp>
      <p:sp>
        <p:nvSpPr>
          <p:cNvPr id="5" name="Text 2"/>
          <p:cNvSpPr/>
          <p:nvPr/>
        </p:nvSpPr>
        <p:spPr>
          <a:xfrm>
            <a:off x="679662" y="844127"/>
            <a:ext cx="1554559" cy="304800"/>
          </a:xfrm>
          <a:prstGeom prst="rect">
            <a:avLst/>
          </a:prstGeom>
          <a:noFill/>
        </p:spPr>
        <p:txBody>
          <a:bodyPr wrap="square" lIns="0" tIns="0" rIns="0" bIns="0" rtlCol="0" anchor="ctr"/>
          <a:lstStyle/>
          <a:p>
            <a:pPr>
              <a:lnSpc>
                <a:spcPct val="130000"/>
              </a:lnSpc>
            </a:pPr>
            <a:r>
              <a:rPr lang="en-US" sz="1800" b="1" kern="0" spc="90" dirty="0">
                <a:solidFill>
                  <a:srgbClr val="3D8F8A"/>
                </a:solidFill>
                <a:latin typeface="MiSans" pitchFamily="34" charset="-122"/>
                <a:ea typeface="MiSans" pitchFamily="34" charset="-122"/>
                <a:cs typeface="MiSans" pitchFamily="34" charset="-120"/>
              </a:rPr>
              <a:t>初赛方案设计</a:t>
            </a:r>
            <a:endParaRPr lang="en-US" sz="1600" dirty="0"/>
          </a:p>
        </p:txBody>
      </p:sp>
      <p:sp>
        <p:nvSpPr>
          <p:cNvPr id="6" name="Text 3"/>
          <p:cNvSpPr/>
          <p:nvPr/>
        </p:nvSpPr>
        <p:spPr>
          <a:xfrm>
            <a:off x="508000" y="1630045"/>
            <a:ext cx="15697200" cy="2647950"/>
          </a:xfrm>
          <a:prstGeom prst="rect">
            <a:avLst/>
          </a:prstGeom>
          <a:noFill/>
        </p:spPr>
        <p:txBody>
          <a:bodyPr wrap="square" lIns="0" tIns="0" rIns="0" bIns="0" rtlCol="0" anchor="ctr"/>
          <a:lstStyle/>
          <a:p>
            <a:pPr>
              <a:lnSpc>
                <a:spcPct val="100000"/>
              </a:lnSpc>
            </a:pPr>
            <a:r>
              <a:rPr lang="en-US" sz="7200" b="1" dirty="0">
                <a:solidFill>
                  <a:srgbClr val="E0E2E6"/>
                </a:solidFill>
                <a:latin typeface="阿里妈妈数黑体" pitchFamily="34" charset="-122"/>
                <a:ea typeface="阿里妈妈数黑体" pitchFamily="34" charset="-122"/>
                <a:cs typeface="阿里妈妈数黑体" pitchFamily="34" charset="-120"/>
              </a:rPr>
              <a:t>Python开源项目</a:t>
            </a:r>
            <a:endParaRPr lang="en-US" sz="1600" dirty="0"/>
          </a:p>
          <a:p>
            <a:pPr>
              <a:lnSpc>
                <a:spcPct val="100000"/>
              </a:lnSpc>
            </a:pPr>
            <a:r>
              <a:rPr lang="en-US" sz="7200" b="1" dirty="0">
                <a:solidFill>
                  <a:srgbClr val="E0E2E6"/>
                </a:solidFill>
                <a:latin typeface="阿里妈妈数黑体" pitchFamily="34" charset="-122"/>
                <a:ea typeface="阿里妈妈数黑体" pitchFamily="34" charset="-122"/>
                <a:cs typeface="阿里妈妈数黑体" pitchFamily="34" charset="-120"/>
              </a:rPr>
              <a:t>依赖环境自动还原工具</a:t>
            </a:r>
            <a:endParaRPr lang="en-US" sz="1600" dirty="0"/>
          </a:p>
        </p:txBody>
      </p:sp>
      <p:sp>
        <p:nvSpPr>
          <p:cNvPr id="7" name="Text 4"/>
          <p:cNvSpPr/>
          <p:nvPr/>
        </p:nvSpPr>
        <p:spPr>
          <a:xfrm>
            <a:off x="355600" y="5232823"/>
            <a:ext cx="15392400" cy="495300"/>
          </a:xfrm>
          <a:prstGeom prst="rect">
            <a:avLst/>
          </a:prstGeom>
          <a:noFill/>
        </p:spPr>
        <p:txBody>
          <a:bodyPr wrap="square" lIns="0" tIns="0" rIns="0" bIns="0" rtlCol="0" anchor="ctr"/>
          <a:lstStyle/>
          <a:p>
            <a:pPr indent="457200">
              <a:lnSpc>
                <a:spcPct val="140000"/>
              </a:lnSpc>
            </a:pPr>
            <a:endParaRPr lang="zh-CN" altLang="en-US" sz="2400" dirty="0">
              <a:solidFill>
                <a:srgbClr val="E0E2E6">
                  <a:alpha val="80000"/>
                </a:srgbClr>
              </a:solidFill>
              <a:latin typeface="微软雅黑" panose="020B0503020204020204" charset="-122"/>
              <a:ea typeface="微软雅黑" panose="020B0503020204020204" charset="-122"/>
              <a:cs typeface="MiSans" pitchFamily="34" charset="-120"/>
            </a:endParaRPr>
          </a:p>
        </p:txBody>
      </p:sp>
      <p:sp>
        <p:nvSpPr>
          <p:cNvPr id="8" name="Shape 5"/>
          <p:cNvSpPr/>
          <p:nvPr/>
        </p:nvSpPr>
        <p:spPr>
          <a:xfrm>
            <a:off x="508000" y="5246159"/>
            <a:ext cx="609600" cy="609600"/>
          </a:xfrm>
          <a:custGeom>
            <a:avLst/>
            <a:gdLst/>
            <a:ahLst/>
            <a:cxnLst/>
            <a:rect l="l" t="t" r="r" b="b"/>
            <a:pathLst>
              <a:path w="609600" h="609600">
                <a:moveTo>
                  <a:pt x="101602" y="0"/>
                </a:moveTo>
                <a:lnTo>
                  <a:pt x="507998" y="0"/>
                </a:lnTo>
                <a:cubicBezTo>
                  <a:pt x="564111" y="0"/>
                  <a:pt x="609600" y="45489"/>
                  <a:pt x="609600" y="101602"/>
                </a:cubicBezTo>
                <a:lnTo>
                  <a:pt x="609600" y="507998"/>
                </a:lnTo>
                <a:cubicBezTo>
                  <a:pt x="609600" y="564111"/>
                  <a:pt x="564111" y="609600"/>
                  <a:pt x="507998" y="609600"/>
                </a:cubicBezTo>
                <a:lnTo>
                  <a:pt x="101602" y="609600"/>
                </a:lnTo>
                <a:cubicBezTo>
                  <a:pt x="45489" y="609600"/>
                  <a:pt x="0" y="564111"/>
                  <a:pt x="0" y="507998"/>
                </a:cubicBezTo>
                <a:lnTo>
                  <a:pt x="0" y="101602"/>
                </a:lnTo>
                <a:cubicBezTo>
                  <a:pt x="0" y="45526"/>
                  <a:pt x="45526" y="0"/>
                  <a:pt x="101602" y="0"/>
                </a:cubicBezTo>
                <a:close/>
              </a:path>
            </a:pathLst>
          </a:custGeom>
          <a:solidFill>
            <a:srgbClr val="3D8F8A">
              <a:alpha val="20000"/>
            </a:srgbClr>
          </a:solidFill>
        </p:spPr>
      </p:sp>
      <p:sp>
        <p:nvSpPr>
          <p:cNvPr id="9" name="Shape 6"/>
          <p:cNvSpPr/>
          <p:nvPr/>
        </p:nvSpPr>
        <p:spPr>
          <a:xfrm>
            <a:off x="679450" y="5398559"/>
            <a:ext cx="266700" cy="304800"/>
          </a:xfrm>
          <a:custGeom>
            <a:avLst/>
            <a:gdLst/>
            <a:ahLst/>
            <a:cxnLst/>
            <a:rect l="l" t="t" r="r" b="b"/>
            <a:pathLst>
              <a:path w="266700" h="304800">
                <a:moveTo>
                  <a:pt x="261818" y="119360"/>
                </a:moveTo>
                <a:cubicBezTo>
                  <a:pt x="257235" y="100965"/>
                  <a:pt x="248543" y="87094"/>
                  <a:pt x="230029" y="87094"/>
                </a:cubicBezTo>
                <a:lnTo>
                  <a:pt x="206157" y="87094"/>
                </a:lnTo>
                <a:lnTo>
                  <a:pt x="206157" y="115312"/>
                </a:lnTo>
                <a:cubicBezTo>
                  <a:pt x="206157" y="137220"/>
                  <a:pt x="187583" y="155674"/>
                  <a:pt x="166390" y="155674"/>
                </a:cubicBezTo>
                <a:lnTo>
                  <a:pt x="102810" y="155674"/>
                </a:lnTo>
                <a:cubicBezTo>
                  <a:pt x="85427" y="155674"/>
                  <a:pt x="71021" y="170557"/>
                  <a:pt x="71021" y="188000"/>
                </a:cubicBezTo>
                <a:lnTo>
                  <a:pt x="71021" y="248603"/>
                </a:lnTo>
                <a:cubicBezTo>
                  <a:pt x="71021" y="265867"/>
                  <a:pt x="86023" y="275987"/>
                  <a:pt x="102810" y="280928"/>
                </a:cubicBezTo>
                <a:cubicBezTo>
                  <a:pt x="122932" y="286822"/>
                  <a:pt x="142280" y="287893"/>
                  <a:pt x="166390" y="280928"/>
                </a:cubicBezTo>
                <a:cubicBezTo>
                  <a:pt x="182404" y="276285"/>
                  <a:pt x="198180" y="266938"/>
                  <a:pt x="198180" y="248603"/>
                </a:cubicBezTo>
                <a:lnTo>
                  <a:pt x="198180" y="224373"/>
                </a:lnTo>
                <a:lnTo>
                  <a:pt x="134660" y="224373"/>
                </a:lnTo>
                <a:lnTo>
                  <a:pt x="134660" y="216277"/>
                </a:lnTo>
                <a:lnTo>
                  <a:pt x="230029" y="216277"/>
                </a:lnTo>
                <a:cubicBezTo>
                  <a:pt x="248543" y="216277"/>
                  <a:pt x="255389" y="203359"/>
                  <a:pt x="261818" y="184011"/>
                </a:cubicBezTo>
                <a:cubicBezTo>
                  <a:pt x="268486" y="164068"/>
                  <a:pt x="268188" y="144899"/>
                  <a:pt x="261818" y="119360"/>
                </a:cubicBezTo>
                <a:close/>
                <a:moveTo>
                  <a:pt x="170378" y="264735"/>
                </a:moveTo>
                <a:cubicBezTo>
                  <a:pt x="165848" y="265053"/>
                  <a:pt x="161518" y="262816"/>
                  <a:pt x="159156" y="258937"/>
                </a:cubicBezTo>
                <a:cubicBezTo>
                  <a:pt x="156794" y="255057"/>
                  <a:pt x="156794" y="250184"/>
                  <a:pt x="159156" y="246305"/>
                </a:cubicBezTo>
                <a:cubicBezTo>
                  <a:pt x="161518" y="242425"/>
                  <a:pt x="165848" y="240188"/>
                  <a:pt x="170378" y="240506"/>
                </a:cubicBezTo>
                <a:cubicBezTo>
                  <a:pt x="174909" y="240188"/>
                  <a:pt x="179239" y="242425"/>
                  <a:pt x="181601" y="246305"/>
                </a:cubicBezTo>
                <a:cubicBezTo>
                  <a:pt x="183963" y="250184"/>
                  <a:pt x="183963" y="255057"/>
                  <a:pt x="181601" y="258937"/>
                </a:cubicBezTo>
                <a:cubicBezTo>
                  <a:pt x="179239" y="262816"/>
                  <a:pt x="174909" y="265053"/>
                  <a:pt x="170378" y="264735"/>
                </a:cubicBezTo>
                <a:close/>
                <a:moveTo>
                  <a:pt x="99893" y="147697"/>
                </a:moveTo>
                <a:lnTo>
                  <a:pt x="163473" y="147697"/>
                </a:lnTo>
                <a:cubicBezTo>
                  <a:pt x="181154" y="147697"/>
                  <a:pt x="195263" y="133112"/>
                  <a:pt x="195263" y="115372"/>
                </a:cubicBezTo>
                <a:lnTo>
                  <a:pt x="195263" y="54709"/>
                </a:lnTo>
                <a:cubicBezTo>
                  <a:pt x="195263" y="37445"/>
                  <a:pt x="180737" y="24527"/>
                  <a:pt x="163473" y="21610"/>
                </a:cubicBezTo>
                <a:cubicBezTo>
                  <a:pt x="142161" y="18098"/>
                  <a:pt x="119003" y="18276"/>
                  <a:pt x="99893" y="21669"/>
                </a:cubicBezTo>
                <a:cubicBezTo>
                  <a:pt x="72985" y="26432"/>
                  <a:pt x="68104" y="36374"/>
                  <a:pt x="68104" y="54769"/>
                </a:cubicBezTo>
                <a:lnTo>
                  <a:pt x="68104" y="78998"/>
                </a:lnTo>
                <a:lnTo>
                  <a:pt x="131743" y="78998"/>
                </a:lnTo>
                <a:lnTo>
                  <a:pt x="131743" y="87094"/>
                </a:lnTo>
                <a:lnTo>
                  <a:pt x="44232" y="87094"/>
                </a:lnTo>
                <a:cubicBezTo>
                  <a:pt x="25718" y="87094"/>
                  <a:pt x="9525" y="98227"/>
                  <a:pt x="4465" y="119360"/>
                </a:cubicBezTo>
                <a:cubicBezTo>
                  <a:pt x="-1369" y="143589"/>
                  <a:pt x="-1607" y="158710"/>
                  <a:pt x="4465" y="184011"/>
                </a:cubicBezTo>
                <a:cubicBezTo>
                  <a:pt x="8989" y="202823"/>
                  <a:pt x="19764" y="216277"/>
                  <a:pt x="38279" y="216277"/>
                </a:cubicBezTo>
                <a:lnTo>
                  <a:pt x="60127" y="216277"/>
                </a:lnTo>
                <a:lnTo>
                  <a:pt x="60127" y="187226"/>
                </a:lnTo>
                <a:cubicBezTo>
                  <a:pt x="60127" y="166211"/>
                  <a:pt x="78284" y="147697"/>
                  <a:pt x="99893" y="147697"/>
                </a:cubicBezTo>
                <a:close/>
                <a:moveTo>
                  <a:pt x="95964" y="38517"/>
                </a:moveTo>
                <a:cubicBezTo>
                  <a:pt x="102667" y="38517"/>
                  <a:pt x="108109" y="43958"/>
                  <a:pt x="108109" y="50661"/>
                </a:cubicBezTo>
                <a:cubicBezTo>
                  <a:pt x="108109" y="57364"/>
                  <a:pt x="102667" y="62805"/>
                  <a:pt x="95964" y="62805"/>
                </a:cubicBezTo>
                <a:cubicBezTo>
                  <a:pt x="89262" y="62805"/>
                  <a:pt x="83820" y="57364"/>
                  <a:pt x="83820" y="50661"/>
                </a:cubicBezTo>
                <a:cubicBezTo>
                  <a:pt x="83820" y="43958"/>
                  <a:pt x="89262" y="38517"/>
                  <a:pt x="95964" y="38517"/>
                </a:cubicBezTo>
                <a:close/>
              </a:path>
            </a:pathLst>
          </a:custGeom>
          <a:solidFill>
            <a:srgbClr val="3D8F8A"/>
          </a:solidFill>
        </p:spPr>
      </p:sp>
      <p:sp>
        <p:nvSpPr>
          <p:cNvPr id="10" name="Text 7"/>
          <p:cNvSpPr/>
          <p:nvPr/>
        </p:nvSpPr>
        <p:spPr>
          <a:xfrm>
            <a:off x="1270000" y="5246159"/>
            <a:ext cx="825500" cy="254000"/>
          </a:xfrm>
          <a:prstGeom prst="rect">
            <a:avLst/>
          </a:prstGeom>
          <a:noFill/>
        </p:spPr>
        <p:txBody>
          <a:bodyPr wrap="square" lIns="0" tIns="0" rIns="0" bIns="0" rtlCol="0" anchor="ctr"/>
          <a:lstStyle/>
          <a:p>
            <a:pPr>
              <a:lnSpc>
                <a:spcPct val="120000"/>
              </a:lnSpc>
            </a:pPr>
            <a:r>
              <a:rPr lang="en-US" sz="1400" dirty="0">
                <a:solidFill>
                  <a:srgbClr val="E0E2E6">
                    <a:alpha val="60000"/>
                  </a:srgbClr>
                </a:solidFill>
                <a:latin typeface="MiSans" pitchFamily="34" charset="-122"/>
                <a:ea typeface="MiSans" pitchFamily="34" charset="-122"/>
                <a:cs typeface="MiSans" pitchFamily="34" charset="-120"/>
              </a:rPr>
              <a:t>核心语言</a:t>
            </a:r>
            <a:endParaRPr lang="en-US" sz="1600" dirty="0"/>
          </a:p>
        </p:txBody>
      </p:sp>
      <p:sp>
        <p:nvSpPr>
          <p:cNvPr id="11" name="Text 8"/>
          <p:cNvSpPr/>
          <p:nvPr/>
        </p:nvSpPr>
        <p:spPr>
          <a:xfrm>
            <a:off x="1270000" y="5500159"/>
            <a:ext cx="850900" cy="355600"/>
          </a:xfrm>
          <a:prstGeom prst="rect">
            <a:avLst/>
          </a:prstGeom>
          <a:noFill/>
        </p:spPr>
        <p:txBody>
          <a:bodyPr wrap="square" lIns="0" tIns="0" rIns="0" bIns="0" rtlCol="0" anchor="ctr"/>
          <a:lstStyle/>
          <a:p>
            <a:pPr>
              <a:lnSpc>
                <a:spcPct val="130000"/>
              </a:lnSpc>
            </a:pPr>
            <a:r>
              <a:rPr lang="en-US" sz="1800" b="1" dirty="0">
                <a:solidFill>
                  <a:srgbClr val="E0E2E6"/>
                </a:solidFill>
                <a:latin typeface="MiSans" pitchFamily="34" charset="-122"/>
                <a:ea typeface="MiSans" pitchFamily="34" charset="-122"/>
                <a:cs typeface="MiSans" pitchFamily="34" charset="-120"/>
              </a:rPr>
              <a:t>Python</a:t>
            </a:r>
            <a:endParaRPr lang="en-US" sz="1600" dirty="0"/>
          </a:p>
        </p:txBody>
      </p:sp>
      <p:sp>
        <p:nvSpPr>
          <p:cNvPr id="12" name="Shape 9"/>
          <p:cNvSpPr/>
          <p:nvPr/>
        </p:nvSpPr>
        <p:spPr>
          <a:xfrm>
            <a:off x="2408634" y="5246159"/>
            <a:ext cx="609600" cy="609600"/>
          </a:xfrm>
          <a:custGeom>
            <a:avLst/>
            <a:gdLst/>
            <a:ahLst/>
            <a:cxnLst/>
            <a:rect l="l" t="t" r="r" b="b"/>
            <a:pathLst>
              <a:path w="609600" h="609600">
                <a:moveTo>
                  <a:pt x="101602" y="0"/>
                </a:moveTo>
                <a:lnTo>
                  <a:pt x="507998" y="0"/>
                </a:lnTo>
                <a:cubicBezTo>
                  <a:pt x="564111" y="0"/>
                  <a:pt x="609600" y="45489"/>
                  <a:pt x="609600" y="101602"/>
                </a:cubicBezTo>
                <a:lnTo>
                  <a:pt x="609600" y="507998"/>
                </a:lnTo>
                <a:cubicBezTo>
                  <a:pt x="609600" y="564111"/>
                  <a:pt x="564111" y="609600"/>
                  <a:pt x="507998" y="609600"/>
                </a:cubicBezTo>
                <a:lnTo>
                  <a:pt x="101602" y="609600"/>
                </a:lnTo>
                <a:cubicBezTo>
                  <a:pt x="45489" y="609600"/>
                  <a:pt x="0" y="564111"/>
                  <a:pt x="0" y="507998"/>
                </a:cubicBezTo>
                <a:lnTo>
                  <a:pt x="0" y="101602"/>
                </a:lnTo>
                <a:cubicBezTo>
                  <a:pt x="0" y="45526"/>
                  <a:pt x="45526" y="0"/>
                  <a:pt x="101602" y="0"/>
                </a:cubicBezTo>
                <a:close/>
              </a:path>
            </a:pathLst>
          </a:custGeom>
          <a:solidFill>
            <a:srgbClr val="E5A044">
              <a:alpha val="20000"/>
            </a:srgbClr>
          </a:solidFill>
        </p:spPr>
      </p:sp>
      <p:sp>
        <p:nvSpPr>
          <p:cNvPr id="13" name="Shape 10"/>
          <p:cNvSpPr/>
          <p:nvPr/>
        </p:nvSpPr>
        <p:spPr>
          <a:xfrm>
            <a:off x="2561034" y="5398559"/>
            <a:ext cx="304800" cy="304800"/>
          </a:xfrm>
          <a:custGeom>
            <a:avLst/>
            <a:gdLst/>
            <a:ahLst/>
            <a:cxnLst/>
            <a:rect l="l" t="t" r="r" b="b"/>
            <a:pathLst>
              <a:path w="304800" h="304800">
                <a:moveTo>
                  <a:pt x="103525" y="236577"/>
                </a:moveTo>
                <a:cubicBezTo>
                  <a:pt x="103525" y="237768"/>
                  <a:pt x="102156" y="238720"/>
                  <a:pt x="100429" y="238720"/>
                </a:cubicBezTo>
                <a:cubicBezTo>
                  <a:pt x="98465" y="238899"/>
                  <a:pt x="97095" y="237946"/>
                  <a:pt x="97095" y="236577"/>
                </a:cubicBezTo>
                <a:cubicBezTo>
                  <a:pt x="97095" y="235387"/>
                  <a:pt x="98465" y="234434"/>
                  <a:pt x="100191" y="234434"/>
                </a:cubicBezTo>
                <a:cubicBezTo>
                  <a:pt x="101977" y="234255"/>
                  <a:pt x="103525" y="235208"/>
                  <a:pt x="103525" y="236577"/>
                </a:cubicBezTo>
                <a:close/>
                <a:moveTo>
                  <a:pt x="85011" y="233898"/>
                </a:moveTo>
                <a:cubicBezTo>
                  <a:pt x="84594" y="235089"/>
                  <a:pt x="85785" y="236458"/>
                  <a:pt x="87570" y="236815"/>
                </a:cubicBezTo>
                <a:cubicBezTo>
                  <a:pt x="89118" y="237411"/>
                  <a:pt x="90904" y="236815"/>
                  <a:pt x="91261" y="235625"/>
                </a:cubicBezTo>
                <a:cubicBezTo>
                  <a:pt x="91619" y="234434"/>
                  <a:pt x="90488" y="233065"/>
                  <a:pt x="88702" y="232529"/>
                </a:cubicBezTo>
                <a:cubicBezTo>
                  <a:pt x="87154" y="232112"/>
                  <a:pt x="85427" y="232708"/>
                  <a:pt x="85011" y="233898"/>
                </a:cubicBezTo>
                <a:close/>
                <a:moveTo>
                  <a:pt x="111323" y="232886"/>
                </a:moveTo>
                <a:cubicBezTo>
                  <a:pt x="109597" y="233303"/>
                  <a:pt x="108406" y="234434"/>
                  <a:pt x="108585" y="235803"/>
                </a:cubicBezTo>
                <a:cubicBezTo>
                  <a:pt x="108764" y="236994"/>
                  <a:pt x="110311" y="237768"/>
                  <a:pt x="112097" y="237351"/>
                </a:cubicBezTo>
                <a:cubicBezTo>
                  <a:pt x="113824" y="236934"/>
                  <a:pt x="115014" y="235803"/>
                  <a:pt x="114836" y="234613"/>
                </a:cubicBezTo>
                <a:cubicBezTo>
                  <a:pt x="114657" y="233482"/>
                  <a:pt x="113050" y="232708"/>
                  <a:pt x="111323" y="232886"/>
                </a:cubicBezTo>
                <a:close/>
                <a:moveTo>
                  <a:pt x="150495" y="4763"/>
                </a:moveTo>
                <a:cubicBezTo>
                  <a:pt x="67925" y="4763"/>
                  <a:pt x="4763" y="67449"/>
                  <a:pt x="4763" y="150019"/>
                </a:cubicBezTo>
                <a:cubicBezTo>
                  <a:pt x="4763" y="216039"/>
                  <a:pt x="46315" y="272534"/>
                  <a:pt x="105668" y="292418"/>
                </a:cubicBezTo>
                <a:cubicBezTo>
                  <a:pt x="113288" y="293787"/>
                  <a:pt x="115967" y="289084"/>
                  <a:pt x="115967" y="285214"/>
                </a:cubicBezTo>
                <a:cubicBezTo>
                  <a:pt x="115967" y="281523"/>
                  <a:pt x="115788" y="261164"/>
                  <a:pt x="115788" y="248662"/>
                </a:cubicBezTo>
                <a:cubicBezTo>
                  <a:pt x="115788" y="248662"/>
                  <a:pt x="74116" y="257592"/>
                  <a:pt x="65365" y="230922"/>
                </a:cubicBezTo>
                <a:cubicBezTo>
                  <a:pt x="65365" y="230922"/>
                  <a:pt x="58579" y="213598"/>
                  <a:pt x="48816" y="209133"/>
                </a:cubicBezTo>
                <a:cubicBezTo>
                  <a:pt x="48816" y="209133"/>
                  <a:pt x="35183" y="199787"/>
                  <a:pt x="49768" y="199965"/>
                </a:cubicBezTo>
                <a:cubicBezTo>
                  <a:pt x="49768" y="199965"/>
                  <a:pt x="64591" y="201156"/>
                  <a:pt x="72747" y="215325"/>
                </a:cubicBezTo>
                <a:cubicBezTo>
                  <a:pt x="85785" y="238304"/>
                  <a:pt x="107633" y="231696"/>
                  <a:pt x="116145" y="227767"/>
                </a:cubicBezTo>
                <a:cubicBezTo>
                  <a:pt x="117515" y="218242"/>
                  <a:pt x="121384" y="211634"/>
                  <a:pt x="125670" y="207705"/>
                </a:cubicBezTo>
                <a:cubicBezTo>
                  <a:pt x="92393" y="204014"/>
                  <a:pt x="58817" y="199192"/>
                  <a:pt x="58817" y="141923"/>
                </a:cubicBezTo>
                <a:cubicBezTo>
                  <a:pt x="58817" y="125551"/>
                  <a:pt x="63341" y="117336"/>
                  <a:pt x="72866" y="106859"/>
                </a:cubicBezTo>
                <a:cubicBezTo>
                  <a:pt x="71318" y="102989"/>
                  <a:pt x="66258" y="87035"/>
                  <a:pt x="74414" y="66437"/>
                </a:cubicBezTo>
                <a:cubicBezTo>
                  <a:pt x="86856" y="62567"/>
                  <a:pt x="115491" y="82510"/>
                  <a:pt x="115491" y="82510"/>
                </a:cubicBezTo>
                <a:cubicBezTo>
                  <a:pt x="127397" y="79177"/>
                  <a:pt x="140196" y="77450"/>
                  <a:pt x="152876" y="77450"/>
                </a:cubicBezTo>
                <a:cubicBezTo>
                  <a:pt x="165556" y="77450"/>
                  <a:pt x="178356" y="79177"/>
                  <a:pt x="190262" y="82510"/>
                </a:cubicBezTo>
                <a:cubicBezTo>
                  <a:pt x="190262" y="82510"/>
                  <a:pt x="218896" y="62508"/>
                  <a:pt x="231338" y="66437"/>
                </a:cubicBezTo>
                <a:cubicBezTo>
                  <a:pt x="239494" y="87094"/>
                  <a:pt x="234434" y="102989"/>
                  <a:pt x="232886" y="106859"/>
                </a:cubicBezTo>
                <a:cubicBezTo>
                  <a:pt x="242411" y="117396"/>
                  <a:pt x="248245" y="125611"/>
                  <a:pt x="248245" y="141923"/>
                </a:cubicBezTo>
                <a:cubicBezTo>
                  <a:pt x="248245" y="199370"/>
                  <a:pt x="213181" y="203954"/>
                  <a:pt x="179903" y="207705"/>
                </a:cubicBezTo>
                <a:cubicBezTo>
                  <a:pt x="185380" y="212407"/>
                  <a:pt x="190024" y="221337"/>
                  <a:pt x="190024" y="235327"/>
                </a:cubicBezTo>
                <a:cubicBezTo>
                  <a:pt x="190024" y="255389"/>
                  <a:pt x="189845" y="280214"/>
                  <a:pt x="189845" y="285095"/>
                </a:cubicBezTo>
                <a:cubicBezTo>
                  <a:pt x="189845" y="288965"/>
                  <a:pt x="192584" y="293668"/>
                  <a:pt x="200144" y="292298"/>
                </a:cubicBezTo>
                <a:cubicBezTo>
                  <a:pt x="259675" y="272534"/>
                  <a:pt x="300038" y="216039"/>
                  <a:pt x="300038" y="150019"/>
                </a:cubicBezTo>
                <a:cubicBezTo>
                  <a:pt x="300038" y="67449"/>
                  <a:pt x="233065" y="4763"/>
                  <a:pt x="150495" y="4763"/>
                </a:cubicBezTo>
                <a:close/>
                <a:moveTo>
                  <a:pt x="62627" y="210086"/>
                </a:moveTo>
                <a:cubicBezTo>
                  <a:pt x="61853" y="210681"/>
                  <a:pt x="62032" y="212050"/>
                  <a:pt x="63044" y="213181"/>
                </a:cubicBezTo>
                <a:cubicBezTo>
                  <a:pt x="63996" y="214134"/>
                  <a:pt x="65365" y="214551"/>
                  <a:pt x="66139" y="213777"/>
                </a:cubicBezTo>
                <a:cubicBezTo>
                  <a:pt x="66913" y="213181"/>
                  <a:pt x="66735" y="211812"/>
                  <a:pt x="65723" y="210681"/>
                </a:cubicBezTo>
                <a:cubicBezTo>
                  <a:pt x="64770" y="209729"/>
                  <a:pt x="63401" y="209312"/>
                  <a:pt x="62627" y="210086"/>
                </a:cubicBezTo>
                <a:close/>
                <a:moveTo>
                  <a:pt x="56198" y="205264"/>
                </a:moveTo>
                <a:cubicBezTo>
                  <a:pt x="55781" y="206038"/>
                  <a:pt x="56376" y="206990"/>
                  <a:pt x="57567" y="207585"/>
                </a:cubicBezTo>
                <a:cubicBezTo>
                  <a:pt x="58519" y="208181"/>
                  <a:pt x="59710" y="208002"/>
                  <a:pt x="60127" y="207169"/>
                </a:cubicBezTo>
                <a:cubicBezTo>
                  <a:pt x="60543" y="206395"/>
                  <a:pt x="59948" y="205442"/>
                  <a:pt x="58757" y="204847"/>
                </a:cubicBezTo>
                <a:cubicBezTo>
                  <a:pt x="57567" y="204490"/>
                  <a:pt x="56614" y="204668"/>
                  <a:pt x="56198" y="205264"/>
                </a:cubicBezTo>
                <a:close/>
                <a:moveTo>
                  <a:pt x="75486" y="226457"/>
                </a:moveTo>
                <a:cubicBezTo>
                  <a:pt x="74533" y="227231"/>
                  <a:pt x="74890" y="229017"/>
                  <a:pt x="76260" y="230148"/>
                </a:cubicBezTo>
                <a:cubicBezTo>
                  <a:pt x="77629" y="231517"/>
                  <a:pt x="79355" y="231696"/>
                  <a:pt x="80129" y="230743"/>
                </a:cubicBezTo>
                <a:cubicBezTo>
                  <a:pt x="80903" y="229969"/>
                  <a:pt x="80546" y="228183"/>
                  <a:pt x="79355" y="227052"/>
                </a:cubicBezTo>
                <a:cubicBezTo>
                  <a:pt x="78045" y="225683"/>
                  <a:pt x="76260" y="225504"/>
                  <a:pt x="75486" y="226457"/>
                </a:cubicBezTo>
                <a:close/>
                <a:moveTo>
                  <a:pt x="68699" y="217706"/>
                </a:moveTo>
                <a:cubicBezTo>
                  <a:pt x="67747" y="218301"/>
                  <a:pt x="67747" y="219849"/>
                  <a:pt x="68699" y="221218"/>
                </a:cubicBezTo>
                <a:cubicBezTo>
                  <a:pt x="69652" y="222587"/>
                  <a:pt x="71259" y="223183"/>
                  <a:pt x="72033" y="222587"/>
                </a:cubicBezTo>
                <a:cubicBezTo>
                  <a:pt x="72985" y="221813"/>
                  <a:pt x="72985" y="220266"/>
                  <a:pt x="72033" y="218896"/>
                </a:cubicBezTo>
                <a:cubicBezTo>
                  <a:pt x="71199" y="217527"/>
                  <a:pt x="69652" y="216932"/>
                  <a:pt x="68699" y="217706"/>
                </a:cubicBezTo>
                <a:close/>
              </a:path>
            </a:pathLst>
          </a:custGeom>
          <a:solidFill>
            <a:srgbClr val="E5A044"/>
          </a:solidFill>
        </p:spPr>
      </p:sp>
      <p:sp>
        <p:nvSpPr>
          <p:cNvPr id="14" name="Text 11"/>
          <p:cNvSpPr/>
          <p:nvPr/>
        </p:nvSpPr>
        <p:spPr>
          <a:xfrm>
            <a:off x="3170634" y="5246159"/>
            <a:ext cx="825500" cy="254000"/>
          </a:xfrm>
          <a:prstGeom prst="rect">
            <a:avLst/>
          </a:prstGeom>
          <a:noFill/>
        </p:spPr>
        <p:txBody>
          <a:bodyPr wrap="square" lIns="0" tIns="0" rIns="0" bIns="0" rtlCol="0" anchor="ctr"/>
          <a:lstStyle/>
          <a:p>
            <a:pPr>
              <a:lnSpc>
                <a:spcPct val="120000"/>
              </a:lnSpc>
            </a:pPr>
            <a:r>
              <a:rPr lang="en-US" sz="1400" dirty="0">
                <a:solidFill>
                  <a:srgbClr val="E0E2E6">
                    <a:alpha val="60000"/>
                  </a:srgbClr>
                </a:solidFill>
                <a:latin typeface="MiSans" pitchFamily="34" charset="-122"/>
                <a:ea typeface="MiSans" pitchFamily="34" charset="-122"/>
                <a:cs typeface="MiSans" pitchFamily="34" charset="-120"/>
              </a:rPr>
              <a:t>目标平台</a:t>
            </a:r>
            <a:endParaRPr lang="en-US" sz="1600" dirty="0"/>
          </a:p>
        </p:txBody>
      </p:sp>
      <p:sp>
        <p:nvSpPr>
          <p:cNvPr id="15" name="Text 12"/>
          <p:cNvSpPr/>
          <p:nvPr/>
        </p:nvSpPr>
        <p:spPr>
          <a:xfrm>
            <a:off x="3170634" y="5500159"/>
            <a:ext cx="850900" cy="355600"/>
          </a:xfrm>
          <a:prstGeom prst="rect">
            <a:avLst/>
          </a:prstGeom>
          <a:noFill/>
        </p:spPr>
        <p:txBody>
          <a:bodyPr wrap="square" lIns="0" tIns="0" rIns="0" bIns="0" rtlCol="0" anchor="ctr"/>
          <a:lstStyle/>
          <a:p>
            <a:pPr>
              <a:lnSpc>
                <a:spcPct val="130000"/>
              </a:lnSpc>
            </a:pPr>
            <a:r>
              <a:rPr lang="en-US" sz="1800" b="1" dirty="0">
                <a:solidFill>
                  <a:srgbClr val="E0E2E6"/>
                </a:solidFill>
                <a:latin typeface="MiSans" pitchFamily="34" charset="-122"/>
                <a:ea typeface="MiSans" pitchFamily="34" charset="-122"/>
                <a:cs typeface="MiSans" pitchFamily="34" charset="-120"/>
              </a:rPr>
              <a:t>GitHub</a:t>
            </a:r>
            <a:endParaRPr lang="en-US" sz="1600" dirty="0"/>
          </a:p>
        </p:txBody>
      </p:sp>
      <p:sp>
        <p:nvSpPr>
          <p:cNvPr id="16" name="Shape 13"/>
          <p:cNvSpPr/>
          <p:nvPr/>
        </p:nvSpPr>
        <p:spPr>
          <a:xfrm>
            <a:off x="4311121" y="5246159"/>
            <a:ext cx="609600" cy="609600"/>
          </a:xfrm>
          <a:custGeom>
            <a:avLst/>
            <a:gdLst/>
            <a:ahLst/>
            <a:cxnLst/>
            <a:rect l="l" t="t" r="r" b="b"/>
            <a:pathLst>
              <a:path w="609600" h="609600">
                <a:moveTo>
                  <a:pt x="101602" y="0"/>
                </a:moveTo>
                <a:lnTo>
                  <a:pt x="507998" y="0"/>
                </a:lnTo>
                <a:cubicBezTo>
                  <a:pt x="564111" y="0"/>
                  <a:pt x="609600" y="45489"/>
                  <a:pt x="609600" y="101602"/>
                </a:cubicBezTo>
                <a:lnTo>
                  <a:pt x="609600" y="507998"/>
                </a:lnTo>
                <a:cubicBezTo>
                  <a:pt x="609600" y="564111"/>
                  <a:pt x="564111" y="609600"/>
                  <a:pt x="507998" y="609600"/>
                </a:cubicBezTo>
                <a:lnTo>
                  <a:pt x="101602" y="609600"/>
                </a:lnTo>
                <a:cubicBezTo>
                  <a:pt x="45489" y="609600"/>
                  <a:pt x="0" y="564111"/>
                  <a:pt x="0" y="507998"/>
                </a:cubicBezTo>
                <a:lnTo>
                  <a:pt x="0" y="101602"/>
                </a:lnTo>
                <a:cubicBezTo>
                  <a:pt x="0" y="45526"/>
                  <a:pt x="45526" y="0"/>
                  <a:pt x="101602" y="0"/>
                </a:cubicBezTo>
                <a:close/>
              </a:path>
            </a:pathLst>
          </a:custGeom>
          <a:solidFill>
            <a:srgbClr val="3D8F8A">
              <a:alpha val="20000"/>
            </a:srgbClr>
          </a:solidFill>
        </p:spPr>
      </p:sp>
      <p:sp>
        <p:nvSpPr>
          <p:cNvPr id="17" name="Shape 14"/>
          <p:cNvSpPr/>
          <p:nvPr/>
        </p:nvSpPr>
        <p:spPr>
          <a:xfrm>
            <a:off x="4482571" y="5398559"/>
            <a:ext cx="266700" cy="304800"/>
          </a:xfrm>
          <a:custGeom>
            <a:avLst/>
            <a:gdLst/>
            <a:ahLst/>
            <a:cxnLst/>
            <a:rect l="l" t="t" r="r" b="b"/>
            <a:pathLst>
              <a:path w="266700" h="304800">
                <a:moveTo>
                  <a:pt x="76200" y="-19050"/>
                </a:moveTo>
                <a:cubicBezTo>
                  <a:pt x="86737" y="-19050"/>
                  <a:pt x="95250" y="-10537"/>
                  <a:pt x="95250" y="0"/>
                </a:cubicBezTo>
                <a:lnTo>
                  <a:pt x="95250" y="57150"/>
                </a:lnTo>
                <a:lnTo>
                  <a:pt x="171450" y="57150"/>
                </a:lnTo>
                <a:lnTo>
                  <a:pt x="171450" y="0"/>
                </a:lnTo>
                <a:cubicBezTo>
                  <a:pt x="171450" y="-10537"/>
                  <a:pt x="179963" y="-19050"/>
                  <a:pt x="190500" y="-19050"/>
                </a:cubicBezTo>
                <a:cubicBezTo>
                  <a:pt x="201037" y="-19050"/>
                  <a:pt x="209550" y="-10537"/>
                  <a:pt x="209550" y="0"/>
                </a:cubicBezTo>
                <a:lnTo>
                  <a:pt x="209550" y="57150"/>
                </a:lnTo>
                <a:lnTo>
                  <a:pt x="247650" y="57150"/>
                </a:lnTo>
                <a:cubicBezTo>
                  <a:pt x="258187" y="57150"/>
                  <a:pt x="266700" y="65663"/>
                  <a:pt x="266700" y="76200"/>
                </a:cubicBezTo>
                <a:cubicBezTo>
                  <a:pt x="266700" y="86737"/>
                  <a:pt x="258187" y="95250"/>
                  <a:pt x="247650" y="95250"/>
                </a:cubicBezTo>
                <a:lnTo>
                  <a:pt x="247650" y="133350"/>
                </a:lnTo>
                <a:cubicBezTo>
                  <a:pt x="247650" y="189964"/>
                  <a:pt x="206454" y="236994"/>
                  <a:pt x="152400" y="246043"/>
                </a:cubicBezTo>
                <a:lnTo>
                  <a:pt x="152400" y="285750"/>
                </a:lnTo>
                <a:cubicBezTo>
                  <a:pt x="152400" y="296287"/>
                  <a:pt x="143887" y="304800"/>
                  <a:pt x="133350" y="304800"/>
                </a:cubicBezTo>
                <a:cubicBezTo>
                  <a:pt x="122813" y="304800"/>
                  <a:pt x="114300" y="296287"/>
                  <a:pt x="114300" y="285750"/>
                </a:cubicBezTo>
                <a:lnTo>
                  <a:pt x="114300" y="246043"/>
                </a:lnTo>
                <a:cubicBezTo>
                  <a:pt x="60246" y="236994"/>
                  <a:pt x="19050" y="189964"/>
                  <a:pt x="19050" y="133350"/>
                </a:cubicBezTo>
                <a:lnTo>
                  <a:pt x="19050" y="95250"/>
                </a:lnTo>
                <a:cubicBezTo>
                  <a:pt x="8513" y="95250"/>
                  <a:pt x="0" y="86737"/>
                  <a:pt x="0" y="76200"/>
                </a:cubicBezTo>
                <a:cubicBezTo>
                  <a:pt x="0" y="65663"/>
                  <a:pt x="8513" y="57150"/>
                  <a:pt x="19050" y="57150"/>
                </a:cubicBezTo>
                <a:lnTo>
                  <a:pt x="57150" y="57150"/>
                </a:lnTo>
                <a:lnTo>
                  <a:pt x="57150" y="0"/>
                </a:lnTo>
                <a:cubicBezTo>
                  <a:pt x="57150" y="-10537"/>
                  <a:pt x="65663" y="-19050"/>
                  <a:pt x="76200" y="-19050"/>
                </a:cubicBezTo>
                <a:close/>
              </a:path>
            </a:pathLst>
          </a:custGeom>
          <a:solidFill>
            <a:srgbClr val="3D8F8A"/>
          </a:solidFill>
        </p:spPr>
      </p:sp>
      <p:sp>
        <p:nvSpPr>
          <p:cNvPr id="18" name="Text 15"/>
          <p:cNvSpPr/>
          <p:nvPr/>
        </p:nvSpPr>
        <p:spPr>
          <a:xfrm>
            <a:off x="5073121" y="5246159"/>
            <a:ext cx="1231900" cy="254000"/>
          </a:xfrm>
          <a:prstGeom prst="rect">
            <a:avLst/>
          </a:prstGeom>
          <a:noFill/>
        </p:spPr>
        <p:txBody>
          <a:bodyPr wrap="square" lIns="0" tIns="0" rIns="0" bIns="0" rtlCol="0" anchor="ctr"/>
          <a:lstStyle/>
          <a:p>
            <a:pPr>
              <a:lnSpc>
                <a:spcPct val="120000"/>
              </a:lnSpc>
            </a:pPr>
            <a:r>
              <a:rPr lang="zh-CN" altLang="en-US" sz="1400" dirty="0">
                <a:solidFill>
                  <a:srgbClr val="E0E2E6">
                    <a:alpha val="60000"/>
                  </a:srgbClr>
                </a:solidFill>
                <a:latin typeface="MiSans" pitchFamily="34" charset="-122"/>
                <a:ea typeface="MiSans" pitchFamily="34" charset="-122"/>
                <a:cs typeface="MiSans" pitchFamily="34" charset="-120"/>
              </a:rPr>
              <a:t>最终</a:t>
            </a:r>
            <a:r>
              <a:rPr lang="en-US" sz="1400" dirty="0">
                <a:solidFill>
                  <a:srgbClr val="E0E2E6">
                    <a:alpha val="60000"/>
                  </a:srgbClr>
                </a:solidFill>
                <a:latin typeface="MiSans" pitchFamily="34" charset="-122"/>
                <a:ea typeface="MiSans" pitchFamily="34" charset="-122"/>
                <a:cs typeface="MiSans" pitchFamily="34" charset="-120"/>
              </a:rPr>
              <a:t>形态</a:t>
            </a:r>
            <a:endParaRPr lang="en-US" sz="1600" dirty="0"/>
          </a:p>
        </p:txBody>
      </p:sp>
      <p:sp>
        <p:nvSpPr>
          <p:cNvPr id="19" name="Text 16"/>
          <p:cNvSpPr/>
          <p:nvPr/>
        </p:nvSpPr>
        <p:spPr>
          <a:xfrm>
            <a:off x="5073121" y="5500159"/>
            <a:ext cx="1257300" cy="355600"/>
          </a:xfrm>
          <a:prstGeom prst="rect">
            <a:avLst/>
          </a:prstGeom>
          <a:noFill/>
        </p:spPr>
        <p:txBody>
          <a:bodyPr wrap="square" lIns="0" tIns="0" rIns="0" bIns="0" rtlCol="0" anchor="ctr"/>
          <a:lstStyle/>
          <a:p>
            <a:pPr>
              <a:lnSpc>
                <a:spcPct val="130000"/>
              </a:lnSpc>
            </a:pPr>
            <a:r>
              <a:rPr lang="en-US" sz="1800" b="1" dirty="0">
                <a:solidFill>
                  <a:srgbClr val="E0E2E6"/>
                </a:solidFill>
                <a:latin typeface="MiSans" pitchFamily="34" charset="-122"/>
                <a:ea typeface="MiSans" pitchFamily="34" charset="-122"/>
                <a:cs typeface="MiSans" pitchFamily="34" charset="-120"/>
              </a:rPr>
              <a:t>浏览器插件</a:t>
            </a:r>
            <a:endParaRPr lang="en-US" sz="1600" dirty="0"/>
          </a:p>
        </p:txBody>
      </p:sp>
      <p:sp>
        <p:nvSpPr>
          <p:cNvPr id="20" name="Shape 17"/>
          <p:cNvSpPr/>
          <p:nvPr/>
        </p:nvSpPr>
        <p:spPr>
          <a:xfrm>
            <a:off x="508000" y="8022167"/>
            <a:ext cx="15240000" cy="8467"/>
          </a:xfrm>
          <a:custGeom>
            <a:avLst/>
            <a:gdLst/>
            <a:ahLst/>
            <a:cxnLst/>
            <a:rect l="l" t="t" r="r" b="b"/>
            <a:pathLst>
              <a:path w="15240000" h="8467">
                <a:moveTo>
                  <a:pt x="0" y="0"/>
                </a:moveTo>
                <a:lnTo>
                  <a:pt x="15240000" y="0"/>
                </a:lnTo>
                <a:lnTo>
                  <a:pt x="15240000" y="8467"/>
                </a:lnTo>
                <a:lnTo>
                  <a:pt x="0" y="8467"/>
                </a:lnTo>
                <a:lnTo>
                  <a:pt x="0" y="0"/>
                </a:lnTo>
                <a:close/>
              </a:path>
            </a:pathLst>
          </a:custGeom>
          <a:solidFill>
            <a:srgbClr val="3D8F8A">
              <a:alpha val="30196"/>
            </a:srgbClr>
          </a:solidFill>
        </p:spPr>
      </p:sp>
      <p:sp>
        <p:nvSpPr>
          <p:cNvPr id="21" name="Text 18"/>
          <p:cNvSpPr/>
          <p:nvPr/>
        </p:nvSpPr>
        <p:spPr>
          <a:xfrm>
            <a:off x="508000" y="8551545"/>
            <a:ext cx="4305300" cy="304800"/>
          </a:xfrm>
          <a:prstGeom prst="rect">
            <a:avLst/>
          </a:prstGeom>
          <a:noFill/>
        </p:spPr>
        <p:txBody>
          <a:bodyPr wrap="square" lIns="0" tIns="0" rIns="0" bIns="0" rtlCol="0" anchor="ctr"/>
          <a:lstStyle/>
          <a:p>
            <a:pPr>
              <a:lnSpc>
                <a:spcPct val="130000"/>
              </a:lnSpc>
            </a:pPr>
            <a:r>
              <a:rPr lang="zh-CN" altLang="en-US" sz="1600" dirty="0">
                <a:solidFill>
                  <a:srgbClr val="E0E2E6">
                    <a:alpha val="60000"/>
                  </a:srgbClr>
                </a:solidFill>
                <a:latin typeface="黑体" panose="02010609060101010101" charset="-122"/>
                <a:ea typeface="黑体" panose="02010609060101010101" charset="-122"/>
                <a:cs typeface="MiSans" pitchFamily="34" charset="-120"/>
              </a:rPr>
              <a:t>华东师范大学</a:t>
            </a:r>
            <a:r>
              <a:rPr lang="en-US" altLang="zh-CN" sz="1600" dirty="0">
                <a:solidFill>
                  <a:srgbClr val="E0E2E6">
                    <a:alpha val="60000"/>
                  </a:srgbClr>
                </a:solidFill>
                <a:latin typeface="黑体" panose="02010609060101010101" charset="-122"/>
                <a:ea typeface="黑体" panose="02010609060101010101" charset="-122"/>
                <a:cs typeface="MiSans" pitchFamily="34" charset="-120"/>
              </a:rPr>
              <a:t> </a:t>
            </a:r>
            <a:r>
              <a:rPr lang="zh-CN" altLang="en-US" sz="1600" dirty="0">
                <a:solidFill>
                  <a:srgbClr val="E0E2E6">
                    <a:alpha val="60000"/>
                  </a:srgbClr>
                </a:solidFill>
                <a:latin typeface="黑体" panose="02010609060101010101" charset="-122"/>
                <a:ea typeface="黑体" panose="02010609060101010101" charset="-122"/>
                <a:cs typeface="MiSans" pitchFamily="34" charset="-120"/>
              </a:rPr>
              <a:t>数据科学与</a:t>
            </a:r>
            <a:r>
              <a:rPr lang="zh-CN" altLang="en-US" sz="1600" dirty="0">
                <a:solidFill>
                  <a:srgbClr val="E0E2E6">
                    <a:alpha val="60000"/>
                  </a:srgbClr>
                </a:solidFill>
                <a:latin typeface="黑体" panose="02010609060101010101" charset="-122"/>
                <a:ea typeface="黑体" panose="02010609060101010101" charset="-122"/>
                <a:cs typeface="MiSans" pitchFamily="34" charset="-120"/>
              </a:rPr>
              <a:t>工程学院</a:t>
            </a:r>
            <a:endParaRPr lang="zh-CN" altLang="en-US" sz="1600" dirty="0">
              <a:solidFill>
                <a:srgbClr val="E0E2E6">
                  <a:alpha val="60000"/>
                </a:srgbClr>
              </a:solidFill>
              <a:latin typeface="黑体" panose="02010609060101010101" charset="-122"/>
              <a:ea typeface="黑体" panose="02010609060101010101" charset="-122"/>
              <a:cs typeface="MiSans" pitchFamily="34" charset="-120"/>
            </a:endParaRPr>
          </a:p>
        </p:txBody>
      </p:sp>
      <p:sp>
        <p:nvSpPr>
          <p:cNvPr id="22" name="Text 19"/>
          <p:cNvSpPr/>
          <p:nvPr/>
        </p:nvSpPr>
        <p:spPr>
          <a:xfrm>
            <a:off x="15023306" y="8331200"/>
            <a:ext cx="825500" cy="304800"/>
          </a:xfrm>
          <a:prstGeom prst="rect">
            <a:avLst/>
          </a:prstGeom>
          <a:noFill/>
        </p:spPr>
        <p:txBody>
          <a:bodyPr wrap="square" lIns="0" tIns="0" rIns="0" bIns="0" rtlCol="0" anchor="ctr"/>
          <a:lstStyle/>
          <a:p>
            <a:pPr>
              <a:lnSpc>
                <a:spcPct val="130000"/>
              </a:lnSpc>
            </a:pPr>
            <a:r>
              <a:rPr lang="en-US" sz="1600" dirty="0">
                <a:solidFill>
                  <a:srgbClr val="E0E2E6">
                    <a:alpha val="40000"/>
                  </a:srgbClr>
                </a:solidFill>
                <a:latin typeface="MiSans" pitchFamily="34" charset="-122"/>
                <a:ea typeface="MiSans" pitchFamily="34" charset="-122"/>
                <a:cs typeface="MiSans" pitchFamily="34" charset="-120"/>
              </a:rPr>
              <a:t>2025.12</a:t>
            </a:r>
            <a:endParaRPr lang="en-US" sz="1600" dirty="0"/>
          </a:p>
        </p:txBody>
      </p:sp>
      <p:grpSp>
        <p:nvGrpSpPr>
          <p:cNvPr id="24" name="组合 23"/>
          <p:cNvGrpSpPr>
            <a:grpSpLocks noChangeAspect="1"/>
          </p:cNvGrpSpPr>
          <p:nvPr/>
        </p:nvGrpSpPr>
        <p:grpSpPr>
          <a:xfrm>
            <a:off x="473075" y="8063230"/>
            <a:ext cx="6155690" cy="339725"/>
            <a:chOff x="630" y="6171"/>
            <a:chExt cx="23520" cy="3440"/>
          </a:xfrm>
        </p:grpSpPr>
        <p:sp>
          <p:nvSpPr>
            <p:cNvPr id="25" name="Shape 3"/>
            <p:cNvSpPr/>
            <p:nvPr>
              <p:custDataLst>
                <p:tags r:id="rId2"/>
              </p:custDataLst>
            </p:nvPr>
          </p:nvSpPr>
          <p:spPr>
            <a:xfrm>
              <a:off x="630" y="6171"/>
              <a:ext cx="11720" cy="3440"/>
            </a:xfrm>
            <a:custGeom>
              <a:avLst/>
              <a:gdLst/>
              <a:ahLst/>
              <a:cxnLst/>
              <a:rect l="l" t="t" r="r" b="b"/>
              <a:pathLst>
                <a:path w="7442200" h="2184400">
                  <a:moveTo>
                    <a:pt x="50800" y="0"/>
                  </a:moveTo>
                  <a:lnTo>
                    <a:pt x="7289794" y="0"/>
                  </a:lnTo>
                  <a:cubicBezTo>
                    <a:pt x="7373966" y="0"/>
                    <a:pt x="7442200" y="68234"/>
                    <a:pt x="7442200" y="152406"/>
                  </a:cubicBezTo>
                  <a:lnTo>
                    <a:pt x="7442200" y="2031994"/>
                  </a:lnTo>
                  <a:cubicBezTo>
                    <a:pt x="7442200" y="2116166"/>
                    <a:pt x="7373966" y="2184400"/>
                    <a:pt x="7289794" y="2184400"/>
                  </a:cubicBezTo>
                  <a:lnTo>
                    <a:pt x="50800" y="2184400"/>
                  </a:lnTo>
                  <a:cubicBezTo>
                    <a:pt x="22763" y="2184400"/>
                    <a:pt x="0" y="2161637"/>
                    <a:pt x="0" y="2133600"/>
                  </a:cubicBezTo>
                  <a:lnTo>
                    <a:pt x="0" y="50800"/>
                  </a:lnTo>
                  <a:cubicBezTo>
                    <a:pt x="0" y="22763"/>
                    <a:pt x="22763" y="0"/>
                    <a:pt x="50800" y="0"/>
                  </a:cubicBezTo>
                  <a:close/>
                </a:path>
              </a:pathLst>
            </a:custGeom>
            <a:gradFill flip="none" rotWithShape="1">
              <a:gsLst>
                <a:gs pos="0">
                  <a:srgbClr val="3D8F8A">
                    <a:alpha val="15000"/>
                  </a:srgbClr>
                </a:gs>
                <a:gs pos="100000">
                  <a:srgbClr val="000000">
                    <a:alpha val="0"/>
                  </a:srgbClr>
                </a:gs>
              </a:gsLst>
              <a:lin ang="2700000" scaled="1"/>
            </a:gradFill>
          </p:spPr>
        </p:sp>
        <p:sp>
          <p:nvSpPr>
            <p:cNvPr id="26" name="Shape 4"/>
            <p:cNvSpPr/>
            <p:nvPr>
              <p:custDataLst>
                <p:tags r:id="rId3"/>
              </p:custDataLst>
            </p:nvPr>
          </p:nvSpPr>
          <p:spPr>
            <a:xfrm>
              <a:off x="630" y="6171"/>
              <a:ext cx="80" cy="3440"/>
            </a:xfrm>
            <a:custGeom>
              <a:avLst/>
              <a:gdLst/>
              <a:ahLst/>
              <a:cxnLst/>
              <a:rect l="l" t="t" r="r" b="b"/>
              <a:pathLst>
                <a:path w="50800" h="2184400">
                  <a:moveTo>
                    <a:pt x="50800" y="0"/>
                  </a:moveTo>
                  <a:lnTo>
                    <a:pt x="50800" y="0"/>
                  </a:lnTo>
                  <a:lnTo>
                    <a:pt x="50800" y="2184400"/>
                  </a:lnTo>
                  <a:lnTo>
                    <a:pt x="50800" y="2184400"/>
                  </a:lnTo>
                  <a:cubicBezTo>
                    <a:pt x="22763" y="2184400"/>
                    <a:pt x="0" y="2161637"/>
                    <a:pt x="0" y="2133600"/>
                  </a:cubicBezTo>
                  <a:lnTo>
                    <a:pt x="0" y="50800"/>
                  </a:lnTo>
                  <a:cubicBezTo>
                    <a:pt x="0" y="22763"/>
                    <a:pt x="22763" y="0"/>
                    <a:pt x="50800" y="0"/>
                  </a:cubicBezTo>
                  <a:close/>
                </a:path>
              </a:pathLst>
            </a:custGeom>
            <a:solidFill>
              <a:srgbClr val="3D8F8A"/>
            </a:solidFill>
          </p:spPr>
        </p:sp>
        <p:sp>
          <p:nvSpPr>
            <p:cNvPr id="27" name="Shape 5"/>
            <p:cNvSpPr/>
            <p:nvPr>
              <p:custDataLst>
                <p:tags r:id="rId4"/>
              </p:custDataLst>
            </p:nvPr>
          </p:nvSpPr>
          <p:spPr>
            <a:xfrm>
              <a:off x="1150" y="6651"/>
              <a:ext cx="1280" cy="1280"/>
            </a:xfrm>
            <a:custGeom>
              <a:avLst/>
              <a:gdLst/>
              <a:ahLst/>
              <a:cxnLst/>
              <a:rect l="l" t="t" r="r" b="b"/>
              <a:pathLst>
                <a:path w="812800" h="812800">
                  <a:moveTo>
                    <a:pt x="152400" y="0"/>
                  </a:moveTo>
                  <a:lnTo>
                    <a:pt x="660400" y="0"/>
                  </a:lnTo>
                  <a:cubicBezTo>
                    <a:pt x="744512" y="0"/>
                    <a:pt x="812800" y="68288"/>
                    <a:pt x="812800" y="152400"/>
                  </a:cubicBezTo>
                  <a:lnTo>
                    <a:pt x="812800" y="660400"/>
                  </a:lnTo>
                  <a:cubicBezTo>
                    <a:pt x="812800" y="744512"/>
                    <a:pt x="744512" y="812800"/>
                    <a:pt x="660400" y="812800"/>
                  </a:cubicBezTo>
                  <a:lnTo>
                    <a:pt x="152400" y="812800"/>
                  </a:lnTo>
                  <a:cubicBezTo>
                    <a:pt x="68288" y="812800"/>
                    <a:pt x="0" y="744512"/>
                    <a:pt x="0" y="660400"/>
                  </a:cubicBezTo>
                  <a:lnTo>
                    <a:pt x="0" y="152400"/>
                  </a:lnTo>
                  <a:cubicBezTo>
                    <a:pt x="0" y="68288"/>
                    <a:pt x="68288" y="0"/>
                    <a:pt x="152400" y="0"/>
                  </a:cubicBezTo>
                  <a:close/>
                </a:path>
              </a:pathLst>
            </a:custGeom>
            <a:solidFill>
              <a:srgbClr val="3D8F8A"/>
            </a:solidFill>
          </p:spPr>
        </p:sp>
        <p:sp>
          <p:nvSpPr>
            <p:cNvPr id="28" name="Text 7"/>
            <p:cNvSpPr/>
            <p:nvPr>
              <p:custDataLst>
                <p:tags r:id="rId5"/>
              </p:custDataLst>
            </p:nvPr>
          </p:nvSpPr>
          <p:spPr>
            <a:xfrm>
              <a:off x="2750" y="6651"/>
              <a:ext cx="9360" cy="640"/>
            </a:xfrm>
            <a:prstGeom prst="rect">
              <a:avLst/>
            </a:prstGeom>
            <a:noFill/>
          </p:spPr>
          <p:txBody>
            <a:bodyPr wrap="square" lIns="0" tIns="0" rIns="0" bIns="0" rtlCol="0" anchor="ctr"/>
            <a:lstStyle/>
            <a:p>
              <a:pPr>
                <a:lnSpc>
                  <a:spcPct val="110000"/>
                </a:lnSpc>
              </a:pPr>
              <a:r>
                <a:rPr lang="zh-CN" altLang="en-US" b="1" dirty="0">
                  <a:solidFill>
                    <a:srgbClr val="E0E2E6"/>
                  </a:solidFill>
                  <a:latin typeface="微软雅黑" panose="020B0503020204020204" charset="-122"/>
                  <a:ea typeface="微软雅黑" panose="020B0503020204020204" charset="-122"/>
                  <a:cs typeface="阿里妈妈数黑体" pitchFamily="34" charset="-120"/>
                </a:rPr>
                <a:t>郭一心</a:t>
              </a:r>
              <a:endParaRPr lang="zh-CN" altLang="en-US" b="1" dirty="0">
                <a:solidFill>
                  <a:srgbClr val="E0E2E6"/>
                </a:solidFill>
                <a:latin typeface="微软雅黑" panose="020B0503020204020204" charset="-122"/>
                <a:ea typeface="微软雅黑" panose="020B0503020204020204" charset="-122"/>
                <a:cs typeface="阿里妈妈数黑体" pitchFamily="34" charset="-120"/>
              </a:endParaRPr>
            </a:p>
          </p:txBody>
        </p:sp>
        <p:sp>
          <p:nvSpPr>
            <p:cNvPr id="29" name="Shape 11"/>
            <p:cNvSpPr/>
            <p:nvPr>
              <p:custDataLst>
                <p:tags r:id="rId6"/>
              </p:custDataLst>
            </p:nvPr>
          </p:nvSpPr>
          <p:spPr>
            <a:xfrm>
              <a:off x="12430" y="6171"/>
              <a:ext cx="11720" cy="3440"/>
            </a:xfrm>
            <a:custGeom>
              <a:avLst/>
              <a:gdLst/>
              <a:ahLst/>
              <a:cxnLst/>
              <a:rect l="l" t="t" r="r" b="b"/>
              <a:pathLst>
                <a:path w="7442200" h="2184400">
                  <a:moveTo>
                    <a:pt x="50800" y="0"/>
                  </a:moveTo>
                  <a:lnTo>
                    <a:pt x="7289794" y="0"/>
                  </a:lnTo>
                  <a:cubicBezTo>
                    <a:pt x="7373966" y="0"/>
                    <a:pt x="7442200" y="68234"/>
                    <a:pt x="7442200" y="152406"/>
                  </a:cubicBezTo>
                  <a:lnTo>
                    <a:pt x="7442200" y="2031994"/>
                  </a:lnTo>
                  <a:cubicBezTo>
                    <a:pt x="7442200" y="2116166"/>
                    <a:pt x="7373966" y="2184400"/>
                    <a:pt x="7289794" y="2184400"/>
                  </a:cubicBezTo>
                  <a:lnTo>
                    <a:pt x="50800" y="2184400"/>
                  </a:lnTo>
                  <a:cubicBezTo>
                    <a:pt x="22763" y="2184400"/>
                    <a:pt x="0" y="2161637"/>
                    <a:pt x="0" y="2133600"/>
                  </a:cubicBezTo>
                  <a:lnTo>
                    <a:pt x="0" y="50800"/>
                  </a:lnTo>
                  <a:cubicBezTo>
                    <a:pt x="0" y="22763"/>
                    <a:pt x="22763" y="0"/>
                    <a:pt x="50800" y="0"/>
                  </a:cubicBezTo>
                  <a:close/>
                </a:path>
              </a:pathLst>
            </a:custGeom>
            <a:gradFill flip="none" rotWithShape="1">
              <a:gsLst>
                <a:gs pos="0">
                  <a:srgbClr val="E5A044">
                    <a:alpha val="15000"/>
                  </a:srgbClr>
                </a:gs>
                <a:gs pos="100000">
                  <a:srgbClr val="000000">
                    <a:alpha val="0"/>
                  </a:srgbClr>
                </a:gs>
              </a:gsLst>
              <a:lin ang="2700000" scaled="1"/>
            </a:gradFill>
          </p:spPr>
        </p:sp>
        <p:sp>
          <p:nvSpPr>
            <p:cNvPr id="30" name="Shape 12"/>
            <p:cNvSpPr/>
            <p:nvPr>
              <p:custDataLst>
                <p:tags r:id="rId7"/>
              </p:custDataLst>
            </p:nvPr>
          </p:nvSpPr>
          <p:spPr>
            <a:xfrm>
              <a:off x="12430" y="6171"/>
              <a:ext cx="80" cy="3440"/>
            </a:xfrm>
            <a:custGeom>
              <a:avLst/>
              <a:gdLst/>
              <a:ahLst/>
              <a:cxnLst/>
              <a:rect l="l" t="t" r="r" b="b"/>
              <a:pathLst>
                <a:path w="50800" h="2184400">
                  <a:moveTo>
                    <a:pt x="50800" y="0"/>
                  </a:moveTo>
                  <a:lnTo>
                    <a:pt x="50800" y="0"/>
                  </a:lnTo>
                  <a:lnTo>
                    <a:pt x="50800" y="2184400"/>
                  </a:lnTo>
                  <a:lnTo>
                    <a:pt x="50800" y="2184400"/>
                  </a:lnTo>
                  <a:cubicBezTo>
                    <a:pt x="22763" y="2184400"/>
                    <a:pt x="0" y="2161637"/>
                    <a:pt x="0" y="2133600"/>
                  </a:cubicBezTo>
                  <a:lnTo>
                    <a:pt x="0" y="50800"/>
                  </a:lnTo>
                  <a:cubicBezTo>
                    <a:pt x="0" y="22763"/>
                    <a:pt x="22763" y="0"/>
                    <a:pt x="50800" y="0"/>
                  </a:cubicBezTo>
                  <a:close/>
                </a:path>
              </a:pathLst>
            </a:custGeom>
            <a:solidFill>
              <a:srgbClr val="E5A044"/>
            </a:solidFill>
          </p:spPr>
        </p:sp>
        <p:sp>
          <p:nvSpPr>
            <p:cNvPr id="31" name="Shape 13"/>
            <p:cNvSpPr/>
            <p:nvPr>
              <p:custDataLst>
                <p:tags r:id="rId8"/>
              </p:custDataLst>
            </p:nvPr>
          </p:nvSpPr>
          <p:spPr>
            <a:xfrm>
              <a:off x="12950" y="6651"/>
              <a:ext cx="1280" cy="1280"/>
            </a:xfrm>
            <a:custGeom>
              <a:avLst/>
              <a:gdLst/>
              <a:ahLst/>
              <a:cxnLst/>
              <a:rect l="l" t="t" r="r" b="b"/>
              <a:pathLst>
                <a:path w="812800" h="812800">
                  <a:moveTo>
                    <a:pt x="152400" y="0"/>
                  </a:moveTo>
                  <a:lnTo>
                    <a:pt x="660400" y="0"/>
                  </a:lnTo>
                  <a:cubicBezTo>
                    <a:pt x="744512" y="0"/>
                    <a:pt x="812800" y="68288"/>
                    <a:pt x="812800" y="152400"/>
                  </a:cubicBezTo>
                  <a:lnTo>
                    <a:pt x="812800" y="660400"/>
                  </a:lnTo>
                  <a:cubicBezTo>
                    <a:pt x="812800" y="744512"/>
                    <a:pt x="744512" y="812800"/>
                    <a:pt x="660400" y="812800"/>
                  </a:cubicBezTo>
                  <a:lnTo>
                    <a:pt x="152400" y="812800"/>
                  </a:lnTo>
                  <a:cubicBezTo>
                    <a:pt x="68288" y="812800"/>
                    <a:pt x="0" y="744512"/>
                    <a:pt x="0" y="660400"/>
                  </a:cubicBezTo>
                  <a:lnTo>
                    <a:pt x="0" y="152400"/>
                  </a:lnTo>
                  <a:cubicBezTo>
                    <a:pt x="0" y="68288"/>
                    <a:pt x="68288" y="0"/>
                    <a:pt x="152400" y="0"/>
                  </a:cubicBezTo>
                  <a:close/>
                </a:path>
              </a:pathLst>
            </a:custGeom>
            <a:solidFill>
              <a:srgbClr val="E5A044"/>
            </a:solidFill>
          </p:spPr>
        </p:sp>
        <p:sp>
          <p:nvSpPr>
            <p:cNvPr id="32" name="Text 15"/>
            <p:cNvSpPr/>
            <p:nvPr>
              <p:custDataLst>
                <p:tags r:id="rId9"/>
              </p:custDataLst>
            </p:nvPr>
          </p:nvSpPr>
          <p:spPr>
            <a:xfrm>
              <a:off x="14550" y="6651"/>
              <a:ext cx="9360" cy="640"/>
            </a:xfrm>
            <a:prstGeom prst="rect">
              <a:avLst/>
            </a:prstGeom>
            <a:noFill/>
          </p:spPr>
          <p:txBody>
            <a:bodyPr wrap="square" lIns="0" tIns="0" rIns="0" bIns="0" rtlCol="0" anchor="ctr"/>
            <a:lstStyle/>
            <a:p>
              <a:pPr>
                <a:lnSpc>
                  <a:spcPct val="110000"/>
                </a:lnSpc>
              </a:pPr>
              <a:r>
                <a:rPr lang="zh-CN" altLang="en-US" b="1" dirty="0">
                  <a:solidFill>
                    <a:srgbClr val="E0E2E6"/>
                  </a:solidFill>
                  <a:latin typeface="微软雅黑" panose="020B0503020204020204" charset="-122"/>
                  <a:ea typeface="微软雅黑" panose="020B0503020204020204" charset="-122"/>
                  <a:cs typeface="阿里妈妈数黑体" pitchFamily="34" charset="-120"/>
                </a:rPr>
                <a:t>高嘉泽</a:t>
              </a:r>
              <a:endParaRPr lang="zh-CN" altLang="en-US" b="1" dirty="0">
                <a:solidFill>
                  <a:srgbClr val="E0E2E6"/>
                </a:solidFill>
                <a:latin typeface="微软雅黑" panose="020B0503020204020204" charset="-122"/>
                <a:ea typeface="微软雅黑" panose="020B0503020204020204" charset="-122"/>
                <a:cs typeface="阿里妈妈数黑体" pitchFamily="34" charset="-120"/>
              </a:endParaRPr>
            </a:p>
          </p:txBody>
        </p:sp>
      </p:grpSp>
      <p:pic>
        <p:nvPicPr>
          <p:cNvPr id="33" name="图片 32"/>
          <p:cNvPicPr>
            <a:picLocks noChangeAspect="1"/>
          </p:cNvPicPr>
          <p:nvPr/>
        </p:nvPicPr>
        <p:blipFill>
          <a:blip r:embed="rId10"/>
          <a:stretch>
            <a:fillRect/>
          </a:stretch>
        </p:blipFill>
        <p:spPr>
          <a:xfrm>
            <a:off x="14436090" y="287655"/>
            <a:ext cx="1412875" cy="1412875"/>
          </a:xfrm>
          <a:prstGeom prst="rect">
            <a:avLst/>
          </a:prstGeom>
        </p:spPr>
      </p:pic>
      <p:sp>
        <p:nvSpPr>
          <p:cNvPr id="34" name="文本框 33"/>
          <p:cNvSpPr txBox="1"/>
          <p:nvPr/>
        </p:nvSpPr>
        <p:spPr>
          <a:xfrm>
            <a:off x="494030" y="4514215"/>
            <a:ext cx="6120765" cy="398780"/>
          </a:xfrm>
          <a:prstGeom prst="rect">
            <a:avLst/>
          </a:prstGeom>
          <a:noFill/>
        </p:spPr>
        <p:txBody>
          <a:bodyPr wrap="square" rtlCol="0">
            <a:spAutoFit/>
          </a:bodyPr>
          <a:p>
            <a:r>
              <a:rPr lang="zh-CN" altLang="en-US" sz="2000" dirty="0">
                <a:solidFill>
                  <a:srgbClr val="E0E2E6">
                    <a:alpha val="80000"/>
                  </a:srgbClr>
                </a:solidFill>
                <a:latin typeface="微软雅黑" panose="020B0503020204020204" charset="-122"/>
                <a:ea typeface="微软雅黑" panose="020B0503020204020204" charset="-122"/>
                <a:cs typeface="MiSans" pitchFamily="34" charset="-120"/>
                <a:sym typeface="+mn-ea"/>
              </a:rPr>
              <a:t>赛题选择：开源社区运营相关的工具与服务作品</a:t>
            </a:r>
            <a:endParaRPr lang="zh-CN" altLang="en-US" sz="2000" dirty="0">
              <a:solidFill>
                <a:srgbClr val="E0E2E6">
                  <a:alpha val="80000"/>
                </a:srgbClr>
              </a:solidFill>
              <a:latin typeface="微软雅黑" panose="020B0503020204020204" charset="-122"/>
              <a:ea typeface="微软雅黑" panose="020B0503020204020204" charset="-122"/>
              <a:cs typeface="MiSans" pitchFamily="34" charset="-120"/>
              <a:sym typeface="+mn-ea"/>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508000" y="635000"/>
            <a:ext cx="812800" cy="50800"/>
          </a:xfrm>
          <a:custGeom>
            <a:avLst/>
            <a:gdLst/>
            <a:ahLst/>
            <a:cxnLst/>
            <a:rect l="l" t="t" r="r" b="b"/>
            <a:pathLst>
              <a:path w="812800" h="50800">
                <a:moveTo>
                  <a:pt x="0" y="0"/>
                </a:moveTo>
                <a:lnTo>
                  <a:pt x="812800" y="0"/>
                </a:lnTo>
                <a:lnTo>
                  <a:pt x="812800" y="50800"/>
                </a:lnTo>
                <a:lnTo>
                  <a:pt x="0" y="50800"/>
                </a:lnTo>
                <a:lnTo>
                  <a:pt x="0" y="0"/>
                </a:lnTo>
                <a:close/>
              </a:path>
            </a:pathLst>
          </a:custGeom>
          <a:solidFill>
            <a:srgbClr val="3D8F8A"/>
          </a:solidFill>
        </p:spPr>
      </p:sp>
      <p:sp>
        <p:nvSpPr>
          <p:cNvPr id="3" name="Text 1"/>
          <p:cNvSpPr/>
          <p:nvPr/>
        </p:nvSpPr>
        <p:spPr>
          <a:xfrm>
            <a:off x="1524000" y="508000"/>
            <a:ext cx="2171700" cy="304800"/>
          </a:xfrm>
          <a:prstGeom prst="rect">
            <a:avLst/>
          </a:prstGeom>
          <a:noFill/>
        </p:spPr>
        <p:txBody>
          <a:bodyPr wrap="square" lIns="0" tIns="0" rIns="0" bIns="0" rtlCol="0" anchor="ctr"/>
          <a:lstStyle/>
          <a:p>
            <a:pPr>
              <a:lnSpc>
                <a:spcPct val="130000"/>
              </a:lnSpc>
            </a:pPr>
            <a:r>
              <a:rPr lang="en-US" sz="1600" b="1" kern="0" spc="80" dirty="0">
                <a:solidFill>
                  <a:srgbClr val="3D8F8A"/>
                </a:solidFill>
                <a:latin typeface="MiSans" pitchFamily="34" charset="-122"/>
                <a:ea typeface="MiSans" pitchFamily="34" charset="-122"/>
                <a:cs typeface="MiSans" pitchFamily="34" charset="-120"/>
              </a:rPr>
              <a:t>SCHEME OVERVIEW</a:t>
            </a:r>
            <a:endParaRPr lang="en-US" sz="1600" dirty="0"/>
          </a:p>
        </p:txBody>
      </p:sp>
      <p:sp>
        <p:nvSpPr>
          <p:cNvPr id="4" name="Text 2"/>
          <p:cNvSpPr/>
          <p:nvPr/>
        </p:nvSpPr>
        <p:spPr>
          <a:xfrm>
            <a:off x="508000" y="965200"/>
            <a:ext cx="15544800" cy="609600"/>
          </a:xfrm>
          <a:prstGeom prst="rect">
            <a:avLst/>
          </a:prstGeom>
          <a:noFill/>
        </p:spPr>
        <p:txBody>
          <a:bodyPr wrap="square" lIns="0" tIns="0" rIns="0" bIns="0" rtlCol="0" anchor="ctr"/>
          <a:lstStyle/>
          <a:p>
            <a:pPr>
              <a:lnSpc>
                <a:spcPct val="80000"/>
              </a:lnSpc>
            </a:pPr>
            <a:r>
              <a:rPr lang="en-US" sz="4800" b="1" dirty="0">
                <a:solidFill>
                  <a:srgbClr val="E0E2E6"/>
                </a:solidFill>
                <a:latin typeface="阿里妈妈数黑体" pitchFamily="34" charset="-122"/>
                <a:ea typeface="阿里妈妈数黑体" pitchFamily="34" charset="-122"/>
                <a:cs typeface="阿里妈妈数黑体" pitchFamily="34" charset="-120"/>
              </a:rPr>
              <a:t>方案概览</a:t>
            </a:r>
            <a:endParaRPr lang="en-US" sz="1600" dirty="0"/>
          </a:p>
        </p:txBody>
      </p:sp>
      <p:sp>
        <p:nvSpPr>
          <p:cNvPr id="5" name="Shape 3"/>
          <p:cNvSpPr/>
          <p:nvPr>
            <p:custDataLst>
              <p:tags r:id="rId1"/>
            </p:custDataLst>
          </p:nvPr>
        </p:nvSpPr>
        <p:spPr>
          <a:xfrm>
            <a:off x="533400" y="1981200"/>
            <a:ext cx="7442200" cy="2184400"/>
          </a:xfrm>
          <a:custGeom>
            <a:avLst/>
            <a:gdLst/>
            <a:ahLst/>
            <a:cxnLst/>
            <a:rect l="l" t="t" r="r" b="b"/>
            <a:pathLst>
              <a:path w="7442200" h="2184400">
                <a:moveTo>
                  <a:pt x="50800" y="0"/>
                </a:moveTo>
                <a:lnTo>
                  <a:pt x="7289794" y="0"/>
                </a:lnTo>
                <a:cubicBezTo>
                  <a:pt x="7373966" y="0"/>
                  <a:pt x="7442200" y="68234"/>
                  <a:pt x="7442200" y="152406"/>
                </a:cubicBezTo>
                <a:lnTo>
                  <a:pt x="7442200" y="2031994"/>
                </a:lnTo>
                <a:cubicBezTo>
                  <a:pt x="7442200" y="2116166"/>
                  <a:pt x="7373966" y="2184400"/>
                  <a:pt x="7289794" y="2184400"/>
                </a:cubicBezTo>
                <a:lnTo>
                  <a:pt x="50800" y="2184400"/>
                </a:lnTo>
                <a:cubicBezTo>
                  <a:pt x="22763" y="2184400"/>
                  <a:pt x="0" y="2161637"/>
                  <a:pt x="0" y="2133600"/>
                </a:cubicBezTo>
                <a:lnTo>
                  <a:pt x="0" y="50800"/>
                </a:lnTo>
                <a:cubicBezTo>
                  <a:pt x="0" y="22763"/>
                  <a:pt x="22763" y="0"/>
                  <a:pt x="50800" y="0"/>
                </a:cubicBezTo>
                <a:close/>
              </a:path>
            </a:pathLst>
          </a:custGeom>
          <a:gradFill flip="none" rotWithShape="1">
            <a:gsLst>
              <a:gs pos="0">
                <a:srgbClr val="3D8F8A">
                  <a:alpha val="15000"/>
                </a:srgbClr>
              </a:gs>
              <a:gs pos="100000">
                <a:srgbClr val="000000">
                  <a:alpha val="0"/>
                </a:srgbClr>
              </a:gs>
            </a:gsLst>
            <a:lin ang="2700000" scaled="1"/>
          </a:gradFill>
        </p:spPr>
      </p:sp>
      <p:sp>
        <p:nvSpPr>
          <p:cNvPr id="6" name="Shape 4"/>
          <p:cNvSpPr/>
          <p:nvPr>
            <p:custDataLst>
              <p:tags r:id="rId2"/>
            </p:custDataLst>
          </p:nvPr>
        </p:nvSpPr>
        <p:spPr>
          <a:xfrm>
            <a:off x="533400" y="1981200"/>
            <a:ext cx="50800" cy="2184400"/>
          </a:xfrm>
          <a:custGeom>
            <a:avLst/>
            <a:gdLst/>
            <a:ahLst/>
            <a:cxnLst/>
            <a:rect l="l" t="t" r="r" b="b"/>
            <a:pathLst>
              <a:path w="50800" h="2184400">
                <a:moveTo>
                  <a:pt x="50800" y="0"/>
                </a:moveTo>
                <a:lnTo>
                  <a:pt x="50800" y="0"/>
                </a:lnTo>
                <a:lnTo>
                  <a:pt x="50800" y="2184400"/>
                </a:lnTo>
                <a:lnTo>
                  <a:pt x="50800" y="2184400"/>
                </a:lnTo>
                <a:cubicBezTo>
                  <a:pt x="22763" y="2184400"/>
                  <a:pt x="0" y="2161637"/>
                  <a:pt x="0" y="2133600"/>
                </a:cubicBezTo>
                <a:lnTo>
                  <a:pt x="0" y="50800"/>
                </a:lnTo>
                <a:cubicBezTo>
                  <a:pt x="0" y="22763"/>
                  <a:pt x="22763" y="0"/>
                  <a:pt x="50800" y="0"/>
                </a:cubicBezTo>
                <a:close/>
              </a:path>
            </a:pathLst>
          </a:custGeom>
          <a:solidFill>
            <a:srgbClr val="3D8F8A"/>
          </a:solidFill>
        </p:spPr>
      </p:sp>
      <p:sp>
        <p:nvSpPr>
          <p:cNvPr id="7" name="Shape 5"/>
          <p:cNvSpPr/>
          <p:nvPr>
            <p:custDataLst>
              <p:tags r:id="rId3"/>
            </p:custDataLst>
          </p:nvPr>
        </p:nvSpPr>
        <p:spPr>
          <a:xfrm>
            <a:off x="863600" y="2286000"/>
            <a:ext cx="812800" cy="812800"/>
          </a:xfrm>
          <a:custGeom>
            <a:avLst/>
            <a:gdLst/>
            <a:ahLst/>
            <a:cxnLst/>
            <a:rect l="l" t="t" r="r" b="b"/>
            <a:pathLst>
              <a:path w="812800" h="812800">
                <a:moveTo>
                  <a:pt x="152400" y="0"/>
                </a:moveTo>
                <a:lnTo>
                  <a:pt x="660400" y="0"/>
                </a:lnTo>
                <a:cubicBezTo>
                  <a:pt x="744512" y="0"/>
                  <a:pt x="812800" y="68288"/>
                  <a:pt x="812800" y="152400"/>
                </a:cubicBezTo>
                <a:lnTo>
                  <a:pt x="812800" y="660400"/>
                </a:lnTo>
                <a:cubicBezTo>
                  <a:pt x="812800" y="744512"/>
                  <a:pt x="744512" y="812800"/>
                  <a:pt x="660400" y="812800"/>
                </a:cubicBezTo>
                <a:lnTo>
                  <a:pt x="152400" y="812800"/>
                </a:lnTo>
                <a:cubicBezTo>
                  <a:pt x="68288" y="812800"/>
                  <a:pt x="0" y="744512"/>
                  <a:pt x="0" y="660400"/>
                </a:cubicBezTo>
                <a:lnTo>
                  <a:pt x="0" y="152400"/>
                </a:lnTo>
                <a:cubicBezTo>
                  <a:pt x="0" y="68288"/>
                  <a:pt x="68288" y="0"/>
                  <a:pt x="152400" y="0"/>
                </a:cubicBezTo>
                <a:close/>
              </a:path>
            </a:pathLst>
          </a:custGeom>
          <a:solidFill>
            <a:srgbClr val="3D8F8A"/>
          </a:solidFill>
        </p:spPr>
      </p:sp>
      <p:sp>
        <p:nvSpPr>
          <p:cNvPr id="8" name="Text 6"/>
          <p:cNvSpPr/>
          <p:nvPr>
            <p:custDataLst>
              <p:tags r:id="rId4"/>
            </p:custDataLst>
          </p:nvPr>
        </p:nvSpPr>
        <p:spPr>
          <a:xfrm>
            <a:off x="768350" y="2286000"/>
            <a:ext cx="1003300" cy="812800"/>
          </a:xfrm>
          <a:prstGeom prst="rect">
            <a:avLst/>
          </a:prstGeom>
          <a:noFill/>
        </p:spPr>
        <p:txBody>
          <a:bodyPr wrap="square" lIns="0" tIns="0" rIns="0" bIns="0" rtlCol="0" anchor="ctr"/>
          <a:lstStyle/>
          <a:p>
            <a:pPr algn="ctr">
              <a:lnSpc>
                <a:spcPct val="100000"/>
              </a:lnSpc>
            </a:pPr>
            <a:r>
              <a:rPr lang="en-US" sz="3000" b="1" dirty="0">
                <a:solidFill>
                  <a:srgbClr val="FFFFFF"/>
                </a:solidFill>
                <a:latin typeface="阿里妈妈数黑体" pitchFamily="34" charset="-122"/>
                <a:ea typeface="阿里妈妈数黑体" pitchFamily="34" charset="-122"/>
                <a:cs typeface="阿里妈妈数黑体" pitchFamily="34" charset="-120"/>
              </a:rPr>
              <a:t>01</a:t>
            </a:r>
            <a:endParaRPr lang="en-US" sz="1600" dirty="0"/>
          </a:p>
        </p:txBody>
      </p:sp>
      <p:sp>
        <p:nvSpPr>
          <p:cNvPr id="9" name="Text 7"/>
          <p:cNvSpPr/>
          <p:nvPr>
            <p:custDataLst>
              <p:tags r:id="rId5"/>
            </p:custDataLst>
          </p:nvPr>
        </p:nvSpPr>
        <p:spPr>
          <a:xfrm>
            <a:off x="1879600" y="2286000"/>
            <a:ext cx="5943600" cy="406400"/>
          </a:xfrm>
          <a:prstGeom prst="rect">
            <a:avLst/>
          </a:prstGeom>
          <a:noFill/>
        </p:spPr>
        <p:txBody>
          <a:bodyPr wrap="square" lIns="0" tIns="0" rIns="0" bIns="0" rtlCol="0" anchor="ctr"/>
          <a:lstStyle/>
          <a:p>
            <a:pPr>
              <a:lnSpc>
                <a:spcPct val="110000"/>
              </a:lnSpc>
            </a:pPr>
            <a:r>
              <a:rPr lang="en-US" sz="2400" b="1" dirty="0">
                <a:solidFill>
                  <a:srgbClr val="E0E2E6"/>
                </a:solidFill>
                <a:latin typeface="阿里妈妈数黑体" pitchFamily="34" charset="-122"/>
                <a:ea typeface="阿里妈妈数黑体" pitchFamily="34" charset="-122"/>
                <a:cs typeface="阿里妈妈数黑体" pitchFamily="34" charset="-120"/>
              </a:rPr>
              <a:t>项目主题与价值</a:t>
            </a:r>
            <a:endParaRPr lang="en-US" sz="1600" dirty="0"/>
          </a:p>
        </p:txBody>
      </p:sp>
      <p:sp>
        <p:nvSpPr>
          <p:cNvPr id="10" name="Text 8"/>
          <p:cNvSpPr/>
          <p:nvPr>
            <p:custDataLst>
              <p:tags r:id="rId6"/>
            </p:custDataLst>
          </p:nvPr>
        </p:nvSpPr>
        <p:spPr>
          <a:xfrm>
            <a:off x="1879600" y="2794000"/>
            <a:ext cx="5892800" cy="660400"/>
          </a:xfrm>
          <a:prstGeom prst="rect">
            <a:avLst/>
          </a:prstGeom>
          <a:noFill/>
        </p:spPr>
        <p:txBody>
          <a:bodyPr wrap="square" lIns="0" tIns="0" rIns="0" bIns="0" rtlCol="0" anchor="ctr"/>
          <a:lstStyle/>
          <a:p>
            <a:pPr>
              <a:lnSpc>
                <a:spcPct val="140000"/>
              </a:lnSpc>
            </a:pPr>
            <a:r>
              <a:rPr lang="en-US" sz="1600" dirty="0">
                <a:solidFill>
                  <a:srgbClr val="E0E2E6">
                    <a:alpha val="70000"/>
                  </a:srgbClr>
                </a:solidFill>
                <a:latin typeface="MiSans" pitchFamily="34" charset="-122"/>
                <a:ea typeface="MiSans" pitchFamily="34" charset="-122"/>
                <a:cs typeface="MiSans" pitchFamily="34" charset="-120"/>
              </a:rPr>
              <a:t>契合比赛核心要求,解决开源项目复现困境,推动开源生态健康发展</a:t>
            </a:r>
            <a:endParaRPr lang="en-US" sz="1600" dirty="0"/>
          </a:p>
        </p:txBody>
      </p:sp>
      <p:sp>
        <p:nvSpPr>
          <p:cNvPr id="13" name="Shape 11"/>
          <p:cNvSpPr/>
          <p:nvPr>
            <p:custDataLst>
              <p:tags r:id="rId7"/>
            </p:custDataLst>
          </p:nvPr>
        </p:nvSpPr>
        <p:spPr>
          <a:xfrm>
            <a:off x="533400" y="4216400"/>
            <a:ext cx="7442200" cy="2184400"/>
          </a:xfrm>
          <a:custGeom>
            <a:avLst/>
            <a:gdLst/>
            <a:ahLst/>
            <a:cxnLst/>
            <a:rect l="l" t="t" r="r" b="b"/>
            <a:pathLst>
              <a:path w="7442200" h="2184400">
                <a:moveTo>
                  <a:pt x="50800" y="0"/>
                </a:moveTo>
                <a:lnTo>
                  <a:pt x="7289794" y="0"/>
                </a:lnTo>
                <a:cubicBezTo>
                  <a:pt x="7373966" y="0"/>
                  <a:pt x="7442200" y="68234"/>
                  <a:pt x="7442200" y="152406"/>
                </a:cubicBezTo>
                <a:lnTo>
                  <a:pt x="7442200" y="2031994"/>
                </a:lnTo>
                <a:cubicBezTo>
                  <a:pt x="7442200" y="2116166"/>
                  <a:pt x="7373966" y="2184400"/>
                  <a:pt x="7289794" y="2184400"/>
                </a:cubicBezTo>
                <a:lnTo>
                  <a:pt x="50800" y="2184400"/>
                </a:lnTo>
                <a:cubicBezTo>
                  <a:pt x="22763" y="2184400"/>
                  <a:pt x="0" y="2161637"/>
                  <a:pt x="0" y="2133600"/>
                </a:cubicBezTo>
                <a:lnTo>
                  <a:pt x="0" y="50800"/>
                </a:lnTo>
                <a:cubicBezTo>
                  <a:pt x="0" y="22763"/>
                  <a:pt x="22763" y="0"/>
                  <a:pt x="50800" y="0"/>
                </a:cubicBezTo>
                <a:close/>
              </a:path>
            </a:pathLst>
          </a:custGeom>
          <a:gradFill flip="none" rotWithShape="1">
            <a:gsLst>
              <a:gs pos="0">
                <a:srgbClr val="E5A044">
                  <a:alpha val="15000"/>
                </a:srgbClr>
              </a:gs>
              <a:gs pos="100000">
                <a:srgbClr val="000000">
                  <a:alpha val="0"/>
                </a:srgbClr>
              </a:gs>
            </a:gsLst>
            <a:lin ang="2700000" scaled="1"/>
          </a:gradFill>
        </p:spPr>
      </p:sp>
      <p:sp>
        <p:nvSpPr>
          <p:cNvPr id="14" name="Shape 12"/>
          <p:cNvSpPr/>
          <p:nvPr>
            <p:custDataLst>
              <p:tags r:id="rId8"/>
            </p:custDataLst>
          </p:nvPr>
        </p:nvSpPr>
        <p:spPr>
          <a:xfrm>
            <a:off x="533400" y="4216400"/>
            <a:ext cx="50800" cy="2184400"/>
          </a:xfrm>
          <a:custGeom>
            <a:avLst/>
            <a:gdLst/>
            <a:ahLst/>
            <a:cxnLst/>
            <a:rect l="l" t="t" r="r" b="b"/>
            <a:pathLst>
              <a:path w="50800" h="2184400">
                <a:moveTo>
                  <a:pt x="50800" y="0"/>
                </a:moveTo>
                <a:lnTo>
                  <a:pt x="50800" y="0"/>
                </a:lnTo>
                <a:lnTo>
                  <a:pt x="50800" y="2184400"/>
                </a:lnTo>
                <a:lnTo>
                  <a:pt x="50800" y="2184400"/>
                </a:lnTo>
                <a:cubicBezTo>
                  <a:pt x="22763" y="2184400"/>
                  <a:pt x="0" y="2161637"/>
                  <a:pt x="0" y="2133600"/>
                </a:cubicBezTo>
                <a:lnTo>
                  <a:pt x="0" y="50800"/>
                </a:lnTo>
                <a:cubicBezTo>
                  <a:pt x="0" y="22763"/>
                  <a:pt x="22763" y="0"/>
                  <a:pt x="50800" y="0"/>
                </a:cubicBezTo>
                <a:close/>
              </a:path>
            </a:pathLst>
          </a:custGeom>
          <a:solidFill>
            <a:srgbClr val="E5A044"/>
          </a:solidFill>
        </p:spPr>
      </p:sp>
      <p:sp>
        <p:nvSpPr>
          <p:cNvPr id="15" name="Shape 13"/>
          <p:cNvSpPr/>
          <p:nvPr>
            <p:custDataLst>
              <p:tags r:id="rId9"/>
            </p:custDataLst>
          </p:nvPr>
        </p:nvSpPr>
        <p:spPr>
          <a:xfrm>
            <a:off x="863600" y="4521200"/>
            <a:ext cx="812800" cy="812800"/>
          </a:xfrm>
          <a:custGeom>
            <a:avLst/>
            <a:gdLst/>
            <a:ahLst/>
            <a:cxnLst/>
            <a:rect l="l" t="t" r="r" b="b"/>
            <a:pathLst>
              <a:path w="812800" h="812800">
                <a:moveTo>
                  <a:pt x="152400" y="0"/>
                </a:moveTo>
                <a:lnTo>
                  <a:pt x="660400" y="0"/>
                </a:lnTo>
                <a:cubicBezTo>
                  <a:pt x="744512" y="0"/>
                  <a:pt x="812800" y="68288"/>
                  <a:pt x="812800" y="152400"/>
                </a:cubicBezTo>
                <a:lnTo>
                  <a:pt x="812800" y="660400"/>
                </a:lnTo>
                <a:cubicBezTo>
                  <a:pt x="812800" y="744512"/>
                  <a:pt x="744512" y="812800"/>
                  <a:pt x="660400" y="812800"/>
                </a:cubicBezTo>
                <a:lnTo>
                  <a:pt x="152400" y="812800"/>
                </a:lnTo>
                <a:cubicBezTo>
                  <a:pt x="68288" y="812800"/>
                  <a:pt x="0" y="744512"/>
                  <a:pt x="0" y="660400"/>
                </a:cubicBezTo>
                <a:lnTo>
                  <a:pt x="0" y="152400"/>
                </a:lnTo>
                <a:cubicBezTo>
                  <a:pt x="0" y="68288"/>
                  <a:pt x="68288" y="0"/>
                  <a:pt x="152400" y="0"/>
                </a:cubicBezTo>
                <a:close/>
              </a:path>
            </a:pathLst>
          </a:custGeom>
          <a:solidFill>
            <a:srgbClr val="E5A044"/>
          </a:solidFill>
        </p:spPr>
      </p:sp>
      <p:sp>
        <p:nvSpPr>
          <p:cNvPr id="16" name="Text 14"/>
          <p:cNvSpPr/>
          <p:nvPr>
            <p:custDataLst>
              <p:tags r:id="rId10"/>
            </p:custDataLst>
          </p:nvPr>
        </p:nvSpPr>
        <p:spPr>
          <a:xfrm>
            <a:off x="768350" y="4521200"/>
            <a:ext cx="1003300" cy="812800"/>
          </a:xfrm>
          <a:prstGeom prst="rect">
            <a:avLst/>
          </a:prstGeom>
          <a:noFill/>
        </p:spPr>
        <p:txBody>
          <a:bodyPr wrap="square" lIns="0" tIns="0" rIns="0" bIns="0" rtlCol="0" anchor="ctr"/>
          <a:lstStyle/>
          <a:p>
            <a:pPr algn="ctr">
              <a:lnSpc>
                <a:spcPct val="100000"/>
              </a:lnSpc>
            </a:pPr>
            <a:r>
              <a:rPr lang="en-US" sz="3000" b="1" dirty="0">
                <a:solidFill>
                  <a:srgbClr val="FFFFFF"/>
                </a:solidFill>
                <a:latin typeface="阿里妈妈数黑体" pitchFamily="34" charset="-122"/>
                <a:ea typeface="阿里妈妈数黑体" pitchFamily="34" charset="-122"/>
                <a:cs typeface="阿里妈妈数黑体" pitchFamily="34" charset="-120"/>
              </a:rPr>
              <a:t>02</a:t>
            </a:r>
            <a:endParaRPr lang="en-US" sz="1600" dirty="0"/>
          </a:p>
        </p:txBody>
      </p:sp>
      <p:sp>
        <p:nvSpPr>
          <p:cNvPr id="17" name="Text 15"/>
          <p:cNvSpPr/>
          <p:nvPr>
            <p:custDataLst>
              <p:tags r:id="rId11"/>
            </p:custDataLst>
          </p:nvPr>
        </p:nvSpPr>
        <p:spPr>
          <a:xfrm>
            <a:off x="1879600" y="4521200"/>
            <a:ext cx="5943600" cy="406400"/>
          </a:xfrm>
          <a:prstGeom prst="rect">
            <a:avLst/>
          </a:prstGeom>
          <a:noFill/>
        </p:spPr>
        <p:txBody>
          <a:bodyPr wrap="square" lIns="0" tIns="0" rIns="0" bIns="0" rtlCol="0" anchor="ctr"/>
          <a:lstStyle/>
          <a:p>
            <a:pPr>
              <a:lnSpc>
                <a:spcPct val="110000"/>
              </a:lnSpc>
            </a:pPr>
            <a:r>
              <a:rPr lang="en-US" sz="2400" b="1" dirty="0">
                <a:solidFill>
                  <a:srgbClr val="E0E2E6"/>
                </a:solidFill>
                <a:latin typeface="阿里妈妈数黑体" pitchFamily="34" charset="-122"/>
                <a:ea typeface="阿里妈妈数黑体" pitchFamily="34" charset="-122"/>
                <a:cs typeface="阿里妈妈数黑体" pitchFamily="34" charset="-120"/>
              </a:rPr>
              <a:t>创新突破点</a:t>
            </a:r>
            <a:endParaRPr lang="en-US" sz="1600" dirty="0"/>
          </a:p>
        </p:txBody>
      </p:sp>
      <p:sp>
        <p:nvSpPr>
          <p:cNvPr id="18" name="Text 16"/>
          <p:cNvSpPr/>
          <p:nvPr>
            <p:custDataLst>
              <p:tags r:id="rId12"/>
            </p:custDataLst>
          </p:nvPr>
        </p:nvSpPr>
        <p:spPr>
          <a:xfrm>
            <a:off x="1879600" y="5029200"/>
            <a:ext cx="5892800" cy="660400"/>
          </a:xfrm>
          <a:prstGeom prst="rect">
            <a:avLst/>
          </a:prstGeom>
          <a:noFill/>
        </p:spPr>
        <p:txBody>
          <a:bodyPr wrap="square" lIns="0" tIns="0" rIns="0" bIns="0" rtlCol="0" anchor="ctr"/>
          <a:lstStyle/>
          <a:p>
            <a:pPr>
              <a:lnSpc>
                <a:spcPct val="140000"/>
              </a:lnSpc>
            </a:pPr>
            <a:r>
              <a:rPr lang="en-US" sz="1600" dirty="0">
                <a:solidFill>
                  <a:srgbClr val="E0E2E6">
                    <a:alpha val="70000"/>
                  </a:srgbClr>
                </a:solidFill>
                <a:latin typeface="MiSans" pitchFamily="34" charset="-122"/>
                <a:ea typeface="MiSans" pitchFamily="34" charset="-122"/>
                <a:cs typeface="MiSans" pitchFamily="34" charset="-120"/>
              </a:rPr>
              <a:t>源码级依赖推断、浏览器插件即时分析、面向复现失败场景、社区数据驱动</a:t>
            </a:r>
            <a:endParaRPr lang="en-US" sz="1600" dirty="0"/>
          </a:p>
        </p:txBody>
      </p:sp>
      <p:sp>
        <p:nvSpPr>
          <p:cNvPr id="21" name="Shape 19"/>
          <p:cNvSpPr/>
          <p:nvPr>
            <p:custDataLst>
              <p:tags r:id="rId13"/>
            </p:custDataLst>
          </p:nvPr>
        </p:nvSpPr>
        <p:spPr>
          <a:xfrm>
            <a:off x="533400" y="6451600"/>
            <a:ext cx="7442200" cy="2184400"/>
          </a:xfrm>
          <a:custGeom>
            <a:avLst/>
            <a:gdLst/>
            <a:ahLst/>
            <a:cxnLst/>
            <a:rect l="l" t="t" r="r" b="b"/>
            <a:pathLst>
              <a:path w="7442200" h="2184400">
                <a:moveTo>
                  <a:pt x="50800" y="0"/>
                </a:moveTo>
                <a:lnTo>
                  <a:pt x="7289794" y="0"/>
                </a:lnTo>
                <a:cubicBezTo>
                  <a:pt x="7373966" y="0"/>
                  <a:pt x="7442200" y="68234"/>
                  <a:pt x="7442200" y="152406"/>
                </a:cubicBezTo>
                <a:lnTo>
                  <a:pt x="7442200" y="2031994"/>
                </a:lnTo>
                <a:cubicBezTo>
                  <a:pt x="7442200" y="2116166"/>
                  <a:pt x="7373966" y="2184400"/>
                  <a:pt x="7289794" y="2184400"/>
                </a:cubicBezTo>
                <a:lnTo>
                  <a:pt x="50800" y="2184400"/>
                </a:lnTo>
                <a:cubicBezTo>
                  <a:pt x="22763" y="2184400"/>
                  <a:pt x="0" y="2161637"/>
                  <a:pt x="0" y="2133600"/>
                </a:cubicBezTo>
                <a:lnTo>
                  <a:pt x="0" y="50800"/>
                </a:lnTo>
                <a:cubicBezTo>
                  <a:pt x="0" y="22763"/>
                  <a:pt x="22763" y="0"/>
                  <a:pt x="50800" y="0"/>
                </a:cubicBezTo>
                <a:close/>
              </a:path>
            </a:pathLst>
          </a:custGeom>
          <a:gradFill flip="none" rotWithShape="1">
            <a:gsLst>
              <a:gs pos="0">
                <a:srgbClr val="3D8F8A">
                  <a:alpha val="15000"/>
                </a:srgbClr>
              </a:gs>
              <a:gs pos="100000">
                <a:srgbClr val="000000">
                  <a:alpha val="0"/>
                </a:srgbClr>
              </a:gs>
            </a:gsLst>
            <a:lin ang="2700000" scaled="1"/>
          </a:gradFill>
        </p:spPr>
      </p:sp>
      <p:sp>
        <p:nvSpPr>
          <p:cNvPr id="22" name="Shape 20"/>
          <p:cNvSpPr/>
          <p:nvPr>
            <p:custDataLst>
              <p:tags r:id="rId14"/>
            </p:custDataLst>
          </p:nvPr>
        </p:nvSpPr>
        <p:spPr>
          <a:xfrm>
            <a:off x="533400" y="6451600"/>
            <a:ext cx="50800" cy="2184400"/>
          </a:xfrm>
          <a:custGeom>
            <a:avLst/>
            <a:gdLst/>
            <a:ahLst/>
            <a:cxnLst/>
            <a:rect l="l" t="t" r="r" b="b"/>
            <a:pathLst>
              <a:path w="50800" h="2184400">
                <a:moveTo>
                  <a:pt x="50800" y="0"/>
                </a:moveTo>
                <a:lnTo>
                  <a:pt x="50800" y="0"/>
                </a:lnTo>
                <a:lnTo>
                  <a:pt x="50800" y="2184400"/>
                </a:lnTo>
                <a:lnTo>
                  <a:pt x="50800" y="2184400"/>
                </a:lnTo>
                <a:cubicBezTo>
                  <a:pt x="22763" y="2184400"/>
                  <a:pt x="0" y="2161637"/>
                  <a:pt x="0" y="2133600"/>
                </a:cubicBezTo>
                <a:lnTo>
                  <a:pt x="0" y="50800"/>
                </a:lnTo>
                <a:cubicBezTo>
                  <a:pt x="0" y="22763"/>
                  <a:pt x="22763" y="0"/>
                  <a:pt x="50800" y="0"/>
                </a:cubicBezTo>
                <a:close/>
              </a:path>
            </a:pathLst>
          </a:custGeom>
          <a:solidFill>
            <a:srgbClr val="3D8F8A"/>
          </a:solidFill>
        </p:spPr>
      </p:sp>
      <p:sp>
        <p:nvSpPr>
          <p:cNvPr id="23" name="Shape 21"/>
          <p:cNvSpPr/>
          <p:nvPr>
            <p:custDataLst>
              <p:tags r:id="rId15"/>
            </p:custDataLst>
          </p:nvPr>
        </p:nvSpPr>
        <p:spPr>
          <a:xfrm>
            <a:off x="863600" y="6756400"/>
            <a:ext cx="812800" cy="812800"/>
          </a:xfrm>
          <a:custGeom>
            <a:avLst/>
            <a:gdLst/>
            <a:ahLst/>
            <a:cxnLst/>
            <a:rect l="l" t="t" r="r" b="b"/>
            <a:pathLst>
              <a:path w="812800" h="812800">
                <a:moveTo>
                  <a:pt x="152400" y="0"/>
                </a:moveTo>
                <a:lnTo>
                  <a:pt x="660400" y="0"/>
                </a:lnTo>
                <a:cubicBezTo>
                  <a:pt x="744512" y="0"/>
                  <a:pt x="812800" y="68288"/>
                  <a:pt x="812800" y="152400"/>
                </a:cubicBezTo>
                <a:lnTo>
                  <a:pt x="812800" y="660400"/>
                </a:lnTo>
                <a:cubicBezTo>
                  <a:pt x="812800" y="744512"/>
                  <a:pt x="744512" y="812800"/>
                  <a:pt x="660400" y="812800"/>
                </a:cubicBezTo>
                <a:lnTo>
                  <a:pt x="152400" y="812800"/>
                </a:lnTo>
                <a:cubicBezTo>
                  <a:pt x="68288" y="812800"/>
                  <a:pt x="0" y="744512"/>
                  <a:pt x="0" y="660400"/>
                </a:cubicBezTo>
                <a:lnTo>
                  <a:pt x="0" y="152400"/>
                </a:lnTo>
                <a:cubicBezTo>
                  <a:pt x="0" y="68288"/>
                  <a:pt x="68288" y="0"/>
                  <a:pt x="152400" y="0"/>
                </a:cubicBezTo>
                <a:close/>
              </a:path>
            </a:pathLst>
          </a:custGeom>
          <a:solidFill>
            <a:srgbClr val="3D8F8A"/>
          </a:solidFill>
        </p:spPr>
      </p:sp>
      <p:sp>
        <p:nvSpPr>
          <p:cNvPr id="24" name="Text 22"/>
          <p:cNvSpPr/>
          <p:nvPr>
            <p:custDataLst>
              <p:tags r:id="rId16"/>
            </p:custDataLst>
          </p:nvPr>
        </p:nvSpPr>
        <p:spPr>
          <a:xfrm>
            <a:off x="768350" y="6756400"/>
            <a:ext cx="1003300" cy="812800"/>
          </a:xfrm>
          <a:prstGeom prst="rect">
            <a:avLst/>
          </a:prstGeom>
          <a:noFill/>
        </p:spPr>
        <p:txBody>
          <a:bodyPr wrap="square" lIns="0" tIns="0" rIns="0" bIns="0" rtlCol="0" anchor="ctr"/>
          <a:lstStyle/>
          <a:p>
            <a:pPr algn="ctr">
              <a:lnSpc>
                <a:spcPct val="100000"/>
              </a:lnSpc>
            </a:pPr>
            <a:r>
              <a:rPr lang="en-US" sz="3000" b="1" dirty="0">
                <a:solidFill>
                  <a:srgbClr val="FFFFFF"/>
                </a:solidFill>
                <a:latin typeface="阿里妈妈数黑体" pitchFamily="34" charset="-122"/>
                <a:ea typeface="阿里妈妈数黑体" pitchFamily="34" charset="-122"/>
                <a:cs typeface="阿里妈妈数黑体" pitchFamily="34" charset="-120"/>
              </a:rPr>
              <a:t>03</a:t>
            </a:r>
            <a:endParaRPr lang="en-US" sz="1600" dirty="0"/>
          </a:p>
        </p:txBody>
      </p:sp>
      <p:sp>
        <p:nvSpPr>
          <p:cNvPr id="25" name="Text 23"/>
          <p:cNvSpPr/>
          <p:nvPr>
            <p:custDataLst>
              <p:tags r:id="rId17"/>
            </p:custDataLst>
          </p:nvPr>
        </p:nvSpPr>
        <p:spPr>
          <a:xfrm>
            <a:off x="1879600" y="6756400"/>
            <a:ext cx="5943600" cy="406400"/>
          </a:xfrm>
          <a:prstGeom prst="rect">
            <a:avLst/>
          </a:prstGeom>
          <a:noFill/>
        </p:spPr>
        <p:txBody>
          <a:bodyPr wrap="square" lIns="0" tIns="0" rIns="0" bIns="0" rtlCol="0" anchor="ctr"/>
          <a:lstStyle/>
          <a:p>
            <a:pPr>
              <a:lnSpc>
                <a:spcPct val="110000"/>
              </a:lnSpc>
            </a:pPr>
            <a:r>
              <a:rPr lang="en-US" sz="2400" b="1" dirty="0">
                <a:solidFill>
                  <a:srgbClr val="E0E2E6"/>
                </a:solidFill>
                <a:latin typeface="阿里妈妈数黑体" pitchFamily="34" charset="-122"/>
                <a:ea typeface="阿里妈妈数黑体" pitchFamily="34" charset="-122"/>
                <a:cs typeface="阿里妈妈数黑体" pitchFamily="34" charset="-120"/>
              </a:rPr>
              <a:t>技术挑战攻克</a:t>
            </a:r>
            <a:endParaRPr lang="en-US" sz="1600" dirty="0"/>
          </a:p>
        </p:txBody>
      </p:sp>
      <p:sp>
        <p:nvSpPr>
          <p:cNvPr id="26" name="Text 24"/>
          <p:cNvSpPr/>
          <p:nvPr>
            <p:custDataLst>
              <p:tags r:id="rId18"/>
            </p:custDataLst>
          </p:nvPr>
        </p:nvSpPr>
        <p:spPr>
          <a:xfrm>
            <a:off x="1879600" y="7264400"/>
            <a:ext cx="5892800" cy="660400"/>
          </a:xfrm>
          <a:prstGeom prst="rect">
            <a:avLst/>
          </a:prstGeom>
          <a:noFill/>
        </p:spPr>
        <p:txBody>
          <a:bodyPr wrap="square" lIns="0" tIns="0" rIns="0" bIns="0" rtlCol="0" anchor="ctr"/>
          <a:lstStyle/>
          <a:p>
            <a:pPr>
              <a:lnSpc>
                <a:spcPct val="140000"/>
              </a:lnSpc>
            </a:pPr>
            <a:r>
              <a:rPr lang="en-US" sz="1600" dirty="0">
                <a:solidFill>
                  <a:srgbClr val="E0E2E6">
                    <a:alpha val="70000"/>
                  </a:srgbClr>
                </a:solidFill>
                <a:latin typeface="MiSans" pitchFamily="34" charset="-122"/>
                <a:ea typeface="MiSans" pitchFamily="34" charset="-122"/>
                <a:cs typeface="MiSans" pitchFamily="34" charset="-120"/>
              </a:rPr>
              <a:t>源码依赖还原、浏览器端分析、依赖识别准确性、兼容性知识构建</a:t>
            </a:r>
            <a:endParaRPr lang="en-US" sz="1600" dirty="0"/>
          </a:p>
        </p:txBody>
      </p:sp>
      <p:sp>
        <p:nvSpPr>
          <p:cNvPr id="29" name="Shape 27"/>
          <p:cNvSpPr/>
          <p:nvPr>
            <p:custDataLst>
              <p:tags r:id="rId19"/>
            </p:custDataLst>
          </p:nvPr>
        </p:nvSpPr>
        <p:spPr>
          <a:xfrm>
            <a:off x="8305800" y="1981200"/>
            <a:ext cx="7442200" cy="2184400"/>
          </a:xfrm>
          <a:custGeom>
            <a:avLst/>
            <a:gdLst/>
            <a:ahLst/>
            <a:cxnLst/>
            <a:rect l="l" t="t" r="r" b="b"/>
            <a:pathLst>
              <a:path w="7442200" h="2184400">
                <a:moveTo>
                  <a:pt x="50800" y="0"/>
                </a:moveTo>
                <a:lnTo>
                  <a:pt x="7289794" y="0"/>
                </a:lnTo>
                <a:cubicBezTo>
                  <a:pt x="7373966" y="0"/>
                  <a:pt x="7442200" y="68234"/>
                  <a:pt x="7442200" y="152406"/>
                </a:cubicBezTo>
                <a:lnTo>
                  <a:pt x="7442200" y="2031994"/>
                </a:lnTo>
                <a:cubicBezTo>
                  <a:pt x="7442200" y="2116166"/>
                  <a:pt x="7373966" y="2184400"/>
                  <a:pt x="7289794" y="2184400"/>
                </a:cubicBezTo>
                <a:lnTo>
                  <a:pt x="50800" y="2184400"/>
                </a:lnTo>
                <a:cubicBezTo>
                  <a:pt x="22763" y="2184400"/>
                  <a:pt x="0" y="2161637"/>
                  <a:pt x="0" y="2133600"/>
                </a:cubicBezTo>
                <a:lnTo>
                  <a:pt x="0" y="50800"/>
                </a:lnTo>
                <a:cubicBezTo>
                  <a:pt x="0" y="22763"/>
                  <a:pt x="22763" y="0"/>
                  <a:pt x="50800" y="0"/>
                </a:cubicBezTo>
                <a:close/>
              </a:path>
            </a:pathLst>
          </a:custGeom>
          <a:gradFill flip="none" rotWithShape="1">
            <a:gsLst>
              <a:gs pos="0">
                <a:srgbClr val="5A6472">
                  <a:alpha val="15000"/>
                </a:srgbClr>
              </a:gs>
              <a:gs pos="100000">
                <a:srgbClr val="000000">
                  <a:alpha val="0"/>
                </a:srgbClr>
              </a:gs>
            </a:gsLst>
            <a:lin ang="2700000" scaled="1"/>
          </a:gradFill>
        </p:spPr>
      </p:sp>
      <p:sp>
        <p:nvSpPr>
          <p:cNvPr id="30" name="Shape 28"/>
          <p:cNvSpPr/>
          <p:nvPr>
            <p:custDataLst>
              <p:tags r:id="rId20"/>
            </p:custDataLst>
          </p:nvPr>
        </p:nvSpPr>
        <p:spPr>
          <a:xfrm>
            <a:off x="8305800" y="1981200"/>
            <a:ext cx="50800" cy="2184400"/>
          </a:xfrm>
          <a:custGeom>
            <a:avLst/>
            <a:gdLst/>
            <a:ahLst/>
            <a:cxnLst/>
            <a:rect l="l" t="t" r="r" b="b"/>
            <a:pathLst>
              <a:path w="50800" h="2184400">
                <a:moveTo>
                  <a:pt x="50800" y="0"/>
                </a:moveTo>
                <a:lnTo>
                  <a:pt x="50800" y="0"/>
                </a:lnTo>
                <a:lnTo>
                  <a:pt x="50800" y="2184400"/>
                </a:lnTo>
                <a:lnTo>
                  <a:pt x="50800" y="2184400"/>
                </a:lnTo>
                <a:cubicBezTo>
                  <a:pt x="22763" y="2184400"/>
                  <a:pt x="0" y="2161637"/>
                  <a:pt x="0" y="2133600"/>
                </a:cubicBezTo>
                <a:lnTo>
                  <a:pt x="0" y="50800"/>
                </a:lnTo>
                <a:cubicBezTo>
                  <a:pt x="0" y="22763"/>
                  <a:pt x="22763" y="0"/>
                  <a:pt x="50800" y="0"/>
                </a:cubicBezTo>
                <a:close/>
              </a:path>
            </a:pathLst>
          </a:custGeom>
          <a:solidFill>
            <a:srgbClr val="5A6472"/>
          </a:solidFill>
        </p:spPr>
      </p:sp>
      <p:sp>
        <p:nvSpPr>
          <p:cNvPr id="31" name="Shape 29"/>
          <p:cNvSpPr/>
          <p:nvPr>
            <p:custDataLst>
              <p:tags r:id="rId21"/>
            </p:custDataLst>
          </p:nvPr>
        </p:nvSpPr>
        <p:spPr>
          <a:xfrm>
            <a:off x="8636000" y="2286000"/>
            <a:ext cx="812800" cy="812800"/>
          </a:xfrm>
          <a:custGeom>
            <a:avLst/>
            <a:gdLst/>
            <a:ahLst/>
            <a:cxnLst/>
            <a:rect l="l" t="t" r="r" b="b"/>
            <a:pathLst>
              <a:path w="812800" h="812800">
                <a:moveTo>
                  <a:pt x="152400" y="0"/>
                </a:moveTo>
                <a:lnTo>
                  <a:pt x="660400" y="0"/>
                </a:lnTo>
                <a:cubicBezTo>
                  <a:pt x="744512" y="0"/>
                  <a:pt x="812800" y="68288"/>
                  <a:pt x="812800" y="152400"/>
                </a:cubicBezTo>
                <a:lnTo>
                  <a:pt x="812800" y="660400"/>
                </a:lnTo>
                <a:cubicBezTo>
                  <a:pt x="812800" y="744512"/>
                  <a:pt x="744512" y="812800"/>
                  <a:pt x="660400" y="812800"/>
                </a:cubicBezTo>
                <a:lnTo>
                  <a:pt x="152400" y="812800"/>
                </a:lnTo>
                <a:cubicBezTo>
                  <a:pt x="68288" y="812800"/>
                  <a:pt x="0" y="744512"/>
                  <a:pt x="0" y="660400"/>
                </a:cubicBezTo>
                <a:lnTo>
                  <a:pt x="0" y="152400"/>
                </a:lnTo>
                <a:cubicBezTo>
                  <a:pt x="0" y="68288"/>
                  <a:pt x="68288" y="0"/>
                  <a:pt x="152400" y="0"/>
                </a:cubicBezTo>
                <a:close/>
              </a:path>
            </a:pathLst>
          </a:custGeom>
          <a:solidFill>
            <a:srgbClr val="5A6472"/>
          </a:solidFill>
        </p:spPr>
      </p:sp>
      <p:sp>
        <p:nvSpPr>
          <p:cNvPr id="32" name="Text 30"/>
          <p:cNvSpPr/>
          <p:nvPr>
            <p:custDataLst>
              <p:tags r:id="rId22"/>
            </p:custDataLst>
          </p:nvPr>
        </p:nvSpPr>
        <p:spPr>
          <a:xfrm>
            <a:off x="8540750" y="2286000"/>
            <a:ext cx="1003300" cy="812800"/>
          </a:xfrm>
          <a:prstGeom prst="rect">
            <a:avLst/>
          </a:prstGeom>
          <a:noFill/>
        </p:spPr>
        <p:txBody>
          <a:bodyPr wrap="square" lIns="0" tIns="0" rIns="0" bIns="0" rtlCol="0" anchor="ctr"/>
          <a:lstStyle/>
          <a:p>
            <a:pPr algn="ctr">
              <a:lnSpc>
                <a:spcPct val="100000"/>
              </a:lnSpc>
            </a:pPr>
            <a:r>
              <a:rPr lang="en-US" sz="3000" b="1" dirty="0">
                <a:solidFill>
                  <a:srgbClr val="FFFFFF"/>
                </a:solidFill>
                <a:latin typeface="阿里妈妈数黑体" pitchFamily="34" charset="-122"/>
                <a:ea typeface="阿里妈妈数黑体" pitchFamily="34" charset="-122"/>
                <a:cs typeface="阿里妈妈数黑体" pitchFamily="34" charset="-120"/>
              </a:rPr>
              <a:t>04</a:t>
            </a:r>
            <a:endParaRPr lang="en-US" sz="1600" dirty="0"/>
          </a:p>
        </p:txBody>
      </p:sp>
      <p:sp>
        <p:nvSpPr>
          <p:cNvPr id="33" name="Text 31"/>
          <p:cNvSpPr/>
          <p:nvPr>
            <p:custDataLst>
              <p:tags r:id="rId23"/>
            </p:custDataLst>
          </p:nvPr>
        </p:nvSpPr>
        <p:spPr>
          <a:xfrm>
            <a:off x="9652000" y="2286000"/>
            <a:ext cx="5943600" cy="406400"/>
          </a:xfrm>
          <a:prstGeom prst="rect">
            <a:avLst/>
          </a:prstGeom>
          <a:noFill/>
        </p:spPr>
        <p:txBody>
          <a:bodyPr wrap="square" lIns="0" tIns="0" rIns="0" bIns="0" rtlCol="0" anchor="ctr"/>
          <a:lstStyle/>
          <a:p>
            <a:pPr>
              <a:lnSpc>
                <a:spcPct val="110000"/>
              </a:lnSpc>
            </a:pPr>
            <a:r>
              <a:rPr lang="en-US" sz="2400" b="1" dirty="0">
                <a:solidFill>
                  <a:srgbClr val="E0E2E6"/>
                </a:solidFill>
                <a:latin typeface="阿里妈妈数黑体" pitchFamily="34" charset="-122"/>
                <a:ea typeface="阿里妈妈数黑体" pitchFamily="34" charset="-122"/>
                <a:cs typeface="阿里妈妈数黑体" pitchFamily="34" charset="-120"/>
              </a:rPr>
              <a:t>系统设计方案</a:t>
            </a:r>
            <a:endParaRPr lang="en-US" sz="1600" dirty="0"/>
          </a:p>
        </p:txBody>
      </p:sp>
      <p:sp>
        <p:nvSpPr>
          <p:cNvPr id="34" name="Text 32"/>
          <p:cNvSpPr/>
          <p:nvPr>
            <p:custDataLst>
              <p:tags r:id="rId24"/>
            </p:custDataLst>
          </p:nvPr>
        </p:nvSpPr>
        <p:spPr>
          <a:xfrm>
            <a:off x="9652000" y="2794000"/>
            <a:ext cx="5892800" cy="660400"/>
          </a:xfrm>
          <a:prstGeom prst="rect">
            <a:avLst/>
          </a:prstGeom>
          <a:noFill/>
        </p:spPr>
        <p:txBody>
          <a:bodyPr wrap="square" lIns="0" tIns="0" rIns="0" bIns="0" rtlCol="0" anchor="ctr"/>
          <a:lstStyle/>
          <a:p>
            <a:pPr>
              <a:lnSpc>
                <a:spcPct val="140000"/>
              </a:lnSpc>
            </a:pPr>
            <a:r>
              <a:rPr lang="en-US" sz="1600" dirty="0">
                <a:solidFill>
                  <a:srgbClr val="E0E2E6">
                    <a:alpha val="70000"/>
                  </a:srgbClr>
                </a:solidFill>
                <a:latin typeface="MiSans" pitchFamily="34" charset="-122"/>
                <a:ea typeface="MiSans" pitchFamily="34" charset="-122"/>
                <a:cs typeface="MiSans" pitchFamily="34" charset="-120"/>
              </a:rPr>
              <a:t>架构设计、工作流程、数据策略,完整的技术实现路径与扩展性规划</a:t>
            </a:r>
            <a:endParaRPr lang="en-US" sz="1600" dirty="0"/>
          </a:p>
        </p:txBody>
      </p:sp>
      <p:sp>
        <p:nvSpPr>
          <p:cNvPr id="37" name="Shape 35"/>
          <p:cNvSpPr/>
          <p:nvPr>
            <p:custDataLst>
              <p:tags r:id="rId25"/>
            </p:custDataLst>
          </p:nvPr>
        </p:nvSpPr>
        <p:spPr>
          <a:xfrm>
            <a:off x="8305800" y="4296834"/>
            <a:ext cx="7442200" cy="1854200"/>
          </a:xfrm>
          <a:custGeom>
            <a:avLst/>
            <a:gdLst/>
            <a:ahLst/>
            <a:cxnLst/>
            <a:rect l="l" t="t" r="r" b="b"/>
            <a:pathLst>
              <a:path w="7442200" h="1854200">
                <a:moveTo>
                  <a:pt x="50800" y="0"/>
                </a:moveTo>
                <a:lnTo>
                  <a:pt x="7289803" y="0"/>
                </a:lnTo>
                <a:cubicBezTo>
                  <a:pt x="7373970" y="0"/>
                  <a:pt x="7442200" y="68230"/>
                  <a:pt x="7442200" y="152397"/>
                </a:cubicBezTo>
                <a:lnTo>
                  <a:pt x="7442200" y="1701803"/>
                </a:lnTo>
                <a:cubicBezTo>
                  <a:pt x="7442200" y="1785970"/>
                  <a:pt x="7373970" y="1854200"/>
                  <a:pt x="7289803" y="1854200"/>
                </a:cubicBezTo>
                <a:lnTo>
                  <a:pt x="50800" y="1854200"/>
                </a:lnTo>
                <a:cubicBezTo>
                  <a:pt x="22763" y="1854200"/>
                  <a:pt x="0" y="1831437"/>
                  <a:pt x="0" y="1803400"/>
                </a:cubicBezTo>
                <a:lnTo>
                  <a:pt x="0" y="50800"/>
                </a:lnTo>
                <a:cubicBezTo>
                  <a:pt x="0" y="22763"/>
                  <a:pt x="22763" y="0"/>
                  <a:pt x="50800" y="0"/>
                </a:cubicBezTo>
                <a:close/>
              </a:path>
            </a:pathLst>
          </a:custGeom>
          <a:gradFill flip="none" rotWithShape="1">
            <a:gsLst>
              <a:gs pos="0">
                <a:srgbClr val="5A6472">
                  <a:alpha val="15000"/>
                </a:srgbClr>
              </a:gs>
              <a:gs pos="100000">
                <a:srgbClr val="000000">
                  <a:alpha val="0"/>
                </a:srgbClr>
              </a:gs>
            </a:gsLst>
            <a:lin ang="2700000" scaled="1"/>
          </a:gradFill>
        </p:spPr>
      </p:sp>
      <p:sp>
        <p:nvSpPr>
          <p:cNvPr id="38" name="Shape 36"/>
          <p:cNvSpPr/>
          <p:nvPr>
            <p:custDataLst>
              <p:tags r:id="rId26"/>
            </p:custDataLst>
          </p:nvPr>
        </p:nvSpPr>
        <p:spPr>
          <a:xfrm>
            <a:off x="8305800" y="4296834"/>
            <a:ext cx="50800" cy="1854200"/>
          </a:xfrm>
          <a:custGeom>
            <a:avLst/>
            <a:gdLst/>
            <a:ahLst/>
            <a:cxnLst/>
            <a:rect l="l" t="t" r="r" b="b"/>
            <a:pathLst>
              <a:path w="50800" h="1854200">
                <a:moveTo>
                  <a:pt x="50800" y="0"/>
                </a:moveTo>
                <a:lnTo>
                  <a:pt x="50800" y="0"/>
                </a:lnTo>
                <a:lnTo>
                  <a:pt x="50800" y="1854200"/>
                </a:lnTo>
                <a:lnTo>
                  <a:pt x="50800" y="1854200"/>
                </a:lnTo>
                <a:cubicBezTo>
                  <a:pt x="22763" y="1854200"/>
                  <a:pt x="0" y="1831437"/>
                  <a:pt x="0" y="1803400"/>
                </a:cubicBezTo>
                <a:lnTo>
                  <a:pt x="0" y="50800"/>
                </a:lnTo>
                <a:cubicBezTo>
                  <a:pt x="0" y="22763"/>
                  <a:pt x="22763" y="0"/>
                  <a:pt x="50800" y="0"/>
                </a:cubicBezTo>
                <a:close/>
              </a:path>
            </a:pathLst>
          </a:custGeom>
          <a:solidFill>
            <a:srgbClr val="5A6472"/>
          </a:solidFill>
        </p:spPr>
      </p:sp>
      <p:sp>
        <p:nvSpPr>
          <p:cNvPr id="39" name="Shape 37"/>
          <p:cNvSpPr/>
          <p:nvPr>
            <p:custDataLst>
              <p:tags r:id="rId27"/>
            </p:custDataLst>
          </p:nvPr>
        </p:nvSpPr>
        <p:spPr>
          <a:xfrm>
            <a:off x="8636000" y="4601634"/>
            <a:ext cx="812800" cy="812800"/>
          </a:xfrm>
          <a:custGeom>
            <a:avLst/>
            <a:gdLst/>
            <a:ahLst/>
            <a:cxnLst/>
            <a:rect l="l" t="t" r="r" b="b"/>
            <a:pathLst>
              <a:path w="812800" h="812800">
                <a:moveTo>
                  <a:pt x="152400" y="0"/>
                </a:moveTo>
                <a:lnTo>
                  <a:pt x="660400" y="0"/>
                </a:lnTo>
                <a:cubicBezTo>
                  <a:pt x="744512" y="0"/>
                  <a:pt x="812800" y="68288"/>
                  <a:pt x="812800" y="152400"/>
                </a:cubicBezTo>
                <a:lnTo>
                  <a:pt x="812800" y="660400"/>
                </a:lnTo>
                <a:cubicBezTo>
                  <a:pt x="812800" y="744512"/>
                  <a:pt x="744512" y="812800"/>
                  <a:pt x="660400" y="812800"/>
                </a:cubicBezTo>
                <a:lnTo>
                  <a:pt x="152400" y="812800"/>
                </a:lnTo>
                <a:cubicBezTo>
                  <a:pt x="68288" y="812800"/>
                  <a:pt x="0" y="744512"/>
                  <a:pt x="0" y="660400"/>
                </a:cubicBezTo>
                <a:lnTo>
                  <a:pt x="0" y="152400"/>
                </a:lnTo>
                <a:cubicBezTo>
                  <a:pt x="0" y="68288"/>
                  <a:pt x="68288" y="0"/>
                  <a:pt x="152400" y="0"/>
                </a:cubicBezTo>
                <a:close/>
              </a:path>
            </a:pathLst>
          </a:custGeom>
          <a:solidFill>
            <a:srgbClr val="5A6472"/>
          </a:solidFill>
        </p:spPr>
      </p:sp>
      <p:sp>
        <p:nvSpPr>
          <p:cNvPr id="40" name="Text 38"/>
          <p:cNvSpPr/>
          <p:nvPr>
            <p:custDataLst>
              <p:tags r:id="rId28"/>
            </p:custDataLst>
          </p:nvPr>
        </p:nvSpPr>
        <p:spPr>
          <a:xfrm>
            <a:off x="8540750" y="4601634"/>
            <a:ext cx="1003300" cy="812800"/>
          </a:xfrm>
          <a:prstGeom prst="rect">
            <a:avLst/>
          </a:prstGeom>
          <a:noFill/>
        </p:spPr>
        <p:txBody>
          <a:bodyPr wrap="square" lIns="0" tIns="0" rIns="0" bIns="0" rtlCol="0" anchor="ctr"/>
          <a:lstStyle/>
          <a:p>
            <a:pPr algn="ctr">
              <a:lnSpc>
                <a:spcPct val="100000"/>
              </a:lnSpc>
            </a:pPr>
            <a:r>
              <a:rPr lang="en-US" sz="3000" b="1" dirty="0">
                <a:solidFill>
                  <a:srgbClr val="FFFFFF"/>
                </a:solidFill>
                <a:latin typeface="阿里妈妈数黑体" pitchFamily="34" charset="-122"/>
                <a:ea typeface="阿里妈妈数黑体" pitchFamily="34" charset="-122"/>
                <a:cs typeface="阿里妈妈数黑体" pitchFamily="34" charset="-120"/>
              </a:rPr>
              <a:t>05</a:t>
            </a:r>
            <a:endParaRPr lang="en-US" sz="1600" dirty="0"/>
          </a:p>
        </p:txBody>
      </p:sp>
      <p:sp>
        <p:nvSpPr>
          <p:cNvPr id="41" name="Text 39"/>
          <p:cNvSpPr/>
          <p:nvPr>
            <p:custDataLst>
              <p:tags r:id="rId29"/>
            </p:custDataLst>
          </p:nvPr>
        </p:nvSpPr>
        <p:spPr>
          <a:xfrm>
            <a:off x="9652000" y="4601634"/>
            <a:ext cx="5943600" cy="406400"/>
          </a:xfrm>
          <a:prstGeom prst="rect">
            <a:avLst/>
          </a:prstGeom>
          <a:noFill/>
        </p:spPr>
        <p:txBody>
          <a:bodyPr wrap="square" lIns="0" tIns="0" rIns="0" bIns="0" rtlCol="0" anchor="ctr"/>
          <a:lstStyle/>
          <a:p>
            <a:pPr>
              <a:lnSpc>
                <a:spcPct val="110000"/>
              </a:lnSpc>
            </a:pPr>
            <a:r>
              <a:rPr lang="en-US" sz="2400" b="1" dirty="0">
                <a:solidFill>
                  <a:srgbClr val="E0E2E6"/>
                </a:solidFill>
                <a:latin typeface="阿里妈妈数黑体" pitchFamily="34" charset="-122"/>
                <a:ea typeface="阿里妈妈数黑体" pitchFamily="34" charset="-122"/>
                <a:cs typeface="阿里妈妈数黑体" pitchFamily="34" charset="-120"/>
              </a:rPr>
              <a:t>应用场景与前景</a:t>
            </a:r>
            <a:endParaRPr lang="en-US" sz="1600" dirty="0"/>
          </a:p>
        </p:txBody>
      </p:sp>
      <p:sp>
        <p:nvSpPr>
          <p:cNvPr id="42" name="Text 40"/>
          <p:cNvSpPr/>
          <p:nvPr>
            <p:custDataLst>
              <p:tags r:id="rId30"/>
            </p:custDataLst>
          </p:nvPr>
        </p:nvSpPr>
        <p:spPr>
          <a:xfrm>
            <a:off x="9652000" y="5109634"/>
            <a:ext cx="5892800" cy="330200"/>
          </a:xfrm>
          <a:prstGeom prst="rect">
            <a:avLst/>
          </a:prstGeom>
          <a:noFill/>
        </p:spPr>
        <p:txBody>
          <a:bodyPr wrap="square" lIns="0" tIns="0" rIns="0" bIns="0" rtlCol="0" anchor="ctr"/>
          <a:lstStyle/>
          <a:p>
            <a:pPr>
              <a:lnSpc>
                <a:spcPct val="140000"/>
              </a:lnSpc>
            </a:pPr>
            <a:r>
              <a:rPr lang="en-US" sz="1600" dirty="0">
                <a:solidFill>
                  <a:srgbClr val="E0E2E6">
                    <a:alpha val="70000"/>
                  </a:srgbClr>
                </a:solidFill>
                <a:latin typeface="MiSans" pitchFamily="34" charset="-122"/>
                <a:ea typeface="MiSans" pitchFamily="34" charset="-122"/>
                <a:cs typeface="MiSans" pitchFamily="34" charset="-120"/>
              </a:rPr>
              <a:t>维护者与使用者双重价值,清晰的推广路径和广泛的潜在适用性</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70847" y="588559"/>
            <a:ext cx="753356" cy="47085"/>
          </a:xfrm>
          <a:custGeom>
            <a:avLst/>
            <a:gdLst/>
            <a:ahLst/>
            <a:cxnLst/>
            <a:rect l="l" t="t" r="r" b="b"/>
            <a:pathLst>
              <a:path w="753356" h="47085">
                <a:moveTo>
                  <a:pt x="0" y="0"/>
                </a:moveTo>
                <a:lnTo>
                  <a:pt x="753356" y="0"/>
                </a:lnTo>
                <a:lnTo>
                  <a:pt x="753356" y="47085"/>
                </a:lnTo>
                <a:lnTo>
                  <a:pt x="0" y="47085"/>
                </a:lnTo>
                <a:lnTo>
                  <a:pt x="0" y="0"/>
                </a:lnTo>
                <a:close/>
              </a:path>
            </a:pathLst>
          </a:custGeom>
          <a:solidFill>
            <a:srgbClr val="3D8F8A"/>
          </a:solidFill>
        </p:spPr>
      </p:sp>
      <p:sp>
        <p:nvSpPr>
          <p:cNvPr id="3" name="Text 1"/>
          <p:cNvSpPr/>
          <p:nvPr/>
        </p:nvSpPr>
        <p:spPr>
          <a:xfrm>
            <a:off x="1412542" y="470847"/>
            <a:ext cx="2460177" cy="282508"/>
          </a:xfrm>
          <a:prstGeom prst="rect">
            <a:avLst/>
          </a:prstGeom>
          <a:noFill/>
        </p:spPr>
        <p:txBody>
          <a:bodyPr wrap="square" lIns="0" tIns="0" rIns="0" bIns="0" rtlCol="0" anchor="ctr"/>
          <a:lstStyle/>
          <a:p>
            <a:pPr>
              <a:lnSpc>
                <a:spcPct val="130000"/>
              </a:lnSpc>
            </a:pPr>
            <a:r>
              <a:rPr lang="en-US" sz="1485" b="1" kern="0" spc="74" dirty="0">
                <a:solidFill>
                  <a:srgbClr val="3D8F8A"/>
                </a:solidFill>
                <a:latin typeface="MiSans" pitchFamily="34" charset="-122"/>
                <a:ea typeface="MiSans" pitchFamily="34" charset="-122"/>
                <a:cs typeface="MiSans" pitchFamily="34" charset="-120"/>
              </a:rPr>
              <a:t>PROJECT BACKGROUND</a:t>
            </a:r>
            <a:endParaRPr lang="en-US" sz="1600" dirty="0"/>
          </a:p>
        </p:txBody>
      </p:sp>
      <p:sp>
        <p:nvSpPr>
          <p:cNvPr id="4" name="Text 2"/>
          <p:cNvSpPr/>
          <p:nvPr/>
        </p:nvSpPr>
        <p:spPr>
          <a:xfrm>
            <a:off x="470847" y="894610"/>
            <a:ext cx="15596814" cy="565017"/>
          </a:xfrm>
          <a:prstGeom prst="rect">
            <a:avLst/>
          </a:prstGeom>
          <a:noFill/>
        </p:spPr>
        <p:txBody>
          <a:bodyPr wrap="square" lIns="0" tIns="0" rIns="0" bIns="0" rtlCol="0" anchor="ctr"/>
          <a:lstStyle/>
          <a:p>
            <a:pPr>
              <a:lnSpc>
                <a:spcPct val="80000"/>
              </a:lnSpc>
            </a:pPr>
            <a:r>
              <a:rPr lang="en-US" sz="4450" b="1" dirty="0">
                <a:solidFill>
                  <a:srgbClr val="E0E2E6"/>
                </a:solidFill>
                <a:latin typeface="阿里妈妈数黑体" pitchFamily="34" charset="-122"/>
                <a:ea typeface="阿里妈妈数黑体" pitchFamily="34" charset="-122"/>
                <a:cs typeface="阿里妈妈数黑体" pitchFamily="34" charset="-120"/>
              </a:rPr>
              <a:t>项目背景：开源项目复现困境</a:t>
            </a:r>
            <a:endParaRPr lang="en-US" sz="1600" dirty="0"/>
          </a:p>
        </p:txBody>
      </p:sp>
      <p:sp>
        <p:nvSpPr>
          <p:cNvPr id="5" name="Shape 3"/>
          <p:cNvSpPr/>
          <p:nvPr/>
        </p:nvSpPr>
        <p:spPr>
          <a:xfrm>
            <a:off x="474771" y="1746058"/>
            <a:ext cx="10519511" cy="1785296"/>
          </a:xfrm>
          <a:custGeom>
            <a:avLst/>
            <a:gdLst/>
            <a:ahLst/>
            <a:cxnLst/>
            <a:rect l="l" t="t" r="r" b="b"/>
            <a:pathLst>
              <a:path w="10519511" h="1785296">
                <a:moveTo>
                  <a:pt x="141253" y="0"/>
                </a:moveTo>
                <a:lnTo>
                  <a:pt x="10378259" y="0"/>
                </a:lnTo>
                <a:cubicBezTo>
                  <a:pt x="10456271" y="0"/>
                  <a:pt x="10519511" y="63241"/>
                  <a:pt x="10519511" y="141253"/>
                </a:cubicBezTo>
                <a:lnTo>
                  <a:pt x="10519511" y="1644043"/>
                </a:lnTo>
                <a:cubicBezTo>
                  <a:pt x="10519511" y="1722055"/>
                  <a:pt x="10456271" y="1785296"/>
                  <a:pt x="10378259" y="1785296"/>
                </a:cubicBezTo>
                <a:lnTo>
                  <a:pt x="141253" y="1785296"/>
                </a:lnTo>
                <a:cubicBezTo>
                  <a:pt x="63241" y="1785296"/>
                  <a:pt x="0" y="1722055"/>
                  <a:pt x="0" y="1644043"/>
                </a:cubicBezTo>
                <a:lnTo>
                  <a:pt x="0" y="141253"/>
                </a:lnTo>
                <a:cubicBezTo>
                  <a:pt x="0" y="63241"/>
                  <a:pt x="63241" y="0"/>
                  <a:pt x="141253" y="0"/>
                </a:cubicBezTo>
                <a:close/>
              </a:path>
            </a:pathLst>
          </a:custGeom>
          <a:gradFill flip="none" rotWithShape="1">
            <a:gsLst>
              <a:gs pos="0">
                <a:srgbClr val="3D8F8A">
                  <a:alpha val="15000"/>
                </a:srgbClr>
              </a:gs>
              <a:gs pos="100000">
                <a:srgbClr val="000000">
                  <a:alpha val="0"/>
                </a:srgbClr>
              </a:gs>
            </a:gsLst>
            <a:lin ang="2700000" scaled="1"/>
          </a:gradFill>
          <a:ln w="8467">
            <a:solidFill>
              <a:srgbClr val="3D8F8A">
                <a:alpha val="30196"/>
              </a:srgbClr>
            </a:solidFill>
            <a:prstDash val="solid"/>
          </a:ln>
        </p:spPr>
      </p:sp>
      <p:sp>
        <p:nvSpPr>
          <p:cNvPr id="6" name="Shape 4"/>
          <p:cNvSpPr/>
          <p:nvPr/>
        </p:nvSpPr>
        <p:spPr>
          <a:xfrm>
            <a:off x="761203" y="2032491"/>
            <a:ext cx="659186" cy="659186"/>
          </a:xfrm>
          <a:custGeom>
            <a:avLst/>
            <a:gdLst/>
            <a:ahLst/>
            <a:cxnLst/>
            <a:rect l="l" t="t" r="r" b="b"/>
            <a:pathLst>
              <a:path w="659186" h="659186">
                <a:moveTo>
                  <a:pt x="141257" y="0"/>
                </a:moveTo>
                <a:lnTo>
                  <a:pt x="517929" y="0"/>
                </a:lnTo>
                <a:cubicBezTo>
                  <a:pt x="595943" y="0"/>
                  <a:pt x="659186" y="63243"/>
                  <a:pt x="659186" y="141257"/>
                </a:cubicBezTo>
                <a:lnTo>
                  <a:pt x="659186" y="517929"/>
                </a:lnTo>
                <a:cubicBezTo>
                  <a:pt x="659186" y="595943"/>
                  <a:pt x="595943" y="659186"/>
                  <a:pt x="517929" y="659186"/>
                </a:cubicBezTo>
                <a:lnTo>
                  <a:pt x="141257" y="659186"/>
                </a:lnTo>
                <a:cubicBezTo>
                  <a:pt x="63243" y="659186"/>
                  <a:pt x="0" y="595943"/>
                  <a:pt x="0" y="517929"/>
                </a:cubicBezTo>
                <a:lnTo>
                  <a:pt x="0" y="141257"/>
                </a:lnTo>
                <a:cubicBezTo>
                  <a:pt x="0" y="63243"/>
                  <a:pt x="63243" y="0"/>
                  <a:pt x="141257" y="0"/>
                </a:cubicBezTo>
                <a:close/>
              </a:path>
            </a:pathLst>
          </a:custGeom>
          <a:solidFill>
            <a:srgbClr val="3D8F8A">
              <a:alpha val="30196"/>
            </a:srgbClr>
          </a:solidFill>
        </p:spPr>
      </p:sp>
      <p:sp>
        <p:nvSpPr>
          <p:cNvPr id="7" name="Shape 5"/>
          <p:cNvSpPr/>
          <p:nvPr/>
        </p:nvSpPr>
        <p:spPr>
          <a:xfrm>
            <a:off x="949542" y="2220830"/>
            <a:ext cx="282508" cy="282508"/>
          </a:xfrm>
          <a:custGeom>
            <a:avLst/>
            <a:gdLst/>
            <a:ahLst/>
            <a:cxnLst/>
            <a:rect l="l" t="t" r="r" b="b"/>
            <a:pathLst>
              <a:path w="282508" h="282508">
                <a:moveTo>
                  <a:pt x="35314" y="35314"/>
                </a:moveTo>
                <a:cubicBezTo>
                  <a:pt x="35314" y="25547"/>
                  <a:pt x="27423" y="17657"/>
                  <a:pt x="17657" y="17657"/>
                </a:cubicBezTo>
                <a:cubicBezTo>
                  <a:pt x="7890" y="17657"/>
                  <a:pt x="0" y="25547"/>
                  <a:pt x="0" y="35314"/>
                </a:cubicBezTo>
                <a:lnTo>
                  <a:pt x="0" y="220710"/>
                </a:lnTo>
                <a:cubicBezTo>
                  <a:pt x="0" y="245098"/>
                  <a:pt x="19754" y="264852"/>
                  <a:pt x="44142" y="264852"/>
                </a:cubicBezTo>
                <a:lnTo>
                  <a:pt x="264852" y="264852"/>
                </a:lnTo>
                <a:cubicBezTo>
                  <a:pt x="274618" y="264852"/>
                  <a:pt x="282508" y="256961"/>
                  <a:pt x="282508" y="247195"/>
                </a:cubicBezTo>
                <a:cubicBezTo>
                  <a:pt x="282508" y="237428"/>
                  <a:pt x="274618" y="229538"/>
                  <a:pt x="264852" y="229538"/>
                </a:cubicBezTo>
                <a:lnTo>
                  <a:pt x="44142" y="229538"/>
                </a:lnTo>
                <a:cubicBezTo>
                  <a:pt x="39286" y="229538"/>
                  <a:pt x="35314" y="225565"/>
                  <a:pt x="35314" y="220710"/>
                </a:cubicBezTo>
                <a:lnTo>
                  <a:pt x="35314" y="35314"/>
                </a:lnTo>
                <a:close/>
                <a:moveTo>
                  <a:pt x="259665" y="83097"/>
                </a:moveTo>
                <a:cubicBezTo>
                  <a:pt x="266562" y="76200"/>
                  <a:pt x="266562" y="64999"/>
                  <a:pt x="259665" y="58102"/>
                </a:cubicBezTo>
                <a:cubicBezTo>
                  <a:pt x="252768" y="51205"/>
                  <a:pt x="241567" y="51205"/>
                  <a:pt x="234670" y="58102"/>
                </a:cubicBezTo>
                <a:lnTo>
                  <a:pt x="176568" y="116259"/>
                </a:lnTo>
                <a:lnTo>
                  <a:pt x="144896" y="84642"/>
                </a:lnTo>
                <a:cubicBezTo>
                  <a:pt x="137999" y="77745"/>
                  <a:pt x="126798" y="77745"/>
                  <a:pt x="119901" y="84642"/>
                </a:cubicBezTo>
                <a:lnTo>
                  <a:pt x="66930" y="137612"/>
                </a:lnTo>
                <a:cubicBezTo>
                  <a:pt x="60033" y="144510"/>
                  <a:pt x="60033" y="155711"/>
                  <a:pt x="66930" y="162608"/>
                </a:cubicBezTo>
                <a:cubicBezTo>
                  <a:pt x="73827" y="169505"/>
                  <a:pt x="85028" y="169505"/>
                  <a:pt x="91926" y="162608"/>
                </a:cubicBezTo>
                <a:lnTo>
                  <a:pt x="132426" y="122108"/>
                </a:lnTo>
                <a:lnTo>
                  <a:pt x="164098" y="153779"/>
                </a:lnTo>
                <a:cubicBezTo>
                  <a:pt x="170995" y="160677"/>
                  <a:pt x="182196" y="160677"/>
                  <a:pt x="189093" y="153779"/>
                </a:cubicBezTo>
                <a:lnTo>
                  <a:pt x="259720" y="83152"/>
                </a:lnTo>
                <a:close/>
              </a:path>
            </a:pathLst>
          </a:custGeom>
          <a:solidFill>
            <a:srgbClr val="3D8F8A"/>
          </a:solidFill>
        </p:spPr>
      </p:sp>
      <p:sp>
        <p:nvSpPr>
          <p:cNvPr id="8" name="Text 6"/>
          <p:cNvSpPr/>
          <p:nvPr/>
        </p:nvSpPr>
        <p:spPr>
          <a:xfrm>
            <a:off x="1608728" y="2032491"/>
            <a:ext cx="9240377" cy="376678"/>
          </a:xfrm>
          <a:prstGeom prst="rect">
            <a:avLst/>
          </a:prstGeom>
          <a:noFill/>
        </p:spPr>
        <p:txBody>
          <a:bodyPr wrap="square" lIns="0" tIns="0" rIns="0" bIns="0" rtlCol="0" anchor="ctr"/>
          <a:lstStyle/>
          <a:p>
            <a:pPr>
              <a:lnSpc>
                <a:spcPct val="110000"/>
              </a:lnSpc>
            </a:pPr>
            <a:r>
              <a:rPr lang="en-US" sz="2225" b="1" dirty="0">
                <a:solidFill>
                  <a:srgbClr val="E0E2E6"/>
                </a:solidFill>
                <a:latin typeface="阿里妈妈数黑体" pitchFamily="34" charset="-122"/>
                <a:ea typeface="阿里妈妈数黑体" pitchFamily="34" charset="-122"/>
                <a:cs typeface="阿里妈妈数黑体" pitchFamily="34" charset="-120"/>
              </a:rPr>
              <a:t>开源软件的快速发展</a:t>
            </a:r>
            <a:endParaRPr lang="en-US" sz="1600" dirty="0"/>
          </a:p>
        </p:txBody>
      </p:sp>
      <p:sp>
        <p:nvSpPr>
          <p:cNvPr id="9" name="Text 7"/>
          <p:cNvSpPr/>
          <p:nvPr/>
        </p:nvSpPr>
        <p:spPr>
          <a:xfrm>
            <a:off x="1608728" y="2550423"/>
            <a:ext cx="9205063" cy="694500"/>
          </a:xfrm>
          <a:prstGeom prst="rect">
            <a:avLst/>
          </a:prstGeom>
          <a:noFill/>
        </p:spPr>
        <p:txBody>
          <a:bodyPr wrap="square" lIns="0" tIns="0" rIns="0" bIns="0" rtlCol="0" anchor="ctr"/>
          <a:lstStyle/>
          <a:p>
            <a:pPr>
              <a:lnSpc>
                <a:spcPct val="140000"/>
              </a:lnSpc>
            </a:pPr>
            <a:r>
              <a:rPr lang="en-US" sz="1670" dirty="0">
                <a:solidFill>
                  <a:srgbClr val="E0E2E6">
                    <a:alpha val="80000"/>
                  </a:srgbClr>
                </a:solidFill>
                <a:latin typeface="MiSans" pitchFamily="34" charset="-122"/>
                <a:ea typeface="MiSans" pitchFamily="34" charset="-122"/>
                <a:cs typeface="MiSans" pitchFamily="34" charset="-120"/>
              </a:rPr>
              <a:t>随着开源软件的快速发展,</a:t>
            </a:r>
            <a:r>
              <a:rPr lang="en-US" sz="1670" b="1" dirty="0">
                <a:solidFill>
                  <a:srgbClr val="3D8F8A"/>
                </a:solidFill>
                <a:latin typeface="MiSans" pitchFamily="34" charset="-122"/>
                <a:ea typeface="MiSans" pitchFamily="34" charset="-122"/>
                <a:cs typeface="MiSans" pitchFamily="34" charset="-120"/>
              </a:rPr>
              <a:t>GitHub</a:t>
            </a:r>
            <a:r>
              <a:rPr lang="en-US" sz="1670" dirty="0">
                <a:solidFill>
                  <a:srgbClr val="E0E2E6">
                    <a:alpha val="80000"/>
                  </a:srgbClr>
                </a:solidFill>
                <a:latin typeface="MiSans" pitchFamily="34" charset="-122"/>
                <a:ea typeface="MiSans" pitchFamily="34" charset="-122"/>
                <a:cs typeface="MiSans" pitchFamily="34" charset="-120"/>
              </a:rPr>
              <a:t>等开源协作平台已成为</a:t>
            </a:r>
            <a:r>
              <a:rPr lang="en-US" sz="1670" dirty="0">
                <a:solidFill>
                  <a:srgbClr val="E0E2E6">
                    <a:alpha val="80000"/>
                  </a:srgbClr>
                </a:solidFill>
                <a:highlight>
                  <a:srgbClr val="E5A044">
                    <a:alpha val="20000"/>
                  </a:srgbClr>
                </a:highlight>
                <a:latin typeface="MiSans" pitchFamily="34" charset="-122"/>
                <a:ea typeface="MiSans" pitchFamily="34" charset="-122"/>
                <a:cs typeface="MiSans" pitchFamily="34" charset="-120"/>
              </a:rPr>
              <a:t> 科研创新、工程实践和技术传播 </a:t>
            </a:r>
            <a:r>
              <a:rPr lang="en-US" sz="1670" dirty="0">
                <a:solidFill>
                  <a:srgbClr val="E0E2E6">
                    <a:alpha val="80000"/>
                  </a:srgbClr>
                </a:solidFill>
                <a:latin typeface="MiSans" pitchFamily="34" charset="-122"/>
                <a:ea typeface="MiSans" pitchFamily="34" charset="-122"/>
                <a:cs typeface="MiSans" pitchFamily="34" charset="-120"/>
              </a:rPr>
              <a:t>的重要基础设施。大量研究成果、工程项目以及前沿技术,均以</a:t>
            </a:r>
            <a:r>
              <a:rPr lang="en-US" sz="1670" b="1" dirty="0">
                <a:solidFill>
                  <a:srgbClr val="E0E2E6">
                    <a:alpha val="80000"/>
                  </a:srgbClr>
                </a:solidFill>
                <a:latin typeface="MiSans" pitchFamily="34" charset="-122"/>
                <a:ea typeface="MiSans" pitchFamily="34" charset="-122"/>
                <a:cs typeface="MiSans" pitchFamily="34" charset="-120"/>
              </a:rPr>
              <a:t>开源代码仓库</a:t>
            </a:r>
            <a:r>
              <a:rPr lang="en-US" sz="1670" dirty="0">
                <a:solidFill>
                  <a:srgbClr val="E0E2E6">
                    <a:alpha val="80000"/>
                  </a:srgbClr>
                </a:solidFill>
                <a:latin typeface="MiSans" pitchFamily="34" charset="-122"/>
                <a:ea typeface="MiSans" pitchFamily="34" charset="-122"/>
                <a:cs typeface="MiSans" pitchFamily="34" charset="-120"/>
              </a:rPr>
              <a:t>的形式进行发布与共享。</a:t>
            </a:r>
            <a:endParaRPr lang="en-US" sz="1600" dirty="0"/>
          </a:p>
        </p:txBody>
      </p:sp>
      <p:sp>
        <p:nvSpPr>
          <p:cNvPr id="10" name="Shape 8"/>
          <p:cNvSpPr/>
          <p:nvPr/>
        </p:nvSpPr>
        <p:spPr>
          <a:xfrm>
            <a:off x="474771" y="3721655"/>
            <a:ext cx="10519511" cy="2126660"/>
          </a:xfrm>
          <a:custGeom>
            <a:avLst/>
            <a:gdLst/>
            <a:ahLst/>
            <a:cxnLst/>
            <a:rect l="l" t="t" r="r" b="b"/>
            <a:pathLst>
              <a:path w="10519511" h="2126660">
                <a:moveTo>
                  <a:pt x="141253" y="0"/>
                </a:moveTo>
                <a:lnTo>
                  <a:pt x="10378259" y="0"/>
                </a:lnTo>
                <a:cubicBezTo>
                  <a:pt x="10456270" y="0"/>
                  <a:pt x="10519511" y="63241"/>
                  <a:pt x="10519511" y="141253"/>
                </a:cubicBezTo>
                <a:lnTo>
                  <a:pt x="10519511" y="1985407"/>
                </a:lnTo>
                <a:cubicBezTo>
                  <a:pt x="10519511" y="2063419"/>
                  <a:pt x="10456270" y="2126660"/>
                  <a:pt x="10378259" y="2126660"/>
                </a:cubicBezTo>
                <a:lnTo>
                  <a:pt x="141253" y="2126660"/>
                </a:lnTo>
                <a:cubicBezTo>
                  <a:pt x="63241" y="2126660"/>
                  <a:pt x="0" y="2063419"/>
                  <a:pt x="0" y="1985407"/>
                </a:cubicBezTo>
                <a:lnTo>
                  <a:pt x="0" y="141253"/>
                </a:lnTo>
                <a:cubicBezTo>
                  <a:pt x="0" y="63293"/>
                  <a:pt x="63293" y="0"/>
                  <a:pt x="141253" y="0"/>
                </a:cubicBezTo>
                <a:close/>
              </a:path>
            </a:pathLst>
          </a:custGeom>
          <a:gradFill flip="none" rotWithShape="1">
            <a:gsLst>
              <a:gs pos="0">
                <a:srgbClr val="E5A044">
                  <a:alpha val="15000"/>
                </a:srgbClr>
              </a:gs>
              <a:gs pos="100000">
                <a:srgbClr val="000000">
                  <a:alpha val="0"/>
                </a:srgbClr>
              </a:gs>
            </a:gsLst>
            <a:lin ang="2700000" scaled="1"/>
          </a:gradFill>
          <a:ln w="8467">
            <a:solidFill>
              <a:srgbClr val="E5A044">
                <a:alpha val="30196"/>
              </a:srgbClr>
            </a:solidFill>
            <a:prstDash val="solid"/>
          </a:ln>
        </p:spPr>
      </p:sp>
      <p:sp>
        <p:nvSpPr>
          <p:cNvPr id="11" name="Shape 9"/>
          <p:cNvSpPr/>
          <p:nvPr/>
        </p:nvSpPr>
        <p:spPr>
          <a:xfrm>
            <a:off x="761203" y="4008087"/>
            <a:ext cx="659186" cy="659186"/>
          </a:xfrm>
          <a:custGeom>
            <a:avLst/>
            <a:gdLst/>
            <a:ahLst/>
            <a:cxnLst/>
            <a:rect l="l" t="t" r="r" b="b"/>
            <a:pathLst>
              <a:path w="659186" h="659186">
                <a:moveTo>
                  <a:pt x="141257" y="0"/>
                </a:moveTo>
                <a:lnTo>
                  <a:pt x="517929" y="0"/>
                </a:lnTo>
                <a:cubicBezTo>
                  <a:pt x="595943" y="0"/>
                  <a:pt x="659186" y="63243"/>
                  <a:pt x="659186" y="141257"/>
                </a:cubicBezTo>
                <a:lnTo>
                  <a:pt x="659186" y="517929"/>
                </a:lnTo>
                <a:cubicBezTo>
                  <a:pt x="659186" y="595943"/>
                  <a:pt x="595943" y="659186"/>
                  <a:pt x="517929" y="659186"/>
                </a:cubicBezTo>
                <a:lnTo>
                  <a:pt x="141257" y="659186"/>
                </a:lnTo>
                <a:cubicBezTo>
                  <a:pt x="63243" y="659186"/>
                  <a:pt x="0" y="595943"/>
                  <a:pt x="0" y="517929"/>
                </a:cubicBezTo>
                <a:lnTo>
                  <a:pt x="0" y="141257"/>
                </a:lnTo>
                <a:cubicBezTo>
                  <a:pt x="0" y="63243"/>
                  <a:pt x="63243" y="0"/>
                  <a:pt x="141257" y="0"/>
                </a:cubicBezTo>
                <a:close/>
              </a:path>
            </a:pathLst>
          </a:custGeom>
          <a:solidFill>
            <a:srgbClr val="E5A044">
              <a:alpha val="30196"/>
            </a:srgbClr>
          </a:solidFill>
        </p:spPr>
      </p:sp>
      <p:sp>
        <p:nvSpPr>
          <p:cNvPr id="12" name="Shape 10"/>
          <p:cNvSpPr/>
          <p:nvPr/>
        </p:nvSpPr>
        <p:spPr>
          <a:xfrm>
            <a:off x="949542" y="4196426"/>
            <a:ext cx="282508" cy="282508"/>
          </a:xfrm>
          <a:custGeom>
            <a:avLst/>
            <a:gdLst/>
            <a:ahLst/>
            <a:cxnLst/>
            <a:rect l="l" t="t" r="r" b="b"/>
            <a:pathLst>
              <a:path w="282508" h="282508">
                <a:moveTo>
                  <a:pt x="141254" y="0"/>
                </a:moveTo>
                <a:cubicBezTo>
                  <a:pt x="149365" y="0"/>
                  <a:pt x="156814" y="4469"/>
                  <a:pt x="160677" y="11587"/>
                </a:cubicBezTo>
                <a:lnTo>
                  <a:pt x="279860" y="232297"/>
                </a:lnTo>
                <a:cubicBezTo>
                  <a:pt x="283557" y="239139"/>
                  <a:pt x="283391" y="247415"/>
                  <a:pt x="279418" y="254092"/>
                </a:cubicBezTo>
                <a:cubicBezTo>
                  <a:pt x="275446" y="260768"/>
                  <a:pt x="268217" y="264852"/>
                  <a:pt x="260437" y="264852"/>
                </a:cubicBezTo>
                <a:lnTo>
                  <a:pt x="22071" y="264852"/>
                </a:lnTo>
                <a:cubicBezTo>
                  <a:pt x="14291" y="264852"/>
                  <a:pt x="7118" y="260768"/>
                  <a:pt x="3090" y="254092"/>
                </a:cubicBezTo>
                <a:cubicBezTo>
                  <a:pt x="-938" y="247415"/>
                  <a:pt x="-1048" y="239139"/>
                  <a:pt x="2649" y="232297"/>
                </a:cubicBezTo>
                <a:lnTo>
                  <a:pt x="121832" y="11587"/>
                </a:lnTo>
                <a:cubicBezTo>
                  <a:pt x="125694" y="4469"/>
                  <a:pt x="133143" y="0"/>
                  <a:pt x="141254" y="0"/>
                </a:cubicBezTo>
                <a:close/>
                <a:moveTo>
                  <a:pt x="141254" y="92698"/>
                </a:moveTo>
                <a:cubicBezTo>
                  <a:pt x="133916" y="92698"/>
                  <a:pt x="128012" y="98602"/>
                  <a:pt x="128012" y="105941"/>
                </a:cubicBezTo>
                <a:lnTo>
                  <a:pt x="128012" y="167739"/>
                </a:lnTo>
                <a:cubicBezTo>
                  <a:pt x="128012" y="175078"/>
                  <a:pt x="133916" y="180982"/>
                  <a:pt x="141254" y="180982"/>
                </a:cubicBezTo>
                <a:cubicBezTo>
                  <a:pt x="148593" y="180982"/>
                  <a:pt x="154497" y="175078"/>
                  <a:pt x="154497" y="167739"/>
                </a:cubicBezTo>
                <a:lnTo>
                  <a:pt x="154497" y="105941"/>
                </a:lnTo>
                <a:cubicBezTo>
                  <a:pt x="154497" y="98602"/>
                  <a:pt x="148593" y="92698"/>
                  <a:pt x="141254" y="92698"/>
                </a:cubicBezTo>
                <a:close/>
                <a:moveTo>
                  <a:pt x="155987" y="211881"/>
                </a:moveTo>
                <a:cubicBezTo>
                  <a:pt x="156322" y="206413"/>
                  <a:pt x="153595" y="201210"/>
                  <a:pt x="148907" y="198374"/>
                </a:cubicBezTo>
                <a:cubicBezTo>
                  <a:pt x="144219" y="195539"/>
                  <a:pt x="138345" y="195539"/>
                  <a:pt x="133657" y="198374"/>
                </a:cubicBezTo>
                <a:cubicBezTo>
                  <a:pt x="128969" y="201210"/>
                  <a:pt x="126242" y="206413"/>
                  <a:pt x="126577" y="211881"/>
                </a:cubicBezTo>
                <a:cubicBezTo>
                  <a:pt x="126242" y="217350"/>
                  <a:pt x="128969" y="222552"/>
                  <a:pt x="133657" y="225388"/>
                </a:cubicBezTo>
                <a:cubicBezTo>
                  <a:pt x="138345" y="228224"/>
                  <a:pt x="144219" y="228224"/>
                  <a:pt x="148907" y="225388"/>
                </a:cubicBezTo>
                <a:cubicBezTo>
                  <a:pt x="153595" y="222552"/>
                  <a:pt x="156322" y="217350"/>
                  <a:pt x="155987" y="211881"/>
                </a:cubicBezTo>
                <a:close/>
              </a:path>
            </a:pathLst>
          </a:custGeom>
          <a:solidFill>
            <a:srgbClr val="E5A044"/>
          </a:solidFill>
        </p:spPr>
      </p:sp>
      <p:sp>
        <p:nvSpPr>
          <p:cNvPr id="13" name="Text 11"/>
          <p:cNvSpPr/>
          <p:nvPr/>
        </p:nvSpPr>
        <p:spPr>
          <a:xfrm>
            <a:off x="1608728" y="4008087"/>
            <a:ext cx="9240377" cy="376678"/>
          </a:xfrm>
          <a:prstGeom prst="rect">
            <a:avLst/>
          </a:prstGeom>
          <a:noFill/>
        </p:spPr>
        <p:txBody>
          <a:bodyPr wrap="square" lIns="0" tIns="0" rIns="0" bIns="0" rtlCol="0" anchor="ctr"/>
          <a:lstStyle/>
          <a:p>
            <a:pPr>
              <a:lnSpc>
                <a:spcPct val="110000"/>
              </a:lnSpc>
            </a:pPr>
            <a:r>
              <a:rPr lang="en-US" sz="2225" b="1" dirty="0">
                <a:solidFill>
                  <a:srgbClr val="E0E2E6"/>
                </a:solidFill>
                <a:latin typeface="阿里妈妈数黑体" pitchFamily="34" charset="-122"/>
                <a:ea typeface="阿里妈妈数黑体" pitchFamily="34" charset="-122"/>
                <a:cs typeface="阿里妈妈数黑体" pitchFamily="34" charset="-120"/>
              </a:rPr>
              <a:t>代码复现能力成为关键指标</a:t>
            </a:r>
            <a:endParaRPr lang="en-US" sz="1600" dirty="0"/>
          </a:p>
        </p:txBody>
      </p:sp>
      <p:sp>
        <p:nvSpPr>
          <p:cNvPr id="14" name="Text 12"/>
          <p:cNvSpPr/>
          <p:nvPr/>
        </p:nvSpPr>
        <p:spPr>
          <a:xfrm>
            <a:off x="1608728" y="4526019"/>
            <a:ext cx="9205063" cy="1035864"/>
          </a:xfrm>
          <a:prstGeom prst="rect">
            <a:avLst/>
          </a:prstGeom>
          <a:noFill/>
        </p:spPr>
        <p:txBody>
          <a:bodyPr wrap="square" lIns="0" tIns="0" rIns="0" bIns="0" rtlCol="0" anchor="ctr"/>
          <a:lstStyle/>
          <a:p>
            <a:pPr>
              <a:lnSpc>
                <a:spcPct val="140000"/>
              </a:lnSpc>
            </a:pPr>
            <a:r>
              <a:rPr lang="en-US" sz="1670" b="1" dirty="0">
                <a:solidFill>
                  <a:srgbClr val="E5A044"/>
                </a:solidFill>
                <a:latin typeface="MiSans" pitchFamily="34" charset="-122"/>
                <a:ea typeface="MiSans" pitchFamily="34" charset="-122"/>
                <a:cs typeface="MiSans" pitchFamily="34" charset="-120"/>
              </a:rPr>
              <a:t>代码复现能力</a:t>
            </a:r>
            <a:r>
              <a:rPr lang="en-US" sz="1670" dirty="0">
                <a:solidFill>
                  <a:srgbClr val="E0E2E6">
                    <a:alpha val="80000"/>
                  </a:srgbClr>
                </a:solidFill>
                <a:latin typeface="MiSans" pitchFamily="34" charset="-122"/>
                <a:ea typeface="MiSans" pitchFamily="34" charset="-122"/>
                <a:cs typeface="MiSans" pitchFamily="34" charset="-120"/>
              </a:rPr>
              <a:t>逐渐成为评估开源项目质量、科研可信度以及工程可落地性的关键指标之一。然而,在实际使用过程中,用户在尝试复现开源项目时往往面临</a:t>
            </a:r>
            <a:r>
              <a:rPr lang="en-US" sz="1670" dirty="0">
                <a:solidFill>
                  <a:srgbClr val="E0E2E6">
                    <a:alpha val="80000"/>
                  </a:srgbClr>
                </a:solidFill>
                <a:highlight>
                  <a:srgbClr val="3D8F8A">
                    <a:alpha val="20000"/>
                  </a:srgbClr>
                </a:highlight>
                <a:latin typeface="MiSans" pitchFamily="34" charset="-122"/>
                <a:ea typeface="MiSans" pitchFamily="34" charset="-122"/>
                <a:cs typeface="MiSans" pitchFamily="34" charset="-120"/>
              </a:rPr>
              <a:t> 环境配置复杂、依赖不明确、复现成本高 </a:t>
            </a:r>
            <a:r>
              <a:rPr lang="en-US" sz="1670" dirty="0">
                <a:solidFill>
                  <a:srgbClr val="E0E2E6">
                    <a:alpha val="80000"/>
                  </a:srgbClr>
                </a:solidFill>
                <a:latin typeface="MiSans" pitchFamily="34" charset="-122"/>
                <a:ea typeface="MiSans" pitchFamily="34" charset="-122"/>
                <a:cs typeface="MiSans" pitchFamily="34" charset="-120"/>
              </a:rPr>
              <a:t>等问题。</a:t>
            </a:r>
            <a:endParaRPr lang="en-US" sz="1600" dirty="0"/>
          </a:p>
        </p:txBody>
      </p:sp>
      <p:sp>
        <p:nvSpPr>
          <p:cNvPr id="15" name="Shape 13"/>
          <p:cNvSpPr/>
          <p:nvPr/>
        </p:nvSpPr>
        <p:spPr>
          <a:xfrm>
            <a:off x="474771" y="6041559"/>
            <a:ext cx="10519511" cy="1785296"/>
          </a:xfrm>
          <a:custGeom>
            <a:avLst/>
            <a:gdLst/>
            <a:ahLst/>
            <a:cxnLst/>
            <a:rect l="l" t="t" r="r" b="b"/>
            <a:pathLst>
              <a:path w="10519511" h="1785296">
                <a:moveTo>
                  <a:pt x="141253" y="0"/>
                </a:moveTo>
                <a:lnTo>
                  <a:pt x="10378259" y="0"/>
                </a:lnTo>
                <a:cubicBezTo>
                  <a:pt x="10456271" y="0"/>
                  <a:pt x="10519511" y="63241"/>
                  <a:pt x="10519511" y="141253"/>
                </a:cubicBezTo>
                <a:lnTo>
                  <a:pt x="10519511" y="1644043"/>
                </a:lnTo>
                <a:cubicBezTo>
                  <a:pt x="10519511" y="1722055"/>
                  <a:pt x="10456271" y="1785296"/>
                  <a:pt x="10378259" y="1785296"/>
                </a:cubicBezTo>
                <a:lnTo>
                  <a:pt x="141253" y="1785296"/>
                </a:lnTo>
                <a:cubicBezTo>
                  <a:pt x="63241" y="1785296"/>
                  <a:pt x="0" y="1722055"/>
                  <a:pt x="0" y="1644043"/>
                </a:cubicBezTo>
                <a:lnTo>
                  <a:pt x="0" y="141253"/>
                </a:lnTo>
                <a:cubicBezTo>
                  <a:pt x="0" y="63241"/>
                  <a:pt x="63241" y="0"/>
                  <a:pt x="141253" y="0"/>
                </a:cubicBezTo>
                <a:close/>
              </a:path>
            </a:pathLst>
          </a:custGeom>
          <a:gradFill flip="none" rotWithShape="1">
            <a:gsLst>
              <a:gs pos="0">
                <a:srgbClr val="5A6472">
                  <a:alpha val="15000"/>
                </a:srgbClr>
              </a:gs>
              <a:gs pos="100000">
                <a:srgbClr val="000000">
                  <a:alpha val="0"/>
                </a:srgbClr>
              </a:gs>
            </a:gsLst>
            <a:lin ang="2700000" scaled="1"/>
          </a:gradFill>
          <a:ln w="8467">
            <a:solidFill>
              <a:srgbClr val="5A6472">
                <a:alpha val="30196"/>
              </a:srgbClr>
            </a:solidFill>
            <a:prstDash val="solid"/>
          </a:ln>
        </p:spPr>
      </p:sp>
      <p:sp>
        <p:nvSpPr>
          <p:cNvPr id="16" name="Shape 14"/>
          <p:cNvSpPr/>
          <p:nvPr/>
        </p:nvSpPr>
        <p:spPr>
          <a:xfrm>
            <a:off x="761203" y="6327992"/>
            <a:ext cx="659186" cy="659186"/>
          </a:xfrm>
          <a:custGeom>
            <a:avLst/>
            <a:gdLst/>
            <a:ahLst/>
            <a:cxnLst/>
            <a:rect l="l" t="t" r="r" b="b"/>
            <a:pathLst>
              <a:path w="659186" h="659186">
                <a:moveTo>
                  <a:pt x="141257" y="0"/>
                </a:moveTo>
                <a:lnTo>
                  <a:pt x="517929" y="0"/>
                </a:lnTo>
                <a:cubicBezTo>
                  <a:pt x="595943" y="0"/>
                  <a:pt x="659186" y="63243"/>
                  <a:pt x="659186" y="141257"/>
                </a:cubicBezTo>
                <a:lnTo>
                  <a:pt x="659186" y="517929"/>
                </a:lnTo>
                <a:cubicBezTo>
                  <a:pt x="659186" y="595943"/>
                  <a:pt x="595943" y="659186"/>
                  <a:pt x="517929" y="659186"/>
                </a:cubicBezTo>
                <a:lnTo>
                  <a:pt x="141257" y="659186"/>
                </a:lnTo>
                <a:cubicBezTo>
                  <a:pt x="63243" y="659186"/>
                  <a:pt x="0" y="595943"/>
                  <a:pt x="0" y="517929"/>
                </a:cubicBezTo>
                <a:lnTo>
                  <a:pt x="0" y="141257"/>
                </a:lnTo>
                <a:cubicBezTo>
                  <a:pt x="0" y="63243"/>
                  <a:pt x="63243" y="0"/>
                  <a:pt x="141257" y="0"/>
                </a:cubicBezTo>
                <a:close/>
              </a:path>
            </a:pathLst>
          </a:custGeom>
          <a:solidFill>
            <a:srgbClr val="5A6472">
              <a:alpha val="30196"/>
            </a:srgbClr>
          </a:solidFill>
        </p:spPr>
      </p:sp>
      <p:sp>
        <p:nvSpPr>
          <p:cNvPr id="17" name="Shape 15"/>
          <p:cNvSpPr/>
          <p:nvPr/>
        </p:nvSpPr>
        <p:spPr>
          <a:xfrm>
            <a:off x="931885" y="6516331"/>
            <a:ext cx="317822" cy="282508"/>
          </a:xfrm>
          <a:custGeom>
            <a:avLst/>
            <a:gdLst/>
            <a:ahLst/>
            <a:cxnLst/>
            <a:rect l="l" t="t" r="r" b="b"/>
            <a:pathLst>
              <a:path w="317822" h="282508">
                <a:moveTo>
                  <a:pt x="123653" y="53577"/>
                </a:moveTo>
                <a:lnTo>
                  <a:pt x="123653" y="80945"/>
                </a:lnTo>
                <a:lnTo>
                  <a:pt x="123928" y="81221"/>
                </a:lnTo>
                <a:cubicBezTo>
                  <a:pt x="127515" y="35755"/>
                  <a:pt x="165532" y="0"/>
                  <a:pt x="211936" y="0"/>
                </a:cubicBezTo>
                <a:cubicBezTo>
                  <a:pt x="223027" y="0"/>
                  <a:pt x="233676" y="2042"/>
                  <a:pt x="243443" y="5794"/>
                </a:cubicBezTo>
                <a:cubicBezTo>
                  <a:pt x="248960" y="7890"/>
                  <a:pt x="249954" y="14898"/>
                  <a:pt x="245815" y="19091"/>
                </a:cubicBezTo>
                <a:lnTo>
                  <a:pt x="196873" y="68034"/>
                </a:lnTo>
                <a:cubicBezTo>
                  <a:pt x="195218" y="69689"/>
                  <a:pt x="194280" y="71951"/>
                  <a:pt x="194280" y="74269"/>
                </a:cubicBezTo>
                <a:lnTo>
                  <a:pt x="194280" y="97112"/>
                </a:lnTo>
                <a:cubicBezTo>
                  <a:pt x="194280" y="101968"/>
                  <a:pt x="198252" y="105941"/>
                  <a:pt x="203108" y="105941"/>
                </a:cubicBezTo>
                <a:lnTo>
                  <a:pt x="225951" y="105941"/>
                </a:lnTo>
                <a:cubicBezTo>
                  <a:pt x="228269" y="105941"/>
                  <a:pt x="230531" y="105003"/>
                  <a:pt x="232187" y="103347"/>
                </a:cubicBezTo>
                <a:lnTo>
                  <a:pt x="281129" y="54405"/>
                </a:lnTo>
                <a:cubicBezTo>
                  <a:pt x="285322" y="50211"/>
                  <a:pt x="292330" y="51260"/>
                  <a:pt x="294427" y="56778"/>
                </a:cubicBezTo>
                <a:cubicBezTo>
                  <a:pt x="298179" y="66544"/>
                  <a:pt x="300220" y="77193"/>
                  <a:pt x="300220" y="88284"/>
                </a:cubicBezTo>
                <a:cubicBezTo>
                  <a:pt x="300220" y="121721"/>
                  <a:pt x="281625" y="150855"/>
                  <a:pt x="254147" y="165808"/>
                </a:cubicBezTo>
                <a:lnTo>
                  <a:pt x="299117" y="210778"/>
                </a:lnTo>
                <a:cubicBezTo>
                  <a:pt x="309435" y="221096"/>
                  <a:pt x="309435" y="237870"/>
                  <a:pt x="299117" y="248243"/>
                </a:cubicBezTo>
                <a:lnTo>
                  <a:pt x="265955" y="281405"/>
                </a:lnTo>
                <a:cubicBezTo>
                  <a:pt x="255637" y="291723"/>
                  <a:pt x="238863" y="291723"/>
                  <a:pt x="228490" y="281405"/>
                </a:cubicBezTo>
                <a:lnTo>
                  <a:pt x="158966" y="211881"/>
                </a:lnTo>
                <a:cubicBezTo>
                  <a:pt x="143848" y="196763"/>
                  <a:pt x="140427" y="174416"/>
                  <a:pt x="148758" y="155987"/>
                </a:cubicBezTo>
                <a:lnTo>
                  <a:pt x="98712" y="105941"/>
                </a:lnTo>
                <a:lnTo>
                  <a:pt x="71344" y="105941"/>
                </a:lnTo>
                <a:cubicBezTo>
                  <a:pt x="65440" y="105941"/>
                  <a:pt x="59923" y="103016"/>
                  <a:pt x="56667" y="98105"/>
                </a:cubicBezTo>
                <a:lnTo>
                  <a:pt x="12912" y="32499"/>
                </a:lnTo>
                <a:cubicBezTo>
                  <a:pt x="10594" y="29023"/>
                  <a:pt x="11035" y="24333"/>
                  <a:pt x="14015" y="21354"/>
                </a:cubicBezTo>
                <a:lnTo>
                  <a:pt x="39066" y="-3697"/>
                </a:lnTo>
                <a:cubicBezTo>
                  <a:pt x="42045" y="-6676"/>
                  <a:pt x="46680" y="-7118"/>
                  <a:pt x="50211" y="-4800"/>
                </a:cubicBezTo>
                <a:lnTo>
                  <a:pt x="115817" y="38900"/>
                </a:lnTo>
                <a:cubicBezTo>
                  <a:pt x="120728" y="42156"/>
                  <a:pt x="123653" y="47673"/>
                  <a:pt x="123653" y="53577"/>
                </a:cubicBezTo>
                <a:close/>
                <a:moveTo>
                  <a:pt x="118962" y="163656"/>
                </a:moveTo>
                <a:cubicBezTo>
                  <a:pt x="115486" y="184072"/>
                  <a:pt x="120287" y="205646"/>
                  <a:pt x="133529" y="222917"/>
                </a:cubicBezTo>
                <a:lnTo>
                  <a:pt x="81111" y="275280"/>
                </a:lnTo>
                <a:cubicBezTo>
                  <a:pt x="65606" y="290785"/>
                  <a:pt x="40445" y="290785"/>
                  <a:pt x="24940" y="275280"/>
                </a:cubicBezTo>
                <a:cubicBezTo>
                  <a:pt x="9435" y="259775"/>
                  <a:pt x="9435" y="234614"/>
                  <a:pt x="24940" y="219109"/>
                </a:cubicBezTo>
                <a:lnTo>
                  <a:pt x="99650" y="144399"/>
                </a:lnTo>
                <a:lnTo>
                  <a:pt x="118962" y="163711"/>
                </a:lnTo>
                <a:close/>
              </a:path>
            </a:pathLst>
          </a:custGeom>
          <a:solidFill>
            <a:srgbClr val="5A6472"/>
          </a:solidFill>
        </p:spPr>
      </p:sp>
      <p:sp>
        <p:nvSpPr>
          <p:cNvPr id="18" name="Text 16"/>
          <p:cNvSpPr/>
          <p:nvPr/>
        </p:nvSpPr>
        <p:spPr>
          <a:xfrm>
            <a:off x="1608728" y="6327992"/>
            <a:ext cx="9240377" cy="376678"/>
          </a:xfrm>
          <a:prstGeom prst="rect">
            <a:avLst/>
          </a:prstGeom>
          <a:noFill/>
        </p:spPr>
        <p:txBody>
          <a:bodyPr wrap="square" lIns="0" tIns="0" rIns="0" bIns="0" rtlCol="0" anchor="ctr"/>
          <a:lstStyle/>
          <a:p>
            <a:pPr>
              <a:lnSpc>
                <a:spcPct val="110000"/>
              </a:lnSpc>
            </a:pPr>
            <a:r>
              <a:rPr lang="en-US" sz="2225" b="1" dirty="0">
                <a:solidFill>
                  <a:srgbClr val="E0E2E6"/>
                </a:solidFill>
                <a:latin typeface="阿里妈妈数黑体" pitchFamily="34" charset="-122"/>
                <a:ea typeface="阿里妈妈数黑体" pitchFamily="34" charset="-122"/>
                <a:cs typeface="阿里妈妈数黑体" pitchFamily="34" charset="-120"/>
              </a:rPr>
              <a:t>AI与数据科学领域的特殊挑战</a:t>
            </a:r>
            <a:endParaRPr lang="en-US" sz="1600" dirty="0"/>
          </a:p>
        </p:txBody>
      </p:sp>
      <p:sp>
        <p:nvSpPr>
          <p:cNvPr id="19" name="Text 17"/>
          <p:cNvSpPr/>
          <p:nvPr/>
        </p:nvSpPr>
        <p:spPr>
          <a:xfrm>
            <a:off x="1608728" y="6845924"/>
            <a:ext cx="9205063" cy="694500"/>
          </a:xfrm>
          <a:prstGeom prst="rect">
            <a:avLst/>
          </a:prstGeom>
          <a:noFill/>
        </p:spPr>
        <p:txBody>
          <a:bodyPr wrap="square" lIns="0" tIns="0" rIns="0" bIns="0" rtlCol="0" anchor="ctr"/>
          <a:lstStyle/>
          <a:p>
            <a:pPr>
              <a:lnSpc>
                <a:spcPct val="140000"/>
              </a:lnSpc>
            </a:pPr>
            <a:r>
              <a:rPr lang="en-US" sz="1670" dirty="0">
                <a:solidFill>
                  <a:srgbClr val="E0E2E6">
                    <a:alpha val="80000"/>
                  </a:srgbClr>
                </a:solidFill>
                <a:latin typeface="MiSans" pitchFamily="34" charset="-122"/>
                <a:ea typeface="MiSans" pitchFamily="34" charset="-122"/>
                <a:cs typeface="MiSans" pitchFamily="34" charset="-120"/>
              </a:rPr>
              <a:t>特别是在</a:t>
            </a:r>
            <a:r>
              <a:rPr lang="en-US" sz="1670" b="1" dirty="0">
                <a:solidFill>
                  <a:srgbClr val="3D8F8A"/>
                </a:solidFill>
                <a:latin typeface="MiSans" pitchFamily="34" charset="-122"/>
                <a:ea typeface="MiSans" pitchFamily="34" charset="-122"/>
                <a:cs typeface="MiSans" pitchFamily="34" charset="-120"/>
              </a:rPr>
              <a:t>人工智能、数据科学和系统软件</a:t>
            </a:r>
            <a:r>
              <a:rPr lang="en-US" sz="1670" dirty="0">
                <a:solidFill>
                  <a:srgbClr val="E0E2E6">
                    <a:alpha val="80000"/>
                  </a:srgbClr>
                </a:solidFill>
                <a:latin typeface="MiSans" pitchFamily="34" charset="-122"/>
                <a:ea typeface="MiSans" pitchFamily="34" charset="-122"/>
                <a:cs typeface="MiSans" pitchFamily="34" charset="-120"/>
              </a:rPr>
              <a:t>等领域,项目通常依赖</a:t>
            </a:r>
            <a:r>
              <a:rPr lang="en-US" sz="1670" dirty="0">
                <a:solidFill>
                  <a:srgbClr val="E0E2E6">
                    <a:alpha val="80000"/>
                  </a:srgbClr>
                </a:solidFill>
                <a:highlight>
                  <a:srgbClr val="E5A044">
                    <a:alpha val="20000"/>
                  </a:srgbClr>
                </a:highlight>
                <a:latin typeface="MiSans" pitchFamily="34" charset="-122"/>
                <a:ea typeface="MiSans" pitchFamily="34" charset="-122"/>
                <a:cs typeface="MiSans" pitchFamily="34" charset="-120"/>
              </a:rPr>
              <a:t> 大量第三方库、特定版本的运行环境以及系统级依赖 </a:t>
            </a:r>
            <a:r>
              <a:rPr lang="en-US" sz="1670" dirty="0">
                <a:solidFill>
                  <a:srgbClr val="E0E2E6">
                    <a:alpha val="80000"/>
                  </a:srgbClr>
                </a:solidFill>
                <a:latin typeface="MiSans" pitchFamily="34" charset="-122"/>
                <a:ea typeface="MiSans" pitchFamily="34" charset="-122"/>
                <a:cs typeface="MiSans" pitchFamily="34" charset="-120"/>
              </a:rPr>
              <a:t>,任何一个环节缺失,都可能导致项目无法成功运行。</a:t>
            </a:r>
            <a:endParaRPr lang="en-US" sz="1600" dirty="0"/>
          </a:p>
        </p:txBody>
      </p:sp>
      <p:sp>
        <p:nvSpPr>
          <p:cNvPr id="20" name="Shape 18"/>
          <p:cNvSpPr/>
          <p:nvPr/>
        </p:nvSpPr>
        <p:spPr>
          <a:xfrm>
            <a:off x="11272149" y="1102803"/>
            <a:ext cx="4504438" cy="4810489"/>
          </a:xfrm>
          <a:custGeom>
            <a:avLst/>
            <a:gdLst/>
            <a:ahLst/>
            <a:cxnLst/>
            <a:rect l="l" t="t" r="r" b="b"/>
            <a:pathLst>
              <a:path w="4504438" h="4810489">
                <a:moveTo>
                  <a:pt x="141259" y="0"/>
                </a:moveTo>
                <a:lnTo>
                  <a:pt x="4363179" y="0"/>
                </a:lnTo>
                <a:cubicBezTo>
                  <a:pt x="4441194" y="0"/>
                  <a:pt x="4504438" y="63244"/>
                  <a:pt x="4504438" y="141259"/>
                </a:cubicBezTo>
                <a:lnTo>
                  <a:pt x="4504438" y="4669230"/>
                </a:lnTo>
                <a:cubicBezTo>
                  <a:pt x="4504438" y="4747245"/>
                  <a:pt x="4441194" y="4810489"/>
                  <a:pt x="4363179" y="4810489"/>
                </a:cubicBezTo>
                <a:lnTo>
                  <a:pt x="141259" y="4810489"/>
                </a:lnTo>
                <a:cubicBezTo>
                  <a:pt x="63244" y="4810489"/>
                  <a:pt x="0" y="4747245"/>
                  <a:pt x="0" y="4669230"/>
                </a:cubicBezTo>
                <a:lnTo>
                  <a:pt x="0" y="141259"/>
                </a:lnTo>
                <a:cubicBezTo>
                  <a:pt x="0" y="63244"/>
                  <a:pt x="63244" y="0"/>
                  <a:pt x="141259" y="0"/>
                </a:cubicBezTo>
                <a:close/>
              </a:path>
            </a:pathLst>
          </a:custGeom>
          <a:gradFill flip="none" rotWithShape="1">
            <a:gsLst>
              <a:gs pos="0">
                <a:srgbClr val="3D8F8A">
                  <a:alpha val="20000"/>
                </a:srgbClr>
              </a:gs>
              <a:gs pos="100000">
                <a:srgbClr val="E5A044">
                  <a:alpha val="10000"/>
                </a:srgbClr>
              </a:gs>
            </a:gsLst>
            <a:lin ang="2700000" scaled="1"/>
          </a:gradFill>
          <a:ln w="8467">
            <a:solidFill>
              <a:srgbClr val="3D8F8A">
                <a:alpha val="40000"/>
              </a:srgbClr>
            </a:solidFill>
            <a:prstDash val="solid"/>
          </a:ln>
        </p:spPr>
      </p:sp>
      <p:sp>
        <p:nvSpPr>
          <p:cNvPr id="21" name="Shape 19"/>
          <p:cNvSpPr/>
          <p:nvPr/>
        </p:nvSpPr>
        <p:spPr>
          <a:xfrm>
            <a:off x="13241002" y="1517738"/>
            <a:ext cx="565017" cy="565017"/>
          </a:xfrm>
          <a:custGeom>
            <a:avLst/>
            <a:gdLst/>
            <a:ahLst/>
            <a:cxnLst/>
            <a:rect l="l" t="t" r="r" b="b"/>
            <a:pathLst>
              <a:path w="565017" h="565017">
                <a:moveTo>
                  <a:pt x="141254" y="353135"/>
                </a:moveTo>
                <a:lnTo>
                  <a:pt x="27037" y="353135"/>
                </a:lnTo>
                <a:cubicBezTo>
                  <a:pt x="-441" y="353135"/>
                  <a:pt x="-17326" y="323229"/>
                  <a:pt x="-3200" y="299613"/>
                </a:cubicBezTo>
                <a:lnTo>
                  <a:pt x="55177" y="202280"/>
                </a:lnTo>
                <a:cubicBezTo>
                  <a:pt x="64778" y="186279"/>
                  <a:pt x="81994" y="176568"/>
                  <a:pt x="100644" y="176568"/>
                </a:cubicBezTo>
                <a:lnTo>
                  <a:pt x="205481" y="176568"/>
                </a:lnTo>
                <a:cubicBezTo>
                  <a:pt x="289461" y="34320"/>
                  <a:pt x="414713" y="27147"/>
                  <a:pt x="498473" y="39397"/>
                </a:cubicBezTo>
                <a:cubicBezTo>
                  <a:pt x="512598" y="41493"/>
                  <a:pt x="523634" y="52529"/>
                  <a:pt x="525620" y="66544"/>
                </a:cubicBezTo>
                <a:cubicBezTo>
                  <a:pt x="537869" y="150303"/>
                  <a:pt x="530696" y="275556"/>
                  <a:pt x="388449" y="359536"/>
                </a:cubicBezTo>
                <a:lnTo>
                  <a:pt x="388449" y="464373"/>
                </a:lnTo>
                <a:cubicBezTo>
                  <a:pt x="388449" y="483023"/>
                  <a:pt x="378738" y="500238"/>
                  <a:pt x="362736" y="509839"/>
                </a:cubicBezTo>
                <a:lnTo>
                  <a:pt x="265403" y="568217"/>
                </a:lnTo>
                <a:cubicBezTo>
                  <a:pt x="241898" y="582342"/>
                  <a:pt x="211881" y="565348"/>
                  <a:pt x="211881" y="537980"/>
                </a:cubicBezTo>
                <a:lnTo>
                  <a:pt x="211881" y="423762"/>
                </a:lnTo>
                <a:cubicBezTo>
                  <a:pt x="211881" y="384807"/>
                  <a:pt x="180209" y="353135"/>
                  <a:pt x="141254" y="353135"/>
                </a:cubicBezTo>
                <a:lnTo>
                  <a:pt x="141144" y="353135"/>
                </a:lnTo>
                <a:close/>
                <a:moveTo>
                  <a:pt x="441419" y="176568"/>
                </a:moveTo>
                <a:cubicBezTo>
                  <a:pt x="441419" y="147333"/>
                  <a:pt x="417684" y="123597"/>
                  <a:pt x="388449" y="123597"/>
                </a:cubicBezTo>
                <a:cubicBezTo>
                  <a:pt x="359214" y="123597"/>
                  <a:pt x="335479" y="147333"/>
                  <a:pt x="335479" y="176568"/>
                </a:cubicBezTo>
                <a:cubicBezTo>
                  <a:pt x="335479" y="205803"/>
                  <a:pt x="359214" y="229538"/>
                  <a:pt x="388449" y="229538"/>
                </a:cubicBezTo>
                <a:cubicBezTo>
                  <a:pt x="417684" y="229538"/>
                  <a:pt x="441419" y="205803"/>
                  <a:pt x="441419" y="176568"/>
                </a:cubicBezTo>
                <a:close/>
              </a:path>
            </a:pathLst>
          </a:custGeom>
          <a:solidFill>
            <a:srgbClr val="3D8F8A"/>
          </a:solidFill>
        </p:spPr>
      </p:sp>
      <p:sp>
        <p:nvSpPr>
          <p:cNvPr id="22" name="Text 20"/>
          <p:cNvSpPr/>
          <p:nvPr/>
        </p:nvSpPr>
        <p:spPr>
          <a:xfrm>
            <a:off x="11487954" y="2271094"/>
            <a:ext cx="4072828" cy="376678"/>
          </a:xfrm>
          <a:prstGeom prst="rect">
            <a:avLst/>
          </a:prstGeom>
          <a:noFill/>
        </p:spPr>
        <p:txBody>
          <a:bodyPr wrap="square" lIns="0" tIns="0" rIns="0" bIns="0" rtlCol="0" anchor="ctr"/>
          <a:lstStyle/>
          <a:p>
            <a:pPr algn="ctr">
              <a:lnSpc>
                <a:spcPct val="110000"/>
              </a:lnSpc>
            </a:pPr>
            <a:r>
              <a:rPr lang="en-US" sz="2225" b="1" dirty="0">
                <a:solidFill>
                  <a:srgbClr val="E0E2E6"/>
                </a:solidFill>
                <a:latin typeface="阿里妈妈数黑体" pitchFamily="34" charset="-122"/>
                <a:ea typeface="阿里妈妈数黑体" pitchFamily="34" charset="-122"/>
                <a:cs typeface="阿里妈妈数黑体" pitchFamily="34" charset="-120"/>
              </a:rPr>
              <a:t>开源生态现状</a:t>
            </a:r>
            <a:endParaRPr lang="en-US" sz="1600" dirty="0"/>
          </a:p>
        </p:txBody>
      </p:sp>
      <p:sp>
        <p:nvSpPr>
          <p:cNvPr id="23" name="Text 21"/>
          <p:cNvSpPr/>
          <p:nvPr/>
        </p:nvSpPr>
        <p:spPr>
          <a:xfrm>
            <a:off x="11558581" y="3118619"/>
            <a:ext cx="1636194" cy="329593"/>
          </a:xfrm>
          <a:prstGeom prst="rect">
            <a:avLst/>
          </a:prstGeom>
          <a:noFill/>
        </p:spPr>
        <p:txBody>
          <a:bodyPr wrap="square" lIns="0" tIns="0" rIns="0" bIns="0" rtlCol="0" anchor="ctr"/>
          <a:lstStyle/>
          <a:p>
            <a:pPr>
              <a:lnSpc>
                <a:spcPct val="130000"/>
              </a:lnSpc>
            </a:pPr>
            <a:r>
              <a:rPr lang="en-US" sz="1670" dirty="0">
                <a:solidFill>
                  <a:srgbClr val="E0E2E6">
                    <a:alpha val="80000"/>
                  </a:srgbClr>
                </a:solidFill>
                <a:latin typeface="MiSans" pitchFamily="34" charset="-122"/>
                <a:ea typeface="MiSans" pitchFamily="34" charset="-122"/>
                <a:cs typeface="MiSans" pitchFamily="34" charset="-120"/>
              </a:rPr>
              <a:t>GitHub仓库数量</a:t>
            </a:r>
            <a:endParaRPr lang="en-US" sz="1600" dirty="0"/>
          </a:p>
        </p:txBody>
      </p:sp>
      <p:sp>
        <p:nvSpPr>
          <p:cNvPr id="24" name="Text 22"/>
          <p:cNvSpPr/>
          <p:nvPr/>
        </p:nvSpPr>
        <p:spPr>
          <a:xfrm>
            <a:off x="13792835" y="3071495"/>
            <a:ext cx="1870710" cy="423545"/>
          </a:xfrm>
          <a:prstGeom prst="rect">
            <a:avLst/>
          </a:prstGeom>
          <a:noFill/>
        </p:spPr>
        <p:txBody>
          <a:bodyPr wrap="square" lIns="0" tIns="0" rIns="0" bIns="0" rtlCol="0" anchor="ctr"/>
          <a:lstStyle/>
          <a:p>
            <a:pPr>
              <a:lnSpc>
                <a:spcPct val="100000"/>
              </a:lnSpc>
            </a:pPr>
            <a:r>
              <a:rPr lang="zh-CN" altLang="en-US" sz="2400" b="1" dirty="0">
                <a:solidFill>
                  <a:srgbClr val="3D8F8A"/>
                </a:solidFill>
                <a:latin typeface="微软雅黑" panose="020B0503020204020204" charset="-122"/>
                <a:ea typeface="微软雅黑" panose="020B0503020204020204" charset="-122"/>
                <a:cs typeface="微软雅黑" panose="020B0503020204020204" charset="-122"/>
              </a:rPr>
              <a:t>超过</a:t>
            </a:r>
            <a:r>
              <a:rPr lang="en-US" altLang="zh-CN" sz="2400" b="1" dirty="0">
                <a:solidFill>
                  <a:srgbClr val="3D8F8A"/>
                </a:solidFill>
                <a:latin typeface="微软雅黑" panose="020B0503020204020204" charset="-122"/>
                <a:ea typeface="微软雅黑" panose="020B0503020204020204" charset="-122"/>
                <a:cs typeface="微软雅黑" panose="020B0503020204020204" charset="-122"/>
              </a:rPr>
              <a:t>6.3</a:t>
            </a:r>
            <a:r>
              <a:rPr lang="zh-CN" altLang="en-US" sz="2400" b="1" dirty="0">
                <a:solidFill>
                  <a:srgbClr val="3D8F8A"/>
                </a:solidFill>
                <a:latin typeface="微软雅黑" panose="020B0503020204020204" charset="-122"/>
                <a:ea typeface="微软雅黑" panose="020B0503020204020204" charset="-122"/>
                <a:cs typeface="微软雅黑" panose="020B0503020204020204" charset="-122"/>
              </a:rPr>
              <a:t>亿</a:t>
            </a:r>
            <a:endParaRPr lang="zh-CN" altLang="en-US" sz="2400" b="1" dirty="0">
              <a:solidFill>
                <a:srgbClr val="3D8F8A"/>
              </a:solidFill>
              <a:latin typeface="微软雅黑" panose="020B0503020204020204" charset="-122"/>
              <a:ea typeface="微软雅黑" panose="020B0503020204020204" charset="-122"/>
              <a:cs typeface="微软雅黑" panose="020B0503020204020204" charset="-122"/>
            </a:endParaRPr>
          </a:p>
        </p:txBody>
      </p:sp>
      <p:sp>
        <p:nvSpPr>
          <p:cNvPr id="25" name="Shape 23"/>
          <p:cNvSpPr/>
          <p:nvPr/>
        </p:nvSpPr>
        <p:spPr>
          <a:xfrm>
            <a:off x="11558581" y="3777805"/>
            <a:ext cx="3931574" cy="11771"/>
          </a:xfrm>
          <a:custGeom>
            <a:avLst/>
            <a:gdLst/>
            <a:ahLst/>
            <a:cxnLst/>
            <a:rect l="l" t="t" r="r" b="b"/>
            <a:pathLst>
              <a:path w="3931574" h="11771">
                <a:moveTo>
                  <a:pt x="0" y="0"/>
                </a:moveTo>
                <a:lnTo>
                  <a:pt x="3931574" y="0"/>
                </a:lnTo>
                <a:lnTo>
                  <a:pt x="3931574" y="11771"/>
                </a:lnTo>
                <a:lnTo>
                  <a:pt x="0" y="11771"/>
                </a:lnTo>
                <a:lnTo>
                  <a:pt x="0" y="0"/>
                </a:lnTo>
                <a:close/>
              </a:path>
            </a:pathLst>
          </a:custGeom>
          <a:solidFill>
            <a:srgbClr val="3D8F8A">
              <a:alpha val="30196"/>
            </a:srgbClr>
          </a:solidFill>
        </p:spPr>
      </p:sp>
      <p:sp>
        <p:nvSpPr>
          <p:cNvPr id="26" name="Text 24"/>
          <p:cNvSpPr/>
          <p:nvPr/>
        </p:nvSpPr>
        <p:spPr>
          <a:xfrm>
            <a:off x="11558581" y="4119169"/>
            <a:ext cx="1636194" cy="329593"/>
          </a:xfrm>
          <a:prstGeom prst="rect">
            <a:avLst/>
          </a:prstGeom>
          <a:noFill/>
        </p:spPr>
        <p:txBody>
          <a:bodyPr wrap="square" lIns="0" tIns="0" rIns="0" bIns="0" rtlCol="0" anchor="ctr"/>
          <a:lstStyle/>
          <a:p>
            <a:pPr>
              <a:lnSpc>
                <a:spcPct val="130000"/>
              </a:lnSpc>
            </a:pPr>
            <a:r>
              <a:rPr lang="en-US" sz="1670" dirty="0">
                <a:solidFill>
                  <a:srgbClr val="E0E2E6">
                    <a:alpha val="80000"/>
                  </a:srgbClr>
                </a:solidFill>
                <a:latin typeface="MiSans" pitchFamily="34" charset="-122"/>
                <a:ea typeface="MiSans" pitchFamily="34" charset="-122"/>
                <a:cs typeface="MiSans" pitchFamily="34" charset="-120"/>
              </a:rPr>
              <a:t>Python项目占比</a:t>
            </a:r>
            <a:endParaRPr lang="en-US" sz="1600" dirty="0"/>
          </a:p>
        </p:txBody>
      </p:sp>
      <p:sp>
        <p:nvSpPr>
          <p:cNvPr id="27" name="Text 25"/>
          <p:cNvSpPr/>
          <p:nvPr/>
        </p:nvSpPr>
        <p:spPr>
          <a:xfrm>
            <a:off x="13407390" y="4072255"/>
            <a:ext cx="2260600" cy="423545"/>
          </a:xfrm>
          <a:prstGeom prst="rect">
            <a:avLst/>
          </a:prstGeom>
          <a:noFill/>
        </p:spPr>
        <p:txBody>
          <a:bodyPr wrap="square" lIns="0" tIns="0" rIns="0" bIns="0" rtlCol="0" anchor="ctr"/>
          <a:lstStyle/>
          <a:p>
            <a:pPr>
              <a:lnSpc>
                <a:spcPct val="100000"/>
              </a:lnSpc>
            </a:pPr>
            <a:r>
              <a:rPr lang="zh-CN" altLang="en-US" sz="2400" b="1" dirty="0">
                <a:solidFill>
                  <a:srgbClr val="3D8F8A"/>
                </a:solidFill>
                <a:latin typeface="微软雅黑" panose="020B0503020204020204" charset="-122"/>
                <a:ea typeface="微软雅黑" panose="020B0503020204020204" charset="-122"/>
                <a:cs typeface="阿里妈妈数黑体" pitchFamily="34" charset="-120"/>
              </a:rPr>
              <a:t>占据主导地位</a:t>
            </a:r>
            <a:endParaRPr lang="zh-CN" altLang="en-US" sz="2400" b="1" dirty="0">
              <a:solidFill>
                <a:srgbClr val="3D8F8A"/>
              </a:solidFill>
              <a:latin typeface="微软雅黑" panose="020B0503020204020204" charset="-122"/>
              <a:ea typeface="微软雅黑" panose="020B0503020204020204" charset="-122"/>
              <a:cs typeface="阿里妈妈数黑体" pitchFamily="34" charset="-120"/>
            </a:endParaRPr>
          </a:p>
        </p:txBody>
      </p:sp>
      <p:sp>
        <p:nvSpPr>
          <p:cNvPr id="28" name="Shape 26"/>
          <p:cNvSpPr/>
          <p:nvPr/>
        </p:nvSpPr>
        <p:spPr>
          <a:xfrm>
            <a:off x="11558581" y="4778355"/>
            <a:ext cx="3931574" cy="11771"/>
          </a:xfrm>
          <a:custGeom>
            <a:avLst/>
            <a:gdLst/>
            <a:ahLst/>
            <a:cxnLst/>
            <a:rect l="l" t="t" r="r" b="b"/>
            <a:pathLst>
              <a:path w="3931574" h="11771">
                <a:moveTo>
                  <a:pt x="0" y="0"/>
                </a:moveTo>
                <a:lnTo>
                  <a:pt x="3931574" y="0"/>
                </a:lnTo>
                <a:lnTo>
                  <a:pt x="3931574" y="11771"/>
                </a:lnTo>
                <a:lnTo>
                  <a:pt x="0" y="11771"/>
                </a:lnTo>
                <a:lnTo>
                  <a:pt x="0" y="0"/>
                </a:lnTo>
                <a:close/>
              </a:path>
            </a:pathLst>
          </a:custGeom>
          <a:solidFill>
            <a:srgbClr val="3D8F8A">
              <a:alpha val="30196"/>
            </a:srgbClr>
          </a:solidFill>
        </p:spPr>
      </p:sp>
      <p:sp>
        <p:nvSpPr>
          <p:cNvPr id="30" name="Text 28"/>
          <p:cNvSpPr/>
          <p:nvPr/>
        </p:nvSpPr>
        <p:spPr>
          <a:xfrm>
            <a:off x="11576050" y="5072380"/>
            <a:ext cx="4091940" cy="631190"/>
          </a:xfrm>
          <a:prstGeom prst="rect">
            <a:avLst/>
          </a:prstGeom>
          <a:noFill/>
        </p:spPr>
        <p:txBody>
          <a:bodyPr wrap="square" lIns="0" tIns="0" rIns="0" bIns="0" rtlCol="0" anchor="ctr"/>
          <a:lstStyle/>
          <a:p>
            <a:pPr>
              <a:lnSpc>
                <a:spcPct val="100000"/>
              </a:lnSpc>
            </a:pPr>
            <a:r>
              <a:rPr lang="zh-CN" altLang="en-US" sz="2400" b="1" dirty="0">
                <a:solidFill>
                  <a:srgbClr val="E5A044"/>
                </a:solidFill>
                <a:latin typeface="微软雅黑" panose="020B0503020204020204" charset="-122"/>
                <a:ea typeface="微软雅黑" panose="020B0503020204020204" charset="-122"/>
                <a:cs typeface="微软雅黑" panose="020B0503020204020204" charset="-122"/>
              </a:rPr>
              <a:t>仅</a:t>
            </a:r>
            <a:r>
              <a:rPr lang="en-US" sz="2400" b="1" dirty="0">
                <a:solidFill>
                  <a:srgbClr val="E5A044"/>
                </a:solidFill>
                <a:latin typeface="微软雅黑" panose="020B0503020204020204" charset="-122"/>
                <a:ea typeface="微软雅黑" panose="020B0503020204020204" charset="-122"/>
                <a:cs typeface="微软雅黑" panose="020B0503020204020204" charset="-122"/>
              </a:rPr>
              <a:t>30%–50%的深度学习论文</a:t>
            </a:r>
            <a:endParaRPr lang="en-US" sz="2400" b="1" dirty="0">
              <a:solidFill>
                <a:srgbClr val="E5A044"/>
              </a:solidFill>
              <a:latin typeface="微软雅黑" panose="020B0503020204020204" charset="-122"/>
              <a:ea typeface="微软雅黑" panose="020B0503020204020204" charset="-122"/>
              <a:cs typeface="微软雅黑" panose="020B0503020204020204" charset="-122"/>
            </a:endParaRPr>
          </a:p>
          <a:p>
            <a:pPr>
              <a:lnSpc>
                <a:spcPct val="100000"/>
              </a:lnSpc>
            </a:pPr>
            <a:r>
              <a:rPr lang="en-US" sz="2400" b="1" dirty="0">
                <a:solidFill>
                  <a:srgbClr val="E5A044"/>
                </a:solidFill>
                <a:latin typeface="微软雅黑" panose="020B0503020204020204" charset="-122"/>
                <a:ea typeface="微软雅黑" panose="020B0503020204020204" charset="-122"/>
                <a:cs typeface="微软雅黑" panose="020B0503020204020204" charset="-122"/>
              </a:rPr>
              <a:t>可直接复现</a:t>
            </a:r>
            <a:endParaRPr lang="en-US" sz="2400" b="1" dirty="0">
              <a:solidFill>
                <a:srgbClr val="E5A044"/>
              </a:solidFill>
              <a:latin typeface="微软雅黑" panose="020B0503020204020204" charset="-122"/>
              <a:ea typeface="微软雅黑" panose="020B0503020204020204" charset="-122"/>
              <a:cs typeface="微软雅黑" panose="020B0503020204020204" charset="-122"/>
            </a:endParaRPr>
          </a:p>
        </p:txBody>
      </p:sp>
      <p:sp>
        <p:nvSpPr>
          <p:cNvPr id="31" name="Shape 29"/>
          <p:cNvSpPr/>
          <p:nvPr/>
        </p:nvSpPr>
        <p:spPr>
          <a:xfrm>
            <a:off x="11272149" y="6107641"/>
            <a:ext cx="4504438" cy="2644592"/>
          </a:xfrm>
          <a:custGeom>
            <a:avLst/>
            <a:gdLst/>
            <a:ahLst/>
            <a:cxnLst/>
            <a:rect l="l" t="t" r="r" b="b"/>
            <a:pathLst>
              <a:path w="4504438" h="2644592">
                <a:moveTo>
                  <a:pt x="141248" y="0"/>
                </a:moveTo>
                <a:lnTo>
                  <a:pt x="4363191" y="0"/>
                </a:lnTo>
                <a:cubicBezTo>
                  <a:pt x="4441200" y="0"/>
                  <a:pt x="4504438" y="63239"/>
                  <a:pt x="4504438" y="141248"/>
                </a:cubicBezTo>
                <a:lnTo>
                  <a:pt x="4504438" y="2503344"/>
                </a:lnTo>
                <a:cubicBezTo>
                  <a:pt x="4504438" y="2581353"/>
                  <a:pt x="4441200" y="2644592"/>
                  <a:pt x="4363191" y="2644592"/>
                </a:cubicBezTo>
                <a:lnTo>
                  <a:pt x="141248" y="2644592"/>
                </a:lnTo>
                <a:cubicBezTo>
                  <a:pt x="63239" y="2644592"/>
                  <a:pt x="0" y="2581353"/>
                  <a:pt x="0" y="2503344"/>
                </a:cubicBezTo>
                <a:lnTo>
                  <a:pt x="0" y="141248"/>
                </a:lnTo>
                <a:cubicBezTo>
                  <a:pt x="0" y="63239"/>
                  <a:pt x="63239" y="0"/>
                  <a:pt x="141248" y="0"/>
                </a:cubicBezTo>
                <a:close/>
              </a:path>
            </a:pathLst>
          </a:custGeom>
          <a:solidFill>
            <a:srgbClr val="E5A044">
              <a:alpha val="10196"/>
            </a:srgbClr>
          </a:solidFill>
          <a:ln w="8467">
            <a:solidFill>
              <a:srgbClr val="E5A044">
                <a:alpha val="30196"/>
              </a:srgbClr>
            </a:solidFill>
            <a:prstDash val="solid"/>
          </a:ln>
        </p:spPr>
      </p:sp>
      <p:sp>
        <p:nvSpPr>
          <p:cNvPr id="32" name="Shape 30"/>
          <p:cNvSpPr/>
          <p:nvPr/>
        </p:nvSpPr>
        <p:spPr>
          <a:xfrm>
            <a:off x="11617437" y="6441156"/>
            <a:ext cx="176568" cy="235424"/>
          </a:xfrm>
          <a:custGeom>
            <a:avLst/>
            <a:gdLst/>
            <a:ahLst/>
            <a:cxnLst/>
            <a:rect l="l" t="t" r="r" b="b"/>
            <a:pathLst>
              <a:path w="176568" h="235424">
                <a:moveTo>
                  <a:pt x="134679" y="176568"/>
                </a:moveTo>
                <a:cubicBezTo>
                  <a:pt x="138035" y="166314"/>
                  <a:pt x="144749" y="157026"/>
                  <a:pt x="152336" y="149025"/>
                </a:cubicBezTo>
                <a:cubicBezTo>
                  <a:pt x="167371" y="133207"/>
                  <a:pt x="176568" y="111826"/>
                  <a:pt x="176568" y="88284"/>
                </a:cubicBezTo>
                <a:cubicBezTo>
                  <a:pt x="176568" y="39544"/>
                  <a:pt x="137024" y="0"/>
                  <a:pt x="88284" y="0"/>
                </a:cubicBezTo>
                <a:cubicBezTo>
                  <a:pt x="39544" y="0"/>
                  <a:pt x="0" y="39544"/>
                  <a:pt x="0" y="88284"/>
                </a:cubicBezTo>
                <a:cubicBezTo>
                  <a:pt x="0" y="111826"/>
                  <a:pt x="9196" y="133207"/>
                  <a:pt x="24232" y="149025"/>
                </a:cubicBezTo>
                <a:cubicBezTo>
                  <a:pt x="31819" y="157026"/>
                  <a:pt x="38578" y="166314"/>
                  <a:pt x="41889" y="176568"/>
                </a:cubicBezTo>
                <a:lnTo>
                  <a:pt x="134633" y="176568"/>
                </a:lnTo>
                <a:close/>
                <a:moveTo>
                  <a:pt x="132426" y="198639"/>
                </a:moveTo>
                <a:lnTo>
                  <a:pt x="44142" y="198639"/>
                </a:lnTo>
                <a:lnTo>
                  <a:pt x="44142" y="205996"/>
                </a:lnTo>
                <a:cubicBezTo>
                  <a:pt x="44142" y="226319"/>
                  <a:pt x="60603" y="242781"/>
                  <a:pt x="80927" y="242781"/>
                </a:cubicBezTo>
                <a:lnTo>
                  <a:pt x="95641" y="242781"/>
                </a:lnTo>
                <a:cubicBezTo>
                  <a:pt x="115965" y="242781"/>
                  <a:pt x="132426" y="226319"/>
                  <a:pt x="132426" y="205996"/>
                </a:cubicBezTo>
                <a:lnTo>
                  <a:pt x="132426" y="198639"/>
                </a:lnTo>
                <a:close/>
                <a:moveTo>
                  <a:pt x="84605" y="51499"/>
                </a:moveTo>
                <a:cubicBezTo>
                  <a:pt x="66305" y="51499"/>
                  <a:pt x="51499" y="66305"/>
                  <a:pt x="51499" y="84605"/>
                </a:cubicBezTo>
                <a:cubicBezTo>
                  <a:pt x="51499" y="90721"/>
                  <a:pt x="46579" y="95641"/>
                  <a:pt x="40463" y="95641"/>
                </a:cubicBezTo>
                <a:cubicBezTo>
                  <a:pt x="34348" y="95641"/>
                  <a:pt x="29428" y="90721"/>
                  <a:pt x="29428" y="84605"/>
                </a:cubicBezTo>
                <a:cubicBezTo>
                  <a:pt x="29428" y="54120"/>
                  <a:pt x="54120" y="29428"/>
                  <a:pt x="84605" y="29428"/>
                </a:cubicBezTo>
                <a:cubicBezTo>
                  <a:pt x="90721" y="29428"/>
                  <a:pt x="95641" y="34348"/>
                  <a:pt x="95641" y="40463"/>
                </a:cubicBezTo>
                <a:cubicBezTo>
                  <a:pt x="95641" y="46579"/>
                  <a:pt x="90721" y="51499"/>
                  <a:pt x="84605" y="51499"/>
                </a:cubicBezTo>
                <a:close/>
              </a:path>
            </a:pathLst>
          </a:custGeom>
          <a:solidFill>
            <a:srgbClr val="E5A044"/>
          </a:solidFill>
        </p:spPr>
      </p:sp>
      <p:sp>
        <p:nvSpPr>
          <p:cNvPr id="33" name="Text 31"/>
          <p:cNvSpPr/>
          <p:nvPr/>
        </p:nvSpPr>
        <p:spPr>
          <a:xfrm>
            <a:off x="11852861" y="6394072"/>
            <a:ext cx="3755007" cy="329593"/>
          </a:xfrm>
          <a:prstGeom prst="rect">
            <a:avLst/>
          </a:prstGeom>
          <a:noFill/>
        </p:spPr>
        <p:txBody>
          <a:bodyPr wrap="square" lIns="0" tIns="0" rIns="0" bIns="0" rtlCol="0" anchor="ctr"/>
          <a:lstStyle/>
          <a:p>
            <a:pPr>
              <a:lnSpc>
                <a:spcPct val="120000"/>
              </a:lnSpc>
            </a:pPr>
            <a:r>
              <a:rPr lang="en-US" sz="1855" b="1" dirty="0">
                <a:solidFill>
                  <a:srgbClr val="E0E2E6"/>
                </a:solidFill>
                <a:latin typeface="阿里妈妈数黑体" pitchFamily="34" charset="-122"/>
                <a:ea typeface="阿里妈妈数黑体" pitchFamily="34" charset="-122"/>
                <a:cs typeface="阿里妈妈数黑体" pitchFamily="34" charset="-120"/>
              </a:rPr>
              <a:t>核心痛点</a:t>
            </a:r>
            <a:endParaRPr lang="en-US" sz="1600" dirty="0"/>
          </a:p>
        </p:txBody>
      </p:sp>
      <p:sp>
        <p:nvSpPr>
          <p:cNvPr id="34" name="Shape 32"/>
          <p:cNvSpPr/>
          <p:nvPr/>
        </p:nvSpPr>
        <p:spPr>
          <a:xfrm>
            <a:off x="11576238" y="7006173"/>
            <a:ext cx="141254" cy="141254"/>
          </a:xfrm>
          <a:custGeom>
            <a:avLst/>
            <a:gdLst/>
            <a:ahLst/>
            <a:cxnLst/>
            <a:rect l="l" t="t" r="r" b="b"/>
            <a:pathLst>
              <a:path w="141254" h="141254">
                <a:moveTo>
                  <a:pt x="0" y="70627"/>
                </a:moveTo>
                <a:cubicBezTo>
                  <a:pt x="0" y="31647"/>
                  <a:pt x="31647" y="0"/>
                  <a:pt x="70627" y="0"/>
                </a:cubicBezTo>
                <a:cubicBezTo>
                  <a:pt x="109607" y="0"/>
                  <a:pt x="141254" y="31647"/>
                  <a:pt x="141254" y="70627"/>
                </a:cubicBezTo>
                <a:cubicBezTo>
                  <a:pt x="141254" y="109607"/>
                  <a:pt x="109607" y="141254"/>
                  <a:pt x="70627" y="141254"/>
                </a:cubicBezTo>
                <a:cubicBezTo>
                  <a:pt x="31647" y="141254"/>
                  <a:pt x="0" y="109607"/>
                  <a:pt x="0" y="70627"/>
                </a:cubicBezTo>
                <a:close/>
              </a:path>
            </a:pathLst>
          </a:custGeom>
          <a:solidFill>
            <a:srgbClr val="E5A044"/>
          </a:solidFill>
        </p:spPr>
      </p:sp>
      <p:sp>
        <p:nvSpPr>
          <p:cNvPr id="35" name="Text 33"/>
          <p:cNvSpPr/>
          <p:nvPr/>
        </p:nvSpPr>
        <p:spPr>
          <a:xfrm>
            <a:off x="11829318" y="6912004"/>
            <a:ext cx="1600881" cy="282508"/>
          </a:xfrm>
          <a:prstGeom prst="rect">
            <a:avLst/>
          </a:prstGeom>
          <a:noFill/>
        </p:spPr>
        <p:txBody>
          <a:bodyPr wrap="square" lIns="0" tIns="0" rIns="0" bIns="0" rtlCol="0" anchor="ctr"/>
          <a:lstStyle/>
          <a:p>
            <a:pPr>
              <a:lnSpc>
                <a:spcPct val="130000"/>
              </a:lnSpc>
            </a:pPr>
            <a:r>
              <a:rPr lang="en-US" sz="1485" dirty="0">
                <a:solidFill>
                  <a:srgbClr val="E0E2E6">
                    <a:alpha val="80000"/>
                  </a:srgbClr>
                </a:solidFill>
                <a:latin typeface="MiSans" pitchFamily="34" charset="-122"/>
                <a:ea typeface="MiSans" pitchFamily="34" charset="-122"/>
                <a:cs typeface="MiSans" pitchFamily="34" charset="-120"/>
              </a:rPr>
              <a:t>环境配置复杂繁琐</a:t>
            </a:r>
            <a:endParaRPr lang="en-US" sz="1600" dirty="0"/>
          </a:p>
        </p:txBody>
      </p:sp>
      <p:sp>
        <p:nvSpPr>
          <p:cNvPr id="36" name="Shape 34"/>
          <p:cNvSpPr/>
          <p:nvPr/>
        </p:nvSpPr>
        <p:spPr>
          <a:xfrm>
            <a:off x="11576238" y="7429935"/>
            <a:ext cx="141254" cy="141254"/>
          </a:xfrm>
          <a:custGeom>
            <a:avLst/>
            <a:gdLst/>
            <a:ahLst/>
            <a:cxnLst/>
            <a:rect l="l" t="t" r="r" b="b"/>
            <a:pathLst>
              <a:path w="141254" h="141254">
                <a:moveTo>
                  <a:pt x="0" y="70627"/>
                </a:moveTo>
                <a:cubicBezTo>
                  <a:pt x="0" y="31647"/>
                  <a:pt x="31647" y="0"/>
                  <a:pt x="70627" y="0"/>
                </a:cubicBezTo>
                <a:cubicBezTo>
                  <a:pt x="109607" y="0"/>
                  <a:pt x="141254" y="31647"/>
                  <a:pt x="141254" y="70627"/>
                </a:cubicBezTo>
                <a:cubicBezTo>
                  <a:pt x="141254" y="109607"/>
                  <a:pt x="109607" y="141254"/>
                  <a:pt x="70627" y="141254"/>
                </a:cubicBezTo>
                <a:cubicBezTo>
                  <a:pt x="31647" y="141254"/>
                  <a:pt x="0" y="109607"/>
                  <a:pt x="0" y="70627"/>
                </a:cubicBezTo>
                <a:close/>
              </a:path>
            </a:pathLst>
          </a:custGeom>
          <a:solidFill>
            <a:srgbClr val="E5A044"/>
          </a:solidFill>
        </p:spPr>
      </p:sp>
      <p:sp>
        <p:nvSpPr>
          <p:cNvPr id="37" name="Text 35"/>
          <p:cNvSpPr/>
          <p:nvPr/>
        </p:nvSpPr>
        <p:spPr>
          <a:xfrm>
            <a:off x="11829318" y="7335766"/>
            <a:ext cx="1412542" cy="282508"/>
          </a:xfrm>
          <a:prstGeom prst="rect">
            <a:avLst/>
          </a:prstGeom>
          <a:noFill/>
        </p:spPr>
        <p:txBody>
          <a:bodyPr wrap="square" lIns="0" tIns="0" rIns="0" bIns="0" rtlCol="0" anchor="ctr"/>
          <a:lstStyle/>
          <a:p>
            <a:pPr>
              <a:lnSpc>
                <a:spcPct val="130000"/>
              </a:lnSpc>
            </a:pPr>
            <a:r>
              <a:rPr lang="en-US" sz="1485" dirty="0">
                <a:solidFill>
                  <a:srgbClr val="E0E2E6">
                    <a:alpha val="80000"/>
                  </a:srgbClr>
                </a:solidFill>
                <a:latin typeface="MiSans" pitchFamily="34" charset="-122"/>
                <a:ea typeface="MiSans" pitchFamily="34" charset="-122"/>
                <a:cs typeface="MiSans" pitchFamily="34" charset="-120"/>
              </a:rPr>
              <a:t>依赖信息不明确</a:t>
            </a:r>
            <a:endParaRPr lang="en-US" sz="1600" dirty="0"/>
          </a:p>
        </p:txBody>
      </p:sp>
      <p:sp>
        <p:nvSpPr>
          <p:cNvPr id="38" name="Shape 36"/>
          <p:cNvSpPr/>
          <p:nvPr/>
        </p:nvSpPr>
        <p:spPr>
          <a:xfrm>
            <a:off x="11576238" y="7853698"/>
            <a:ext cx="141254" cy="141254"/>
          </a:xfrm>
          <a:custGeom>
            <a:avLst/>
            <a:gdLst/>
            <a:ahLst/>
            <a:cxnLst/>
            <a:rect l="l" t="t" r="r" b="b"/>
            <a:pathLst>
              <a:path w="141254" h="141254">
                <a:moveTo>
                  <a:pt x="0" y="70627"/>
                </a:moveTo>
                <a:cubicBezTo>
                  <a:pt x="0" y="31647"/>
                  <a:pt x="31647" y="0"/>
                  <a:pt x="70627" y="0"/>
                </a:cubicBezTo>
                <a:cubicBezTo>
                  <a:pt x="109607" y="0"/>
                  <a:pt x="141254" y="31647"/>
                  <a:pt x="141254" y="70627"/>
                </a:cubicBezTo>
                <a:cubicBezTo>
                  <a:pt x="141254" y="109607"/>
                  <a:pt x="109607" y="141254"/>
                  <a:pt x="70627" y="141254"/>
                </a:cubicBezTo>
                <a:cubicBezTo>
                  <a:pt x="31647" y="141254"/>
                  <a:pt x="0" y="109607"/>
                  <a:pt x="0" y="70627"/>
                </a:cubicBezTo>
                <a:close/>
              </a:path>
            </a:pathLst>
          </a:custGeom>
          <a:solidFill>
            <a:srgbClr val="E5A044"/>
          </a:solidFill>
        </p:spPr>
      </p:sp>
      <p:sp>
        <p:nvSpPr>
          <p:cNvPr id="39" name="Text 37"/>
          <p:cNvSpPr/>
          <p:nvPr/>
        </p:nvSpPr>
        <p:spPr>
          <a:xfrm>
            <a:off x="11829318" y="7759528"/>
            <a:ext cx="1224203" cy="282508"/>
          </a:xfrm>
          <a:prstGeom prst="rect">
            <a:avLst/>
          </a:prstGeom>
          <a:noFill/>
        </p:spPr>
        <p:txBody>
          <a:bodyPr wrap="square" lIns="0" tIns="0" rIns="0" bIns="0" rtlCol="0" anchor="ctr"/>
          <a:lstStyle/>
          <a:p>
            <a:pPr>
              <a:lnSpc>
                <a:spcPct val="130000"/>
              </a:lnSpc>
            </a:pPr>
            <a:r>
              <a:rPr lang="en-US" sz="1485" dirty="0">
                <a:solidFill>
                  <a:srgbClr val="E0E2E6">
                    <a:alpha val="80000"/>
                  </a:srgbClr>
                </a:solidFill>
                <a:latin typeface="MiSans" pitchFamily="34" charset="-122"/>
                <a:ea typeface="MiSans" pitchFamily="34" charset="-122"/>
                <a:cs typeface="MiSans" pitchFamily="34" charset="-120"/>
              </a:rPr>
              <a:t>复现成本高昂</a:t>
            </a:r>
            <a:endParaRPr lang="en-US" sz="1600" dirty="0"/>
          </a:p>
        </p:txBody>
      </p:sp>
      <p:sp>
        <p:nvSpPr>
          <p:cNvPr id="40" name="Shape 38"/>
          <p:cNvSpPr/>
          <p:nvPr/>
        </p:nvSpPr>
        <p:spPr>
          <a:xfrm>
            <a:off x="11576238" y="8277460"/>
            <a:ext cx="141254" cy="141254"/>
          </a:xfrm>
          <a:custGeom>
            <a:avLst/>
            <a:gdLst/>
            <a:ahLst/>
            <a:cxnLst/>
            <a:rect l="l" t="t" r="r" b="b"/>
            <a:pathLst>
              <a:path w="141254" h="141254">
                <a:moveTo>
                  <a:pt x="0" y="70627"/>
                </a:moveTo>
                <a:cubicBezTo>
                  <a:pt x="0" y="31647"/>
                  <a:pt x="31647" y="0"/>
                  <a:pt x="70627" y="0"/>
                </a:cubicBezTo>
                <a:cubicBezTo>
                  <a:pt x="109607" y="0"/>
                  <a:pt x="141254" y="31647"/>
                  <a:pt x="141254" y="70627"/>
                </a:cubicBezTo>
                <a:cubicBezTo>
                  <a:pt x="141254" y="109607"/>
                  <a:pt x="109607" y="141254"/>
                  <a:pt x="70627" y="141254"/>
                </a:cubicBezTo>
                <a:cubicBezTo>
                  <a:pt x="31647" y="141254"/>
                  <a:pt x="0" y="109607"/>
                  <a:pt x="0" y="70627"/>
                </a:cubicBezTo>
                <a:close/>
              </a:path>
            </a:pathLst>
          </a:custGeom>
          <a:solidFill>
            <a:srgbClr val="E5A044"/>
          </a:solidFill>
        </p:spPr>
      </p:sp>
      <p:sp>
        <p:nvSpPr>
          <p:cNvPr id="41" name="Text 39"/>
          <p:cNvSpPr/>
          <p:nvPr/>
        </p:nvSpPr>
        <p:spPr>
          <a:xfrm>
            <a:off x="11829318" y="8183291"/>
            <a:ext cx="1412542" cy="282508"/>
          </a:xfrm>
          <a:prstGeom prst="rect">
            <a:avLst/>
          </a:prstGeom>
          <a:noFill/>
        </p:spPr>
        <p:txBody>
          <a:bodyPr wrap="square" lIns="0" tIns="0" rIns="0" bIns="0" rtlCol="0" anchor="ctr"/>
          <a:lstStyle/>
          <a:p>
            <a:pPr>
              <a:lnSpc>
                <a:spcPct val="130000"/>
              </a:lnSpc>
            </a:pPr>
            <a:r>
              <a:rPr lang="en-US" sz="1485" dirty="0">
                <a:solidFill>
                  <a:srgbClr val="E0E2E6">
                    <a:alpha val="80000"/>
                  </a:srgbClr>
                </a:solidFill>
                <a:latin typeface="MiSans" pitchFamily="34" charset="-122"/>
                <a:ea typeface="MiSans" pitchFamily="34" charset="-122"/>
                <a:cs typeface="MiSans" pitchFamily="34" charset="-120"/>
              </a:rPr>
              <a:t>版本兼容性问题</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529167"/>
            <a:ext cx="677333" cy="42333"/>
          </a:xfrm>
          <a:custGeom>
            <a:avLst/>
            <a:gdLst/>
            <a:ahLst/>
            <a:cxnLst/>
            <a:rect l="l" t="t" r="r" b="b"/>
            <a:pathLst>
              <a:path w="677333" h="42333">
                <a:moveTo>
                  <a:pt x="0" y="0"/>
                </a:moveTo>
                <a:lnTo>
                  <a:pt x="677333" y="0"/>
                </a:lnTo>
                <a:lnTo>
                  <a:pt x="677333" y="42333"/>
                </a:lnTo>
                <a:lnTo>
                  <a:pt x="0" y="42333"/>
                </a:lnTo>
                <a:lnTo>
                  <a:pt x="0" y="0"/>
                </a:lnTo>
                <a:close/>
              </a:path>
            </a:pathLst>
          </a:custGeom>
          <a:solidFill>
            <a:srgbClr val="E5A044"/>
          </a:solidFill>
        </p:spPr>
      </p:sp>
      <p:sp>
        <p:nvSpPr>
          <p:cNvPr id="3" name="Text 1"/>
          <p:cNvSpPr/>
          <p:nvPr/>
        </p:nvSpPr>
        <p:spPr>
          <a:xfrm>
            <a:off x="1270000" y="423333"/>
            <a:ext cx="1756833" cy="254000"/>
          </a:xfrm>
          <a:prstGeom prst="rect">
            <a:avLst/>
          </a:prstGeom>
          <a:noFill/>
        </p:spPr>
        <p:txBody>
          <a:bodyPr wrap="square" lIns="0" tIns="0" rIns="0" bIns="0" rtlCol="0" anchor="ctr"/>
          <a:lstStyle/>
          <a:p>
            <a:pPr>
              <a:lnSpc>
                <a:spcPct val="130000"/>
              </a:lnSpc>
            </a:pPr>
            <a:r>
              <a:rPr lang="en-US" sz="1335" b="1" kern="0" spc="67" dirty="0">
                <a:solidFill>
                  <a:srgbClr val="E5A044"/>
                </a:solidFill>
                <a:latin typeface="MiSans" pitchFamily="34" charset="-122"/>
                <a:ea typeface="MiSans" pitchFamily="34" charset="-122"/>
                <a:cs typeface="MiSans" pitchFamily="34" charset="-120"/>
              </a:rPr>
              <a:t>CORE PAIN POINTS</a:t>
            </a:r>
            <a:endParaRPr lang="en-US" sz="1600" dirty="0"/>
          </a:p>
        </p:txBody>
      </p:sp>
      <p:sp>
        <p:nvSpPr>
          <p:cNvPr id="4" name="Text 2"/>
          <p:cNvSpPr/>
          <p:nvPr/>
        </p:nvSpPr>
        <p:spPr>
          <a:xfrm>
            <a:off x="423333" y="804333"/>
            <a:ext cx="15663333" cy="508000"/>
          </a:xfrm>
          <a:prstGeom prst="rect">
            <a:avLst/>
          </a:prstGeom>
          <a:noFill/>
        </p:spPr>
        <p:txBody>
          <a:bodyPr wrap="square" lIns="0" tIns="0" rIns="0" bIns="0" rtlCol="0" anchor="ctr"/>
          <a:lstStyle/>
          <a:p>
            <a:pPr>
              <a:lnSpc>
                <a:spcPct val="80000"/>
              </a:lnSpc>
            </a:pPr>
            <a:r>
              <a:rPr lang="en-US" sz="4000" b="1" dirty="0">
                <a:solidFill>
                  <a:srgbClr val="E0E2E6"/>
                </a:solidFill>
                <a:latin typeface="阿里妈妈数黑体" pitchFamily="34" charset="-122"/>
                <a:ea typeface="阿里妈妈数黑体" pitchFamily="34" charset="-122"/>
                <a:cs typeface="阿里妈妈数黑体" pitchFamily="34" charset="-120"/>
              </a:rPr>
              <a:t>核心痛点分析</a:t>
            </a:r>
            <a:endParaRPr lang="en-US" sz="1600" dirty="0"/>
          </a:p>
        </p:txBody>
      </p:sp>
      <p:sp>
        <p:nvSpPr>
          <p:cNvPr id="5" name="Text 3"/>
          <p:cNvSpPr/>
          <p:nvPr/>
        </p:nvSpPr>
        <p:spPr>
          <a:xfrm>
            <a:off x="423333" y="1312333"/>
            <a:ext cx="15515167" cy="296333"/>
          </a:xfrm>
          <a:prstGeom prst="rect">
            <a:avLst/>
          </a:prstGeom>
          <a:noFill/>
        </p:spPr>
        <p:txBody>
          <a:bodyPr wrap="square" lIns="0" tIns="0" rIns="0" bIns="0" rtlCol="0" anchor="ctr"/>
          <a:lstStyle/>
          <a:p>
            <a:pPr>
              <a:lnSpc>
                <a:spcPct val="120000"/>
              </a:lnSpc>
            </a:pPr>
            <a:r>
              <a:rPr lang="en-US" sz="1665" dirty="0">
                <a:solidFill>
                  <a:srgbClr val="E0E2E6">
                    <a:alpha val="70000"/>
                  </a:srgbClr>
                </a:solidFill>
                <a:latin typeface="MiSans" pitchFamily="34" charset="-122"/>
                <a:ea typeface="MiSans" pitchFamily="34" charset="-122"/>
                <a:cs typeface="MiSans" pitchFamily="34" charset="-120"/>
              </a:rPr>
              <a:t>开源项目中依赖声明不规范的</a:t>
            </a:r>
            <a:r>
              <a:rPr lang="zh-CN" altLang="en-US" sz="1665" dirty="0">
                <a:solidFill>
                  <a:srgbClr val="E0E2E6">
                    <a:alpha val="70000"/>
                  </a:srgbClr>
                </a:solidFill>
                <a:latin typeface="MiSans" pitchFamily="34" charset="-122"/>
                <a:ea typeface="MiSans" pitchFamily="34" charset="-122"/>
                <a:cs typeface="MiSans" pitchFamily="34" charset="-120"/>
              </a:rPr>
              <a:t>主要</a:t>
            </a:r>
            <a:r>
              <a:rPr lang="en-US" sz="1665" dirty="0">
                <a:solidFill>
                  <a:srgbClr val="E0E2E6">
                    <a:alpha val="70000"/>
                  </a:srgbClr>
                </a:solidFill>
                <a:latin typeface="MiSans" pitchFamily="34" charset="-122"/>
                <a:ea typeface="MiSans" pitchFamily="34" charset="-122"/>
                <a:cs typeface="MiSans" pitchFamily="34" charset="-120"/>
              </a:rPr>
              <a:t>问题</a:t>
            </a:r>
            <a:endParaRPr lang="en-US" sz="1600" dirty="0"/>
          </a:p>
        </p:txBody>
      </p:sp>
      <p:grpSp>
        <p:nvGrpSpPr>
          <p:cNvPr id="54" name="组合 53"/>
          <p:cNvGrpSpPr/>
          <p:nvPr>
            <p:custDataLst>
              <p:tags r:id="rId1"/>
            </p:custDataLst>
          </p:nvPr>
        </p:nvGrpSpPr>
        <p:grpSpPr>
          <a:xfrm>
            <a:off x="444500" y="1732915"/>
            <a:ext cx="7577455" cy="2174725"/>
            <a:chOff x="700" y="3133"/>
            <a:chExt cx="11933" cy="4483"/>
          </a:xfrm>
        </p:grpSpPr>
        <p:sp>
          <p:nvSpPr>
            <p:cNvPr id="6" name="Shape 4"/>
            <p:cNvSpPr/>
            <p:nvPr>
              <p:custDataLst>
                <p:tags r:id="rId2"/>
              </p:custDataLst>
            </p:nvPr>
          </p:nvSpPr>
          <p:spPr>
            <a:xfrm>
              <a:off x="700" y="3133"/>
              <a:ext cx="11933" cy="4483"/>
            </a:xfrm>
            <a:custGeom>
              <a:avLst/>
              <a:gdLst/>
              <a:ahLst/>
              <a:cxnLst/>
              <a:rect l="l" t="t" r="r" b="b"/>
              <a:pathLst>
                <a:path w="7577667" h="2846917">
                  <a:moveTo>
                    <a:pt x="42333" y="0"/>
                  </a:moveTo>
                  <a:lnTo>
                    <a:pt x="7450666" y="0"/>
                  </a:lnTo>
                  <a:cubicBezTo>
                    <a:pt x="7520806" y="0"/>
                    <a:pt x="7577667" y="56860"/>
                    <a:pt x="7577667" y="127001"/>
                  </a:cubicBezTo>
                  <a:lnTo>
                    <a:pt x="7577667" y="2719916"/>
                  </a:lnTo>
                  <a:cubicBezTo>
                    <a:pt x="7577667" y="2790056"/>
                    <a:pt x="7520806" y="2846917"/>
                    <a:pt x="7450666" y="2846917"/>
                  </a:cubicBezTo>
                  <a:lnTo>
                    <a:pt x="42333" y="2846917"/>
                  </a:lnTo>
                  <a:cubicBezTo>
                    <a:pt x="18953" y="2846917"/>
                    <a:pt x="0" y="2827963"/>
                    <a:pt x="0" y="2804583"/>
                  </a:cubicBezTo>
                  <a:lnTo>
                    <a:pt x="0" y="42333"/>
                  </a:lnTo>
                  <a:cubicBezTo>
                    <a:pt x="0" y="18953"/>
                    <a:pt x="18953" y="0"/>
                    <a:pt x="42333" y="0"/>
                  </a:cubicBezTo>
                  <a:close/>
                </a:path>
              </a:pathLst>
            </a:custGeom>
            <a:gradFill flip="none" rotWithShape="1">
              <a:gsLst>
                <a:gs pos="0">
                  <a:srgbClr val="E5A044">
                    <a:alpha val="15000"/>
                  </a:srgbClr>
                </a:gs>
                <a:gs pos="100000">
                  <a:srgbClr val="000000">
                    <a:alpha val="0"/>
                  </a:srgbClr>
                </a:gs>
              </a:gsLst>
              <a:lin ang="2700000" scaled="1"/>
            </a:gradFill>
          </p:spPr>
        </p:sp>
        <p:sp>
          <p:nvSpPr>
            <p:cNvPr id="7" name="Shape 5"/>
            <p:cNvSpPr/>
            <p:nvPr>
              <p:custDataLst>
                <p:tags r:id="rId3"/>
              </p:custDataLst>
            </p:nvPr>
          </p:nvSpPr>
          <p:spPr>
            <a:xfrm>
              <a:off x="700" y="3133"/>
              <a:ext cx="67" cy="4483"/>
            </a:xfrm>
            <a:custGeom>
              <a:avLst/>
              <a:gdLst/>
              <a:ahLst/>
              <a:cxnLst/>
              <a:rect l="l" t="t" r="r" b="b"/>
              <a:pathLst>
                <a:path w="42333" h="2846917">
                  <a:moveTo>
                    <a:pt x="42333" y="0"/>
                  </a:moveTo>
                  <a:lnTo>
                    <a:pt x="42333" y="0"/>
                  </a:lnTo>
                  <a:lnTo>
                    <a:pt x="42333" y="2846917"/>
                  </a:lnTo>
                  <a:lnTo>
                    <a:pt x="42333" y="2846917"/>
                  </a:lnTo>
                  <a:cubicBezTo>
                    <a:pt x="18953" y="2846917"/>
                    <a:pt x="0" y="2827963"/>
                    <a:pt x="0" y="2804583"/>
                  </a:cubicBezTo>
                  <a:lnTo>
                    <a:pt x="0" y="42333"/>
                  </a:lnTo>
                  <a:cubicBezTo>
                    <a:pt x="0" y="18953"/>
                    <a:pt x="18953" y="0"/>
                    <a:pt x="42333" y="0"/>
                  </a:cubicBezTo>
                  <a:close/>
                </a:path>
              </a:pathLst>
            </a:custGeom>
            <a:solidFill>
              <a:srgbClr val="E5A044"/>
            </a:solidFill>
          </p:spPr>
        </p:sp>
        <p:sp>
          <p:nvSpPr>
            <p:cNvPr id="8" name="Shape 6"/>
            <p:cNvSpPr/>
            <p:nvPr>
              <p:custDataLst>
                <p:tags r:id="rId4"/>
              </p:custDataLst>
            </p:nvPr>
          </p:nvSpPr>
          <p:spPr>
            <a:xfrm>
              <a:off x="1067" y="3467"/>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E5A044"/>
            </a:solidFill>
          </p:spPr>
        </p:sp>
        <p:sp>
          <p:nvSpPr>
            <p:cNvPr id="9" name="Text 7"/>
            <p:cNvSpPr/>
            <p:nvPr>
              <p:custDataLst>
                <p:tags r:id="rId5"/>
              </p:custDataLst>
            </p:nvPr>
          </p:nvSpPr>
          <p:spPr>
            <a:xfrm>
              <a:off x="967" y="3467"/>
              <a:ext cx="1133" cy="933"/>
            </a:xfrm>
            <a:prstGeom prst="rect">
              <a:avLst/>
            </a:prstGeom>
            <a:noFill/>
          </p:spPr>
          <p:txBody>
            <a:bodyPr wrap="square" lIns="0" tIns="0" rIns="0" bIns="0" rtlCol="0" anchor="ctr"/>
            <a:lstStyle/>
            <a:p>
              <a:pPr algn="ctr">
                <a:lnSpc>
                  <a:spcPct val="110000"/>
                </a:lnSpc>
              </a:pPr>
              <a:r>
                <a:rPr lang="en-US" sz="2000" b="1" dirty="0">
                  <a:solidFill>
                    <a:srgbClr val="FFFFFF"/>
                  </a:solidFill>
                  <a:latin typeface="阿里妈妈数黑体" pitchFamily="34" charset="-122"/>
                  <a:ea typeface="阿里妈妈数黑体" pitchFamily="34" charset="-122"/>
                  <a:cs typeface="阿里妈妈数黑体" pitchFamily="34" charset="-120"/>
                </a:rPr>
                <a:t>01</a:t>
              </a:r>
              <a:endParaRPr lang="en-US" sz="1600" dirty="0"/>
            </a:p>
          </p:txBody>
        </p:sp>
        <p:sp>
          <p:nvSpPr>
            <p:cNvPr id="10" name="Text 8"/>
            <p:cNvSpPr/>
            <p:nvPr>
              <p:custDataLst>
                <p:tags r:id="rId6"/>
              </p:custDataLst>
            </p:nvPr>
          </p:nvSpPr>
          <p:spPr>
            <a:xfrm>
              <a:off x="2267" y="3667"/>
              <a:ext cx="4600" cy="533"/>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依赖文件缺失或维护滞后</a:t>
              </a:r>
              <a:endParaRPr lang="en-US" sz="1600" dirty="0"/>
            </a:p>
          </p:txBody>
        </p:sp>
        <p:sp>
          <p:nvSpPr>
            <p:cNvPr id="11" name="Text 9"/>
            <p:cNvSpPr/>
            <p:nvPr>
              <p:custDataLst>
                <p:tags r:id="rId7"/>
              </p:custDataLst>
            </p:nvPr>
          </p:nvSpPr>
          <p:spPr>
            <a:xfrm>
              <a:off x="1067" y="4667"/>
              <a:ext cx="11367" cy="168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部分仓库</a:t>
              </a:r>
              <a:r>
                <a:rPr lang="en-US" sz="1335" b="1" dirty="0">
                  <a:solidFill>
                    <a:srgbClr val="E5A044"/>
                  </a:solidFill>
                  <a:latin typeface="MiSans" pitchFamily="34" charset="-122"/>
                  <a:ea typeface="MiSans" pitchFamily="34" charset="-122"/>
                  <a:cs typeface="MiSans" pitchFamily="34" charset="-120"/>
                </a:rPr>
                <a:t>未提供requirements.txt</a:t>
              </a:r>
              <a:r>
                <a:rPr lang="en-US" sz="1335" dirty="0">
                  <a:solidFill>
                    <a:srgbClr val="E0E2E6">
                      <a:alpha val="80000"/>
                    </a:srgbClr>
                  </a:solidFill>
                  <a:latin typeface="MiSans" pitchFamily="34" charset="-122"/>
                  <a:ea typeface="MiSans" pitchFamily="34" charset="-122"/>
                  <a:cs typeface="MiSans" pitchFamily="34" charset="-120"/>
                </a:rPr>
                <a:t>或类似环境描述文件,或该文件长期未更新,无法反映当前代码所需的真实依赖。这使得用户无法快速了解项目的环境需求。</a:t>
              </a:r>
              <a:endParaRPr lang="en-US" sz="1600" dirty="0"/>
            </a:p>
          </p:txBody>
        </p:sp>
      </p:grpSp>
      <p:grpSp>
        <p:nvGrpSpPr>
          <p:cNvPr id="55" name="组合 54"/>
          <p:cNvGrpSpPr/>
          <p:nvPr>
            <p:custDataLst>
              <p:tags r:id="rId8"/>
            </p:custDataLst>
          </p:nvPr>
        </p:nvGrpSpPr>
        <p:grpSpPr>
          <a:xfrm>
            <a:off x="8255000" y="1732915"/>
            <a:ext cx="7577455" cy="2175995"/>
            <a:chOff x="13000" y="3133"/>
            <a:chExt cx="11933" cy="4483"/>
          </a:xfrm>
        </p:grpSpPr>
        <p:sp>
          <p:nvSpPr>
            <p:cNvPr id="15" name="Shape 13"/>
            <p:cNvSpPr/>
            <p:nvPr>
              <p:custDataLst>
                <p:tags r:id="rId9"/>
              </p:custDataLst>
            </p:nvPr>
          </p:nvSpPr>
          <p:spPr>
            <a:xfrm>
              <a:off x="13000" y="3133"/>
              <a:ext cx="11933" cy="4483"/>
            </a:xfrm>
            <a:custGeom>
              <a:avLst/>
              <a:gdLst/>
              <a:ahLst/>
              <a:cxnLst/>
              <a:rect l="l" t="t" r="r" b="b"/>
              <a:pathLst>
                <a:path w="7577667" h="2846917">
                  <a:moveTo>
                    <a:pt x="42333" y="0"/>
                  </a:moveTo>
                  <a:lnTo>
                    <a:pt x="7450666" y="0"/>
                  </a:lnTo>
                  <a:cubicBezTo>
                    <a:pt x="7520806" y="0"/>
                    <a:pt x="7577667" y="56860"/>
                    <a:pt x="7577667" y="127001"/>
                  </a:cubicBezTo>
                  <a:lnTo>
                    <a:pt x="7577667" y="2719916"/>
                  </a:lnTo>
                  <a:cubicBezTo>
                    <a:pt x="7577667" y="2790056"/>
                    <a:pt x="7520806" y="2846917"/>
                    <a:pt x="7450666" y="2846917"/>
                  </a:cubicBezTo>
                  <a:lnTo>
                    <a:pt x="42333" y="2846917"/>
                  </a:lnTo>
                  <a:cubicBezTo>
                    <a:pt x="18953" y="2846917"/>
                    <a:pt x="0" y="2827963"/>
                    <a:pt x="0" y="2804583"/>
                  </a:cubicBezTo>
                  <a:lnTo>
                    <a:pt x="0" y="42333"/>
                  </a:lnTo>
                  <a:cubicBezTo>
                    <a:pt x="0" y="18953"/>
                    <a:pt x="18953" y="0"/>
                    <a:pt x="42333" y="0"/>
                  </a:cubicBezTo>
                  <a:close/>
                </a:path>
              </a:pathLst>
            </a:custGeom>
            <a:gradFill flip="none" rotWithShape="1">
              <a:gsLst>
                <a:gs pos="0">
                  <a:srgbClr val="3D8F8A">
                    <a:alpha val="15000"/>
                  </a:srgbClr>
                </a:gs>
                <a:gs pos="100000">
                  <a:srgbClr val="000000">
                    <a:alpha val="0"/>
                  </a:srgbClr>
                </a:gs>
              </a:gsLst>
              <a:lin ang="2700000" scaled="1"/>
            </a:gradFill>
          </p:spPr>
        </p:sp>
        <p:sp>
          <p:nvSpPr>
            <p:cNvPr id="16" name="Shape 14"/>
            <p:cNvSpPr/>
            <p:nvPr>
              <p:custDataLst>
                <p:tags r:id="rId10"/>
              </p:custDataLst>
            </p:nvPr>
          </p:nvSpPr>
          <p:spPr>
            <a:xfrm>
              <a:off x="13000" y="3133"/>
              <a:ext cx="67" cy="4483"/>
            </a:xfrm>
            <a:custGeom>
              <a:avLst/>
              <a:gdLst/>
              <a:ahLst/>
              <a:cxnLst/>
              <a:rect l="l" t="t" r="r" b="b"/>
              <a:pathLst>
                <a:path w="42333" h="2846917">
                  <a:moveTo>
                    <a:pt x="42333" y="0"/>
                  </a:moveTo>
                  <a:lnTo>
                    <a:pt x="42333" y="0"/>
                  </a:lnTo>
                  <a:lnTo>
                    <a:pt x="42333" y="2846917"/>
                  </a:lnTo>
                  <a:lnTo>
                    <a:pt x="42333" y="2846917"/>
                  </a:lnTo>
                  <a:cubicBezTo>
                    <a:pt x="18953" y="2846917"/>
                    <a:pt x="0" y="2827963"/>
                    <a:pt x="0" y="2804583"/>
                  </a:cubicBezTo>
                  <a:lnTo>
                    <a:pt x="0" y="42333"/>
                  </a:lnTo>
                  <a:cubicBezTo>
                    <a:pt x="0" y="18953"/>
                    <a:pt x="18953" y="0"/>
                    <a:pt x="42333" y="0"/>
                  </a:cubicBezTo>
                  <a:close/>
                </a:path>
              </a:pathLst>
            </a:custGeom>
            <a:solidFill>
              <a:srgbClr val="3D8F8A"/>
            </a:solidFill>
          </p:spPr>
        </p:sp>
        <p:sp>
          <p:nvSpPr>
            <p:cNvPr id="17" name="Shape 15"/>
            <p:cNvSpPr/>
            <p:nvPr>
              <p:custDataLst>
                <p:tags r:id="rId11"/>
              </p:custDataLst>
            </p:nvPr>
          </p:nvSpPr>
          <p:spPr>
            <a:xfrm>
              <a:off x="13367" y="3467"/>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3D8F8A"/>
            </a:solidFill>
          </p:spPr>
        </p:sp>
        <p:sp>
          <p:nvSpPr>
            <p:cNvPr id="18" name="Text 16"/>
            <p:cNvSpPr/>
            <p:nvPr>
              <p:custDataLst>
                <p:tags r:id="rId12"/>
              </p:custDataLst>
            </p:nvPr>
          </p:nvSpPr>
          <p:spPr>
            <a:xfrm>
              <a:off x="13267" y="3467"/>
              <a:ext cx="1133" cy="933"/>
            </a:xfrm>
            <a:prstGeom prst="rect">
              <a:avLst/>
            </a:prstGeom>
            <a:noFill/>
          </p:spPr>
          <p:txBody>
            <a:bodyPr wrap="square" lIns="0" tIns="0" rIns="0" bIns="0" rtlCol="0" anchor="ctr"/>
            <a:lstStyle/>
            <a:p>
              <a:pPr algn="ctr">
                <a:lnSpc>
                  <a:spcPct val="110000"/>
                </a:lnSpc>
              </a:pPr>
              <a:r>
                <a:rPr lang="en-US" sz="2000" b="1" dirty="0">
                  <a:solidFill>
                    <a:srgbClr val="FFFFFF"/>
                  </a:solidFill>
                  <a:latin typeface="阿里妈妈数黑体" pitchFamily="34" charset="-122"/>
                  <a:ea typeface="阿里妈妈数黑体" pitchFamily="34" charset="-122"/>
                  <a:cs typeface="阿里妈妈数黑体" pitchFamily="34" charset="-120"/>
                </a:rPr>
                <a:t>02</a:t>
              </a:r>
              <a:endParaRPr lang="en-US" sz="1600" dirty="0"/>
            </a:p>
          </p:txBody>
        </p:sp>
        <p:sp>
          <p:nvSpPr>
            <p:cNvPr id="19" name="Text 17"/>
            <p:cNvSpPr/>
            <p:nvPr>
              <p:custDataLst>
                <p:tags r:id="rId13"/>
              </p:custDataLst>
            </p:nvPr>
          </p:nvSpPr>
          <p:spPr>
            <a:xfrm>
              <a:off x="14567" y="3667"/>
              <a:ext cx="5000" cy="533"/>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文档描述与代码实际不一致</a:t>
              </a:r>
              <a:endParaRPr lang="en-US" sz="1600" dirty="0"/>
            </a:p>
          </p:txBody>
        </p:sp>
        <p:sp>
          <p:nvSpPr>
            <p:cNvPr id="20" name="Text 18"/>
            <p:cNvSpPr/>
            <p:nvPr>
              <p:custDataLst>
                <p:tags r:id="rId14"/>
              </p:custDataLst>
            </p:nvPr>
          </p:nvSpPr>
          <p:spPr>
            <a:xfrm>
              <a:off x="13367" y="4667"/>
              <a:ext cx="11367" cy="168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README中列出的依赖库与代码中实际使用的库存在偏差,导致用户按照文档配置环境后仍然无法运行代码。</a:t>
              </a:r>
              <a:r>
                <a:rPr lang="en-US" sz="1335" b="1" dirty="0">
                  <a:solidFill>
                    <a:srgbClr val="3D8F8A"/>
                  </a:solidFill>
                  <a:latin typeface="MiSans" pitchFamily="34" charset="-122"/>
                  <a:ea typeface="MiSans" pitchFamily="34" charset="-122"/>
                  <a:cs typeface="MiSans" pitchFamily="34" charset="-120"/>
                </a:rPr>
                <a:t>文档与代码的不一致性</a:t>
              </a:r>
              <a:r>
                <a:rPr lang="en-US" sz="1335" dirty="0">
                  <a:solidFill>
                    <a:srgbClr val="E0E2E6">
                      <a:alpha val="80000"/>
                    </a:srgbClr>
                  </a:solidFill>
                  <a:latin typeface="MiSans" pitchFamily="34" charset="-122"/>
                  <a:ea typeface="MiSans" pitchFamily="34" charset="-122"/>
                  <a:cs typeface="MiSans" pitchFamily="34" charset="-120"/>
                </a:rPr>
                <a:t>是复现失败的主要原因之一。</a:t>
              </a:r>
              <a:endParaRPr lang="en-US" sz="1600" dirty="0"/>
            </a:p>
          </p:txBody>
        </p:sp>
      </p:grpSp>
      <p:grpSp>
        <p:nvGrpSpPr>
          <p:cNvPr id="57" name="组合 56"/>
          <p:cNvGrpSpPr/>
          <p:nvPr>
            <p:custDataLst>
              <p:tags r:id="rId15"/>
            </p:custDataLst>
          </p:nvPr>
        </p:nvGrpSpPr>
        <p:grpSpPr>
          <a:xfrm>
            <a:off x="444500" y="4034155"/>
            <a:ext cx="7577455" cy="2174885"/>
            <a:chOff x="700" y="7957"/>
            <a:chExt cx="11933" cy="4483"/>
          </a:xfrm>
        </p:grpSpPr>
        <p:sp>
          <p:nvSpPr>
            <p:cNvPr id="24" name="Shape 22"/>
            <p:cNvSpPr/>
            <p:nvPr>
              <p:custDataLst>
                <p:tags r:id="rId16"/>
              </p:custDataLst>
            </p:nvPr>
          </p:nvSpPr>
          <p:spPr>
            <a:xfrm>
              <a:off x="700" y="7957"/>
              <a:ext cx="11933" cy="4483"/>
            </a:xfrm>
            <a:custGeom>
              <a:avLst/>
              <a:gdLst/>
              <a:ahLst/>
              <a:cxnLst/>
              <a:rect l="l" t="t" r="r" b="b"/>
              <a:pathLst>
                <a:path w="7577667" h="2846917">
                  <a:moveTo>
                    <a:pt x="42333" y="0"/>
                  </a:moveTo>
                  <a:lnTo>
                    <a:pt x="7450666" y="0"/>
                  </a:lnTo>
                  <a:cubicBezTo>
                    <a:pt x="7520806" y="0"/>
                    <a:pt x="7577667" y="56860"/>
                    <a:pt x="7577667" y="127001"/>
                  </a:cubicBezTo>
                  <a:lnTo>
                    <a:pt x="7577667" y="2719916"/>
                  </a:lnTo>
                  <a:cubicBezTo>
                    <a:pt x="7577667" y="2790056"/>
                    <a:pt x="7520806" y="2846917"/>
                    <a:pt x="7450666" y="2846917"/>
                  </a:cubicBezTo>
                  <a:lnTo>
                    <a:pt x="42333" y="2846917"/>
                  </a:lnTo>
                  <a:cubicBezTo>
                    <a:pt x="18953" y="2846917"/>
                    <a:pt x="0" y="2827963"/>
                    <a:pt x="0" y="2804583"/>
                  </a:cubicBezTo>
                  <a:lnTo>
                    <a:pt x="0" y="42333"/>
                  </a:lnTo>
                  <a:cubicBezTo>
                    <a:pt x="0" y="18953"/>
                    <a:pt x="18953" y="0"/>
                    <a:pt x="42333" y="0"/>
                  </a:cubicBezTo>
                  <a:close/>
                </a:path>
              </a:pathLst>
            </a:custGeom>
            <a:gradFill flip="none" rotWithShape="1">
              <a:gsLst>
                <a:gs pos="0">
                  <a:srgbClr val="5A6472">
                    <a:alpha val="15000"/>
                  </a:srgbClr>
                </a:gs>
                <a:gs pos="100000">
                  <a:srgbClr val="000000">
                    <a:alpha val="0"/>
                  </a:srgbClr>
                </a:gs>
              </a:gsLst>
              <a:lin ang="2700000" scaled="1"/>
            </a:gradFill>
          </p:spPr>
        </p:sp>
        <p:sp>
          <p:nvSpPr>
            <p:cNvPr id="25" name="Shape 23"/>
            <p:cNvSpPr/>
            <p:nvPr>
              <p:custDataLst>
                <p:tags r:id="rId17"/>
              </p:custDataLst>
            </p:nvPr>
          </p:nvSpPr>
          <p:spPr>
            <a:xfrm>
              <a:off x="700" y="7957"/>
              <a:ext cx="67" cy="4483"/>
            </a:xfrm>
            <a:custGeom>
              <a:avLst/>
              <a:gdLst/>
              <a:ahLst/>
              <a:cxnLst/>
              <a:rect l="l" t="t" r="r" b="b"/>
              <a:pathLst>
                <a:path w="42333" h="2846917">
                  <a:moveTo>
                    <a:pt x="42333" y="0"/>
                  </a:moveTo>
                  <a:lnTo>
                    <a:pt x="42333" y="0"/>
                  </a:lnTo>
                  <a:lnTo>
                    <a:pt x="42333" y="2846917"/>
                  </a:lnTo>
                  <a:lnTo>
                    <a:pt x="42333" y="2846917"/>
                  </a:lnTo>
                  <a:cubicBezTo>
                    <a:pt x="18953" y="2846917"/>
                    <a:pt x="0" y="2827963"/>
                    <a:pt x="0" y="2804583"/>
                  </a:cubicBezTo>
                  <a:lnTo>
                    <a:pt x="0" y="42333"/>
                  </a:lnTo>
                  <a:cubicBezTo>
                    <a:pt x="0" y="18953"/>
                    <a:pt x="18953" y="0"/>
                    <a:pt x="42333" y="0"/>
                  </a:cubicBezTo>
                  <a:close/>
                </a:path>
              </a:pathLst>
            </a:custGeom>
            <a:solidFill>
              <a:srgbClr val="5A6472"/>
            </a:solidFill>
          </p:spPr>
        </p:sp>
        <p:sp>
          <p:nvSpPr>
            <p:cNvPr id="26" name="Shape 24"/>
            <p:cNvSpPr/>
            <p:nvPr>
              <p:custDataLst>
                <p:tags r:id="rId18"/>
              </p:custDataLst>
            </p:nvPr>
          </p:nvSpPr>
          <p:spPr>
            <a:xfrm>
              <a:off x="1067" y="8290"/>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5A6472"/>
            </a:solidFill>
          </p:spPr>
        </p:sp>
        <p:sp>
          <p:nvSpPr>
            <p:cNvPr id="27" name="Text 25"/>
            <p:cNvSpPr/>
            <p:nvPr>
              <p:custDataLst>
                <p:tags r:id="rId19"/>
              </p:custDataLst>
            </p:nvPr>
          </p:nvSpPr>
          <p:spPr>
            <a:xfrm>
              <a:off x="967" y="8290"/>
              <a:ext cx="1133" cy="933"/>
            </a:xfrm>
            <a:prstGeom prst="rect">
              <a:avLst/>
            </a:prstGeom>
            <a:noFill/>
          </p:spPr>
          <p:txBody>
            <a:bodyPr wrap="square" lIns="0" tIns="0" rIns="0" bIns="0" rtlCol="0" anchor="ctr"/>
            <a:lstStyle/>
            <a:p>
              <a:pPr algn="ctr">
                <a:lnSpc>
                  <a:spcPct val="110000"/>
                </a:lnSpc>
              </a:pPr>
              <a:r>
                <a:rPr lang="en-US" sz="2000" b="1" dirty="0">
                  <a:solidFill>
                    <a:srgbClr val="FFFFFF"/>
                  </a:solidFill>
                  <a:latin typeface="阿里妈妈数黑体" pitchFamily="34" charset="-122"/>
                  <a:ea typeface="阿里妈妈数黑体" pitchFamily="34" charset="-122"/>
                  <a:cs typeface="阿里妈妈数黑体" pitchFamily="34" charset="-120"/>
                </a:rPr>
                <a:t>03</a:t>
              </a:r>
              <a:endParaRPr lang="en-US" sz="1600" dirty="0"/>
            </a:p>
          </p:txBody>
        </p:sp>
        <p:sp>
          <p:nvSpPr>
            <p:cNvPr id="28" name="Text 26"/>
            <p:cNvSpPr/>
            <p:nvPr>
              <p:custDataLst>
                <p:tags r:id="rId20"/>
              </p:custDataLst>
            </p:nvPr>
          </p:nvSpPr>
          <p:spPr>
            <a:xfrm>
              <a:off x="2267" y="8490"/>
              <a:ext cx="5400" cy="533"/>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隐式依赖与别名依赖难以识别</a:t>
              </a:r>
              <a:endParaRPr lang="en-US" sz="1600" dirty="0"/>
            </a:p>
          </p:txBody>
        </p:sp>
        <p:sp>
          <p:nvSpPr>
            <p:cNvPr id="29" name="Text 27"/>
            <p:cNvSpPr/>
            <p:nvPr>
              <p:custDataLst>
                <p:tags r:id="rId21"/>
              </p:custDataLst>
            </p:nvPr>
          </p:nvSpPr>
          <p:spPr>
            <a:xfrm>
              <a:off x="1067" y="9490"/>
              <a:ext cx="11367" cy="168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一些依赖通过间接方式引入,或使用了常见别名(如</a:t>
              </a:r>
              <a:r>
                <a:rPr lang="en-US" sz="1335" b="1" dirty="0">
                  <a:solidFill>
                    <a:srgbClr val="E5A044"/>
                  </a:solidFill>
                  <a:latin typeface="MiSans" pitchFamily="34" charset="-122"/>
                  <a:ea typeface="MiSans" pitchFamily="34" charset="-122"/>
                  <a:cs typeface="MiSans" pitchFamily="34" charset="-120"/>
                </a:rPr>
                <a:t>cv2、sklearn</a:t>
              </a:r>
              <a:r>
                <a:rPr lang="en-US" sz="1335" dirty="0">
                  <a:solidFill>
                    <a:srgbClr val="E0E2E6">
                      <a:alpha val="80000"/>
                    </a:srgbClr>
                  </a:solidFill>
                  <a:latin typeface="MiSans" pitchFamily="34" charset="-122"/>
                  <a:ea typeface="MiSans" pitchFamily="34" charset="-122"/>
                  <a:cs typeface="MiSans" pitchFamily="34" charset="-120"/>
                </a:rPr>
                <a:t>等),但未在依赖文件中显式声明,增加了环境配置难度。这些隐式依赖往往需要用户手动排查。</a:t>
              </a:r>
              <a:endParaRPr lang="en-US" sz="1600" dirty="0"/>
            </a:p>
          </p:txBody>
        </p:sp>
      </p:grpSp>
      <p:grpSp>
        <p:nvGrpSpPr>
          <p:cNvPr id="56" name="组合 55"/>
          <p:cNvGrpSpPr/>
          <p:nvPr>
            <p:custDataLst>
              <p:tags r:id="rId22"/>
            </p:custDataLst>
          </p:nvPr>
        </p:nvGrpSpPr>
        <p:grpSpPr>
          <a:xfrm>
            <a:off x="8255000" y="4034155"/>
            <a:ext cx="7577455" cy="2174885"/>
            <a:chOff x="13000" y="7957"/>
            <a:chExt cx="11933" cy="4483"/>
          </a:xfrm>
        </p:grpSpPr>
        <p:sp>
          <p:nvSpPr>
            <p:cNvPr id="33" name="Shape 31"/>
            <p:cNvSpPr/>
            <p:nvPr>
              <p:custDataLst>
                <p:tags r:id="rId23"/>
              </p:custDataLst>
            </p:nvPr>
          </p:nvSpPr>
          <p:spPr>
            <a:xfrm>
              <a:off x="13000" y="7957"/>
              <a:ext cx="11933" cy="4483"/>
            </a:xfrm>
            <a:custGeom>
              <a:avLst/>
              <a:gdLst/>
              <a:ahLst/>
              <a:cxnLst/>
              <a:rect l="l" t="t" r="r" b="b"/>
              <a:pathLst>
                <a:path w="7577667" h="2846917">
                  <a:moveTo>
                    <a:pt x="42333" y="0"/>
                  </a:moveTo>
                  <a:lnTo>
                    <a:pt x="7450666" y="0"/>
                  </a:lnTo>
                  <a:cubicBezTo>
                    <a:pt x="7520806" y="0"/>
                    <a:pt x="7577667" y="56860"/>
                    <a:pt x="7577667" y="127001"/>
                  </a:cubicBezTo>
                  <a:lnTo>
                    <a:pt x="7577667" y="2719916"/>
                  </a:lnTo>
                  <a:cubicBezTo>
                    <a:pt x="7577667" y="2790056"/>
                    <a:pt x="7520806" y="2846917"/>
                    <a:pt x="7450666" y="2846917"/>
                  </a:cubicBezTo>
                  <a:lnTo>
                    <a:pt x="42333" y="2846917"/>
                  </a:lnTo>
                  <a:cubicBezTo>
                    <a:pt x="18953" y="2846917"/>
                    <a:pt x="0" y="2827963"/>
                    <a:pt x="0" y="2804583"/>
                  </a:cubicBezTo>
                  <a:lnTo>
                    <a:pt x="0" y="42333"/>
                  </a:lnTo>
                  <a:cubicBezTo>
                    <a:pt x="0" y="18953"/>
                    <a:pt x="18953" y="0"/>
                    <a:pt x="42333" y="0"/>
                  </a:cubicBezTo>
                  <a:close/>
                </a:path>
              </a:pathLst>
            </a:custGeom>
            <a:gradFill flip="none" rotWithShape="1">
              <a:gsLst>
                <a:gs pos="0">
                  <a:srgbClr val="E5A044">
                    <a:alpha val="15000"/>
                  </a:srgbClr>
                </a:gs>
                <a:gs pos="100000">
                  <a:srgbClr val="000000">
                    <a:alpha val="0"/>
                  </a:srgbClr>
                </a:gs>
              </a:gsLst>
              <a:lin ang="2700000" scaled="1"/>
            </a:gradFill>
          </p:spPr>
        </p:sp>
        <p:sp>
          <p:nvSpPr>
            <p:cNvPr id="34" name="Shape 32"/>
            <p:cNvSpPr/>
            <p:nvPr>
              <p:custDataLst>
                <p:tags r:id="rId24"/>
              </p:custDataLst>
            </p:nvPr>
          </p:nvSpPr>
          <p:spPr>
            <a:xfrm>
              <a:off x="13000" y="7957"/>
              <a:ext cx="67" cy="4483"/>
            </a:xfrm>
            <a:custGeom>
              <a:avLst/>
              <a:gdLst/>
              <a:ahLst/>
              <a:cxnLst/>
              <a:rect l="l" t="t" r="r" b="b"/>
              <a:pathLst>
                <a:path w="42333" h="2846917">
                  <a:moveTo>
                    <a:pt x="42333" y="0"/>
                  </a:moveTo>
                  <a:lnTo>
                    <a:pt x="42333" y="0"/>
                  </a:lnTo>
                  <a:lnTo>
                    <a:pt x="42333" y="2846917"/>
                  </a:lnTo>
                  <a:lnTo>
                    <a:pt x="42333" y="2846917"/>
                  </a:lnTo>
                  <a:cubicBezTo>
                    <a:pt x="18953" y="2846917"/>
                    <a:pt x="0" y="2827963"/>
                    <a:pt x="0" y="2804583"/>
                  </a:cubicBezTo>
                  <a:lnTo>
                    <a:pt x="0" y="42333"/>
                  </a:lnTo>
                  <a:cubicBezTo>
                    <a:pt x="0" y="18953"/>
                    <a:pt x="18953" y="0"/>
                    <a:pt x="42333" y="0"/>
                  </a:cubicBezTo>
                  <a:close/>
                </a:path>
              </a:pathLst>
            </a:custGeom>
            <a:solidFill>
              <a:srgbClr val="E5A044"/>
            </a:solidFill>
          </p:spPr>
        </p:sp>
        <p:sp>
          <p:nvSpPr>
            <p:cNvPr id="35" name="Shape 33"/>
            <p:cNvSpPr/>
            <p:nvPr>
              <p:custDataLst>
                <p:tags r:id="rId25"/>
              </p:custDataLst>
            </p:nvPr>
          </p:nvSpPr>
          <p:spPr>
            <a:xfrm>
              <a:off x="13367" y="8290"/>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E5A044"/>
            </a:solidFill>
          </p:spPr>
        </p:sp>
        <p:sp>
          <p:nvSpPr>
            <p:cNvPr id="36" name="Text 34"/>
            <p:cNvSpPr/>
            <p:nvPr>
              <p:custDataLst>
                <p:tags r:id="rId26"/>
              </p:custDataLst>
            </p:nvPr>
          </p:nvSpPr>
          <p:spPr>
            <a:xfrm>
              <a:off x="13267" y="8290"/>
              <a:ext cx="1133" cy="933"/>
            </a:xfrm>
            <a:prstGeom prst="rect">
              <a:avLst/>
            </a:prstGeom>
            <a:noFill/>
          </p:spPr>
          <p:txBody>
            <a:bodyPr wrap="square" lIns="0" tIns="0" rIns="0" bIns="0" rtlCol="0" anchor="ctr"/>
            <a:lstStyle/>
            <a:p>
              <a:pPr algn="ctr">
                <a:lnSpc>
                  <a:spcPct val="110000"/>
                </a:lnSpc>
              </a:pPr>
              <a:r>
                <a:rPr lang="en-US" sz="2000" b="1" dirty="0">
                  <a:solidFill>
                    <a:srgbClr val="FFFFFF"/>
                  </a:solidFill>
                  <a:latin typeface="阿里妈妈数黑体" pitchFamily="34" charset="-122"/>
                  <a:ea typeface="阿里妈妈数黑体" pitchFamily="34" charset="-122"/>
                  <a:cs typeface="阿里妈妈数黑体" pitchFamily="34" charset="-120"/>
                </a:rPr>
                <a:t>04</a:t>
              </a:r>
              <a:endParaRPr lang="en-US" sz="1600" dirty="0"/>
            </a:p>
          </p:txBody>
        </p:sp>
        <p:sp>
          <p:nvSpPr>
            <p:cNvPr id="37" name="Text 35"/>
            <p:cNvSpPr/>
            <p:nvPr>
              <p:custDataLst>
                <p:tags r:id="rId27"/>
              </p:custDataLst>
            </p:nvPr>
          </p:nvSpPr>
          <p:spPr>
            <a:xfrm>
              <a:off x="14567" y="8490"/>
              <a:ext cx="5533" cy="533"/>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版本约束不明确,兼容性风险高</a:t>
              </a:r>
              <a:endParaRPr lang="en-US" sz="1600" dirty="0"/>
            </a:p>
          </p:txBody>
        </p:sp>
        <p:sp>
          <p:nvSpPr>
            <p:cNvPr id="38" name="Text 36"/>
            <p:cNvSpPr/>
            <p:nvPr>
              <p:custDataLst>
                <p:tags r:id="rId28"/>
              </p:custDataLst>
            </p:nvPr>
          </p:nvSpPr>
          <p:spPr>
            <a:xfrm>
              <a:off x="13367" y="9490"/>
              <a:ext cx="11367" cy="168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依赖库未指定版本范围,或版本要求过于宽泛,容易因上游库版本更新导致环境不兼容。</a:t>
              </a:r>
              <a:r>
                <a:rPr lang="en-US" sz="1335" b="1" dirty="0">
                  <a:solidFill>
                    <a:srgbClr val="E5A044"/>
                  </a:solidFill>
                  <a:latin typeface="MiSans" pitchFamily="34" charset="-122"/>
                  <a:ea typeface="MiSans" pitchFamily="34" charset="-122"/>
                  <a:cs typeface="MiSans" pitchFamily="34" charset="-120"/>
                </a:rPr>
                <a:t>版本冲突</a:t>
              </a:r>
              <a:r>
                <a:rPr lang="en-US" sz="1335" dirty="0">
                  <a:solidFill>
                    <a:srgbClr val="E0E2E6">
                      <a:alpha val="80000"/>
                    </a:srgbClr>
                  </a:solidFill>
                  <a:latin typeface="MiSans" pitchFamily="34" charset="-122"/>
                  <a:ea typeface="MiSans" pitchFamily="34" charset="-122"/>
                  <a:cs typeface="MiSans" pitchFamily="34" charset="-120"/>
                </a:rPr>
                <a:t>是导致复现失败的常见原因之一。</a:t>
              </a:r>
              <a:endParaRPr lang="en-US" sz="1600" dirty="0"/>
            </a:p>
          </p:txBody>
        </p:sp>
      </p:grpSp>
      <p:grpSp>
        <p:nvGrpSpPr>
          <p:cNvPr id="59" name="组合 58"/>
          <p:cNvGrpSpPr/>
          <p:nvPr/>
        </p:nvGrpSpPr>
        <p:grpSpPr>
          <a:xfrm>
            <a:off x="8255000" y="6463030"/>
            <a:ext cx="7447280" cy="1606550"/>
            <a:chOff x="672" y="17177"/>
            <a:chExt cx="24261" cy="1011"/>
          </a:xfrm>
        </p:grpSpPr>
        <p:sp>
          <p:nvSpPr>
            <p:cNvPr id="51" name="Shape 49"/>
            <p:cNvSpPr/>
            <p:nvPr/>
          </p:nvSpPr>
          <p:spPr>
            <a:xfrm>
              <a:off x="672" y="17177"/>
              <a:ext cx="24261" cy="1011"/>
            </a:xfrm>
            <a:custGeom>
              <a:avLst/>
              <a:gdLst/>
              <a:ahLst/>
              <a:cxnLst/>
              <a:rect l="l" t="t" r="r" b="b"/>
              <a:pathLst>
                <a:path w="15405806" h="642056">
                  <a:moveTo>
                    <a:pt x="126999" y="0"/>
                  </a:moveTo>
                  <a:lnTo>
                    <a:pt x="15278807" y="0"/>
                  </a:lnTo>
                  <a:cubicBezTo>
                    <a:pt x="15348946" y="0"/>
                    <a:pt x="15405806" y="56859"/>
                    <a:pt x="15405806" y="126999"/>
                  </a:cubicBezTo>
                  <a:lnTo>
                    <a:pt x="15405806" y="515057"/>
                  </a:lnTo>
                  <a:cubicBezTo>
                    <a:pt x="15405806" y="585196"/>
                    <a:pt x="15348946" y="642056"/>
                    <a:pt x="15278807" y="642056"/>
                  </a:cubicBezTo>
                  <a:lnTo>
                    <a:pt x="126999" y="642056"/>
                  </a:lnTo>
                  <a:cubicBezTo>
                    <a:pt x="56906" y="642056"/>
                    <a:pt x="0" y="585149"/>
                    <a:pt x="0" y="515057"/>
                  </a:cubicBezTo>
                  <a:lnTo>
                    <a:pt x="0" y="126999"/>
                  </a:lnTo>
                  <a:cubicBezTo>
                    <a:pt x="0" y="56906"/>
                    <a:pt x="56906" y="0"/>
                    <a:pt x="126999" y="0"/>
                  </a:cubicBezTo>
                  <a:close/>
                </a:path>
              </a:pathLst>
            </a:custGeom>
            <a:solidFill>
              <a:srgbClr val="E5A044">
                <a:alpha val="10196"/>
              </a:srgbClr>
            </a:solidFill>
            <a:ln w="8467">
              <a:solidFill>
                <a:srgbClr val="E5A044">
                  <a:alpha val="30196"/>
                </a:srgbClr>
              </a:solidFill>
              <a:prstDash val="solid"/>
            </a:ln>
          </p:spPr>
        </p:sp>
        <p:sp>
          <p:nvSpPr>
            <p:cNvPr id="52" name="Shape 50"/>
            <p:cNvSpPr/>
            <p:nvPr/>
          </p:nvSpPr>
          <p:spPr>
            <a:xfrm>
              <a:off x="994" y="17482"/>
              <a:ext cx="2346" cy="453"/>
            </a:xfrm>
            <a:custGeom>
              <a:avLst/>
              <a:gdLst/>
              <a:ahLst/>
              <a:cxnLst/>
              <a:rect l="l" t="t" r="r" b="b"/>
              <a:pathLst>
                <a:path w="254000" h="254000">
                  <a:moveTo>
                    <a:pt x="127000" y="254000"/>
                  </a:moveTo>
                  <a:cubicBezTo>
                    <a:pt x="197093" y="254000"/>
                    <a:pt x="254000" y="197093"/>
                    <a:pt x="254000" y="127000"/>
                  </a:cubicBezTo>
                  <a:cubicBezTo>
                    <a:pt x="254000" y="56907"/>
                    <a:pt x="197093" y="0"/>
                    <a:pt x="127000" y="0"/>
                  </a:cubicBezTo>
                  <a:cubicBezTo>
                    <a:pt x="56907" y="0"/>
                    <a:pt x="0" y="56907"/>
                    <a:pt x="0" y="127000"/>
                  </a:cubicBezTo>
                  <a:cubicBezTo>
                    <a:pt x="0" y="197093"/>
                    <a:pt x="56907" y="254000"/>
                    <a:pt x="127000" y="254000"/>
                  </a:cubicBezTo>
                  <a:close/>
                  <a:moveTo>
                    <a:pt x="127000" y="67469"/>
                  </a:moveTo>
                  <a:cubicBezTo>
                    <a:pt x="133598" y="67469"/>
                    <a:pt x="138906" y="72777"/>
                    <a:pt x="138906" y="79375"/>
                  </a:cubicBezTo>
                  <a:lnTo>
                    <a:pt x="138906" y="134938"/>
                  </a:lnTo>
                  <a:cubicBezTo>
                    <a:pt x="138906" y="141536"/>
                    <a:pt x="133598" y="146844"/>
                    <a:pt x="127000" y="146844"/>
                  </a:cubicBezTo>
                  <a:cubicBezTo>
                    <a:pt x="120402" y="146844"/>
                    <a:pt x="115094" y="141536"/>
                    <a:pt x="115094" y="134938"/>
                  </a:cubicBezTo>
                  <a:lnTo>
                    <a:pt x="115094" y="79375"/>
                  </a:lnTo>
                  <a:cubicBezTo>
                    <a:pt x="115094" y="72777"/>
                    <a:pt x="120402" y="67469"/>
                    <a:pt x="127000" y="67469"/>
                  </a:cubicBezTo>
                  <a:close/>
                  <a:moveTo>
                    <a:pt x="113754" y="174625"/>
                  </a:moveTo>
                  <a:cubicBezTo>
                    <a:pt x="113453" y="169708"/>
                    <a:pt x="115905" y="165031"/>
                    <a:pt x="120120" y="162481"/>
                  </a:cubicBezTo>
                  <a:cubicBezTo>
                    <a:pt x="124334" y="159932"/>
                    <a:pt x="129616" y="159932"/>
                    <a:pt x="133831" y="162481"/>
                  </a:cubicBezTo>
                  <a:cubicBezTo>
                    <a:pt x="138045" y="165031"/>
                    <a:pt x="140497" y="169708"/>
                    <a:pt x="140196" y="174625"/>
                  </a:cubicBezTo>
                  <a:cubicBezTo>
                    <a:pt x="140497" y="179542"/>
                    <a:pt x="138045" y="184219"/>
                    <a:pt x="133831" y="186769"/>
                  </a:cubicBezTo>
                  <a:cubicBezTo>
                    <a:pt x="129616" y="189318"/>
                    <a:pt x="124334" y="189318"/>
                    <a:pt x="120120" y="186769"/>
                  </a:cubicBezTo>
                  <a:cubicBezTo>
                    <a:pt x="115905" y="184219"/>
                    <a:pt x="113453" y="179542"/>
                    <a:pt x="113754" y="174625"/>
                  </a:cubicBezTo>
                  <a:close/>
                </a:path>
              </a:pathLst>
            </a:custGeom>
            <a:solidFill>
              <a:srgbClr val="E5A044"/>
            </a:solidFill>
          </p:spPr>
        </p:sp>
        <p:sp>
          <p:nvSpPr>
            <p:cNvPr id="53" name="Text 51"/>
            <p:cNvSpPr/>
            <p:nvPr/>
          </p:nvSpPr>
          <p:spPr>
            <a:xfrm>
              <a:off x="4490" y="17445"/>
              <a:ext cx="18200" cy="467"/>
            </a:xfrm>
            <a:prstGeom prst="rect">
              <a:avLst/>
            </a:prstGeom>
            <a:noFill/>
          </p:spPr>
          <p:txBody>
            <a:bodyPr wrap="square" lIns="0" tIns="0" rIns="0" bIns="0" rtlCol="0" anchor="ctr"/>
            <a:lstStyle/>
            <a:p>
              <a:pPr>
                <a:lnSpc>
                  <a:spcPct val="130000"/>
                </a:lnSpc>
              </a:pPr>
              <a:r>
                <a:rPr lang="en-US" sz="1500" dirty="0">
                  <a:solidFill>
                    <a:srgbClr val="E0E2E6">
                      <a:alpha val="90000"/>
                    </a:srgbClr>
                  </a:solidFill>
                  <a:latin typeface="MiSans" pitchFamily="34" charset="-122"/>
                  <a:ea typeface="MiSans" pitchFamily="34" charset="-122"/>
                  <a:cs typeface="MiSans" pitchFamily="34" charset="-120"/>
                </a:rPr>
                <a:t>上述问题使得即便是公开、可访问的开源项目,也往往存在</a:t>
              </a:r>
              <a:r>
                <a:rPr lang="en-US" sz="1500" b="1" dirty="0">
                  <a:solidFill>
                    <a:srgbClr val="E5A044"/>
                  </a:solidFill>
                  <a:latin typeface="MiSans" pitchFamily="34" charset="-122"/>
                  <a:ea typeface="MiSans" pitchFamily="34" charset="-122"/>
                  <a:cs typeface="MiSans" pitchFamily="34" charset="-120"/>
                </a:rPr>
                <a:t>"代码可见但难以复现"</a:t>
              </a:r>
              <a:r>
                <a:rPr lang="en-US" sz="1500" dirty="0">
                  <a:solidFill>
                    <a:srgbClr val="E0E2E6">
                      <a:alpha val="90000"/>
                    </a:srgbClr>
                  </a:solidFill>
                  <a:latin typeface="MiSans" pitchFamily="34" charset="-122"/>
                  <a:ea typeface="MiSans" pitchFamily="34" charset="-122"/>
                  <a:cs typeface="MiSans" pitchFamily="34" charset="-120"/>
                </a:rPr>
                <a:t>的现象,严重影响了开源项目的可用性、可信度与传播效率</a:t>
              </a:r>
              <a:endParaRPr lang="en-US" sz="1600" dirty="0"/>
            </a:p>
          </p:txBody>
        </p:sp>
      </p:grpSp>
      <p:grpSp>
        <p:nvGrpSpPr>
          <p:cNvPr id="60" name="组合 59"/>
          <p:cNvGrpSpPr/>
          <p:nvPr>
            <p:custDataLst>
              <p:tags r:id="rId29"/>
            </p:custDataLst>
          </p:nvPr>
        </p:nvGrpSpPr>
        <p:grpSpPr>
          <a:xfrm>
            <a:off x="423545" y="6274435"/>
            <a:ext cx="7577455" cy="2175995"/>
            <a:chOff x="13000" y="3133"/>
            <a:chExt cx="11933" cy="4483"/>
          </a:xfrm>
        </p:grpSpPr>
        <p:sp>
          <p:nvSpPr>
            <p:cNvPr id="61" name="Shape 13"/>
            <p:cNvSpPr/>
            <p:nvPr>
              <p:custDataLst>
                <p:tags r:id="rId30"/>
              </p:custDataLst>
            </p:nvPr>
          </p:nvSpPr>
          <p:spPr>
            <a:xfrm>
              <a:off x="13000" y="3133"/>
              <a:ext cx="11933" cy="4483"/>
            </a:xfrm>
            <a:custGeom>
              <a:avLst/>
              <a:gdLst/>
              <a:ahLst/>
              <a:cxnLst/>
              <a:rect l="l" t="t" r="r" b="b"/>
              <a:pathLst>
                <a:path w="7577667" h="2846917">
                  <a:moveTo>
                    <a:pt x="42333" y="0"/>
                  </a:moveTo>
                  <a:lnTo>
                    <a:pt x="7450666" y="0"/>
                  </a:lnTo>
                  <a:cubicBezTo>
                    <a:pt x="7520806" y="0"/>
                    <a:pt x="7577667" y="56860"/>
                    <a:pt x="7577667" y="127001"/>
                  </a:cubicBezTo>
                  <a:lnTo>
                    <a:pt x="7577667" y="2719916"/>
                  </a:lnTo>
                  <a:cubicBezTo>
                    <a:pt x="7577667" y="2790056"/>
                    <a:pt x="7520806" y="2846917"/>
                    <a:pt x="7450666" y="2846917"/>
                  </a:cubicBezTo>
                  <a:lnTo>
                    <a:pt x="42333" y="2846917"/>
                  </a:lnTo>
                  <a:cubicBezTo>
                    <a:pt x="18953" y="2846917"/>
                    <a:pt x="0" y="2827963"/>
                    <a:pt x="0" y="2804583"/>
                  </a:cubicBezTo>
                  <a:lnTo>
                    <a:pt x="0" y="42333"/>
                  </a:lnTo>
                  <a:cubicBezTo>
                    <a:pt x="0" y="18953"/>
                    <a:pt x="18953" y="0"/>
                    <a:pt x="42333" y="0"/>
                  </a:cubicBezTo>
                  <a:close/>
                </a:path>
              </a:pathLst>
            </a:custGeom>
            <a:gradFill flip="none" rotWithShape="1">
              <a:gsLst>
                <a:gs pos="0">
                  <a:srgbClr val="3D8F8A">
                    <a:alpha val="15000"/>
                  </a:srgbClr>
                </a:gs>
                <a:gs pos="100000">
                  <a:srgbClr val="000000">
                    <a:alpha val="0"/>
                  </a:srgbClr>
                </a:gs>
              </a:gsLst>
              <a:lin ang="2700000" scaled="1"/>
            </a:gradFill>
          </p:spPr>
        </p:sp>
        <p:sp>
          <p:nvSpPr>
            <p:cNvPr id="62" name="Shape 14"/>
            <p:cNvSpPr/>
            <p:nvPr>
              <p:custDataLst>
                <p:tags r:id="rId31"/>
              </p:custDataLst>
            </p:nvPr>
          </p:nvSpPr>
          <p:spPr>
            <a:xfrm>
              <a:off x="13000" y="3133"/>
              <a:ext cx="67" cy="4483"/>
            </a:xfrm>
            <a:custGeom>
              <a:avLst/>
              <a:gdLst/>
              <a:ahLst/>
              <a:cxnLst/>
              <a:rect l="l" t="t" r="r" b="b"/>
              <a:pathLst>
                <a:path w="42333" h="2846917">
                  <a:moveTo>
                    <a:pt x="42333" y="0"/>
                  </a:moveTo>
                  <a:lnTo>
                    <a:pt x="42333" y="0"/>
                  </a:lnTo>
                  <a:lnTo>
                    <a:pt x="42333" y="2846917"/>
                  </a:lnTo>
                  <a:lnTo>
                    <a:pt x="42333" y="2846917"/>
                  </a:lnTo>
                  <a:cubicBezTo>
                    <a:pt x="18953" y="2846917"/>
                    <a:pt x="0" y="2827963"/>
                    <a:pt x="0" y="2804583"/>
                  </a:cubicBezTo>
                  <a:lnTo>
                    <a:pt x="0" y="42333"/>
                  </a:lnTo>
                  <a:cubicBezTo>
                    <a:pt x="0" y="18953"/>
                    <a:pt x="18953" y="0"/>
                    <a:pt x="42333" y="0"/>
                  </a:cubicBezTo>
                  <a:close/>
                </a:path>
              </a:pathLst>
            </a:custGeom>
            <a:solidFill>
              <a:srgbClr val="3D8F8A"/>
            </a:solidFill>
          </p:spPr>
        </p:sp>
        <p:sp>
          <p:nvSpPr>
            <p:cNvPr id="63" name="Shape 15"/>
            <p:cNvSpPr/>
            <p:nvPr>
              <p:custDataLst>
                <p:tags r:id="rId32"/>
              </p:custDataLst>
            </p:nvPr>
          </p:nvSpPr>
          <p:spPr>
            <a:xfrm>
              <a:off x="13367" y="3467"/>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3D8F8A"/>
            </a:solidFill>
          </p:spPr>
        </p:sp>
        <p:sp>
          <p:nvSpPr>
            <p:cNvPr id="64" name="Text 16"/>
            <p:cNvSpPr/>
            <p:nvPr>
              <p:custDataLst>
                <p:tags r:id="rId33"/>
              </p:custDataLst>
            </p:nvPr>
          </p:nvSpPr>
          <p:spPr>
            <a:xfrm>
              <a:off x="13267" y="3467"/>
              <a:ext cx="1133" cy="933"/>
            </a:xfrm>
            <a:prstGeom prst="rect">
              <a:avLst/>
            </a:prstGeom>
            <a:noFill/>
          </p:spPr>
          <p:txBody>
            <a:bodyPr wrap="square" lIns="0" tIns="0" rIns="0" bIns="0" rtlCol="0" anchor="ctr"/>
            <a:lstStyle/>
            <a:p>
              <a:pPr algn="ctr">
                <a:lnSpc>
                  <a:spcPct val="110000"/>
                </a:lnSpc>
              </a:pPr>
              <a:r>
                <a:rPr lang="en-US" sz="2000" b="1" dirty="0">
                  <a:solidFill>
                    <a:srgbClr val="FFFFFF"/>
                  </a:solidFill>
                  <a:latin typeface="阿里妈妈数黑体" pitchFamily="34" charset="-122"/>
                  <a:ea typeface="阿里妈妈数黑体" pitchFamily="34" charset="-122"/>
                  <a:cs typeface="阿里妈妈数黑体" pitchFamily="34" charset="-120"/>
                </a:rPr>
                <a:t>05</a:t>
              </a:r>
              <a:endParaRPr lang="en-US" sz="1600" dirty="0"/>
            </a:p>
          </p:txBody>
        </p:sp>
        <p:sp>
          <p:nvSpPr>
            <p:cNvPr id="65" name="Text 17"/>
            <p:cNvSpPr/>
            <p:nvPr>
              <p:custDataLst>
                <p:tags r:id="rId34"/>
              </p:custDataLst>
            </p:nvPr>
          </p:nvSpPr>
          <p:spPr>
            <a:xfrm>
              <a:off x="14567" y="3667"/>
              <a:ext cx="5000" cy="533"/>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sym typeface="+mn-ea"/>
                </a:rPr>
                <a:t>系统级依赖缺乏说明</a:t>
              </a:r>
              <a:endParaRPr lang="en-US" sz="1600" dirty="0"/>
            </a:p>
          </p:txBody>
        </p:sp>
        <p:sp>
          <p:nvSpPr>
            <p:cNvPr id="66" name="Text 18"/>
            <p:cNvSpPr/>
            <p:nvPr>
              <p:custDataLst>
                <p:tags r:id="rId35"/>
              </p:custDataLst>
            </p:nvPr>
          </p:nvSpPr>
          <p:spPr>
            <a:xfrm>
              <a:off x="13367" y="4667"/>
              <a:ext cx="11367" cy="168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sym typeface="+mn-ea"/>
                </a:rPr>
                <a:t>部分Python项目依赖系统库(如</a:t>
              </a:r>
              <a:r>
                <a:rPr lang="en-US" sz="1335" b="1" dirty="0">
                  <a:solidFill>
                    <a:srgbClr val="3D8F8A"/>
                  </a:solidFill>
                  <a:latin typeface="MiSans" pitchFamily="34" charset="-122"/>
                  <a:ea typeface="MiSans" pitchFamily="34" charset="-122"/>
                  <a:cs typeface="MiSans" pitchFamily="34" charset="-120"/>
                  <a:sym typeface="+mn-ea"/>
                </a:rPr>
                <a:t>libgl、ffmpeg</a:t>
              </a:r>
              <a:r>
                <a:rPr lang="en-US" sz="1335" dirty="0">
                  <a:solidFill>
                    <a:srgbClr val="E0E2E6">
                      <a:alpha val="80000"/>
                    </a:srgbClr>
                  </a:solidFill>
                  <a:latin typeface="MiSans" pitchFamily="34" charset="-122"/>
                  <a:ea typeface="MiSans" pitchFamily="34" charset="-122"/>
                  <a:cs typeface="MiSans" pitchFamily="34" charset="-120"/>
                  <a:sym typeface="+mn-ea"/>
                </a:rPr>
                <a:t>等),但未在文档中说明,进一步提高了复现失败率。这些系统级依赖往往需要管理员权限安装,增加了配置复杂度。</a:t>
              </a:r>
              <a:endParaRPr lang="en-US" sz="1600" dirty="0"/>
            </a:p>
          </p:txBody>
        </p:sp>
      </p:gr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40244" y="550305"/>
            <a:ext cx="704390" cy="44024"/>
          </a:xfrm>
          <a:custGeom>
            <a:avLst/>
            <a:gdLst/>
            <a:ahLst/>
            <a:cxnLst/>
            <a:rect l="l" t="t" r="r" b="b"/>
            <a:pathLst>
              <a:path w="704390" h="44024">
                <a:moveTo>
                  <a:pt x="0" y="0"/>
                </a:moveTo>
                <a:lnTo>
                  <a:pt x="704390" y="0"/>
                </a:lnTo>
                <a:lnTo>
                  <a:pt x="704390" y="44024"/>
                </a:lnTo>
                <a:lnTo>
                  <a:pt x="0" y="44024"/>
                </a:lnTo>
                <a:lnTo>
                  <a:pt x="0" y="0"/>
                </a:lnTo>
                <a:close/>
              </a:path>
            </a:pathLst>
          </a:custGeom>
          <a:solidFill>
            <a:srgbClr val="3D8F8A"/>
          </a:solidFill>
        </p:spPr>
      </p:sp>
      <p:sp>
        <p:nvSpPr>
          <p:cNvPr id="3" name="Text 1"/>
          <p:cNvSpPr/>
          <p:nvPr/>
        </p:nvSpPr>
        <p:spPr>
          <a:xfrm>
            <a:off x="1320731" y="440244"/>
            <a:ext cx="1573871" cy="264146"/>
          </a:xfrm>
          <a:prstGeom prst="rect">
            <a:avLst/>
          </a:prstGeom>
          <a:noFill/>
        </p:spPr>
        <p:txBody>
          <a:bodyPr wrap="square" lIns="0" tIns="0" rIns="0" bIns="0" rtlCol="0" anchor="ctr"/>
          <a:lstStyle/>
          <a:p>
            <a:pPr>
              <a:lnSpc>
                <a:spcPct val="130000"/>
              </a:lnSpc>
            </a:pPr>
            <a:r>
              <a:rPr lang="en-US" sz="1385" b="1" kern="0" spc="69" dirty="0">
                <a:solidFill>
                  <a:srgbClr val="3D8F8A"/>
                </a:solidFill>
                <a:latin typeface="MiSans" pitchFamily="34" charset="-122"/>
                <a:ea typeface="MiSans" pitchFamily="34" charset="-122"/>
                <a:cs typeface="MiSans" pitchFamily="34" charset="-120"/>
              </a:rPr>
              <a:t>THEME &amp; VALUE</a:t>
            </a:r>
            <a:endParaRPr lang="en-US" sz="1600" dirty="0"/>
          </a:p>
        </p:txBody>
      </p:sp>
      <p:sp>
        <p:nvSpPr>
          <p:cNvPr id="4" name="Text 2"/>
          <p:cNvSpPr/>
          <p:nvPr/>
        </p:nvSpPr>
        <p:spPr>
          <a:xfrm>
            <a:off x="440244" y="836463"/>
            <a:ext cx="15639659" cy="528292"/>
          </a:xfrm>
          <a:prstGeom prst="rect">
            <a:avLst/>
          </a:prstGeom>
          <a:noFill/>
        </p:spPr>
        <p:txBody>
          <a:bodyPr wrap="square" lIns="0" tIns="0" rIns="0" bIns="0" rtlCol="0" anchor="ctr"/>
          <a:lstStyle/>
          <a:p>
            <a:pPr>
              <a:lnSpc>
                <a:spcPct val="80000"/>
              </a:lnSpc>
            </a:pPr>
            <a:r>
              <a:rPr lang="en-US" sz="4160" b="1" dirty="0">
                <a:solidFill>
                  <a:srgbClr val="E0E2E6"/>
                </a:solidFill>
                <a:latin typeface="阿里妈妈数黑体" pitchFamily="34" charset="-122"/>
                <a:ea typeface="阿里妈妈数黑体" pitchFamily="34" charset="-122"/>
                <a:cs typeface="阿里妈妈数黑体" pitchFamily="34" charset="-120"/>
              </a:rPr>
              <a:t>主题价值</a:t>
            </a:r>
            <a:endParaRPr lang="en-US" sz="1600" dirty="0"/>
          </a:p>
        </p:txBody>
      </p:sp>
      <p:sp>
        <p:nvSpPr>
          <p:cNvPr id="8" name="Shape 6"/>
          <p:cNvSpPr/>
          <p:nvPr/>
        </p:nvSpPr>
        <p:spPr>
          <a:xfrm>
            <a:off x="638175" y="1551305"/>
            <a:ext cx="8361680" cy="2336800"/>
          </a:xfrm>
          <a:custGeom>
            <a:avLst/>
            <a:gdLst/>
            <a:ahLst/>
            <a:cxnLst/>
            <a:rect l="l" t="t" r="r" b="b"/>
            <a:pathLst>
              <a:path w="9047009" h="3896157">
                <a:moveTo>
                  <a:pt x="132080" y="0"/>
                </a:moveTo>
                <a:lnTo>
                  <a:pt x="8914929" y="0"/>
                </a:lnTo>
                <a:cubicBezTo>
                  <a:pt x="8987875" y="0"/>
                  <a:pt x="9047009" y="59134"/>
                  <a:pt x="9047009" y="132080"/>
                </a:cubicBezTo>
                <a:lnTo>
                  <a:pt x="9047009" y="3764077"/>
                </a:lnTo>
                <a:cubicBezTo>
                  <a:pt x="9047009" y="3837023"/>
                  <a:pt x="8987875" y="3896157"/>
                  <a:pt x="8914929" y="3896157"/>
                </a:cubicBezTo>
                <a:lnTo>
                  <a:pt x="132080" y="3896157"/>
                </a:lnTo>
                <a:cubicBezTo>
                  <a:pt x="59134" y="3896157"/>
                  <a:pt x="0" y="3837023"/>
                  <a:pt x="0" y="3764077"/>
                </a:cubicBezTo>
                <a:lnTo>
                  <a:pt x="0" y="132080"/>
                </a:lnTo>
                <a:cubicBezTo>
                  <a:pt x="0" y="59134"/>
                  <a:pt x="59134" y="0"/>
                  <a:pt x="132080" y="0"/>
                </a:cubicBezTo>
                <a:close/>
              </a:path>
            </a:pathLst>
          </a:custGeom>
          <a:gradFill flip="none" rotWithShape="1">
            <a:gsLst>
              <a:gs pos="0">
                <a:srgbClr val="3D8F8A">
                  <a:alpha val="15000"/>
                </a:srgbClr>
              </a:gs>
              <a:gs pos="100000">
                <a:srgbClr val="000000">
                  <a:alpha val="0"/>
                </a:srgbClr>
              </a:gs>
            </a:gsLst>
            <a:lin ang="2700000" scaled="1"/>
          </a:gradFill>
          <a:ln w="25400">
            <a:solidFill>
              <a:srgbClr val="3D8F8A">
                <a:alpha val="40000"/>
              </a:srgbClr>
            </a:solidFill>
            <a:prstDash val="solid"/>
          </a:ln>
        </p:spPr>
      </p:sp>
      <p:sp>
        <p:nvSpPr>
          <p:cNvPr id="9" name="Shape 7"/>
          <p:cNvSpPr/>
          <p:nvPr/>
        </p:nvSpPr>
        <p:spPr>
          <a:xfrm>
            <a:off x="892175" y="2150110"/>
            <a:ext cx="650875" cy="650875"/>
          </a:xfrm>
          <a:custGeom>
            <a:avLst/>
            <a:gdLst/>
            <a:ahLst/>
            <a:cxnLst/>
            <a:rect l="l" t="t" r="r" b="b"/>
            <a:pathLst>
              <a:path w="704390" h="704390">
                <a:moveTo>
                  <a:pt x="132073" y="0"/>
                </a:moveTo>
                <a:lnTo>
                  <a:pt x="572317" y="0"/>
                </a:lnTo>
                <a:cubicBezTo>
                  <a:pt x="645259" y="0"/>
                  <a:pt x="704390" y="59131"/>
                  <a:pt x="704390" y="132073"/>
                </a:cubicBezTo>
                <a:lnTo>
                  <a:pt x="704390" y="572317"/>
                </a:lnTo>
                <a:cubicBezTo>
                  <a:pt x="704390" y="645259"/>
                  <a:pt x="645259" y="704390"/>
                  <a:pt x="572317" y="704390"/>
                </a:cubicBezTo>
                <a:lnTo>
                  <a:pt x="132073" y="704390"/>
                </a:lnTo>
                <a:cubicBezTo>
                  <a:pt x="59131" y="704390"/>
                  <a:pt x="0" y="645259"/>
                  <a:pt x="0" y="572317"/>
                </a:cubicBezTo>
                <a:lnTo>
                  <a:pt x="0" y="132073"/>
                </a:lnTo>
                <a:cubicBezTo>
                  <a:pt x="0" y="59131"/>
                  <a:pt x="59131" y="0"/>
                  <a:pt x="132073" y="0"/>
                </a:cubicBezTo>
                <a:close/>
              </a:path>
            </a:pathLst>
          </a:custGeom>
          <a:solidFill>
            <a:srgbClr val="3D8F8A"/>
          </a:solidFill>
        </p:spPr>
      </p:sp>
      <p:sp>
        <p:nvSpPr>
          <p:cNvPr id="10" name="Shape 8"/>
          <p:cNvSpPr/>
          <p:nvPr/>
        </p:nvSpPr>
        <p:spPr>
          <a:xfrm>
            <a:off x="1067435" y="2323465"/>
            <a:ext cx="305435" cy="305435"/>
          </a:xfrm>
          <a:custGeom>
            <a:avLst/>
            <a:gdLst/>
            <a:ahLst/>
            <a:cxnLst/>
            <a:rect l="l" t="t" r="r" b="b"/>
            <a:pathLst>
              <a:path w="330183" h="330183">
                <a:moveTo>
                  <a:pt x="288910" y="165091"/>
                </a:moveTo>
                <a:cubicBezTo>
                  <a:pt x="288910" y="96754"/>
                  <a:pt x="233429" y="41273"/>
                  <a:pt x="165091" y="41273"/>
                </a:cubicBezTo>
                <a:cubicBezTo>
                  <a:pt x="96754" y="41273"/>
                  <a:pt x="41273" y="96754"/>
                  <a:pt x="41273" y="165091"/>
                </a:cubicBezTo>
                <a:cubicBezTo>
                  <a:pt x="41273" y="233429"/>
                  <a:pt x="96754" y="288910"/>
                  <a:pt x="165091" y="288910"/>
                </a:cubicBezTo>
                <a:cubicBezTo>
                  <a:pt x="233429" y="288910"/>
                  <a:pt x="288910" y="233429"/>
                  <a:pt x="288910" y="165091"/>
                </a:cubicBezTo>
                <a:close/>
                <a:moveTo>
                  <a:pt x="0" y="165091"/>
                </a:moveTo>
                <a:cubicBezTo>
                  <a:pt x="0" y="73975"/>
                  <a:pt x="73975" y="0"/>
                  <a:pt x="165091" y="0"/>
                </a:cubicBezTo>
                <a:cubicBezTo>
                  <a:pt x="256208" y="0"/>
                  <a:pt x="330183" y="73975"/>
                  <a:pt x="330183" y="165091"/>
                </a:cubicBezTo>
                <a:cubicBezTo>
                  <a:pt x="330183" y="256208"/>
                  <a:pt x="256208" y="330183"/>
                  <a:pt x="165091" y="330183"/>
                </a:cubicBezTo>
                <a:cubicBezTo>
                  <a:pt x="73975" y="330183"/>
                  <a:pt x="0" y="256208"/>
                  <a:pt x="0" y="165091"/>
                </a:cubicBezTo>
                <a:close/>
                <a:moveTo>
                  <a:pt x="165091" y="216682"/>
                </a:moveTo>
                <a:cubicBezTo>
                  <a:pt x="193565" y="216682"/>
                  <a:pt x="216682" y="193565"/>
                  <a:pt x="216682" y="165091"/>
                </a:cubicBezTo>
                <a:cubicBezTo>
                  <a:pt x="216682" y="136618"/>
                  <a:pt x="193565" y="113500"/>
                  <a:pt x="165091" y="113500"/>
                </a:cubicBezTo>
                <a:cubicBezTo>
                  <a:pt x="136618" y="113500"/>
                  <a:pt x="113500" y="136618"/>
                  <a:pt x="113500" y="165091"/>
                </a:cubicBezTo>
                <a:cubicBezTo>
                  <a:pt x="113500" y="193565"/>
                  <a:pt x="136618" y="216682"/>
                  <a:pt x="165091" y="216682"/>
                </a:cubicBezTo>
                <a:close/>
                <a:moveTo>
                  <a:pt x="165091" y="72227"/>
                </a:moveTo>
                <a:cubicBezTo>
                  <a:pt x="216344" y="72227"/>
                  <a:pt x="257955" y="113838"/>
                  <a:pt x="257955" y="165091"/>
                </a:cubicBezTo>
                <a:cubicBezTo>
                  <a:pt x="257955" y="216344"/>
                  <a:pt x="216344" y="257955"/>
                  <a:pt x="165091" y="257955"/>
                </a:cubicBezTo>
                <a:cubicBezTo>
                  <a:pt x="113838" y="257955"/>
                  <a:pt x="72227" y="216344"/>
                  <a:pt x="72227" y="165091"/>
                </a:cubicBezTo>
                <a:cubicBezTo>
                  <a:pt x="72227" y="113838"/>
                  <a:pt x="113838" y="72227"/>
                  <a:pt x="165091" y="72227"/>
                </a:cubicBezTo>
                <a:close/>
                <a:moveTo>
                  <a:pt x="144455" y="165091"/>
                </a:moveTo>
                <a:cubicBezTo>
                  <a:pt x="144455" y="153702"/>
                  <a:pt x="153702" y="144455"/>
                  <a:pt x="165091" y="144455"/>
                </a:cubicBezTo>
                <a:cubicBezTo>
                  <a:pt x="176481" y="144455"/>
                  <a:pt x="185728" y="153702"/>
                  <a:pt x="185728" y="165091"/>
                </a:cubicBezTo>
                <a:cubicBezTo>
                  <a:pt x="185728" y="176481"/>
                  <a:pt x="176481" y="185728"/>
                  <a:pt x="165091" y="185728"/>
                </a:cubicBezTo>
                <a:cubicBezTo>
                  <a:pt x="153702" y="185728"/>
                  <a:pt x="144455" y="176481"/>
                  <a:pt x="144455" y="165091"/>
                </a:cubicBezTo>
                <a:close/>
              </a:path>
            </a:pathLst>
          </a:custGeom>
          <a:solidFill>
            <a:srgbClr val="FFFFFF"/>
          </a:solidFill>
        </p:spPr>
      </p:sp>
      <p:sp>
        <p:nvSpPr>
          <p:cNvPr id="11" name="Text 9"/>
          <p:cNvSpPr/>
          <p:nvPr/>
        </p:nvSpPr>
        <p:spPr>
          <a:xfrm>
            <a:off x="1706245" y="2150110"/>
            <a:ext cx="7192010" cy="366395"/>
          </a:xfrm>
          <a:prstGeom prst="rect">
            <a:avLst/>
          </a:prstGeom>
          <a:noFill/>
        </p:spPr>
        <p:txBody>
          <a:bodyPr wrap="square" lIns="0" tIns="0" rIns="0" bIns="0" rtlCol="0" anchor="ctr"/>
          <a:lstStyle/>
          <a:p>
            <a:pPr>
              <a:lnSpc>
                <a:spcPct val="100000"/>
              </a:lnSpc>
            </a:pPr>
            <a:r>
              <a:rPr lang="en-US" sz="2600" b="1" dirty="0">
                <a:solidFill>
                  <a:srgbClr val="E0E2E6"/>
                </a:solidFill>
                <a:latin typeface="阿里妈妈数黑体" pitchFamily="34" charset="-122"/>
                <a:ea typeface="阿里妈妈数黑体" pitchFamily="34" charset="-122"/>
                <a:cs typeface="阿里妈妈数黑体" pitchFamily="34" charset="-120"/>
              </a:rPr>
              <a:t>与比赛核心要求高度契合</a:t>
            </a:r>
            <a:endParaRPr lang="en-US" sz="1600" dirty="0"/>
          </a:p>
        </p:txBody>
      </p:sp>
      <p:sp>
        <p:nvSpPr>
          <p:cNvPr id="12" name="Text 10"/>
          <p:cNvSpPr/>
          <p:nvPr/>
        </p:nvSpPr>
        <p:spPr>
          <a:xfrm>
            <a:off x="1706245" y="2679065"/>
            <a:ext cx="7131050" cy="894715"/>
          </a:xfrm>
          <a:prstGeom prst="rect">
            <a:avLst/>
          </a:prstGeom>
          <a:noFill/>
        </p:spPr>
        <p:txBody>
          <a:bodyPr wrap="square" lIns="0" tIns="0" rIns="0" bIns="0" rtlCol="0" anchor="ctr"/>
          <a:lstStyle/>
          <a:p>
            <a:pPr>
              <a:lnSpc>
                <a:spcPct val="140000"/>
              </a:lnSpc>
            </a:pPr>
            <a:r>
              <a:rPr lang="en-US" sz="1560" dirty="0">
                <a:solidFill>
                  <a:srgbClr val="E0E2E6">
                    <a:alpha val="80000"/>
                  </a:srgbClr>
                </a:solidFill>
                <a:latin typeface="MiSans" pitchFamily="34" charset="-122"/>
                <a:ea typeface="MiSans" pitchFamily="34" charset="-122"/>
                <a:cs typeface="MiSans" pitchFamily="34" charset="-120"/>
              </a:rPr>
              <a:t>本项目</a:t>
            </a:r>
            <a:r>
              <a:rPr lang="en-US" sz="1560" b="1" dirty="0">
                <a:solidFill>
                  <a:srgbClr val="3D8F8A"/>
                </a:solidFill>
                <a:latin typeface="MiSans" pitchFamily="34" charset="-122"/>
                <a:ea typeface="MiSans" pitchFamily="34" charset="-122"/>
                <a:cs typeface="MiSans" pitchFamily="34" charset="-120"/>
              </a:rPr>
              <a:t>切入"开源项目复现困难"</a:t>
            </a:r>
            <a:r>
              <a:rPr lang="en-US" sz="1560" dirty="0">
                <a:solidFill>
                  <a:srgbClr val="E0E2E6">
                    <a:alpha val="80000"/>
                  </a:srgbClr>
                </a:solidFill>
                <a:latin typeface="MiSans" pitchFamily="34" charset="-122"/>
                <a:ea typeface="MiSans" pitchFamily="34" charset="-122"/>
                <a:cs typeface="MiSans" pitchFamily="34" charset="-120"/>
              </a:rPr>
              <a:t>这一核心痛点,聚焦于Python生态中最常见的环境配置问题</a:t>
            </a:r>
            <a:r>
              <a:rPr lang="zh-CN" altLang="en-US" sz="1560" dirty="0">
                <a:solidFill>
                  <a:srgbClr val="E0E2E6">
                    <a:alpha val="80000"/>
                  </a:srgbClr>
                </a:solidFill>
                <a:latin typeface="MiSans" pitchFamily="34" charset="-122"/>
                <a:ea typeface="MiSans" pitchFamily="34" charset="-122"/>
                <a:cs typeface="MiSans" pitchFamily="34" charset="-120"/>
              </a:rPr>
              <a:t>，</a:t>
            </a:r>
            <a:r>
              <a:rPr lang="en-US" sz="1560" dirty="0">
                <a:solidFill>
                  <a:srgbClr val="E0E2E6">
                    <a:alpha val="80000"/>
                  </a:srgbClr>
                </a:solidFill>
                <a:latin typeface="MiSans" pitchFamily="34" charset="-122"/>
                <a:ea typeface="MiSans" pitchFamily="34" charset="-122"/>
                <a:cs typeface="MiSans" pitchFamily="34" charset="-120"/>
              </a:rPr>
              <a:t>直接面向开发者和开源社区的实际需求。</a:t>
            </a:r>
            <a:endParaRPr lang="en-US" sz="1600" dirty="0"/>
          </a:p>
        </p:txBody>
      </p:sp>
      <p:sp>
        <p:nvSpPr>
          <p:cNvPr id="22" name="Shape 20"/>
          <p:cNvSpPr/>
          <p:nvPr/>
        </p:nvSpPr>
        <p:spPr>
          <a:xfrm>
            <a:off x="536575" y="4356735"/>
            <a:ext cx="14381480" cy="3601085"/>
          </a:xfrm>
          <a:custGeom>
            <a:avLst/>
            <a:gdLst/>
            <a:ahLst/>
            <a:cxnLst/>
            <a:rect l="l" t="t" r="r" b="b"/>
            <a:pathLst>
              <a:path w="9047009" h="3896157">
                <a:moveTo>
                  <a:pt x="132080" y="0"/>
                </a:moveTo>
                <a:lnTo>
                  <a:pt x="8914929" y="0"/>
                </a:lnTo>
                <a:cubicBezTo>
                  <a:pt x="8987875" y="0"/>
                  <a:pt x="9047009" y="59134"/>
                  <a:pt x="9047009" y="132080"/>
                </a:cubicBezTo>
                <a:lnTo>
                  <a:pt x="9047009" y="3764077"/>
                </a:lnTo>
                <a:cubicBezTo>
                  <a:pt x="9047009" y="3837023"/>
                  <a:pt x="8987875" y="3896157"/>
                  <a:pt x="8914929" y="3896157"/>
                </a:cubicBezTo>
                <a:lnTo>
                  <a:pt x="132080" y="3896157"/>
                </a:lnTo>
                <a:cubicBezTo>
                  <a:pt x="59134" y="3896157"/>
                  <a:pt x="0" y="3837023"/>
                  <a:pt x="0" y="3764077"/>
                </a:cubicBezTo>
                <a:lnTo>
                  <a:pt x="0" y="132080"/>
                </a:lnTo>
                <a:cubicBezTo>
                  <a:pt x="0" y="59134"/>
                  <a:pt x="59134" y="0"/>
                  <a:pt x="132080" y="0"/>
                </a:cubicBezTo>
                <a:close/>
              </a:path>
            </a:pathLst>
          </a:custGeom>
          <a:gradFill flip="none" rotWithShape="1">
            <a:gsLst>
              <a:gs pos="0">
                <a:srgbClr val="E5A044">
                  <a:alpha val="15000"/>
                </a:srgbClr>
              </a:gs>
              <a:gs pos="100000">
                <a:srgbClr val="000000">
                  <a:alpha val="0"/>
                </a:srgbClr>
              </a:gs>
            </a:gsLst>
            <a:lin ang="2700000" scaled="1"/>
          </a:gradFill>
          <a:ln w="25400">
            <a:solidFill>
              <a:srgbClr val="E5A044">
                <a:alpha val="40000"/>
              </a:srgbClr>
            </a:solidFill>
            <a:prstDash val="solid"/>
          </a:ln>
        </p:spPr>
      </p:sp>
      <p:sp>
        <p:nvSpPr>
          <p:cNvPr id="23" name="Shape 21"/>
          <p:cNvSpPr/>
          <p:nvPr/>
        </p:nvSpPr>
        <p:spPr>
          <a:xfrm>
            <a:off x="973455" y="4955540"/>
            <a:ext cx="720000" cy="720000"/>
          </a:xfrm>
          <a:custGeom>
            <a:avLst/>
            <a:gdLst/>
            <a:ahLst/>
            <a:cxnLst/>
            <a:rect l="l" t="t" r="r" b="b"/>
            <a:pathLst>
              <a:path w="704390" h="704390">
                <a:moveTo>
                  <a:pt x="132073" y="0"/>
                </a:moveTo>
                <a:lnTo>
                  <a:pt x="572317" y="0"/>
                </a:lnTo>
                <a:cubicBezTo>
                  <a:pt x="645259" y="0"/>
                  <a:pt x="704390" y="59131"/>
                  <a:pt x="704390" y="132073"/>
                </a:cubicBezTo>
                <a:lnTo>
                  <a:pt x="704390" y="572317"/>
                </a:lnTo>
                <a:cubicBezTo>
                  <a:pt x="704390" y="645259"/>
                  <a:pt x="645259" y="704390"/>
                  <a:pt x="572317" y="704390"/>
                </a:cubicBezTo>
                <a:lnTo>
                  <a:pt x="132073" y="704390"/>
                </a:lnTo>
                <a:cubicBezTo>
                  <a:pt x="59131" y="704390"/>
                  <a:pt x="0" y="645259"/>
                  <a:pt x="0" y="572317"/>
                </a:cubicBezTo>
                <a:lnTo>
                  <a:pt x="0" y="132073"/>
                </a:lnTo>
                <a:cubicBezTo>
                  <a:pt x="0" y="59131"/>
                  <a:pt x="59131" y="0"/>
                  <a:pt x="132073" y="0"/>
                </a:cubicBezTo>
                <a:close/>
              </a:path>
            </a:pathLst>
          </a:custGeom>
          <a:solidFill>
            <a:srgbClr val="E5A044"/>
          </a:solidFill>
        </p:spPr>
      </p:sp>
      <p:sp>
        <p:nvSpPr>
          <p:cNvPr id="24" name="Shape 22"/>
          <p:cNvSpPr/>
          <p:nvPr/>
        </p:nvSpPr>
        <p:spPr>
          <a:xfrm>
            <a:off x="1067435" y="5179060"/>
            <a:ext cx="525145" cy="305435"/>
          </a:xfrm>
          <a:custGeom>
            <a:avLst/>
            <a:gdLst/>
            <a:ahLst/>
            <a:cxnLst/>
            <a:rect l="l" t="t" r="r" b="b"/>
            <a:pathLst>
              <a:path w="330183" h="330183">
                <a:moveTo>
                  <a:pt x="155418" y="56170"/>
                </a:moveTo>
                <a:lnTo>
                  <a:pt x="165091" y="69519"/>
                </a:lnTo>
                <a:lnTo>
                  <a:pt x="174765" y="56170"/>
                </a:lnTo>
                <a:cubicBezTo>
                  <a:pt x="190887" y="33857"/>
                  <a:pt x="216811" y="20636"/>
                  <a:pt x="244348" y="20636"/>
                </a:cubicBezTo>
                <a:cubicBezTo>
                  <a:pt x="291747" y="20636"/>
                  <a:pt x="330183" y="59072"/>
                  <a:pt x="330183" y="106471"/>
                </a:cubicBezTo>
                <a:lnTo>
                  <a:pt x="330183" y="108148"/>
                </a:lnTo>
                <a:cubicBezTo>
                  <a:pt x="330183" y="180504"/>
                  <a:pt x="239963" y="264533"/>
                  <a:pt x="192886" y="300453"/>
                </a:cubicBezTo>
                <a:cubicBezTo>
                  <a:pt x="184889" y="306515"/>
                  <a:pt x="175087" y="309546"/>
                  <a:pt x="165091" y="309546"/>
                </a:cubicBezTo>
                <a:cubicBezTo>
                  <a:pt x="155096" y="309546"/>
                  <a:pt x="145229" y="306580"/>
                  <a:pt x="137297" y="300453"/>
                </a:cubicBezTo>
                <a:cubicBezTo>
                  <a:pt x="90220" y="264533"/>
                  <a:pt x="0" y="180504"/>
                  <a:pt x="0" y="108148"/>
                </a:cubicBezTo>
                <a:lnTo>
                  <a:pt x="0" y="106471"/>
                </a:lnTo>
                <a:cubicBezTo>
                  <a:pt x="0" y="59072"/>
                  <a:pt x="38435" y="20636"/>
                  <a:pt x="85835" y="20636"/>
                </a:cubicBezTo>
                <a:cubicBezTo>
                  <a:pt x="113371" y="20636"/>
                  <a:pt x="139296" y="33857"/>
                  <a:pt x="155418" y="56170"/>
                </a:cubicBezTo>
                <a:close/>
              </a:path>
            </a:pathLst>
          </a:custGeom>
          <a:solidFill>
            <a:srgbClr val="FFFFFF"/>
          </a:solidFill>
        </p:spPr>
      </p:sp>
      <p:sp>
        <p:nvSpPr>
          <p:cNvPr id="25" name="Text 23"/>
          <p:cNvSpPr/>
          <p:nvPr/>
        </p:nvSpPr>
        <p:spPr>
          <a:xfrm>
            <a:off x="1967230" y="4934585"/>
            <a:ext cx="12369800" cy="366395"/>
          </a:xfrm>
          <a:prstGeom prst="rect">
            <a:avLst/>
          </a:prstGeom>
          <a:noFill/>
        </p:spPr>
        <p:txBody>
          <a:bodyPr wrap="square" lIns="0" tIns="0" rIns="0" bIns="0" rtlCol="0" anchor="ctr"/>
          <a:lstStyle/>
          <a:p>
            <a:pPr>
              <a:lnSpc>
                <a:spcPct val="100000"/>
              </a:lnSpc>
            </a:pPr>
            <a:r>
              <a:rPr lang="en-US" sz="2600" b="1" dirty="0">
                <a:solidFill>
                  <a:srgbClr val="E0E2E6"/>
                </a:solidFill>
                <a:latin typeface="阿里妈妈数黑体" pitchFamily="34" charset="-122"/>
                <a:ea typeface="阿里妈妈数黑体" pitchFamily="34" charset="-122"/>
                <a:cs typeface="阿里妈妈数黑体" pitchFamily="34" charset="-120"/>
              </a:rPr>
              <a:t>强烈的现实意义与社会价值</a:t>
            </a:r>
            <a:endParaRPr lang="en-US" sz="1600" dirty="0"/>
          </a:p>
        </p:txBody>
      </p:sp>
      <p:sp>
        <p:nvSpPr>
          <p:cNvPr id="26" name="Text 24"/>
          <p:cNvSpPr/>
          <p:nvPr/>
        </p:nvSpPr>
        <p:spPr>
          <a:xfrm>
            <a:off x="1967230" y="5463540"/>
            <a:ext cx="12265025" cy="894715"/>
          </a:xfrm>
          <a:prstGeom prst="rect">
            <a:avLst/>
          </a:prstGeom>
          <a:noFill/>
        </p:spPr>
        <p:txBody>
          <a:bodyPr wrap="square" lIns="0" tIns="0" rIns="0" bIns="0" rtlCol="0" anchor="ctr"/>
          <a:lstStyle/>
          <a:p>
            <a:pPr>
              <a:lnSpc>
                <a:spcPct val="140000"/>
              </a:lnSpc>
            </a:pPr>
            <a:r>
              <a:rPr lang="en-US" sz="1560" dirty="0">
                <a:solidFill>
                  <a:srgbClr val="E0E2E6">
                    <a:alpha val="80000"/>
                  </a:srgbClr>
                </a:solidFill>
                <a:latin typeface="MiSans" pitchFamily="34" charset="-122"/>
                <a:ea typeface="MiSans" pitchFamily="34" charset="-122"/>
                <a:cs typeface="MiSans" pitchFamily="34" charset="-120"/>
              </a:rPr>
              <a:t>项目不仅解决了开发者的实际困扰,更</a:t>
            </a:r>
            <a:r>
              <a:rPr lang="en-US" sz="1560" b="1" dirty="0">
                <a:solidFill>
                  <a:srgbClr val="E5A044"/>
                </a:solidFill>
                <a:latin typeface="MiSans" pitchFamily="34" charset="-122"/>
                <a:ea typeface="MiSans" pitchFamily="34" charset="-122"/>
                <a:cs typeface="MiSans" pitchFamily="34" charset="-120"/>
              </a:rPr>
              <a:t>推动了开源生态的健康发展</a:t>
            </a:r>
            <a:r>
              <a:rPr lang="en-US" sz="1560" dirty="0">
                <a:solidFill>
                  <a:srgbClr val="E0E2E6">
                    <a:alpha val="80000"/>
                  </a:srgbClr>
                </a:solidFill>
                <a:latin typeface="MiSans" pitchFamily="34" charset="-122"/>
                <a:ea typeface="MiSans" pitchFamily="34" charset="-122"/>
                <a:cs typeface="MiSans" pitchFamily="34" charset="-120"/>
              </a:rPr>
              <a:t>。通过提高开源项目的可复现性,增强了开源社区的协作效率,降低了技术门槛,对科研、教育、工程等领域都具有积极的社会价值。</a:t>
            </a:r>
            <a:endParaRPr lang="en-US" sz="1600" dirty="0"/>
          </a:p>
        </p:txBody>
      </p:sp>
      <p:sp>
        <p:nvSpPr>
          <p:cNvPr id="27" name="Shape 25"/>
          <p:cNvSpPr/>
          <p:nvPr/>
        </p:nvSpPr>
        <p:spPr>
          <a:xfrm>
            <a:off x="1781175" y="6520815"/>
            <a:ext cx="3901440" cy="814070"/>
          </a:xfrm>
          <a:custGeom>
            <a:avLst/>
            <a:gdLst/>
            <a:ahLst/>
            <a:cxnLst/>
            <a:rect l="l" t="t" r="r" b="b"/>
            <a:pathLst>
              <a:path w="2454359" h="880487">
                <a:moveTo>
                  <a:pt x="88049" y="0"/>
                </a:moveTo>
                <a:lnTo>
                  <a:pt x="2366310" y="0"/>
                </a:lnTo>
                <a:cubicBezTo>
                  <a:pt x="2414938" y="0"/>
                  <a:pt x="2454359" y="39421"/>
                  <a:pt x="2454359" y="88049"/>
                </a:cubicBezTo>
                <a:lnTo>
                  <a:pt x="2454359" y="792439"/>
                </a:lnTo>
                <a:cubicBezTo>
                  <a:pt x="2454359" y="841067"/>
                  <a:pt x="2414938" y="880487"/>
                  <a:pt x="2366310" y="880487"/>
                </a:cubicBezTo>
                <a:lnTo>
                  <a:pt x="88049" y="880487"/>
                </a:lnTo>
                <a:cubicBezTo>
                  <a:pt x="39453" y="880487"/>
                  <a:pt x="0" y="841034"/>
                  <a:pt x="0" y="792439"/>
                </a:cubicBezTo>
                <a:lnTo>
                  <a:pt x="0" y="88049"/>
                </a:lnTo>
                <a:cubicBezTo>
                  <a:pt x="0" y="39453"/>
                  <a:pt x="39453" y="0"/>
                  <a:pt x="88049" y="0"/>
                </a:cubicBezTo>
                <a:close/>
              </a:path>
            </a:pathLst>
          </a:custGeom>
          <a:solidFill>
            <a:srgbClr val="E5A044">
              <a:alpha val="10196"/>
            </a:srgbClr>
          </a:solidFill>
        </p:spPr>
      </p:sp>
      <p:sp>
        <p:nvSpPr>
          <p:cNvPr id="28" name="Text 26"/>
          <p:cNvSpPr/>
          <p:nvPr/>
        </p:nvSpPr>
        <p:spPr>
          <a:xfrm>
            <a:off x="1885950" y="6642735"/>
            <a:ext cx="3691255" cy="325755"/>
          </a:xfrm>
          <a:prstGeom prst="rect">
            <a:avLst/>
          </a:prstGeom>
          <a:noFill/>
        </p:spPr>
        <p:txBody>
          <a:bodyPr wrap="square" lIns="0" tIns="0" rIns="0" bIns="0" rtlCol="0" anchor="ctr"/>
          <a:lstStyle/>
          <a:p>
            <a:pPr algn="ctr">
              <a:lnSpc>
                <a:spcPct val="110000"/>
              </a:lnSpc>
            </a:pPr>
            <a:r>
              <a:rPr lang="en-US" sz="2080" b="1" dirty="0">
                <a:solidFill>
                  <a:srgbClr val="E5A044"/>
                </a:solidFill>
                <a:latin typeface="MiSans" pitchFamily="34" charset="-122"/>
                <a:ea typeface="MiSans" pitchFamily="34" charset="-122"/>
                <a:cs typeface="MiSans" pitchFamily="34" charset="-120"/>
              </a:rPr>
              <a:t>科研</a:t>
            </a:r>
            <a:endParaRPr lang="en-US" sz="1600" dirty="0"/>
          </a:p>
        </p:txBody>
      </p:sp>
      <p:sp>
        <p:nvSpPr>
          <p:cNvPr id="29" name="Text 27"/>
          <p:cNvSpPr/>
          <p:nvPr/>
        </p:nvSpPr>
        <p:spPr>
          <a:xfrm>
            <a:off x="1929765" y="7009130"/>
            <a:ext cx="3604260" cy="203835"/>
          </a:xfrm>
          <a:prstGeom prst="rect">
            <a:avLst/>
          </a:prstGeom>
          <a:noFill/>
        </p:spPr>
        <p:txBody>
          <a:bodyPr wrap="square" lIns="0" tIns="0" rIns="0" bIns="0" rtlCol="0" anchor="ctr"/>
          <a:lstStyle/>
          <a:p>
            <a:pPr algn="ctr">
              <a:lnSpc>
                <a:spcPct val="120000"/>
              </a:lnSpc>
            </a:pPr>
            <a:r>
              <a:rPr lang="en-US" sz="1215" dirty="0">
                <a:solidFill>
                  <a:srgbClr val="E0E2E6">
                    <a:alpha val="70000"/>
                  </a:srgbClr>
                </a:solidFill>
                <a:latin typeface="MiSans" pitchFamily="34" charset="-122"/>
                <a:ea typeface="MiSans" pitchFamily="34" charset="-122"/>
                <a:cs typeface="MiSans" pitchFamily="34" charset="-120"/>
              </a:rPr>
              <a:t>可复现性提升</a:t>
            </a:r>
            <a:endParaRPr lang="en-US" sz="1600" dirty="0"/>
          </a:p>
        </p:txBody>
      </p:sp>
      <p:sp>
        <p:nvSpPr>
          <p:cNvPr id="30" name="Shape 28"/>
          <p:cNvSpPr/>
          <p:nvPr/>
        </p:nvSpPr>
        <p:spPr>
          <a:xfrm>
            <a:off x="5886450" y="6520815"/>
            <a:ext cx="3901440" cy="814070"/>
          </a:xfrm>
          <a:custGeom>
            <a:avLst/>
            <a:gdLst/>
            <a:ahLst/>
            <a:cxnLst/>
            <a:rect l="l" t="t" r="r" b="b"/>
            <a:pathLst>
              <a:path w="2454359" h="880487">
                <a:moveTo>
                  <a:pt x="88049" y="0"/>
                </a:moveTo>
                <a:lnTo>
                  <a:pt x="2366310" y="0"/>
                </a:lnTo>
                <a:cubicBezTo>
                  <a:pt x="2414938" y="0"/>
                  <a:pt x="2454359" y="39421"/>
                  <a:pt x="2454359" y="88049"/>
                </a:cubicBezTo>
                <a:lnTo>
                  <a:pt x="2454359" y="792439"/>
                </a:lnTo>
                <a:cubicBezTo>
                  <a:pt x="2454359" y="841067"/>
                  <a:pt x="2414938" y="880487"/>
                  <a:pt x="2366310" y="880487"/>
                </a:cubicBezTo>
                <a:lnTo>
                  <a:pt x="88049" y="880487"/>
                </a:lnTo>
                <a:cubicBezTo>
                  <a:pt x="39453" y="880487"/>
                  <a:pt x="0" y="841034"/>
                  <a:pt x="0" y="792439"/>
                </a:cubicBezTo>
                <a:lnTo>
                  <a:pt x="0" y="88049"/>
                </a:lnTo>
                <a:cubicBezTo>
                  <a:pt x="0" y="39453"/>
                  <a:pt x="39453" y="0"/>
                  <a:pt x="88049" y="0"/>
                </a:cubicBezTo>
                <a:close/>
              </a:path>
            </a:pathLst>
          </a:custGeom>
          <a:solidFill>
            <a:srgbClr val="E5A044">
              <a:alpha val="10196"/>
            </a:srgbClr>
          </a:solidFill>
        </p:spPr>
      </p:sp>
      <p:sp>
        <p:nvSpPr>
          <p:cNvPr id="31" name="Text 29"/>
          <p:cNvSpPr/>
          <p:nvPr/>
        </p:nvSpPr>
        <p:spPr>
          <a:xfrm>
            <a:off x="5991225" y="6642735"/>
            <a:ext cx="3691255" cy="325755"/>
          </a:xfrm>
          <a:prstGeom prst="rect">
            <a:avLst/>
          </a:prstGeom>
          <a:noFill/>
        </p:spPr>
        <p:txBody>
          <a:bodyPr wrap="square" lIns="0" tIns="0" rIns="0" bIns="0" rtlCol="0" anchor="ctr"/>
          <a:lstStyle/>
          <a:p>
            <a:pPr algn="ctr">
              <a:lnSpc>
                <a:spcPct val="110000"/>
              </a:lnSpc>
            </a:pPr>
            <a:r>
              <a:rPr lang="en-US" sz="2080" b="1" dirty="0">
                <a:solidFill>
                  <a:srgbClr val="E5A044"/>
                </a:solidFill>
                <a:latin typeface="MiSans" pitchFamily="34" charset="-122"/>
                <a:ea typeface="MiSans" pitchFamily="34" charset="-122"/>
                <a:cs typeface="MiSans" pitchFamily="34" charset="-120"/>
              </a:rPr>
              <a:t>教育</a:t>
            </a:r>
            <a:endParaRPr lang="en-US" sz="1600" dirty="0"/>
          </a:p>
        </p:txBody>
      </p:sp>
      <p:sp>
        <p:nvSpPr>
          <p:cNvPr id="32" name="Text 30"/>
          <p:cNvSpPr/>
          <p:nvPr/>
        </p:nvSpPr>
        <p:spPr>
          <a:xfrm>
            <a:off x="6035040" y="7009130"/>
            <a:ext cx="3604260" cy="203835"/>
          </a:xfrm>
          <a:prstGeom prst="rect">
            <a:avLst/>
          </a:prstGeom>
          <a:noFill/>
        </p:spPr>
        <p:txBody>
          <a:bodyPr wrap="square" lIns="0" tIns="0" rIns="0" bIns="0" rtlCol="0" anchor="ctr"/>
          <a:lstStyle/>
          <a:p>
            <a:pPr algn="ctr">
              <a:lnSpc>
                <a:spcPct val="120000"/>
              </a:lnSpc>
            </a:pPr>
            <a:r>
              <a:rPr lang="en-US" sz="1215" dirty="0">
                <a:solidFill>
                  <a:srgbClr val="E0E2E6">
                    <a:alpha val="70000"/>
                  </a:srgbClr>
                </a:solidFill>
                <a:latin typeface="MiSans" pitchFamily="34" charset="-122"/>
                <a:ea typeface="MiSans" pitchFamily="34" charset="-122"/>
                <a:cs typeface="MiSans" pitchFamily="34" charset="-120"/>
              </a:rPr>
              <a:t>学习门槛降低</a:t>
            </a:r>
            <a:endParaRPr lang="en-US" sz="1600" dirty="0"/>
          </a:p>
        </p:txBody>
      </p:sp>
      <p:sp>
        <p:nvSpPr>
          <p:cNvPr id="33" name="Shape 31"/>
          <p:cNvSpPr/>
          <p:nvPr/>
        </p:nvSpPr>
        <p:spPr>
          <a:xfrm>
            <a:off x="9991725" y="6520815"/>
            <a:ext cx="3901440" cy="814070"/>
          </a:xfrm>
          <a:custGeom>
            <a:avLst/>
            <a:gdLst/>
            <a:ahLst/>
            <a:cxnLst/>
            <a:rect l="l" t="t" r="r" b="b"/>
            <a:pathLst>
              <a:path w="2454359" h="880487">
                <a:moveTo>
                  <a:pt x="88049" y="0"/>
                </a:moveTo>
                <a:lnTo>
                  <a:pt x="2366310" y="0"/>
                </a:lnTo>
                <a:cubicBezTo>
                  <a:pt x="2414938" y="0"/>
                  <a:pt x="2454359" y="39421"/>
                  <a:pt x="2454359" y="88049"/>
                </a:cubicBezTo>
                <a:lnTo>
                  <a:pt x="2454359" y="792439"/>
                </a:lnTo>
                <a:cubicBezTo>
                  <a:pt x="2454359" y="841067"/>
                  <a:pt x="2414938" y="880487"/>
                  <a:pt x="2366310" y="880487"/>
                </a:cubicBezTo>
                <a:lnTo>
                  <a:pt x="88049" y="880487"/>
                </a:lnTo>
                <a:cubicBezTo>
                  <a:pt x="39453" y="880487"/>
                  <a:pt x="0" y="841034"/>
                  <a:pt x="0" y="792439"/>
                </a:cubicBezTo>
                <a:lnTo>
                  <a:pt x="0" y="88049"/>
                </a:lnTo>
                <a:cubicBezTo>
                  <a:pt x="0" y="39453"/>
                  <a:pt x="39453" y="0"/>
                  <a:pt x="88049" y="0"/>
                </a:cubicBezTo>
                <a:close/>
              </a:path>
            </a:pathLst>
          </a:custGeom>
          <a:solidFill>
            <a:srgbClr val="E5A044">
              <a:alpha val="10196"/>
            </a:srgbClr>
          </a:solidFill>
        </p:spPr>
      </p:sp>
      <p:sp>
        <p:nvSpPr>
          <p:cNvPr id="34" name="Text 32"/>
          <p:cNvSpPr/>
          <p:nvPr/>
        </p:nvSpPr>
        <p:spPr>
          <a:xfrm>
            <a:off x="10096500" y="6642735"/>
            <a:ext cx="3691255" cy="325755"/>
          </a:xfrm>
          <a:prstGeom prst="rect">
            <a:avLst/>
          </a:prstGeom>
          <a:noFill/>
        </p:spPr>
        <p:txBody>
          <a:bodyPr wrap="square" lIns="0" tIns="0" rIns="0" bIns="0" rtlCol="0" anchor="ctr"/>
          <a:lstStyle/>
          <a:p>
            <a:pPr algn="ctr">
              <a:lnSpc>
                <a:spcPct val="110000"/>
              </a:lnSpc>
            </a:pPr>
            <a:r>
              <a:rPr lang="en-US" sz="2080" b="1" dirty="0">
                <a:solidFill>
                  <a:srgbClr val="E5A044"/>
                </a:solidFill>
                <a:latin typeface="MiSans" pitchFamily="34" charset="-122"/>
                <a:ea typeface="MiSans" pitchFamily="34" charset="-122"/>
                <a:cs typeface="MiSans" pitchFamily="34" charset="-120"/>
              </a:rPr>
              <a:t>工程</a:t>
            </a:r>
            <a:endParaRPr lang="en-US" sz="1600" dirty="0"/>
          </a:p>
        </p:txBody>
      </p:sp>
      <p:sp>
        <p:nvSpPr>
          <p:cNvPr id="35" name="Text 33"/>
          <p:cNvSpPr/>
          <p:nvPr/>
        </p:nvSpPr>
        <p:spPr>
          <a:xfrm>
            <a:off x="10140315" y="7009130"/>
            <a:ext cx="3604260" cy="203835"/>
          </a:xfrm>
          <a:prstGeom prst="rect">
            <a:avLst/>
          </a:prstGeom>
          <a:noFill/>
        </p:spPr>
        <p:txBody>
          <a:bodyPr wrap="square" lIns="0" tIns="0" rIns="0" bIns="0" rtlCol="0" anchor="ctr"/>
          <a:lstStyle/>
          <a:p>
            <a:pPr algn="ctr">
              <a:lnSpc>
                <a:spcPct val="120000"/>
              </a:lnSpc>
            </a:pPr>
            <a:r>
              <a:rPr lang="en-US" sz="1215" dirty="0">
                <a:solidFill>
                  <a:srgbClr val="E0E2E6">
                    <a:alpha val="70000"/>
                  </a:srgbClr>
                </a:solidFill>
                <a:latin typeface="MiSans" pitchFamily="34" charset="-122"/>
                <a:ea typeface="MiSans" pitchFamily="34" charset="-122"/>
                <a:cs typeface="MiSans" pitchFamily="34" charset="-120"/>
              </a:rPr>
              <a:t>开发效率提升</a:t>
            </a:r>
            <a:endParaRPr lang="en-US" sz="1600" dirty="0"/>
          </a:p>
        </p:txBody>
      </p:sp>
      <p:grpSp>
        <p:nvGrpSpPr>
          <p:cNvPr id="5" name="组合 4"/>
          <p:cNvGrpSpPr/>
          <p:nvPr/>
        </p:nvGrpSpPr>
        <p:grpSpPr>
          <a:xfrm>
            <a:off x="9336405" y="1586865"/>
            <a:ext cx="5581650" cy="2284730"/>
            <a:chOff x="14578" y="10471"/>
            <a:chExt cx="8790" cy="3598"/>
          </a:xfrm>
        </p:grpSpPr>
        <p:sp>
          <p:nvSpPr>
            <p:cNvPr id="54" name="Shape 52"/>
            <p:cNvSpPr/>
            <p:nvPr/>
          </p:nvSpPr>
          <p:spPr>
            <a:xfrm>
              <a:off x="14578" y="10471"/>
              <a:ext cx="8790" cy="3599"/>
            </a:xfrm>
            <a:custGeom>
              <a:avLst/>
              <a:gdLst/>
              <a:ahLst/>
              <a:cxnLst/>
              <a:rect l="l" t="t" r="r" b="b"/>
              <a:pathLst>
                <a:path w="6038677" h="2472702">
                  <a:moveTo>
                    <a:pt x="132067" y="0"/>
                  </a:moveTo>
                  <a:lnTo>
                    <a:pt x="5906610" y="0"/>
                  </a:lnTo>
                  <a:cubicBezTo>
                    <a:pt x="5979548" y="0"/>
                    <a:pt x="6038677" y="59128"/>
                    <a:pt x="6038677" y="132067"/>
                  </a:cubicBezTo>
                  <a:lnTo>
                    <a:pt x="6038677" y="2340635"/>
                  </a:lnTo>
                  <a:cubicBezTo>
                    <a:pt x="6038677" y="2413574"/>
                    <a:pt x="5979548" y="2472702"/>
                    <a:pt x="5906610" y="2472702"/>
                  </a:cubicBezTo>
                  <a:lnTo>
                    <a:pt x="132067" y="2472702"/>
                  </a:lnTo>
                  <a:cubicBezTo>
                    <a:pt x="59128" y="2472702"/>
                    <a:pt x="0" y="2413574"/>
                    <a:pt x="0" y="2340635"/>
                  </a:cubicBezTo>
                  <a:lnTo>
                    <a:pt x="0" y="132067"/>
                  </a:lnTo>
                  <a:cubicBezTo>
                    <a:pt x="0" y="59128"/>
                    <a:pt x="59128" y="0"/>
                    <a:pt x="132067" y="0"/>
                  </a:cubicBezTo>
                  <a:close/>
                </a:path>
              </a:pathLst>
            </a:custGeom>
            <a:solidFill>
              <a:srgbClr val="E5A044">
                <a:alpha val="10196"/>
              </a:srgbClr>
            </a:solidFill>
            <a:ln w="8467">
              <a:solidFill>
                <a:srgbClr val="E5A044">
                  <a:alpha val="30196"/>
                </a:srgbClr>
              </a:solidFill>
              <a:prstDash val="solid"/>
            </a:ln>
          </p:spPr>
        </p:sp>
        <p:sp>
          <p:nvSpPr>
            <p:cNvPr id="55" name="Shape 53"/>
            <p:cNvSpPr/>
            <p:nvPr/>
          </p:nvSpPr>
          <p:spPr>
            <a:xfrm>
              <a:off x="14968" y="10924"/>
              <a:ext cx="400" cy="321"/>
            </a:xfrm>
            <a:custGeom>
              <a:avLst/>
              <a:gdLst/>
              <a:ahLst/>
              <a:cxnLst/>
              <a:rect l="l" t="t" r="r" b="b"/>
              <a:pathLst>
                <a:path w="275152" h="220122">
                  <a:moveTo>
                    <a:pt x="137576" y="6879"/>
                  </a:moveTo>
                  <a:cubicBezTo>
                    <a:pt x="162254" y="6879"/>
                    <a:pt x="182288" y="26914"/>
                    <a:pt x="182288" y="51591"/>
                  </a:cubicBezTo>
                  <a:cubicBezTo>
                    <a:pt x="182288" y="76268"/>
                    <a:pt x="162254" y="96303"/>
                    <a:pt x="137576" y="96303"/>
                  </a:cubicBezTo>
                  <a:cubicBezTo>
                    <a:pt x="112899" y="96303"/>
                    <a:pt x="92864" y="76268"/>
                    <a:pt x="92864" y="51591"/>
                  </a:cubicBezTo>
                  <a:cubicBezTo>
                    <a:pt x="92864" y="26914"/>
                    <a:pt x="112899" y="6879"/>
                    <a:pt x="137576" y="6879"/>
                  </a:cubicBezTo>
                  <a:close/>
                  <a:moveTo>
                    <a:pt x="41273" y="37833"/>
                  </a:moveTo>
                  <a:cubicBezTo>
                    <a:pt x="58357" y="37833"/>
                    <a:pt x="72227" y="51704"/>
                    <a:pt x="72227" y="68788"/>
                  </a:cubicBezTo>
                  <a:cubicBezTo>
                    <a:pt x="72227" y="85872"/>
                    <a:pt x="58357" y="99743"/>
                    <a:pt x="41273" y="99743"/>
                  </a:cubicBezTo>
                  <a:cubicBezTo>
                    <a:pt x="24189" y="99743"/>
                    <a:pt x="10318" y="85872"/>
                    <a:pt x="10318" y="68788"/>
                  </a:cubicBezTo>
                  <a:cubicBezTo>
                    <a:pt x="10318" y="51704"/>
                    <a:pt x="24189" y="37833"/>
                    <a:pt x="41273" y="37833"/>
                  </a:cubicBezTo>
                  <a:close/>
                  <a:moveTo>
                    <a:pt x="0" y="178849"/>
                  </a:moveTo>
                  <a:cubicBezTo>
                    <a:pt x="0" y="148453"/>
                    <a:pt x="24635" y="123819"/>
                    <a:pt x="55030" y="123819"/>
                  </a:cubicBezTo>
                  <a:cubicBezTo>
                    <a:pt x="60534" y="123819"/>
                    <a:pt x="65865" y="124635"/>
                    <a:pt x="70895" y="126140"/>
                  </a:cubicBezTo>
                  <a:cubicBezTo>
                    <a:pt x="56750" y="141961"/>
                    <a:pt x="48152" y="162856"/>
                    <a:pt x="48152" y="185728"/>
                  </a:cubicBezTo>
                  <a:lnTo>
                    <a:pt x="48152" y="192607"/>
                  </a:lnTo>
                  <a:cubicBezTo>
                    <a:pt x="48152" y="197508"/>
                    <a:pt x="49183" y="202151"/>
                    <a:pt x="51032" y="206364"/>
                  </a:cubicBezTo>
                  <a:lnTo>
                    <a:pt x="13758" y="206364"/>
                  </a:lnTo>
                  <a:cubicBezTo>
                    <a:pt x="6148" y="206364"/>
                    <a:pt x="0" y="200216"/>
                    <a:pt x="0" y="192607"/>
                  </a:cubicBezTo>
                  <a:lnTo>
                    <a:pt x="0" y="178849"/>
                  </a:lnTo>
                  <a:close/>
                  <a:moveTo>
                    <a:pt x="224120" y="206364"/>
                  </a:moveTo>
                  <a:cubicBezTo>
                    <a:pt x="225969" y="202151"/>
                    <a:pt x="227001" y="197508"/>
                    <a:pt x="227001" y="192607"/>
                  </a:cubicBezTo>
                  <a:lnTo>
                    <a:pt x="227001" y="185728"/>
                  </a:lnTo>
                  <a:cubicBezTo>
                    <a:pt x="227001" y="162856"/>
                    <a:pt x="218402" y="141961"/>
                    <a:pt x="204258" y="126140"/>
                  </a:cubicBezTo>
                  <a:cubicBezTo>
                    <a:pt x="209288" y="124635"/>
                    <a:pt x="214619" y="123819"/>
                    <a:pt x="220122" y="123819"/>
                  </a:cubicBezTo>
                  <a:cubicBezTo>
                    <a:pt x="250518" y="123819"/>
                    <a:pt x="275152" y="148453"/>
                    <a:pt x="275152" y="178849"/>
                  </a:cubicBezTo>
                  <a:lnTo>
                    <a:pt x="275152" y="192607"/>
                  </a:lnTo>
                  <a:cubicBezTo>
                    <a:pt x="275152" y="200216"/>
                    <a:pt x="269004" y="206364"/>
                    <a:pt x="261395" y="206364"/>
                  </a:cubicBezTo>
                  <a:lnTo>
                    <a:pt x="224120" y="206364"/>
                  </a:lnTo>
                  <a:close/>
                  <a:moveTo>
                    <a:pt x="202925" y="68788"/>
                  </a:moveTo>
                  <a:cubicBezTo>
                    <a:pt x="202925" y="51704"/>
                    <a:pt x="216795" y="37833"/>
                    <a:pt x="233879" y="37833"/>
                  </a:cubicBezTo>
                  <a:cubicBezTo>
                    <a:pt x="250964" y="37833"/>
                    <a:pt x="264834" y="51704"/>
                    <a:pt x="264834" y="68788"/>
                  </a:cubicBezTo>
                  <a:cubicBezTo>
                    <a:pt x="264834" y="85872"/>
                    <a:pt x="250964" y="99743"/>
                    <a:pt x="233879" y="99743"/>
                  </a:cubicBezTo>
                  <a:cubicBezTo>
                    <a:pt x="216795" y="99743"/>
                    <a:pt x="202925" y="85872"/>
                    <a:pt x="202925" y="68788"/>
                  </a:cubicBezTo>
                  <a:close/>
                  <a:moveTo>
                    <a:pt x="68788" y="185728"/>
                  </a:moveTo>
                  <a:cubicBezTo>
                    <a:pt x="68788" y="147722"/>
                    <a:pt x="99571" y="116940"/>
                    <a:pt x="137576" y="116940"/>
                  </a:cubicBezTo>
                  <a:cubicBezTo>
                    <a:pt x="175582" y="116940"/>
                    <a:pt x="206364" y="147722"/>
                    <a:pt x="206364" y="185728"/>
                  </a:cubicBezTo>
                  <a:lnTo>
                    <a:pt x="206364" y="192607"/>
                  </a:lnTo>
                  <a:cubicBezTo>
                    <a:pt x="206364" y="200216"/>
                    <a:pt x="200216" y="206364"/>
                    <a:pt x="192607" y="206364"/>
                  </a:cubicBezTo>
                  <a:lnTo>
                    <a:pt x="82546" y="206364"/>
                  </a:lnTo>
                  <a:cubicBezTo>
                    <a:pt x="74936" y="206364"/>
                    <a:pt x="68788" y="200216"/>
                    <a:pt x="68788" y="192607"/>
                  </a:cubicBezTo>
                  <a:lnTo>
                    <a:pt x="68788" y="185728"/>
                  </a:lnTo>
                  <a:close/>
                </a:path>
              </a:pathLst>
            </a:custGeom>
            <a:solidFill>
              <a:srgbClr val="E5A044"/>
            </a:solidFill>
          </p:spPr>
        </p:sp>
        <p:sp>
          <p:nvSpPr>
            <p:cNvPr id="56" name="Text 54"/>
            <p:cNvSpPr/>
            <p:nvPr/>
          </p:nvSpPr>
          <p:spPr>
            <a:xfrm>
              <a:off x="15368" y="10860"/>
              <a:ext cx="7769" cy="448"/>
            </a:xfrm>
            <a:prstGeom prst="rect">
              <a:avLst/>
            </a:prstGeom>
            <a:noFill/>
          </p:spPr>
          <p:txBody>
            <a:bodyPr wrap="square" lIns="0" tIns="0" rIns="0" bIns="0" rtlCol="0" anchor="ctr"/>
            <a:lstStyle/>
            <a:p>
              <a:pPr>
                <a:lnSpc>
                  <a:spcPct val="120000"/>
                </a:lnSpc>
              </a:pPr>
              <a:r>
                <a:rPr lang="en-US" sz="1735" b="1" dirty="0">
                  <a:solidFill>
                    <a:srgbClr val="E0E2E6"/>
                  </a:solidFill>
                  <a:latin typeface="阿里妈妈数黑体" pitchFamily="34" charset="-122"/>
                  <a:ea typeface="阿里妈妈数黑体" pitchFamily="34" charset="-122"/>
                  <a:cs typeface="阿里妈妈数黑体" pitchFamily="34" charset="-120"/>
                </a:rPr>
                <a:t>目标用户群体</a:t>
              </a:r>
              <a:endParaRPr lang="en-US" sz="1600" dirty="0"/>
            </a:p>
          </p:txBody>
        </p:sp>
        <p:sp>
          <p:nvSpPr>
            <p:cNvPr id="57" name="Shape 55"/>
            <p:cNvSpPr/>
            <p:nvPr/>
          </p:nvSpPr>
          <p:spPr>
            <a:xfrm>
              <a:off x="14968" y="11693"/>
              <a:ext cx="128" cy="128"/>
            </a:xfrm>
            <a:custGeom>
              <a:avLst/>
              <a:gdLst/>
              <a:ahLst/>
              <a:cxnLst/>
              <a:rect l="l" t="t" r="r" b="b"/>
              <a:pathLst>
                <a:path w="88049" h="88049">
                  <a:moveTo>
                    <a:pt x="44024" y="0"/>
                  </a:moveTo>
                  <a:lnTo>
                    <a:pt x="44024" y="0"/>
                  </a:lnTo>
                  <a:cubicBezTo>
                    <a:pt x="68322" y="0"/>
                    <a:pt x="88049" y="19727"/>
                    <a:pt x="88049" y="44024"/>
                  </a:cubicBezTo>
                  <a:lnTo>
                    <a:pt x="88049" y="44024"/>
                  </a:lnTo>
                  <a:cubicBezTo>
                    <a:pt x="88049" y="68322"/>
                    <a:pt x="68322" y="88049"/>
                    <a:pt x="44024" y="88049"/>
                  </a:cubicBezTo>
                  <a:lnTo>
                    <a:pt x="44024" y="88049"/>
                  </a:lnTo>
                  <a:cubicBezTo>
                    <a:pt x="19727" y="88049"/>
                    <a:pt x="0" y="68322"/>
                    <a:pt x="0" y="44024"/>
                  </a:cubicBezTo>
                  <a:lnTo>
                    <a:pt x="0" y="44024"/>
                  </a:lnTo>
                  <a:cubicBezTo>
                    <a:pt x="0" y="19727"/>
                    <a:pt x="19727" y="0"/>
                    <a:pt x="44024" y="0"/>
                  </a:cubicBezTo>
                  <a:close/>
                </a:path>
              </a:pathLst>
            </a:custGeom>
            <a:solidFill>
              <a:srgbClr val="3D8F8A"/>
            </a:solidFill>
          </p:spPr>
        </p:sp>
        <p:sp>
          <p:nvSpPr>
            <p:cNvPr id="58" name="Text 56"/>
            <p:cNvSpPr/>
            <p:nvPr/>
          </p:nvSpPr>
          <p:spPr>
            <a:xfrm>
              <a:off x="15288" y="11565"/>
              <a:ext cx="4007" cy="384"/>
            </a:xfrm>
            <a:prstGeom prst="rect">
              <a:avLst/>
            </a:prstGeom>
            <a:noFill/>
          </p:spPr>
          <p:txBody>
            <a:bodyPr wrap="square" lIns="0" tIns="0" rIns="0" bIns="0" rtlCol="0" anchor="ctr"/>
            <a:lstStyle/>
            <a:p>
              <a:pPr>
                <a:lnSpc>
                  <a:spcPct val="130000"/>
                </a:lnSpc>
              </a:pPr>
              <a:r>
                <a:rPr lang="en-US" sz="1385" b="1" dirty="0">
                  <a:solidFill>
                    <a:srgbClr val="E0E2E6"/>
                  </a:solidFill>
                  <a:latin typeface="MiSans" pitchFamily="34" charset="-122"/>
                  <a:ea typeface="MiSans" pitchFamily="34" charset="-122"/>
                  <a:cs typeface="MiSans" pitchFamily="34" charset="-120"/>
                </a:rPr>
                <a:t>开源项目维护者</a:t>
              </a:r>
              <a:r>
                <a:rPr lang="en-US" sz="1385" dirty="0">
                  <a:solidFill>
                    <a:srgbClr val="E0E2E6">
                      <a:alpha val="80000"/>
                    </a:srgbClr>
                  </a:solidFill>
                  <a:latin typeface="MiSans" pitchFamily="34" charset="-122"/>
                  <a:ea typeface="MiSans" pitchFamily="34" charset="-122"/>
                  <a:cs typeface="MiSans" pitchFamily="34" charset="-120"/>
                </a:rPr>
                <a:t> </a:t>
              </a:r>
              <a:endParaRPr lang="en-US" sz="1600" dirty="0"/>
            </a:p>
          </p:txBody>
        </p:sp>
        <p:sp>
          <p:nvSpPr>
            <p:cNvPr id="59" name="Shape 57"/>
            <p:cNvSpPr/>
            <p:nvPr/>
          </p:nvSpPr>
          <p:spPr>
            <a:xfrm>
              <a:off x="14968" y="12270"/>
              <a:ext cx="128" cy="128"/>
            </a:xfrm>
            <a:custGeom>
              <a:avLst/>
              <a:gdLst/>
              <a:ahLst/>
              <a:cxnLst/>
              <a:rect l="l" t="t" r="r" b="b"/>
              <a:pathLst>
                <a:path w="88049" h="88049">
                  <a:moveTo>
                    <a:pt x="44024" y="0"/>
                  </a:moveTo>
                  <a:lnTo>
                    <a:pt x="44024" y="0"/>
                  </a:lnTo>
                  <a:cubicBezTo>
                    <a:pt x="68322" y="0"/>
                    <a:pt x="88049" y="19727"/>
                    <a:pt x="88049" y="44024"/>
                  </a:cubicBezTo>
                  <a:lnTo>
                    <a:pt x="88049" y="44024"/>
                  </a:lnTo>
                  <a:cubicBezTo>
                    <a:pt x="88049" y="68322"/>
                    <a:pt x="68322" y="88049"/>
                    <a:pt x="44024" y="88049"/>
                  </a:cubicBezTo>
                  <a:lnTo>
                    <a:pt x="44024" y="88049"/>
                  </a:lnTo>
                  <a:cubicBezTo>
                    <a:pt x="19727" y="88049"/>
                    <a:pt x="0" y="68322"/>
                    <a:pt x="0" y="44024"/>
                  </a:cubicBezTo>
                  <a:lnTo>
                    <a:pt x="0" y="44024"/>
                  </a:lnTo>
                  <a:cubicBezTo>
                    <a:pt x="0" y="19727"/>
                    <a:pt x="19727" y="0"/>
                    <a:pt x="44024" y="0"/>
                  </a:cubicBezTo>
                  <a:close/>
                </a:path>
              </a:pathLst>
            </a:custGeom>
            <a:solidFill>
              <a:srgbClr val="E5A044"/>
            </a:solidFill>
          </p:spPr>
        </p:sp>
        <p:sp>
          <p:nvSpPr>
            <p:cNvPr id="60" name="Text 58"/>
            <p:cNvSpPr/>
            <p:nvPr/>
          </p:nvSpPr>
          <p:spPr>
            <a:xfrm>
              <a:off x="15289" y="12142"/>
              <a:ext cx="4009" cy="384"/>
            </a:xfrm>
            <a:prstGeom prst="rect">
              <a:avLst/>
            </a:prstGeom>
            <a:noFill/>
          </p:spPr>
          <p:txBody>
            <a:bodyPr wrap="square" lIns="0" tIns="0" rIns="0" bIns="0" rtlCol="0" anchor="ctr"/>
            <a:lstStyle/>
            <a:p>
              <a:pPr>
                <a:lnSpc>
                  <a:spcPct val="130000"/>
                </a:lnSpc>
              </a:pPr>
              <a:r>
                <a:rPr lang="en-US" sz="1385" b="1" dirty="0">
                  <a:solidFill>
                    <a:srgbClr val="E0E2E6"/>
                  </a:solidFill>
                  <a:latin typeface="MiSans" pitchFamily="34" charset="-122"/>
                  <a:ea typeface="MiSans" pitchFamily="34" charset="-122"/>
                  <a:cs typeface="MiSans" pitchFamily="34" charset="-120"/>
                </a:rPr>
                <a:t>开源项目使用者</a:t>
              </a:r>
              <a:r>
                <a:rPr lang="en-US" sz="1385" dirty="0">
                  <a:solidFill>
                    <a:srgbClr val="E0E2E6">
                      <a:alpha val="80000"/>
                    </a:srgbClr>
                  </a:solidFill>
                  <a:latin typeface="MiSans" pitchFamily="34" charset="-122"/>
                  <a:ea typeface="MiSans" pitchFamily="34" charset="-122"/>
                  <a:cs typeface="MiSans" pitchFamily="34" charset="-120"/>
                </a:rPr>
                <a:t> </a:t>
              </a:r>
              <a:endParaRPr lang="en-US" sz="1600" dirty="0"/>
            </a:p>
          </p:txBody>
        </p:sp>
        <p:sp>
          <p:nvSpPr>
            <p:cNvPr id="61" name="Shape 59"/>
            <p:cNvSpPr/>
            <p:nvPr/>
          </p:nvSpPr>
          <p:spPr>
            <a:xfrm>
              <a:off x="14968" y="12846"/>
              <a:ext cx="128" cy="128"/>
            </a:xfrm>
            <a:custGeom>
              <a:avLst/>
              <a:gdLst/>
              <a:ahLst/>
              <a:cxnLst/>
              <a:rect l="l" t="t" r="r" b="b"/>
              <a:pathLst>
                <a:path w="88049" h="88049">
                  <a:moveTo>
                    <a:pt x="44024" y="0"/>
                  </a:moveTo>
                  <a:lnTo>
                    <a:pt x="44024" y="0"/>
                  </a:lnTo>
                  <a:cubicBezTo>
                    <a:pt x="68322" y="0"/>
                    <a:pt x="88049" y="19727"/>
                    <a:pt x="88049" y="44024"/>
                  </a:cubicBezTo>
                  <a:lnTo>
                    <a:pt x="88049" y="44024"/>
                  </a:lnTo>
                  <a:cubicBezTo>
                    <a:pt x="88049" y="68322"/>
                    <a:pt x="68322" y="88049"/>
                    <a:pt x="44024" y="88049"/>
                  </a:cubicBezTo>
                  <a:lnTo>
                    <a:pt x="44024" y="88049"/>
                  </a:lnTo>
                  <a:cubicBezTo>
                    <a:pt x="19727" y="88049"/>
                    <a:pt x="0" y="68322"/>
                    <a:pt x="0" y="44024"/>
                  </a:cubicBezTo>
                  <a:lnTo>
                    <a:pt x="0" y="44024"/>
                  </a:lnTo>
                  <a:cubicBezTo>
                    <a:pt x="0" y="19727"/>
                    <a:pt x="19727" y="0"/>
                    <a:pt x="44024" y="0"/>
                  </a:cubicBezTo>
                  <a:close/>
                </a:path>
              </a:pathLst>
            </a:custGeom>
            <a:solidFill>
              <a:srgbClr val="5A6472"/>
            </a:solidFill>
          </p:spPr>
        </p:sp>
        <p:sp>
          <p:nvSpPr>
            <p:cNvPr id="62" name="Text 60"/>
            <p:cNvSpPr/>
            <p:nvPr/>
          </p:nvSpPr>
          <p:spPr>
            <a:xfrm>
              <a:off x="15288" y="12718"/>
              <a:ext cx="4204" cy="384"/>
            </a:xfrm>
            <a:prstGeom prst="rect">
              <a:avLst/>
            </a:prstGeom>
            <a:noFill/>
          </p:spPr>
          <p:txBody>
            <a:bodyPr wrap="square" lIns="0" tIns="0" rIns="0" bIns="0" rtlCol="0" anchor="ctr"/>
            <a:lstStyle/>
            <a:p>
              <a:pPr>
                <a:lnSpc>
                  <a:spcPct val="130000"/>
                </a:lnSpc>
              </a:pPr>
              <a:r>
                <a:rPr lang="en-US" sz="1385" b="1" dirty="0">
                  <a:solidFill>
                    <a:srgbClr val="E0E2E6"/>
                  </a:solidFill>
                  <a:latin typeface="MiSans" pitchFamily="34" charset="-122"/>
                  <a:ea typeface="MiSans" pitchFamily="34" charset="-122"/>
                  <a:cs typeface="MiSans" pitchFamily="34" charset="-120"/>
                </a:rPr>
                <a:t>科研人员 &amp; 学生</a:t>
              </a:r>
              <a:r>
                <a:rPr lang="en-US" sz="1385" dirty="0">
                  <a:solidFill>
                    <a:srgbClr val="E0E2E6">
                      <a:alpha val="80000"/>
                    </a:srgbClr>
                  </a:solidFill>
                  <a:latin typeface="MiSans" pitchFamily="34" charset="-122"/>
                  <a:ea typeface="MiSans" pitchFamily="34" charset="-122"/>
                  <a:cs typeface="MiSans" pitchFamily="34" charset="-120"/>
                </a:rPr>
                <a:t> </a:t>
              </a:r>
              <a:endParaRPr lang="en-US" sz="1600" dirty="0"/>
            </a:p>
          </p:txBody>
        </p:sp>
        <p:sp>
          <p:nvSpPr>
            <p:cNvPr id="63" name="Shape 61"/>
            <p:cNvSpPr/>
            <p:nvPr/>
          </p:nvSpPr>
          <p:spPr>
            <a:xfrm>
              <a:off x="14968" y="13423"/>
              <a:ext cx="128" cy="128"/>
            </a:xfrm>
            <a:custGeom>
              <a:avLst/>
              <a:gdLst/>
              <a:ahLst/>
              <a:cxnLst/>
              <a:rect l="l" t="t" r="r" b="b"/>
              <a:pathLst>
                <a:path w="88049" h="88049">
                  <a:moveTo>
                    <a:pt x="44024" y="0"/>
                  </a:moveTo>
                  <a:lnTo>
                    <a:pt x="44024" y="0"/>
                  </a:lnTo>
                  <a:cubicBezTo>
                    <a:pt x="68322" y="0"/>
                    <a:pt x="88049" y="19727"/>
                    <a:pt x="88049" y="44024"/>
                  </a:cubicBezTo>
                  <a:lnTo>
                    <a:pt x="88049" y="44024"/>
                  </a:lnTo>
                  <a:cubicBezTo>
                    <a:pt x="88049" y="68322"/>
                    <a:pt x="68322" y="88049"/>
                    <a:pt x="44024" y="88049"/>
                  </a:cubicBezTo>
                  <a:lnTo>
                    <a:pt x="44024" y="88049"/>
                  </a:lnTo>
                  <a:cubicBezTo>
                    <a:pt x="19727" y="88049"/>
                    <a:pt x="0" y="68322"/>
                    <a:pt x="0" y="44024"/>
                  </a:cubicBezTo>
                  <a:lnTo>
                    <a:pt x="0" y="44024"/>
                  </a:lnTo>
                  <a:cubicBezTo>
                    <a:pt x="0" y="19727"/>
                    <a:pt x="19727" y="0"/>
                    <a:pt x="44024" y="0"/>
                  </a:cubicBezTo>
                  <a:close/>
                </a:path>
              </a:pathLst>
            </a:custGeom>
            <a:solidFill>
              <a:srgbClr val="3D8F8A"/>
            </a:solidFill>
          </p:spPr>
        </p:sp>
        <p:sp>
          <p:nvSpPr>
            <p:cNvPr id="64" name="Text 62"/>
            <p:cNvSpPr/>
            <p:nvPr/>
          </p:nvSpPr>
          <p:spPr>
            <a:xfrm>
              <a:off x="15288" y="13295"/>
              <a:ext cx="4465" cy="384"/>
            </a:xfrm>
            <a:prstGeom prst="rect">
              <a:avLst/>
            </a:prstGeom>
            <a:noFill/>
          </p:spPr>
          <p:txBody>
            <a:bodyPr wrap="square" lIns="0" tIns="0" rIns="0" bIns="0" rtlCol="0" anchor="ctr"/>
            <a:lstStyle/>
            <a:p>
              <a:pPr>
                <a:lnSpc>
                  <a:spcPct val="130000"/>
                </a:lnSpc>
              </a:pPr>
              <a:r>
                <a:rPr lang="en-US" sz="1385" b="1" dirty="0">
                  <a:solidFill>
                    <a:srgbClr val="E0E2E6"/>
                  </a:solidFill>
                  <a:latin typeface="MiSans" pitchFamily="34" charset="-122"/>
                  <a:ea typeface="MiSans" pitchFamily="34" charset="-122"/>
                  <a:cs typeface="MiSans" pitchFamily="34" charset="-120"/>
                </a:rPr>
                <a:t>企业开发团队</a:t>
              </a:r>
              <a:r>
                <a:rPr lang="en-US" sz="1385" dirty="0">
                  <a:solidFill>
                    <a:srgbClr val="E0E2E6">
                      <a:alpha val="80000"/>
                    </a:srgbClr>
                  </a:solidFill>
                  <a:latin typeface="MiSans" pitchFamily="34" charset="-122"/>
                  <a:ea typeface="MiSans" pitchFamily="34" charset="-122"/>
                  <a:cs typeface="MiSans" pitchFamily="34" charset="-120"/>
                </a:rPr>
                <a:t> </a:t>
              </a:r>
              <a:endParaRPr lang="en-US" sz="1600" dirty="0"/>
            </a:p>
          </p:txBody>
        </p:sp>
      </p:gr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529167"/>
            <a:ext cx="677333" cy="42333"/>
          </a:xfrm>
          <a:custGeom>
            <a:avLst/>
            <a:gdLst/>
            <a:ahLst/>
            <a:cxnLst/>
            <a:rect l="l" t="t" r="r" b="b"/>
            <a:pathLst>
              <a:path w="677333" h="42333">
                <a:moveTo>
                  <a:pt x="0" y="0"/>
                </a:moveTo>
                <a:lnTo>
                  <a:pt x="677333" y="0"/>
                </a:lnTo>
                <a:lnTo>
                  <a:pt x="677333" y="42333"/>
                </a:lnTo>
                <a:lnTo>
                  <a:pt x="0" y="42333"/>
                </a:lnTo>
                <a:lnTo>
                  <a:pt x="0" y="0"/>
                </a:lnTo>
                <a:close/>
              </a:path>
            </a:pathLst>
          </a:custGeom>
          <a:solidFill>
            <a:srgbClr val="E5A044"/>
          </a:solidFill>
        </p:spPr>
      </p:sp>
      <p:sp>
        <p:nvSpPr>
          <p:cNvPr id="3" name="Text 1"/>
          <p:cNvSpPr/>
          <p:nvPr/>
        </p:nvSpPr>
        <p:spPr>
          <a:xfrm>
            <a:off x="1270000" y="423333"/>
            <a:ext cx="2730500" cy="254000"/>
          </a:xfrm>
          <a:prstGeom prst="rect">
            <a:avLst/>
          </a:prstGeom>
          <a:noFill/>
        </p:spPr>
        <p:txBody>
          <a:bodyPr wrap="square" lIns="0" tIns="0" rIns="0" bIns="0" rtlCol="0" anchor="ctr"/>
          <a:lstStyle/>
          <a:p>
            <a:pPr>
              <a:lnSpc>
                <a:spcPct val="130000"/>
              </a:lnSpc>
            </a:pPr>
            <a:r>
              <a:rPr lang="en-US" sz="1335" b="1" kern="0" spc="67" dirty="0">
                <a:solidFill>
                  <a:srgbClr val="E5A044"/>
                </a:solidFill>
                <a:latin typeface="MiSans" pitchFamily="34" charset="-122"/>
                <a:ea typeface="MiSans" pitchFamily="34" charset="-122"/>
                <a:cs typeface="MiSans" pitchFamily="34" charset="-120"/>
              </a:rPr>
              <a:t>INNOVATION BREAKTHROUGH</a:t>
            </a:r>
            <a:endParaRPr lang="en-US" sz="1600" dirty="0"/>
          </a:p>
        </p:txBody>
      </p:sp>
      <p:sp>
        <p:nvSpPr>
          <p:cNvPr id="4" name="Text 2"/>
          <p:cNvSpPr/>
          <p:nvPr/>
        </p:nvSpPr>
        <p:spPr>
          <a:xfrm>
            <a:off x="423333" y="804333"/>
            <a:ext cx="15663333" cy="508000"/>
          </a:xfrm>
          <a:prstGeom prst="rect">
            <a:avLst/>
          </a:prstGeom>
          <a:noFill/>
        </p:spPr>
        <p:txBody>
          <a:bodyPr wrap="square" lIns="0" tIns="0" rIns="0" bIns="0" rtlCol="0" anchor="ctr"/>
          <a:lstStyle/>
          <a:p>
            <a:pPr>
              <a:lnSpc>
                <a:spcPct val="80000"/>
              </a:lnSpc>
            </a:pPr>
            <a:r>
              <a:rPr lang="en-US" sz="4000" b="1" dirty="0">
                <a:solidFill>
                  <a:srgbClr val="E0E2E6"/>
                </a:solidFill>
                <a:latin typeface="阿里妈妈数黑体" pitchFamily="34" charset="-122"/>
                <a:ea typeface="阿里妈妈数黑体" pitchFamily="34" charset="-122"/>
                <a:cs typeface="阿里妈妈数黑体" pitchFamily="34" charset="-120"/>
              </a:rPr>
              <a:t>创新突破点</a:t>
            </a:r>
            <a:endParaRPr lang="en-US" sz="1600" dirty="0"/>
          </a:p>
        </p:txBody>
      </p:sp>
      <p:grpSp>
        <p:nvGrpSpPr>
          <p:cNvPr id="66" name="组合 65"/>
          <p:cNvGrpSpPr/>
          <p:nvPr/>
        </p:nvGrpSpPr>
        <p:grpSpPr>
          <a:xfrm>
            <a:off x="521970" y="1461770"/>
            <a:ext cx="7236000" cy="3240582"/>
            <a:chOff x="1703" y="2302"/>
            <a:chExt cx="10524" cy="5571"/>
          </a:xfrm>
        </p:grpSpPr>
        <p:sp>
          <p:nvSpPr>
            <p:cNvPr id="8" name="Shape 6"/>
            <p:cNvSpPr/>
            <p:nvPr/>
          </p:nvSpPr>
          <p:spPr>
            <a:xfrm>
              <a:off x="1703" y="2302"/>
              <a:ext cx="10524" cy="5571"/>
            </a:xfrm>
            <a:custGeom>
              <a:avLst/>
              <a:gdLst/>
              <a:ahLst/>
              <a:cxnLst/>
              <a:rect l="l" t="t" r="r" b="b"/>
              <a:pathLst>
                <a:path w="7577667" h="4011083">
                  <a:moveTo>
                    <a:pt x="42333" y="0"/>
                  </a:moveTo>
                  <a:lnTo>
                    <a:pt x="7450676" y="0"/>
                  </a:lnTo>
                  <a:cubicBezTo>
                    <a:pt x="7520811" y="0"/>
                    <a:pt x="7577667" y="56856"/>
                    <a:pt x="7577667" y="126991"/>
                  </a:cubicBezTo>
                  <a:lnTo>
                    <a:pt x="7577667" y="3884092"/>
                  </a:lnTo>
                  <a:cubicBezTo>
                    <a:pt x="7577667" y="3954228"/>
                    <a:pt x="7520811" y="4011083"/>
                    <a:pt x="7450676" y="4011083"/>
                  </a:cubicBezTo>
                  <a:lnTo>
                    <a:pt x="42333" y="4011083"/>
                  </a:lnTo>
                  <a:cubicBezTo>
                    <a:pt x="18953" y="4011083"/>
                    <a:pt x="0" y="3992130"/>
                    <a:pt x="0" y="3968750"/>
                  </a:cubicBezTo>
                  <a:lnTo>
                    <a:pt x="0" y="42333"/>
                  </a:lnTo>
                  <a:cubicBezTo>
                    <a:pt x="0" y="18969"/>
                    <a:pt x="18969" y="0"/>
                    <a:pt x="42333" y="0"/>
                  </a:cubicBezTo>
                  <a:close/>
                </a:path>
              </a:pathLst>
            </a:custGeom>
            <a:gradFill flip="none" rotWithShape="1">
              <a:gsLst>
                <a:gs pos="0">
                  <a:srgbClr val="3D8F8A">
                    <a:alpha val="15000"/>
                  </a:srgbClr>
                </a:gs>
                <a:gs pos="100000">
                  <a:srgbClr val="000000">
                    <a:alpha val="0"/>
                  </a:srgbClr>
                </a:gs>
              </a:gsLst>
              <a:lin ang="2700000" scaled="1"/>
            </a:gradFill>
          </p:spPr>
        </p:sp>
        <p:sp>
          <p:nvSpPr>
            <p:cNvPr id="9" name="Shape 7"/>
            <p:cNvSpPr/>
            <p:nvPr/>
          </p:nvSpPr>
          <p:spPr>
            <a:xfrm>
              <a:off x="1703" y="2302"/>
              <a:ext cx="59" cy="5571"/>
            </a:xfrm>
            <a:custGeom>
              <a:avLst/>
              <a:gdLst/>
              <a:ahLst/>
              <a:cxnLst/>
              <a:rect l="l" t="t" r="r" b="b"/>
              <a:pathLst>
                <a:path w="42333" h="4011083">
                  <a:moveTo>
                    <a:pt x="42333" y="0"/>
                  </a:moveTo>
                  <a:lnTo>
                    <a:pt x="42333" y="0"/>
                  </a:lnTo>
                  <a:lnTo>
                    <a:pt x="42333" y="4011083"/>
                  </a:lnTo>
                  <a:lnTo>
                    <a:pt x="42333" y="4011083"/>
                  </a:lnTo>
                  <a:cubicBezTo>
                    <a:pt x="18953" y="4011083"/>
                    <a:pt x="0" y="3992130"/>
                    <a:pt x="0" y="3968750"/>
                  </a:cubicBezTo>
                  <a:lnTo>
                    <a:pt x="0" y="42333"/>
                  </a:lnTo>
                  <a:cubicBezTo>
                    <a:pt x="0" y="18953"/>
                    <a:pt x="18953" y="0"/>
                    <a:pt x="42333" y="0"/>
                  </a:cubicBezTo>
                  <a:close/>
                </a:path>
              </a:pathLst>
            </a:custGeom>
            <a:solidFill>
              <a:srgbClr val="3D8F8A"/>
            </a:solidFill>
          </p:spPr>
        </p:sp>
        <p:sp>
          <p:nvSpPr>
            <p:cNvPr id="10" name="Shape 8"/>
            <p:cNvSpPr/>
            <p:nvPr/>
          </p:nvSpPr>
          <p:spPr>
            <a:xfrm>
              <a:off x="2085" y="2655"/>
              <a:ext cx="941" cy="941"/>
            </a:xfrm>
            <a:custGeom>
              <a:avLst/>
              <a:gdLst/>
              <a:ahLst/>
              <a:cxnLst/>
              <a:rect l="l" t="t" r="r" b="b"/>
              <a:pathLst>
                <a:path w="677333" h="677333">
                  <a:moveTo>
                    <a:pt x="127000" y="0"/>
                  </a:moveTo>
                  <a:lnTo>
                    <a:pt x="550333" y="0"/>
                  </a:lnTo>
                  <a:cubicBezTo>
                    <a:pt x="620427" y="0"/>
                    <a:pt x="677333" y="56907"/>
                    <a:pt x="677333" y="127000"/>
                  </a:cubicBezTo>
                  <a:lnTo>
                    <a:pt x="677333" y="550333"/>
                  </a:lnTo>
                  <a:cubicBezTo>
                    <a:pt x="677333" y="620427"/>
                    <a:pt x="620427" y="677333"/>
                    <a:pt x="550333" y="677333"/>
                  </a:cubicBezTo>
                  <a:lnTo>
                    <a:pt x="127000" y="677333"/>
                  </a:lnTo>
                  <a:cubicBezTo>
                    <a:pt x="56907" y="677333"/>
                    <a:pt x="0" y="620427"/>
                    <a:pt x="0" y="550333"/>
                  </a:cubicBezTo>
                  <a:lnTo>
                    <a:pt x="0" y="127000"/>
                  </a:lnTo>
                  <a:cubicBezTo>
                    <a:pt x="0" y="56907"/>
                    <a:pt x="56907" y="0"/>
                    <a:pt x="127000" y="0"/>
                  </a:cubicBezTo>
                  <a:close/>
                </a:path>
              </a:pathLst>
            </a:custGeom>
            <a:solidFill>
              <a:srgbClr val="3D8F8A"/>
            </a:solidFill>
          </p:spPr>
        </p:sp>
        <p:sp>
          <p:nvSpPr>
            <p:cNvPr id="11" name="Shape 9"/>
            <p:cNvSpPr/>
            <p:nvPr/>
          </p:nvSpPr>
          <p:spPr>
            <a:xfrm>
              <a:off x="2311" y="2905"/>
              <a:ext cx="496" cy="441"/>
            </a:xfrm>
            <a:custGeom>
              <a:avLst/>
              <a:gdLst/>
              <a:ahLst/>
              <a:cxnLst/>
              <a:rect l="l" t="t" r="r" b="b"/>
              <a:pathLst>
                <a:path w="357188" h="317500">
                  <a:moveTo>
                    <a:pt x="223738" y="744"/>
                  </a:moveTo>
                  <a:cubicBezTo>
                    <a:pt x="213196" y="-2294"/>
                    <a:pt x="202220" y="3845"/>
                    <a:pt x="199182" y="14387"/>
                  </a:cubicBezTo>
                  <a:lnTo>
                    <a:pt x="119807" y="292199"/>
                  </a:lnTo>
                  <a:cubicBezTo>
                    <a:pt x="116768" y="302741"/>
                    <a:pt x="122907" y="313717"/>
                    <a:pt x="133449" y="316756"/>
                  </a:cubicBezTo>
                  <a:cubicBezTo>
                    <a:pt x="143991" y="319794"/>
                    <a:pt x="154967" y="313655"/>
                    <a:pt x="158006" y="303113"/>
                  </a:cubicBezTo>
                  <a:lnTo>
                    <a:pt x="237381" y="25301"/>
                  </a:lnTo>
                  <a:cubicBezTo>
                    <a:pt x="240419" y="14759"/>
                    <a:pt x="234280" y="3783"/>
                    <a:pt x="223738" y="744"/>
                  </a:cubicBezTo>
                  <a:close/>
                  <a:moveTo>
                    <a:pt x="263798" y="85142"/>
                  </a:moveTo>
                  <a:cubicBezTo>
                    <a:pt x="256046" y="92894"/>
                    <a:pt x="256046" y="105482"/>
                    <a:pt x="263798" y="113233"/>
                  </a:cubicBezTo>
                  <a:lnTo>
                    <a:pt x="309314" y="158750"/>
                  </a:lnTo>
                  <a:lnTo>
                    <a:pt x="263798" y="204267"/>
                  </a:lnTo>
                  <a:cubicBezTo>
                    <a:pt x="256046" y="212018"/>
                    <a:pt x="256046" y="224606"/>
                    <a:pt x="263798" y="232358"/>
                  </a:cubicBezTo>
                  <a:cubicBezTo>
                    <a:pt x="271549" y="240109"/>
                    <a:pt x="284138" y="240109"/>
                    <a:pt x="291889" y="232358"/>
                  </a:cubicBezTo>
                  <a:lnTo>
                    <a:pt x="351420" y="172827"/>
                  </a:lnTo>
                  <a:cubicBezTo>
                    <a:pt x="359172" y="165075"/>
                    <a:pt x="359172" y="152487"/>
                    <a:pt x="351420" y="144735"/>
                  </a:cubicBezTo>
                  <a:lnTo>
                    <a:pt x="291889" y="85204"/>
                  </a:lnTo>
                  <a:cubicBezTo>
                    <a:pt x="284138" y="77453"/>
                    <a:pt x="271549" y="77453"/>
                    <a:pt x="263798" y="85204"/>
                  </a:cubicBezTo>
                  <a:close/>
                  <a:moveTo>
                    <a:pt x="93452" y="85142"/>
                  </a:moveTo>
                  <a:cubicBezTo>
                    <a:pt x="85700" y="77391"/>
                    <a:pt x="73112" y="77391"/>
                    <a:pt x="65360" y="85142"/>
                  </a:cubicBezTo>
                  <a:lnTo>
                    <a:pt x="5829" y="144673"/>
                  </a:lnTo>
                  <a:cubicBezTo>
                    <a:pt x="-1922" y="152425"/>
                    <a:pt x="-1922" y="165013"/>
                    <a:pt x="5829" y="172765"/>
                  </a:cubicBezTo>
                  <a:lnTo>
                    <a:pt x="65360" y="232296"/>
                  </a:lnTo>
                  <a:cubicBezTo>
                    <a:pt x="73112" y="240047"/>
                    <a:pt x="85700" y="240047"/>
                    <a:pt x="93452" y="232296"/>
                  </a:cubicBezTo>
                  <a:cubicBezTo>
                    <a:pt x="101203" y="224544"/>
                    <a:pt x="101203" y="211956"/>
                    <a:pt x="93452" y="204205"/>
                  </a:cubicBezTo>
                  <a:lnTo>
                    <a:pt x="47935" y="158750"/>
                  </a:lnTo>
                  <a:lnTo>
                    <a:pt x="93390" y="113233"/>
                  </a:lnTo>
                  <a:cubicBezTo>
                    <a:pt x="101141" y="105482"/>
                    <a:pt x="101141" y="92894"/>
                    <a:pt x="93390" y="85142"/>
                  </a:cubicBezTo>
                  <a:close/>
                </a:path>
              </a:pathLst>
            </a:custGeom>
            <a:solidFill>
              <a:srgbClr val="FFFFFF"/>
            </a:solidFill>
          </p:spPr>
        </p:sp>
        <p:sp>
          <p:nvSpPr>
            <p:cNvPr id="12" name="Shape 10"/>
            <p:cNvSpPr/>
            <p:nvPr/>
          </p:nvSpPr>
          <p:spPr>
            <a:xfrm>
              <a:off x="3261" y="2655"/>
              <a:ext cx="1176" cy="412"/>
            </a:xfrm>
            <a:custGeom>
              <a:avLst/>
              <a:gdLst/>
              <a:ahLst/>
              <a:cxnLst/>
              <a:rect l="l" t="t" r="r" b="b"/>
              <a:pathLst>
                <a:path w="846667" h="296333">
                  <a:moveTo>
                    <a:pt x="148167" y="0"/>
                  </a:moveTo>
                  <a:lnTo>
                    <a:pt x="698500" y="0"/>
                  </a:lnTo>
                  <a:cubicBezTo>
                    <a:pt x="780275" y="0"/>
                    <a:pt x="846667" y="66391"/>
                    <a:pt x="846667" y="148167"/>
                  </a:cubicBezTo>
                  <a:lnTo>
                    <a:pt x="846667" y="148167"/>
                  </a:lnTo>
                  <a:cubicBezTo>
                    <a:pt x="846667" y="229942"/>
                    <a:pt x="780275" y="296333"/>
                    <a:pt x="698500" y="296333"/>
                  </a:cubicBezTo>
                  <a:lnTo>
                    <a:pt x="148167" y="296333"/>
                  </a:lnTo>
                  <a:cubicBezTo>
                    <a:pt x="66391" y="296333"/>
                    <a:pt x="0" y="229942"/>
                    <a:pt x="0" y="148167"/>
                  </a:cubicBezTo>
                  <a:lnTo>
                    <a:pt x="0" y="148167"/>
                  </a:lnTo>
                  <a:cubicBezTo>
                    <a:pt x="0" y="66391"/>
                    <a:pt x="66391" y="0"/>
                    <a:pt x="148167" y="0"/>
                  </a:cubicBezTo>
                  <a:close/>
                </a:path>
              </a:pathLst>
            </a:custGeom>
            <a:solidFill>
              <a:srgbClr val="E5A044">
                <a:alpha val="20000"/>
              </a:srgbClr>
            </a:solidFill>
          </p:spPr>
        </p:sp>
        <p:sp>
          <p:nvSpPr>
            <p:cNvPr id="13" name="Text 11"/>
            <p:cNvSpPr/>
            <p:nvPr/>
          </p:nvSpPr>
          <p:spPr>
            <a:xfrm>
              <a:off x="3261" y="2655"/>
              <a:ext cx="1279" cy="412"/>
            </a:xfrm>
            <a:prstGeom prst="rect">
              <a:avLst/>
            </a:prstGeom>
            <a:noFill/>
          </p:spPr>
          <p:txBody>
            <a:bodyPr wrap="square" lIns="127000" tIns="42333" rIns="127000" bIns="42333" rtlCol="0" anchor="ctr"/>
            <a:lstStyle/>
            <a:p>
              <a:pPr>
                <a:lnSpc>
                  <a:spcPct val="120000"/>
                </a:lnSpc>
              </a:pPr>
              <a:r>
                <a:rPr lang="en-US" sz="1165" b="1" dirty="0">
                  <a:solidFill>
                    <a:srgbClr val="E5A044"/>
                  </a:solidFill>
                  <a:latin typeface="MiSans" pitchFamily="34" charset="-122"/>
                  <a:ea typeface="MiSans" pitchFamily="34" charset="-122"/>
                  <a:cs typeface="MiSans" pitchFamily="34" charset="-120"/>
                </a:rPr>
                <a:t>创新点一</a:t>
              </a:r>
              <a:endParaRPr lang="en-US" sz="1600" dirty="0"/>
            </a:p>
          </p:txBody>
        </p:sp>
        <p:sp>
          <p:nvSpPr>
            <p:cNvPr id="14" name="Text 12"/>
            <p:cNvSpPr/>
            <p:nvPr/>
          </p:nvSpPr>
          <p:spPr>
            <a:xfrm>
              <a:off x="3261" y="3184"/>
              <a:ext cx="8789" cy="470"/>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源码级依赖推断</a:t>
              </a:r>
              <a:endParaRPr lang="en-US" sz="1600" dirty="0"/>
            </a:p>
          </p:txBody>
        </p:sp>
        <p:sp>
          <p:nvSpPr>
            <p:cNvPr id="15" name="Text 13"/>
            <p:cNvSpPr/>
            <p:nvPr/>
          </p:nvSpPr>
          <p:spPr>
            <a:xfrm>
              <a:off x="2085" y="3890"/>
              <a:ext cx="9906" cy="2219"/>
            </a:xfrm>
            <a:prstGeom prst="rect">
              <a:avLst/>
            </a:prstGeom>
            <a:noFill/>
          </p:spPr>
          <p:txBody>
            <a:bodyPr wrap="square" lIns="0" tIns="0" rIns="0" bIns="0" rtlCol="0" anchor="ctr"/>
            <a:lstStyle/>
            <a:p>
              <a:pPr>
                <a:lnSpc>
                  <a:spcPct val="140000"/>
                </a:lnSpc>
              </a:pPr>
              <a:r>
                <a:rPr lang="en-US" sz="1335" b="1" dirty="0">
                  <a:solidFill>
                    <a:srgbClr val="3D8F8A"/>
                  </a:solidFill>
                  <a:latin typeface="MiSans" pitchFamily="34" charset="-122"/>
                  <a:ea typeface="MiSans" pitchFamily="34" charset="-122"/>
                  <a:cs typeface="MiSans" pitchFamily="34" charset="-120"/>
                </a:rPr>
                <a:t>以源码中的import使用行为为核心依据</a:t>
              </a:r>
              <a:r>
                <a:rPr lang="en-US" sz="1335" dirty="0">
                  <a:solidFill>
                    <a:srgbClr val="E0E2E6">
                      <a:alpha val="80000"/>
                    </a:srgbClr>
                  </a:solidFill>
                  <a:latin typeface="MiSans" pitchFamily="34" charset="-122"/>
                  <a:ea typeface="MiSans" pitchFamily="34" charset="-122"/>
                  <a:cs typeface="MiSans" pitchFamily="34" charset="-120"/>
                </a:rPr>
                <a:t>,反向推断项目真实依赖。相比传统的规则驱动方法,本项目通过静态分析+LLM语义理解,能够更准确地识别第三方依赖,即使在requirements.txt缺失或不完整的情况下也能有效工作。</a:t>
              </a:r>
              <a:endParaRPr lang="en-US" sz="1600" dirty="0"/>
            </a:p>
          </p:txBody>
        </p:sp>
        <p:sp>
          <p:nvSpPr>
            <p:cNvPr id="16" name="Shape 14"/>
            <p:cNvSpPr/>
            <p:nvPr/>
          </p:nvSpPr>
          <p:spPr>
            <a:xfrm>
              <a:off x="2085" y="6349"/>
              <a:ext cx="9789" cy="1176"/>
            </a:xfrm>
            <a:custGeom>
              <a:avLst/>
              <a:gdLst/>
              <a:ahLst/>
              <a:cxnLst/>
              <a:rect l="l" t="t" r="r" b="b"/>
              <a:pathLst>
                <a:path w="7048500" h="846667">
                  <a:moveTo>
                    <a:pt x="84667" y="0"/>
                  </a:moveTo>
                  <a:lnTo>
                    <a:pt x="6963833" y="0"/>
                  </a:lnTo>
                  <a:cubicBezTo>
                    <a:pt x="7010593" y="0"/>
                    <a:pt x="7048500" y="37907"/>
                    <a:pt x="7048500" y="84667"/>
                  </a:cubicBezTo>
                  <a:lnTo>
                    <a:pt x="7048500" y="762000"/>
                  </a:lnTo>
                  <a:cubicBezTo>
                    <a:pt x="7048500" y="808760"/>
                    <a:pt x="7010593" y="846667"/>
                    <a:pt x="6963833" y="846667"/>
                  </a:cubicBezTo>
                  <a:lnTo>
                    <a:pt x="84667" y="846667"/>
                  </a:lnTo>
                  <a:cubicBezTo>
                    <a:pt x="37907" y="846667"/>
                    <a:pt x="0" y="808760"/>
                    <a:pt x="0" y="762000"/>
                  </a:cubicBezTo>
                  <a:lnTo>
                    <a:pt x="0" y="84667"/>
                  </a:lnTo>
                  <a:cubicBezTo>
                    <a:pt x="0" y="37907"/>
                    <a:pt x="37907" y="0"/>
                    <a:pt x="84667" y="0"/>
                  </a:cubicBezTo>
                  <a:close/>
                </a:path>
              </a:pathLst>
            </a:custGeom>
            <a:solidFill>
              <a:srgbClr val="3D8F8A">
                <a:alpha val="10196"/>
              </a:srgbClr>
            </a:solidFill>
          </p:spPr>
        </p:sp>
        <p:sp>
          <p:nvSpPr>
            <p:cNvPr id="17" name="Text 15"/>
            <p:cNvSpPr/>
            <p:nvPr/>
          </p:nvSpPr>
          <p:spPr>
            <a:xfrm>
              <a:off x="2320" y="6673"/>
              <a:ext cx="1132" cy="294"/>
            </a:xfrm>
            <a:prstGeom prst="rect">
              <a:avLst/>
            </a:prstGeom>
            <a:noFill/>
          </p:spPr>
          <p:txBody>
            <a:bodyPr wrap="square" lIns="0" tIns="0" rIns="0" bIns="0" rtlCol="0" anchor="ctr"/>
            <a:lstStyle/>
            <a:p>
              <a:pPr>
                <a:lnSpc>
                  <a:spcPct val="120000"/>
                </a:lnSpc>
              </a:pPr>
              <a:r>
                <a:rPr lang="en-US" sz="1165" dirty="0">
                  <a:solidFill>
                    <a:srgbClr val="E0E2E6">
                      <a:alpha val="70000"/>
                    </a:srgbClr>
                  </a:solidFill>
                  <a:latin typeface="MiSans" pitchFamily="34" charset="-122"/>
                  <a:ea typeface="MiSans" pitchFamily="34" charset="-122"/>
                  <a:cs typeface="MiSans" pitchFamily="34" charset="-120"/>
                </a:rPr>
                <a:t>准确率提升</a:t>
              </a:r>
              <a:endParaRPr lang="en-US" sz="1600" dirty="0"/>
            </a:p>
          </p:txBody>
        </p:sp>
        <p:sp>
          <p:nvSpPr>
            <p:cNvPr id="19" name="Shape 17"/>
            <p:cNvSpPr/>
            <p:nvPr/>
          </p:nvSpPr>
          <p:spPr>
            <a:xfrm>
              <a:off x="2320" y="7172"/>
              <a:ext cx="9318" cy="118"/>
            </a:xfrm>
            <a:custGeom>
              <a:avLst/>
              <a:gdLst/>
              <a:ahLst/>
              <a:cxnLst/>
              <a:rect l="l" t="t" r="r" b="b"/>
              <a:pathLst>
                <a:path w="6709833" h="84667">
                  <a:moveTo>
                    <a:pt x="42333" y="0"/>
                  </a:moveTo>
                  <a:lnTo>
                    <a:pt x="6667500" y="0"/>
                  </a:lnTo>
                  <a:cubicBezTo>
                    <a:pt x="6690880" y="0"/>
                    <a:pt x="6709833" y="18953"/>
                    <a:pt x="6709833" y="42333"/>
                  </a:cubicBezTo>
                  <a:lnTo>
                    <a:pt x="6709833" y="42333"/>
                  </a:lnTo>
                  <a:cubicBezTo>
                    <a:pt x="6709833" y="65713"/>
                    <a:pt x="6690880" y="84667"/>
                    <a:pt x="6667500" y="84667"/>
                  </a:cubicBezTo>
                  <a:lnTo>
                    <a:pt x="42333" y="84667"/>
                  </a:lnTo>
                  <a:cubicBezTo>
                    <a:pt x="18953" y="84667"/>
                    <a:pt x="0" y="65713"/>
                    <a:pt x="0" y="42333"/>
                  </a:cubicBezTo>
                  <a:lnTo>
                    <a:pt x="0" y="42333"/>
                  </a:lnTo>
                  <a:cubicBezTo>
                    <a:pt x="0" y="18953"/>
                    <a:pt x="18953" y="0"/>
                    <a:pt x="42333" y="0"/>
                  </a:cubicBezTo>
                  <a:close/>
                </a:path>
              </a:pathLst>
            </a:custGeom>
            <a:solidFill>
              <a:srgbClr val="3D8F8A">
                <a:alpha val="20000"/>
              </a:srgbClr>
            </a:solidFill>
          </p:spPr>
        </p:sp>
        <p:sp>
          <p:nvSpPr>
            <p:cNvPr id="20" name="Shape 18"/>
            <p:cNvSpPr/>
            <p:nvPr/>
          </p:nvSpPr>
          <p:spPr>
            <a:xfrm>
              <a:off x="2320" y="7172"/>
              <a:ext cx="7922" cy="118"/>
            </a:xfrm>
            <a:custGeom>
              <a:avLst/>
              <a:gdLst/>
              <a:ahLst/>
              <a:cxnLst/>
              <a:rect l="l" t="t" r="r" b="b"/>
              <a:pathLst>
                <a:path w="5704417" h="84667">
                  <a:moveTo>
                    <a:pt x="42333" y="0"/>
                  </a:moveTo>
                  <a:lnTo>
                    <a:pt x="5662083" y="0"/>
                  </a:lnTo>
                  <a:cubicBezTo>
                    <a:pt x="5685463" y="0"/>
                    <a:pt x="5704417" y="18953"/>
                    <a:pt x="5704417" y="42333"/>
                  </a:cubicBezTo>
                  <a:lnTo>
                    <a:pt x="5704417" y="42333"/>
                  </a:lnTo>
                  <a:cubicBezTo>
                    <a:pt x="5704417" y="65713"/>
                    <a:pt x="5685463" y="84667"/>
                    <a:pt x="5662083" y="84667"/>
                  </a:cubicBezTo>
                  <a:lnTo>
                    <a:pt x="42333" y="84667"/>
                  </a:lnTo>
                  <a:cubicBezTo>
                    <a:pt x="18953" y="84667"/>
                    <a:pt x="0" y="65713"/>
                    <a:pt x="0" y="42333"/>
                  </a:cubicBezTo>
                  <a:lnTo>
                    <a:pt x="0" y="42333"/>
                  </a:lnTo>
                  <a:cubicBezTo>
                    <a:pt x="0" y="18953"/>
                    <a:pt x="18953" y="0"/>
                    <a:pt x="42333" y="0"/>
                  </a:cubicBezTo>
                  <a:close/>
                </a:path>
              </a:pathLst>
            </a:custGeom>
            <a:solidFill>
              <a:srgbClr val="3D8F8A"/>
            </a:solidFill>
          </p:spPr>
        </p:sp>
      </p:grpSp>
      <p:grpSp>
        <p:nvGrpSpPr>
          <p:cNvPr id="65" name="组合 64"/>
          <p:cNvGrpSpPr/>
          <p:nvPr/>
        </p:nvGrpSpPr>
        <p:grpSpPr>
          <a:xfrm>
            <a:off x="7969250" y="1461770"/>
            <a:ext cx="7236000" cy="3240582"/>
            <a:chOff x="12550" y="2302"/>
            <a:chExt cx="10524" cy="5571"/>
          </a:xfrm>
        </p:grpSpPr>
        <p:sp>
          <p:nvSpPr>
            <p:cNvPr id="21" name="Shape 19"/>
            <p:cNvSpPr/>
            <p:nvPr/>
          </p:nvSpPr>
          <p:spPr>
            <a:xfrm>
              <a:off x="12550" y="2302"/>
              <a:ext cx="10524" cy="5571"/>
            </a:xfrm>
            <a:custGeom>
              <a:avLst/>
              <a:gdLst/>
              <a:ahLst/>
              <a:cxnLst/>
              <a:rect l="l" t="t" r="r" b="b"/>
              <a:pathLst>
                <a:path w="7577667" h="4011083">
                  <a:moveTo>
                    <a:pt x="42333" y="0"/>
                  </a:moveTo>
                  <a:lnTo>
                    <a:pt x="7450676" y="0"/>
                  </a:lnTo>
                  <a:cubicBezTo>
                    <a:pt x="7520811" y="0"/>
                    <a:pt x="7577667" y="56856"/>
                    <a:pt x="7577667" y="126991"/>
                  </a:cubicBezTo>
                  <a:lnTo>
                    <a:pt x="7577667" y="3884092"/>
                  </a:lnTo>
                  <a:cubicBezTo>
                    <a:pt x="7577667" y="3954228"/>
                    <a:pt x="7520811" y="4011083"/>
                    <a:pt x="7450676" y="4011083"/>
                  </a:cubicBezTo>
                  <a:lnTo>
                    <a:pt x="42333" y="4011083"/>
                  </a:lnTo>
                  <a:cubicBezTo>
                    <a:pt x="18953" y="4011083"/>
                    <a:pt x="0" y="3992130"/>
                    <a:pt x="0" y="3968750"/>
                  </a:cubicBezTo>
                  <a:lnTo>
                    <a:pt x="0" y="42333"/>
                  </a:lnTo>
                  <a:cubicBezTo>
                    <a:pt x="0" y="18969"/>
                    <a:pt x="18969" y="0"/>
                    <a:pt x="42333" y="0"/>
                  </a:cubicBezTo>
                  <a:close/>
                </a:path>
              </a:pathLst>
            </a:custGeom>
            <a:gradFill flip="none" rotWithShape="1">
              <a:gsLst>
                <a:gs pos="0">
                  <a:srgbClr val="E5A044">
                    <a:alpha val="15000"/>
                  </a:srgbClr>
                </a:gs>
                <a:gs pos="100000">
                  <a:srgbClr val="000000">
                    <a:alpha val="0"/>
                  </a:srgbClr>
                </a:gs>
              </a:gsLst>
              <a:lin ang="2700000" scaled="1"/>
            </a:gradFill>
          </p:spPr>
        </p:sp>
        <p:sp>
          <p:nvSpPr>
            <p:cNvPr id="22" name="Shape 20"/>
            <p:cNvSpPr/>
            <p:nvPr/>
          </p:nvSpPr>
          <p:spPr>
            <a:xfrm>
              <a:off x="12550" y="2302"/>
              <a:ext cx="59" cy="5571"/>
            </a:xfrm>
            <a:custGeom>
              <a:avLst/>
              <a:gdLst/>
              <a:ahLst/>
              <a:cxnLst/>
              <a:rect l="l" t="t" r="r" b="b"/>
              <a:pathLst>
                <a:path w="42333" h="4011083">
                  <a:moveTo>
                    <a:pt x="42333" y="0"/>
                  </a:moveTo>
                  <a:lnTo>
                    <a:pt x="42333" y="0"/>
                  </a:lnTo>
                  <a:lnTo>
                    <a:pt x="42333" y="4011083"/>
                  </a:lnTo>
                  <a:lnTo>
                    <a:pt x="42333" y="4011083"/>
                  </a:lnTo>
                  <a:cubicBezTo>
                    <a:pt x="18953" y="4011083"/>
                    <a:pt x="0" y="3992130"/>
                    <a:pt x="0" y="3968750"/>
                  </a:cubicBezTo>
                  <a:lnTo>
                    <a:pt x="0" y="42333"/>
                  </a:lnTo>
                  <a:cubicBezTo>
                    <a:pt x="0" y="18953"/>
                    <a:pt x="18953" y="0"/>
                    <a:pt x="42333" y="0"/>
                  </a:cubicBezTo>
                  <a:close/>
                </a:path>
              </a:pathLst>
            </a:custGeom>
            <a:solidFill>
              <a:srgbClr val="E5A044"/>
            </a:solidFill>
          </p:spPr>
        </p:sp>
        <p:sp>
          <p:nvSpPr>
            <p:cNvPr id="23" name="Shape 21"/>
            <p:cNvSpPr/>
            <p:nvPr/>
          </p:nvSpPr>
          <p:spPr>
            <a:xfrm>
              <a:off x="12932" y="2655"/>
              <a:ext cx="941" cy="941"/>
            </a:xfrm>
            <a:custGeom>
              <a:avLst/>
              <a:gdLst/>
              <a:ahLst/>
              <a:cxnLst/>
              <a:rect l="l" t="t" r="r" b="b"/>
              <a:pathLst>
                <a:path w="677333" h="677333">
                  <a:moveTo>
                    <a:pt x="127000" y="0"/>
                  </a:moveTo>
                  <a:lnTo>
                    <a:pt x="550333" y="0"/>
                  </a:lnTo>
                  <a:cubicBezTo>
                    <a:pt x="620427" y="0"/>
                    <a:pt x="677333" y="56907"/>
                    <a:pt x="677333" y="127000"/>
                  </a:cubicBezTo>
                  <a:lnTo>
                    <a:pt x="677333" y="550333"/>
                  </a:lnTo>
                  <a:cubicBezTo>
                    <a:pt x="677333" y="620427"/>
                    <a:pt x="620427" y="677333"/>
                    <a:pt x="550333" y="677333"/>
                  </a:cubicBezTo>
                  <a:lnTo>
                    <a:pt x="127000" y="677333"/>
                  </a:lnTo>
                  <a:cubicBezTo>
                    <a:pt x="56907" y="677333"/>
                    <a:pt x="0" y="620427"/>
                    <a:pt x="0" y="550333"/>
                  </a:cubicBezTo>
                  <a:lnTo>
                    <a:pt x="0" y="127000"/>
                  </a:lnTo>
                  <a:cubicBezTo>
                    <a:pt x="0" y="56907"/>
                    <a:pt x="56907" y="0"/>
                    <a:pt x="127000" y="0"/>
                  </a:cubicBezTo>
                  <a:close/>
                </a:path>
              </a:pathLst>
            </a:custGeom>
            <a:solidFill>
              <a:srgbClr val="E5A044"/>
            </a:solidFill>
          </p:spPr>
        </p:sp>
        <p:sp>
          <p:nvSpPr>
            <p:cNvPr id="24" name="Shape 22"/>
            <p:cNvSpPr/>
            <p:nvPr/>
          </p:nvSpPr>
          <p:spPr>
            <a:xfrm>
              <a:off x="13213" y="2905"/>
              <a:ext cx="386" cy="441"/>
            </a:xfrm>
            <a:custGeom>
              <a:avLst/>
              <a:gdLst/>
              <a:ahLst/>
              <a:cxnLst/>
              <a:rect l="l" t="t" r="r" b="b"/>
              <a:pathLst>
                <a:path w="277813" h="317500">
                  <a:moveTo>
                    <a:pt x="79375" y="-19844"/>
                  </a:moveTo>
                  <a:cubicBezTo>
                    <a:pt x="90351" y="-19844"/>
                    <a:pt x="99219" y="-10976"/>
                    <a:pt x="99219" y="0"/>
                  </a:cubicBezTo>
                  <a:lnTo>
                    <a:pt x="99219" y="59531"/>
                  </a:lnTo>
                  <a:lnTo>
                    <a:pt x="178594" y="59531"/>
                  </a:lnTo>
                  <a:lnTo>
                    <a:pt x="178594" y="0"/>
                  </a:lnTo>
                  <a:cubicBezTo>
                    <a:pt x="178594" y="-10976"/>
                    <a:pt x="187461" y="-19844"/>
                    <a:pt x="198438" y="-19844"/>
                  </a:cubicBezTo>
                  <a:cubicBezTo>
                    <a:pt x="209414" y="-19844"/>
                    <a:pt x="218281" y="-10976"/>
                    <a:pt x="218281" y="0"/>
                  </a:cubicBezTo>
                  <a:lnTo>
                    <a:pt x="218281" y="59531"/>
                  </a:lnTo>
                  <a:lnTo>
                    <a:pt x="257969" y="59531"/>
                  </a:lnTo>
                  <a:cubicBezTo>
                    <a:pt x="268945" y="59531"/>
                    <a:pt x="277813" y="68399"/>
                    <a:pt x="277813" y="79375"/>
                  </a:cubicBezTo>
                  <a:cubicBezTo>
                    <a:pt x="277813" y="90351"/>
                    <a:pt x="268945" y="99219"/>
                    <a:pt x="257969" y="99219"/>
                  </a:cubicBezTo>
                  <a:lnTo>
                    <a:pt x="257969" y="138906"/>
                  </a:lnTo>
                  <a:cubicBezTo>
                    <a:pt x="257969" y="197879"/>
                    <a:pt x="215057" y="246869"/>
                    <a:pt x="158750" y="256294"/>
                  </a:cubicBezTo>
                  <a:lnTo>
                    <a:pt x="158750" y="297656"/>
                  </a:lnTo>
                  <a:cubicBezTo>
                    <a:pt x="158750" y="308632"/>
                    <a:pt x="149882" y="317500"/>
                    <a:pt x="138906" y="317500"/>
                  </a:cubicBezTo>
                  <a:cubicBezTo>
                    <a:pt x="127930" y="317500"/>
                    <a:pt x="119062" y="308632"/>
                    <a:pt x="119062" y="297656"/>
                  </a:cubicBezTo>
                  <a:lnTo>
                    <a:pt x="119062" y="256294"/>
                  </a:lnTo>
                  <a:cubicBezTo>
                    <a:pt x="62756" y="246869"/>
                    <a:pt x="19844" y="197879"/>
                    <a:pt x="19844" y="138906"/>
                  </a:cubicBezTo>
                  <a:lnTo>
                    <a:pt x="19844" y="99219"/>
                  </a:lnTo>
                  <a:cubicBezTo>
                    <a:pt x="8868" y="99219"/>
                    <a:pt x="0" y="90351"/>
                    <a:pt x="0" y="79375"/>
                  </a:cubicBezTo>
                  <a:cubicBezTo>
                    <a:pt x="0" y="68399"/>
                    <a:pt x="8868" y="59531"/>
                    <a:pt x="19844" y="59531"/>
                  </a:cubicBezTo>
                  <a:lnTo>
                    <a:pt x="59531" y="59531"/>
                  </a:lnTo>
                  <a:lnTo>
                    <a:pt x="59531" y="0"/>
                  </a:lnTo>
                  <a:cubicBezTo>
                    <a:pt x="59531" y="-10976"/>
                    <a:pt x="68399" y="-19844"/>
                    <a:pt x="79375" y="-19844"/>
                  </a:cubicBezTo>
                  <a:close/>
                </a:path>
              </a:pathLst>
            </a:custGeom>
            <a:solidFill>
              <a:srgbClr val="FFFFFF"/>
            </a:solidFill>
          </p:spPr>
        </p:sp>
        <p:sp>
          <p:nvSpPr>
            <p:cNvPr id="25" name="Shape 23"/>
            <p:cNvSpPr/>
            <p:nvPr/>
          </p:nvSpPr>
          <p:spPr>
            <a:xfrm>
              <a:off x="14108" y="2655"/>
              <a:ext cx="1176" cy="412"/>
            </a:xfrm>
            <a:custGeom>
              <a:avLst/>
              <a:gdLst/>
              <a:ahLst/>
              <a:cxnLst/>
              <a:rect l="l" t="t" r="r" b="b"/>
              <a:pathLst>
                <a:path w="846667" h="296333">
                  <a:moveTo>
                    <a:pt x="148167" y="0"/>
                  </a:moveTo>
                  <a:lnTo>
                    <a:pt x="698500" y="0"/>
                  </a:lnTo>
                  <a:cubicBezTo>
                    <a:pt x="780275" y="0"/>
                    <a:pt x="846667" y="66391"/>
                    <a:pt x="846667" y="148167"/>
                  </a:cubicBezTo>
                  <a:lnTo>
                    <a:pt x="846667" y="148167"/>
                  </a:lnTo>
                  <a:cubicBezTo>
                    <a:pt x="846667" y="229942"/>
                    <a:pt x="780275" y="296333"/>
                    <a:pt x="698500" y="296333"/>
                  </a:cubicBezTo>
                  <a:lnTo>
                    <a:pt x="148167" y="296333"/>
                  </a:lnTo>
                  <a:cubicBezTo>
                    <a:pt x="66391" y="296333"/>
                    <a:pt x="0" y="229942"/>
                    <a:pt x="0" y="148167"/>
                  </a:cubicBezTo>
                  <a:lnTo>
                    <a:pt x="0" y="148167"/>
                  </a:lnTo>
                  <a:cubicBezTo>
                    <a:pt x="0" y="66391"/>
                    <a:pt x="66391" y="0"/>
                    <a:pt x="148167" y="0"/>
                  </a:cubicBezTo>
                  <a:close/>
                </a:path>
              </a:pathLst>
            </a:custGeom>
            <a:solidFill>
              <a:srgbClr val="E5A044">
                <a:alpha val="20000"/>
              </a:srgbClr>
            </a:solidFill>
          </p:spPr>
        </p:sp>
        <p:sp>
          <p:nvSpPr>
            <p:cNvPr id="26" name="Text 24"/>
            <p:cNvSpPr/>
            <p:nvPr/>
          </p:nvSpPr>
          <p:spPr>
            <a:xfrm>
              <a:off x="14108" y="2655"/>
              <a:ext cx="1279" cy="412"/>
            </a:xfrm>
            <a:prstGeom prst="rect">
              <a:avLst/>
            </a:prstGeom>
            <a:noFill/>
          </p:spPr>
          <p:txBody>
            <a:bodyPr wrap="square" lIns="127000" tIns="42333" rIns="127000" bIns="42333" rtlCol="0" anchor="ctr"/>
            <a:lstStyle/>
            <a:p>
              <a:pPr>
                <a:lnSpc>
                  <a:spcPct val="120000"/>
                </a:lnSpc>
              </a:pPr>
              <a:r>
                <a:rPr lang="en-US" sz="1165" b="1" dirty="0">
                  <a:solidFill>
                    <a:srgbClr val="E5A044"/>
                  </a:solidFill>
                  <a:latin typeface="MiSans" pitchFamily="34" charset="-122"/>
                  <a:ea typeface="MiSans" pitchFamily="34" charset="-122"/>
                  <a:cs typeface="MiSans" pitchFamily="34" charset="-120"/>
                </a:rPr>
                <a:t>创新点二</a:t>
              </a:r>
              <a:endParaRPr lang="en-US" sz="1600" dirty="0"/>
            </a:p>
          </p:txBody>
        </p:sp>
        <p:sp>
          <p:nvSpPr>
            <p:cNvPr id="27" name="Text 25"/>
            <p:cNvSpPr/>
            <p:nvPr/>
          </p:nvSpPr>
          <p:spPr>
            <a:xfrm>
              <a:off x="14108" y="3184"/>
              <a:ext cx="8789" cy="470"/>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浏览器插件即时分析</a:t>
              </a:r>
              <a:endParaRPr lang="en-US" sz="1600" dirty="0"/>
            </a:p>
          </p:txBody>
        </p:sp>
        <p:sp>
          <p:nvSpPr>
            <p:cNvPr id="28" name="Text 26"/>
            <p:cNvSpPr/>
            <p:nvPr/>
          </p:nvSpPr>
          <p:spPr>
            <a:xfrm>
              <a:off x="12932" y="3890"/>
              <a:ext cx="9906" cy="2219"/>
            </a:xfrm>
            <a:prstGeom prst="rect">
              <a:avLst/>
            </a:prstGeom>
            <a:noFill/>
          </p:spPr>
          <p:txBody>
            <a:bodyPr wrap="square" lIns="0" tIns="0" rIns="0" bIns="0" rtlCol="0" anchor="ctr"/>
            <a:lstStyle/>
            <a:p>
              <a:pPr>
                <a:lnSpc>
                  <a:spcPct val="140000"/>
                </a:lnSpc>
              </a:pPr>
              <a:r>
                <a:rPr lang="en-US" sz="1335" b="1" dirty="0">
                  <a:solidFill>
                    <a:srgbClr val="E5A044"/>
                  </a:solidFill>
                  <a:latin typeface="MiSans" pitchFamily="34" charset="-122"/>
                  <a:ea typeface="MiSans" pitchFamily="34" charset="-122"/>
                  <a:cs typeface="MiSans" pitchFamily="34" charset="-120"/>
                </a:rPr>
                <a:t>基于浏览器插件的"即时开源项目分析"模式</a:t>
              </a:r>
              <a:r>
                <a:rPr lang="en-US" sz="1335" dirty="0">
                  <a:solidFill>
                    <a:srgbClr val="E0E2E6">
                      <a:alpha val="80000"/>
                    </a:srgbClr>
                  </a:solidFill>
                  <a:latin typeface="MiSans" pitchFamily="34" charset="-122"/>
                  <a:ea typeface="MiSans" pitchFamily="34" charset="-122"/>
                  <a:cs typeface="MiSans" pitchFamily="34" charset="-120"/>
                </a:rPr>
                <a:t>,将开源项目分析能力前移到开发者日常浏览行为中,实现"即看即分析"。无需克隆仓库、无需复杂部署,用户只需在GitHub页面点击插件,即可完成依赖分析和环境生成。</a:t>
              </a:r>
              <a:endParaRPr lang="en-US" sz="1600" dirty="0"/>
            </a:p>
          </p:txBody>
        </p:sp>
        <p:sp>
          <p:nvSpPr>
            <p:cNvPr id="29" name="Shape 27"/>
            <p:cNvSpPr/>
            <p:nvPr/>
          </p:nvSpPr>
          <p:spPr>
            <a:xfrm>
              <a:off x="12932" y="6349"/>
              <a:ext cx="9789" cy="1176"/>
            </a:xfrm>
            <a:custGeom>
              <a:avLst/>
              <a:gdLst/>
              <a:ahLst/>
              <a:cxnLst/>
              <a:rect l="l" t="t" r="r" b="b"/>
              <a:pathLst>
                <a:path w="7048500" h="846667">
                  <a:moveTo>
                    <a:pt x="84667" y="0"/>
                  </a:moveTo>
                  <a:lnTo>
                    <a:pt x="6963833" y="0"/>
                  </a:lnTo>
                  <a:cubicBezTo>
                    <a:pt x="7010593" y="0"/>
                    <a:pt x="7048500" y="37907"/>
                    <a:pt x="7048500" y="84667"/>
                  </a:cubicBezTo>
                  <a:lnTo>
                    <a:pt x="7048500" y="762000"/>
                  </a:lnTo>
                  <a:cubicBezTo>
                    <a:pt x="7048500" y="808760"/>
                    <a:pt x="7010593" y="846667"/>
                    <a:pt x="6963833" y="846667"/>
                  </a:cubicBezTo>
                  <a:lnTo>
                    <a:pt x="84667" y="846667"/>
                  </a:lnTo>
                  <a:cubicBezTo>
                    <a:pt x="37907" y="846667"/>
                    <a:pt x="0" y="808760"/>
                    <a:pt x="0" y="762000"/>
                  </a:cubicBezTo>
                  <a:lnTo>
                    <a:pt x="0" y="84667"/>
                  </a:lnTo>
                  <a:cubicBezTo>
                    <a:pt x="0" y="37907"/>
                    <a:pt x="37907" y="0"/>
                    <a:pt x="84667" y="0"/>
                  </a:cubicBezTo>
                  <a:close/>
                </a:path>
              </a:pathLst>
            </a:custGeom>
            <a:solidFill>
              <a:srgbClr val="E5A044">
                <a:alpha val="10196"/>
              </a:srgbClr>
            </a:solidFill>
          </p:spPr>
        </p:sp>
        <p:sp>
          <p:nvSpPr>
            <p:cNvPr id="30" name="Text 28"/>
            <p:cNvSpPr/>
            <p:nvPr/>
          </p:nvSpPr>
          <p:spPr>
            <a:xfrm>
              <a:off x="13167" y="6673"/>
              <a:ext cx="1337" cy="294"/>
            </a:xfrm>
            <a:prstGeom prst="rect">
              <a:avLst/>
            </a:prstGeom>
            <a:noFill/>
          </p:spPr>
          <p:txBody>
            <a:bodyPr wrap="square" lIns="0" tIns="0" rIns="0" bIns="0" rtlCol="0" anchor="ctr"/>
            <a:lstStyle/>
            <a:p>
              <a:pPr>
                <a:lnSpc>
                  <a:spcPct val="120000"/>
                </a:lnSpc>
              </a:pPr>
              <a:r>
                <a:rPr lang="en-US" sz="1165" dirty="0">
                  <a:solidFill>
                    <a:srgbClr val="E0E2E6">
                      <a:alpha val="70000"/>
                    </a:srgbClr>
                  </a:solidFill>
                  <a:latin typeface="MiSans" pitchFamily="34" charset="-122"/>
                  <a:ea typeface="MiSans" pitchFamily="34" charset="-122"/>
                  <a:cs typeface="MiSans" pitchFamily="34" charset="-120"/>
                </a:rPr>
                <a:t>使用门槛降低</a:t>
              </a:r>
              <a:endParaRPr lang="en-US" sz="1600" dirty="0"/>
            </a:p>
          </p:txBody>
        </p:sp>
        <p:sp>
          <p:nvSpPr>
            <p:cNvPr id="32" name="Shape 30"/>
            <p:cNvSpPr/>
            <p:nvPr/>
          </p:nvSpPr>
          <p:spPr>
            <a:xfrm>
              <a:off x="13167" y="7172"/>
              <a:ext cx="9318" cy="118"/>
            </a:xfrm>
            <a:custGeom>
              <a:avLst/>
              <a:gdLst/>
              <a:ahLst/>
              <a:cxnLst/>
              <a:rect l="l" t="t" r="r" b="b"/>
              <a:pathLst>
                <a:path w="6709833" h="84667">
                  <a:moveTo>
                    <a:pt x="42333" y="0"/>
                  </a:moveTo>
                  <a:lnTo>
                    <a:pt x="6667500" y="0"/>
                  </a:lnTo>
                  <a:cubicBezTo>
                    <a:pt x="6690880" y="0"/>
                    <a:pt x="6709833" y="18953"/>
                    <a:pt x="6709833" y="42333"/>
                  </a:cubicBezTo>
                  <a:lnTo>
                    <a:pt x="6709833" y="42333"/>
                  </a:lnTo>
                  <a:cubicBezTo>
                    <a:pt x="6709833" y="65713"/>
                    <a:pt x="6690880" y="84667"/>
                    <a:pt x="6667500" y="84667"/>
                  </a:cubicBezTo>
                  <a:lnTo>
                    <a:pt x="42333" y="84667"/>
                  </a:lnTo>
                  <a:cubicBezTo>
                    <a:pt x="18953" y="84667"/>
                    <a:pt x="0" y="65713"/>
                    <a:pt x="0" y="42333"/>
                  </a:cubicBezTo>
                  <a:lnTo>
                    <a:pt x="0" y="42333"/>
                  </a:lnTo>
                  <a:cubicBezTo>
                    <a:pt x="0" y="18953"/>
                    <a:pt x="18953" y="0"/>
                    <a:pt x="42333" y="0"/>
                  </a:cubicBezTo>
                  <a:close/>
                </a:path>
              </a:pathLst>
            </a:custGeom>
            <a:solidFill>
              <a:srgbClr val="E5A044">
                <a:alpha val="20000"/>
              </a:srgbClr>
            </a:solidFill>
          </p:spPr>
        </p:sp>
        <p:sp>
          <p:nvSpPr>
            <p:cNvPr id="33" name="Shape 31"/>
            <p:cNvSpPr/>
            <p:nvPr/>
          </p:nvSpPr>
          <p:spPr>
            <a:xfrm>
              <a:off x="13167" y="7172"/>
              <a:ext cx="8392" cy="118"/>
            </a:xfrm>
            <a:custGeom>
              <a:avLst/>
              <a:gdLst/>
              <a:ahLst/>
              <a:cxnLst/>
              <a:rect l="l" t="t" r="r" b="b"/>
              <a:pathLst>
                <a:path w="6043083" h="84667">
                  <a:moveTo>
                    <a:pt x="42333" y="0"/>
                  </a:moveTo>
                  <a:lnTo>
                    <a:pt x="6000750" y="0"/>
                  </a:lnTo>
                  <a:cubicBezTo>
                    <a:pt x="6024130" y="0"/>
                    <a:pt x="6043083" y="18953"/>
                    <a:pt x="6043083" y="42333"/>
                  </a:cubicBezTo>
                  <a:lnTo>
                    <a:pt x="6043083" y="42333"/>
                  </a:lnTo>
                  <a:cubicBezTo>
                    <a:pt x="6043083" y="65713"/>
                    <a:pt x="6024130" y="84667"/>
                    <a:pt x="6000750" y="84667"/>
                  </a:cubicBezTo>
                  <a:lnTo>
                    <a:pt x="42333" y="84667"/>
                  </a:lnTo>
                  <a:cubicBezTo>
                    <a:pt x="18953" y="84667"/>
                    <a:pt x="0" y="65713"/>
                    <a:pt x="0" y="42333"/>
                  </a:cubicBezTo>
                  <a:lnTo>
                    <a:pt x="0" y="42333"/>
                  </a:lnTo>
                  <a:cubicBezTo>
                    <a:pt x="0" y="18953"/>
                    <a:pt x="18953" y="0"/>
                    <a:pt x="42333" y="0"/>
                  </a:cubicBezTo>
                  <a:close/>
                </a:path>
              </a:pathLst>
            </a:custGeom>
            <a:solidFill>
              <a:srgbClr val="E5A044"/>
            </a:solidFill>
          </p:spPr>
        </p:sp>
      </p:grpSp>
      <p:grpSp>
        <p:nvGrpSpPr>
          <p:cNvPr id="68" name="组合 67"/>
          <p:cNvGrpSpPr/>
          <p:nvPr/>
        </p:nvGrpSpPr>
        <p:grpSpPr>
          <a:xfrm>
            <a:off x="515620" y="4850130"/>
            <a:ext cx="7242175" cy="3240582"/>
            <a:chOff x="1703" y="8172"/>
            <a:chExt cx="10524" cy="5571"/>
          </a:xfrm>
        </p:grpSpPr>
        <p:sp>
          <p:nvSpPr>
            <p:cNvPr id="34" name="Shape 32"/>
            <p:cNvSpPr/>
            <p:nvPr/>
          </p:nvSpPr>
          <p:spPr>
            <a:xfrm>
              <a:off x="1703" y="8172"/>
              <a:ext cx="10524" cy="5571"/>
            </a:xfrm>
            <a:custGeom>
              <a:avLst/>
              <a:gdLst/>
              <a:ahLst/>
              <a:cxnLst/>
              <a:rect l="l" t="t" r="r" b="b"/>
              <a:pathLst>
                <a:path w="7577667" h="4011083">
                  <a:moveTo>
                    <a:pt x="42333" y="0"/>
                  </a:moveTo>
                  <a:lnTo>
                    <a:pt x="7450676" y="0"/>
                  </a:lnTo>
                  <a:cubicBezTo>
                    <a:pt x="7520811" y="0"/>
                    <a:pt x="7577667" y="56856"/>
                    <a:pt x="7577667" y="126991"/>
                  </a:cubicBezTo>
                  <a:lnTo>
                    <a:pt x="7577667" y="3884092"/>
                  </a:lnTo>
                  <a:cubicBezTo>
                    <a:pt x="7577667" y="3954228"/>
                    <a:pt x="7520811" y="4011083"/>
                    <a:pt x="7450676" y="4011083"/>
                  </a:cubicBezTo>
                  <a:lnTo>
                    <a:pt x="42333" y="4011083"/>
                  </a:lnTo>
                  <a:cubicBezTo>
                    <a:pt x="18953" y="4011083"/>
                    <a:pt x="0" y="3992130"/>
                    <a:pt x="0" y="3968750"/>
                  </a:cubicBezTo>
                  <a:lnTo>
                    <a:pt x="0" y="42333"/>
                  </a:lnTo>
                  <a:cubicBezTo>
                    <a:pt x="0" y="18969"/>
                    <a:pt x="18969" y="0"/>
                    <a:pt x="42333" y="0"/>
                  </a:cubicBezTo>
                  <a:close/>
                </a:path>
              </a:pathLst>
            </a:custGeom>
            <a:gradFill flip="none" rotWithShape="1">
              <a:gsLst>
                <a:gs pos="0">
                  <a:srgbClr val="5A6472">
                    <a:alpha val="15000"/>
                  </a:srgbClr>
                </a:gs>
                <a:gs pos="100000">
                  <a:srgbClr val="000000">
                    <a:alpha val="0"/>
                  </a:srgbClr>
                </a:gs>
              </a:gsLst>
              <a:lin ang="2700000" scaled="1"/>
            </a:gradFill>
          </p:spPr>
        </p:sp>
        <p:sp>
          <p:nvSpPr>
            <p:cNvPr id="35" name="Shape 33"/>
            <p:cNvSpPr/>
            <p:nvPr/>
          </p:nvSpPr>
          <p:spPr>
            <a:xfrm>
              <a:off x="1703" y="8172"/>
              <a:ext cx="59" cy="5571"/>
            </a:xfrm>
            <a:custGeom>
              <a:avLst/>
              <a:gdLst/>
              <a:ahLst/>
              <a:cxnLst/>
              <a:rect l="l" t="t" r="r" b="b"/>
              <a:pathLst>
                <a:path w="42333" h="4011083">
                  <a:moveTo>
                    <a:pt x="42333" y="0"/>
                  </a:moveTo>
                  <a:lnTo>
                    <a:pt x="42333" y="0"/>
                  </a:lnTo>
                  <a:lnTo>
                    <a:pt x="42333" y="4011083"/>
                  </a:lnTo>
                  <a:lnTo>
                    <a:pt x="42333" y="4011083"/>
                  </a:lnTo>
                  <a:cubicBezTo>
                    <a:pt x="18953" y="4011083"/>
                    <a:pt x="0" y="3992130"/>
                    <a:pt x="0" y="3968750"/>
                  </a:cubicBezTo>
                  <a:lnTo>
                    <a:pt x="0" y="42333"/>
                  </a:lnTo>
                  <a:cubicBezTo>
                    <a:pt x="0" y="18953"/>
                    <a:pt x="18953" y="0"/>
                    <a:pt x="42333" y="0"/>
                  </a:cubicBezTo>
                  <a:close/>
                </a:path>
              </a:pathLst>
            </a:custGeom>
            <a:solidFill>
              <a:srgbClr val="5A6472"/>
            </a:solidFill>
          </p:spPr>
        </p:sp>
        <p:sp>
          <p:nvSpPr>
            <p:cNvPr id="36" name="Shape 34"/>
            <p:cNvSpPr/>
            <p:nvPr/>
          </p:nvSpPr>
          <p:spPr>
            <a:xfrm>
              <a:off x="2085" y="8525"/>
              <a:ext cx="941" cy="941"/>
            </a:xfrm>
            <a:custGeom>
              <a:avLst/>
              <a:gdLst/>
              <a:ahLst/>
              <a:cxnLst/>
              <a:rect l="l" t="t" r="r" b="b"/>
              <a:pathLst>
                <a:path w="677333" h="677333">
                  <a:moveTo>
                    <a:pt x="127000" y="0"/>
                  </a:moveTo>
                  <a:lnTo>
                    <a:pt x="550333" y="0"/>
                  </a:lnTo>
                  <a:cubicBezTo>
                    <a:pt x="620427" y="0"/>
                    <a:pt x="677333" y="56907"/>
                    <a:pt x="677333" y="127000"/>
                  </a:cubicBezTo>
                  <a:lnTo>
                    <a:pt x="677333" y="550333"/>
                  </a:lnTo>
                  <a:cubicBezTo>
                    <a:pt x="677333" y="620427"/>
                    <a:pt x="620427" y="677333"/>
                    <a:pt x="550333" y="677333"/>
                  </a:cubicBezTo>
                  <a:lnTo>
                    <a:pt x="127000" y="677333"/>
                  </a:lnTo>
                  <a:cubicBezTo>
                    <a:pt x="56907" y="677333"/>
                    <a:pt x="0" y="620427"/>
                    <a:pt x="0" y="550333"/>
                  </a:cubicBezTo>
                  <a:lnTo>
                    <a:pt x="0" y="127000"/>
                  </a:lnTo>
                  <a:cubicBezTo>
                    <a:pt x="0" y="56907"/>
                    <a:pt x="56907" y="0"/>
                    <a:pt x="127000" y="0"/>
                  </a:cubicBezTo>
                  <a:close/>
                </a:path>
              </a:pathLst>
            </a:custGeom>
            <a:solidFill>
              <a:srgbClr val="5A6472"/>
            </a:solidFill>
          </p:spPr>
        </p:sp>
        <p:sp>
          <p:nvSpPr>
            <p:cNvPr id="37" name="Shape 35"/>
            <p:cNvSpPr/>
            <p:nvPr/>
          </p:nvSpPr>
          <p:spPr>
            <a:xfrm>
              <a:off x="2311" y="8775"/>
              <a:ext cx="496" cy="441"/>
            </a:xfrm>
            <a:custGeom>
              <a:avLst/>
              <a:gdLst/>
              <a:ahLst/>
              <a:cxnLst/>
              <a:rect l="l" t="t" r="r" b="b"/>
              <a:pathLst>
                <a:path w="357188" h="317500">
                  <a:moveTo>
                    <a:pt x="315888" y="61144"/>
                  </a:moveTo>
                  <a:cubicBezTo>
                    <a:pt x="320601" y="56431"/>
                    <a:pt x="328476" y="57609"/>
                    <a:pt x="330833" y="63810"/>
                  </a:cubicBezTo>
                  <a:cubicBezTo>
                    <a:pt x="335049" y="74786"/>
                    <a:pt x="337344" y="86754"/>
                    <a:pt x="337344" y="99219"/>
                  </a:cubicBezTo>
                  <a:cubicBezTo>
                    <a:pt x="337344" y="154037"/>
                    <a:pt x="292943" y="198438"/>
                    <a:pt x="238125" y="198438"/>
                  </a:cubicBezTo>
                  <a:cubicBezTo>
                    <a:pt x="227273" y="198438"/>
                    <a:pt x="216793" y="196701"/>
                    <a:pt x="206995" y="193477"/>
                  </a:cubicBezTo>
                  <a:lnTo>
                    <a:pt x="91095" y="309376"/>
                  </a:lnTo>
                  <a:cubicBezTo>
                    <a:pt x="73670" y="326802"/>
                    <a:pt x="45393" y="326802"/>
                    <a:pt x="27967" y="309376"/>
                  </a:cubicBezTo>
                  <a:cubicBezTo>
                    <a:pt x="10542" y="291951"/>
                    <a:pt x="10542" y="263674"/>
                    <a:pt x="27967" y="246249"/>
                  </a:cubicBezTo>
                  <a:lnTo>
                    <a:pt x="143867" y="130349"/>
                  </a:lnTo>
                  <a:cubicBezTo>
                    <a:pt x="140643" y="120551"/>
                    <a:pt x="138906" y="110133"/>
                    <a:pt x="138906" y="99219"/>
                  </a:cubicBezTo>
                  <a:cubicBezTo>
                    <a:pt x="138906" y="44400"/>
                    <a:pt x="183307" y="0"/>
                    <a:pt x="238125" y="0"/>
                  </a:cubicBezTo>
                  <a:cubicBezTo>
                    <a:pt x="250589" y="0"/>
                    <a:pt x="262558" y="2294"/>
                    <a:pt x="273534" y="6511"/>
                  </a:cubicBezTo>
                  <a:cubicBezTo>
                    <a:pt x="279735" y="8868"/>
                    <a:pt x="280851" y="16743"/>
                    <a:pt x="276200" y="21456"/>
                  </a:cubicBezTo>
                  <a:lnTo>
                    <a:pt x="221196" y="76460"/>
                  </a:lnTo>
                  <a:cubicBezTo>
                    <a:pt x="219335" y="78321"/>
                    <a:pt x="218281" y="80863"/>
                    <a:pt x="218281" y="83468"/>
                  </a:cubicBezTo>
                  <a:lnTo>
                    <a:pt x="218281" y="109141"/>
                  </a:lnTo>
                  <a:cubicBezTo>
                    <a:pt x="218281" y="114598"/>
                    <a:pt x="222746" y="119063"/>
                    <a:pt x="228203" y="119063"/>
                  </a:cubicBezTo>
                  <a:lnTo>
                    <a:pt x="253876" y="119063"/>
                  </a:lnTo>
                  <a:cubicBezTo>
                    <a:pt x="256480" y="119063"/>
                    <a:pt x="259023" y="118008"/>
                    <a:pt x="260883" y="116148"/>
                  </a:cubicBezTo>
                  <a:lnTo>
                    <a:pt x="315888" y="61144"/>
                  </a:lnTo>
                  <a:close/>
                </a:path>
              </a:pathLst>
            </a:custGeom>
            <a:solidFill>
              <a:srgbClr val="FFFFFF"/>
            </a:solidFill>
          </p:spPr>
        </p:sp>
        <p:sp>
          <p:nvSpPr>
            <p:cNvPr id="38" name="Shape 36"/>
            <p:cNvSpPr/>
            <p:nvPr/>
          </p:nvSpPr>
          <p:spPr>
            <a:xfrm>
              <a:off x="3261" y="8525"/>
              <a:ext cx="1176" cy="412"/>
            </a:xfrm>
            <a:custGeom>
              <a:avLst/>
              <a:gdLst/>
              <a:ahLst/>
              <a:cxnLst/>
              <a:rect l="l" t="t" r="r" b="b"/>
              <a:pathLst>
                <a:path w="846667" h="296333">
                  <a:moveTo>
                    <a:pt x="148167" y="0"/>
                  </a:moveTo>
                  <a:lnTo>
                    <a:pt x="698500" y="0"/>
                  </a:lnTo>
                  <a:cubicBezTo>
                    <a:pt x="780275" y="0"/>
                    <a:pt x="846667" y="66391"/>
                    <a:pt x="846667" y="148167"/>
                  </a:cubicBezTo>
                  <a:lnTo>
                    <a:pt x="846667" y="148167"/>
                  </a:lnTo>
                  <a:cubicBezTo>
                    <a:pt x="846667" y="229942"/>
                    <a:pt x="780275" y="296333"/>
                    <a:pt x="698500" y="296333"/>
                  </a:cubicBezTo>
                  <a:lnTo>
                    <a:pt x="148167" y="296333"/>
                  </a:lnTo>
                  <a:cubicBezTo>
                    <a:pt x="66391" y="296333"/>
                    <a:pt x="0" y="229942"/>
                    <a:pt x="0" y="148167"/>
                  </a:cubicBezTo>
                  <a:lnTo>
                    <a:pt x="0" y="148167"/>
                  </a:lnTo>
                  <a:cubicBezTo>
                    <a:pt x="0" y="66391"/>
                    <a:pt x="66391" y="0"/>
                    <a:pt x="148167" y="0"/>
                  </a:cubicBezTo>
                  <a:close/>
                </a:path>
              </a:pathLst>
            </a:custGeom>
            <a:solidFill>
              <a:srgbClr val="E5A044">
                <a:alpha val="20000"/>
              </a:srgbClr>
            </a:solidFill>
          </p:spPr>
        </p:sp>
        <p:sp>
          <p:nvSpPr>
            <p:cNvPr id="39" name="Text 37"/>
            <p:cNvSpPr/>
            <p:nvPr/>
          </p:nvSpPr>
          <p:spPr>
            <a:xfrm>
              <a:off x="3261" y="8525"/>
              <a:ext cx="1279" cy="412"/>
            </a:xfrm>
            <a:prstGeom prst="rect">
              <a:avLst/>
            </a:prstGeom>
            <a:noFill/>
          </p:spPr>
          <p:txBody>
            <a:bodyPr wrap="square" lIns="127000" tIns="42333" rIns="127000" bIns="42333" rtlCol="0" anchor="ctr"/>
            <a:lstStyle/>
            <a:p>
              <a:pPr>
                <a:lnSpc>
                  <a:spcPct val="120000"/>
                </a:lnSpc>
              </a:pPr>
              <a:r>
                <a:rPr lang="en-US" sz="1165" b="1" dirty="0">
                  <a:solidFill>
                    <a:srgbClr val="E5A044"/>
                  </a:solidFill>
                  <a:latin typeface="MiSans" pitchFamily="34" charset="-122"/>
                  <a:ea typeface="MiSans" pitchFamily="34" charset="-122"/>
                  <a:cs typeface="MiSans" pitchFamily="34" charset="-120"/>
                </a:rPr>
                <a:t>创新点三</a:t>
              </a:r>
              <a:endParaRPr lang="en-US" sz="1600" dirty="0"/>
            </a:p>
          </p:txBody>
        </p:sp>
        <p:sp>
          <p:nvSpPr>
            <p:cNvPr id="40" name="Text 38"/>
            <p:cNvSpPr/>
            <p:nvPr/>
          </p:nvSpPr>
          <p:spPr>
            <a:xfrm>
              <a:off x="3261" y="9054"/>
              <a:ext cx="8789" cy="470"/>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面向复现失败场景</a:t>
              </a:r>
              <a:endParaRPr lang="en-US" sz="1600" dirty="0"/>
            </a:p>
          </p:txBody>
        </p:sp>
        <p:sp>
          <p:nvSpPr>
            <p:cNvPr id="41" name="Text 39"/>
            <p:cNvSpPr/>
            <p:nvPr/>
          </p:nvSpPr>
          <p:spPr>
            <a:xfrm>
              <a:off x="2085" y="9759"/>
              <a:ext cx="9906" cy="2219"/>
            </a:xfrm>
            <a:prstGeom prst="rect">
              <a:avLst/>
            </a:prstGeom>
            <a:noFill/>
          </p:spPr>
          <p:txBody>
            <a:bodyPr wrap="square" lIns="0" tIns="0" rIns="0" bIns="0" rtlCol="0" anchor="ctr"/>
            <a:lstStyle/>
            <a:p>
              <a:pPr>
                <a:lnSpc>
                  <a:spcPct val="140000"/>
                </a:lnSpc>
              </a:pPr>
              <a:r>
                <a:rPr lang="en-US" sz="1335" b="1" dirty="0">
                  <a:solidFill>
                    <a:srgbClr val="5A6472"/>
                  </a:solidFill>
                  <a:latin typeface="MiSans" pitchFamily="34" charset="-122"/>
                  <a:ea typeface="MiSans" pitchFamily="34" charset="-122"/>
                  <a:cs typeface="MiSans" pitchFamily="34" charset="-120"/>
                </a:rPr>
                <a:t>面向复现失败场景的自动化辅助工具定位</a:t>
              </a:r>
              <a:r>
                <a:rPr lang="en-US" sz="1335" dirty="0">
                  <a:solidFill>
                    <a:srgbClr val="E0E2E6">
                      <a:alpha val="80000"/>
                    </a:srgbClr>
                  </a:solidFill>
                  <a:latin typeface="MiSans" pitchFamily="34" charset="-122"/>
                  <a:ea typeface="MiSans" pitchFamily="34" charset="-122"/>
                  <a:cs typeface="MiSans" pitchFamily="34" charset="-120"/>
                </a:rPr>
                <a:t>,以"复现失败"为核心痛点,构建面向真实开发问题的工程化工具。相比开发阶段的依赖管理工具,本项目专注于解决已有项目的依赖补全和环境修复问题,填补了现有工具的生态空白。</a:t>
              </a:r>
              <a:endParaRPr lang="en-US" sz="1600" dirty="0"/>
            </a:p>
          </p:txBody>
        </p:sp>
        <p:sp>
          <p:nvSpPr>
            <p:cNvPr id="42" name="Shape 40"/>
            <p:cNvSpPr/>
            <p:nvPr/>
          </p:nvSpPr>
          <p:spPr>
            <a:xfrm>
              <a:off x="2085" y="12219"/>
              <a:ext cx="9789" cy="1176"/>
            </a:xfrm>
            <a:custGeom>
              <a:avLst/>
              <a:gdLst/>
              <a:ahLst/>
              <a:cxnLst/>
              <a:rect l="l" t="t" r="r" b="b"/>
              <a:pathLst>
                <a:path w="7048500" h="846667">
                  <a:moveTo>
                    <a:pt x="84667" y="0"/>
                  </a:moveTo>
                  <a:lnTo>
                    <a:pt x="6963833" y="0"/>
                  </a:lnTo>
                  <a:cubicBezTo>
                    <a:pt x="7010593" y="0"/>
                    <a:pt x="7048500" y="37907"/>
                    <a:pt x="7048500" y="84667"/>
                  </a:cubicBezTo>
                  <a:lnTo>
                    <a:pt x="7048500" y="762000"/>
                  </a:lnTo>
                  <a:cubicBezTo>
                    <a:pt x="7048500" y="808760"/>
                    <a:pt x="7010593" y="846667"/>
                    <a:pt x="6963833" y="846667"/>
                  </a:cubicBezTo>
                  <a:lnTo>
                    <a:pt x="84667" y="846667"/>
                  </a:lnTo>
                  <a:cubicBezTo>
                    <a:pt x="37907" y="846667"/>
                    <a:pt x="0" y="808760"/>
                    <a:pt x="0" y="762000"/>
                  </a:cubicBezTo>
                  <a:lnTo>
                    <a:pt x="0" y="84667"/>
                  </a:lnTo>
                  <a:cubicBezTo>
                    <a:pt x="0" y="37907"/>
                    <a:pt x="37907" y="0"/>
                    <a:pt x="84667" y="0"/>
                  </a:cubicBezTo>
                  <a:close/>
                </a:path>
              </a:pathLst>
            </a:custGeom>
            <a:solidFill>
              <a:srgbClr val="5A6472">
                <a:alpha val="10196"/>
              </a:srgbClr>
            </a:solidFill>
          </p:spPr>
        </p:sp>
        <p:sp>
          <p:nvSpPr>
            <p:cNvPr id="43" name="Text 41"/>
            <p:cNvSpPr/>
            <p:nvPr/>
          </p:nvSpPr>
          <p:spPr>
            <a:xfrm>
              <a:off x="2320" y="12542"/>
              <a:ext cx="1132" cy="294"/>
            </a:xfrm>
            <a:prstGeom prst="rect">
              <a:avLst/>
            </a:prstGeom>
            <a:noFill/>
          </p:spPr>
          <p:txBody>
            <a:bodyPr wrap="square" lIns="0" tIns="0" rIns="0" bIns="0" rtlCol="0" anchor="ctr"/>
            <a:lstStyle/>
            <a:p>
              <a:pPr>
                <a:lnSpc>
                  <a:spcPct val="120000"/>
                </a:lnSpc>
              </a:pPr>
              <a:r>
                <a:rPr lang="en-US" sz="1165" dirty="0">
                  <a:solidFill>
                    <a:srgbClr val="E0E2E6">
                      <a:alpha val="70000"/>
                    </a:srgbClr>
                  </a:solidFill>
                  <a:latin typeface="MiSans" pitchFamily="34" charset="-122"/>
                  <a:ea typeface="MiSans" pitchFamily="34" charset="-122"/>
                  <a:cs typeface="MiSans" pitchFamily="34" charset="-120"/>
                </a:rPr>
                <a:t>场景覆盖度</a:t>
              </a:r>
              <a:endParaRPr lang="en-US" sz="1600" dirty="0"/>
            </a:p>
          </p:txBody>
        </p:sp>
        <p:sp>
          <p:nvSpPr>
            <p:cNvPr id="45" name="Shape 43"/>
            <p:cNvSpPr/>
            <p:nvPr/>
          </p:nvSpPr>
          <p:spPr>
            <a:xfrm>
              <a:off x="2320" y="13042"/>
              <a:ext cx="9318" cy="118"/>
            </a:xfrm>
            <a:custGeom>
              <a:avLst/>
              <a:gdLst/>
              <a:ahLst/>
              <a:cxnLst/>
              <a:rect l="l" t="t" r="r" b="b"/>
              <a:pathLst>
                <a:path w="6709833" h="84667">
                  <a:moveTo>
                    <a:pt x="42333" y="0"/>
                  </a:moveTo>
                  <a:lnTo>
                    <a:pt x="6667500" y="0"/>
                  </a:lnTo>
                  <a:cubicBezTo>
                    <a:pt x="6690880" y="0"/>
                    <a:pt x="6709833" y="18953"/>
                    <a:pt x="6709833" y="42333"/>
                  </a:cubicBezTo>
                  <a:lnTo>
                    <a:pt x="6709833" y="42333"/>
                  </a:lnTo>
                  <a:cubicBezTo>
                    <a:pt x="6709833" y="65713"/>
                    <a:pt x="6690880" y="84667"/>
                    <a:pt x="6667500" y="84667"/>
                  </a:cubicBezTo>
                  <a:lnTo>
                    <a:pt x="42333" y="84667"/>
                  </a:lnTo>
                  <a:cubicBezTo>
                    <a:pt x="18953" y="84667"/>
                    <a:pt x="0" y="65713"/>
                    <a:pt x="0" y="42333"/>
                  </a:cubicBezTo>
                  <a:lnTo>
                    <a:pt x="0" y="42333"/>
                  </a:lnTo>
                  <a:cubicBezTo>
                    <a:pt x="0" y="18953"/>
                    <a:pt x="18953" y="0"/>
                    <a:pt x="42333" y="0"/>
                  </a:cubicBezTo>
                  <a:close/>
                </a:path>
              </a:pathLst>
            </a:custGeom>
            <a:solidFill>
              <a:srgbClr val="5A6472">
                <a:alpha val="20000"/>
              </a:srgbClr>
            </a:solidFill>
          </p:spPr>
        </p:sp>
        <p:sp>
          <p:nvSpPr>
            <p:cNvPr id="46" name="Shape 44"/>
            <p:cNvSpPr/>
            <p:nvPr/>
          </p:nvSpPr>
          <p:spPr>
            <a:xfrm>
              <a:off x="2320" y="13042"/>
              <a:ext cx="7922" cy="118"/>
            </a:xfrm>
            <a:custGeom>
              <a:avLst/>
              <a:gdLst/>
              <a:ahLst/>
              <a:cxnLst/>
              <a:rect l="l" t="t" r="r" b="b"/>
              <a:pathLst>
                <a:path w="5704417" h="84667">
                  <a:moveTo>
                    <a:pt x="42333" y="0"/>
                  </a:moveTo>
                  <a:lnTo>
                    <a:pt x="5662083" y="0"/>
                  </a:lnTo>
                  <a:cubicBezTo>
                    <a:pt x="5685463" y="0"/>
                    <a:pt x="5704417" y="18953"/>
                    <a:pt x="5704417" y="42333"/>
                  </a:cubicBezTo>
                  <a:lnTo>
                    <a:pt x="5704417" y="42333"/>
                  </a:lnTo>
                  <a:cubicBezTo>
                    <a:pt x="5704417" y="65713"/>
                    <a:pt x="5685463" y="84667"/>
                    <a:pt x="5662083" y="84667"/>
                  </a:cubicBezTo>
                  <a:lnTo>
                    <a:pt x="42333" y="84667"/>
                  </a:lnTo>
                  <a:cubicBezTo>
                    <a:pt x="18953" y="84667"/>
                    <a:pt x="0" y="65713"/>
                    <a:pt x="0" y="42333"/>
                  </a:cubicBezTo>
                  <a:lnTo>
                    <a:pt x="0" y="42333"/>
                  </a:lnTo>
                  <a:cubicBezTo>
                    <a:pt x="0" y="18953"/>
                    <a:pt x="18953" y="0"/>
                    <a:pt x="42333" y="0"/>
                  </a:cubicBezTo>
                  <a:close/>
                </a:path>
              </a:pathLst>
            </a:custGeom>
            <a:solidFill>
              <a:srgbClr val="5A6472"/>
            </a:solidFill>
          </p:spPr>
        </p:sp>
      </p:grpSp>
      <p:grpSp>
        <p:nvGrpSpPr>
          <p:cNvPr id="67" name="组合 66"/>
          <p:cNvGrpSpPr/>
          <p:nvPr/>
        </p:nvGrpSpPr>
        <p:grpSpPr>
          <a:xfrm>
            <a:off x="7969250" y="4850130"/>
            <a:ext cx="7235825" cy="3240582"/>
            <a:chOff x="12550" y="8172"/>
            <a:chExt cx="10524" cy="5571"/>
          </a:xfrm>
        </p:grpSpPr>
        <p:sp>
          <p:nvSpPr>
            <p:cNvPr id="47" name="Shape 45"/>
            <p:cNvSpPr/>
            <p:nvPr/>
          </p:nvSpPr>
          <p:spPr>
            <a:xfrm>
              <a:off x="12550" y="8172"/>
              <a:ext cx="10524" cy="5571"/>
            </a:xfrm>
            <a:custGeom>
              <a:avLst/>
              <a:gdLst/>
              <a:ahLst/>
              <a:cxnLst/>
              <a:rect l="l" t="t" r="r" b="b"/>
              <a:pathLst>
                <a:path w="7577667" h="4011083">
                  <a:moveTo>
                    <a:pt x="42333" y="0"/>
                  </a:moveTo>
                  <a:lnTo>
                    <a:pt x="7450676" y="0"/>
                  </a:lnTo>
                  <a:cubicBezTo>
                    <a:pt x="7520811" y="0"/>
                    <a:pt x="7577667" y="56856"/>
                    <a:pt x="7577667" y="126991"/>
                  </a:cubicBezTo>
                  <a:lnTo>
                    <a:pt x="7577667" y="3884092"/>
                  </a:lnTo>
                  <a:cubicBezTo>
                    <a:pt x="7577667" y="3954228"/>
                    <a:pt x="7520811" y="4011083"/>
                    <a:pt x="7450676" y="4011083"/>
                  </a:cubicBezTo>
                  <a:lnTo>
                    <a:pt x="42333" y="4011083"/>
                  </a:lnTo>
                  <a:cubicBezTo>
                    <a:pt x="18953" y="4011083"/>
                    <a:pt x="0" y="3992130"/>
                    <a:pt x="0" y="3968750"/>
                  </a:cubicBezTo>
                  <a:lnTo>
                    <a:pt x="0" y="42333"/>
                  </a:lnTo>
                  <a:cubicBezTo>
                    <a:pt x="0" y="18969"/>
                    <a:pt x="18969" y="0"/>
                    <a:pt x="42333" y="0"/>
                  </a:cubicBezTo>
                  <a:close/>
                </a:path>
              </a:pathLst>
            </a:custGeom>
            <a:gradFill flip="none" rotWithShape="1">
              <a:gsLst>
                <a:gs pos="0">
                  <a:srgbClr val="3D8F8A">
                    <a:alpha val="15000"/>
                  </a:srgbClr>
                </a:gs>
                <a:gs pos="100000">
                  <a:srgbClr val="000000">
                    <a:alpha val="0"/>
                  </a:srgbClr>
                </a:gs>
              </a:gsLst>
              <a:lin ang="2700000" scaled="1"/>
            </a:gradFill>
          </p:spPr>
        </p:sp>
        <p:sp>
          <p:nvSpPr>
            <p:cNvPr id="48" name="Shape 46"/>
            <p:cNvSpPr/>
            <p:nvPr/>
          </p:nvSpPr>
          <p:spPr>
            <a:xfrm>
              <a:off x="12550" y="8172"/>
              <a:ext cx="59" cy="5571"/>
            </a:xfrm>
            <a:custGeom>
              <a:avLst/>
              <a:gdLst/>
              <a:ahLst/>
              <a:cxnLst/>
              <a:rect l="l" t="t" r="r" b="b"/>
              <a:pathLst>
                <a:path w="42333" h="4011083">
                  <a:moveTo>
                    <a:pt x="42333" y="0"/>
                  </a:moveTo>
                  <a:lnTo>
                    <a:pt x="42333" y="0"/>
                  </a:lnTo>
                  <a:lnTo>
                    <a:pt x="42333" y="4011083"/>
                  </a:lnTo>
                  <a:lnTo>
                    <a:pt x="42333" y="4011083"/>
                  </a:lnTo>
                  <a:cubicBezTo>
                    <a:pt x="18953" y="4011083"/>
                    <a:pt x="0" y="3992130"/>
                    <a:pt x="0" y="3968750"/>
                  </a:cubicBezTo>
                  <a:lnTo>
                    <a:pt x="0" y="42333"/>
                  </a:lnTo>
                  <a:cubicBezTo>
                    <a:pt x="0" y="18953"/>
                    <a:pt x="18953" y="0"/>
                    <a:pt x="42333" y="0"/>
                  </a:cubicBezTo>
                  <a:close/>
                </a:path>
              </a:pathLst>
            </a:custGeom>
            <a:solidFill>
              <a:srgbClr val="3D8F8A"/>
            </a:solidFill>
          </p:spPr>
        </p:sp>
        <p:sp>
          <p:nvSpPr>
            <p:cNvPr id="49" name="Shape 47"/>
            <p:cNvSpPr/>
            <p:nvPr/>
          </p:nvSpPr>
          <p:spPr>
            <a:xfrm>
              <a:off x="12932" y="8525"/>
              <a:ext cx="941" cy="941"/>
            </a:xfrm>
            <a:custGeom>
              <a:avLst/>
              <a:gdLst/>
              <a:ahLst/>
              <a:cxnLst/>
              <a:rect l="l" t="t" r="r" b="b"/>
              <a:pathLst>
                <a:path w="677333" h="677333">
                  <a:moveTo>
                    <a:pt x="127000" y="0"/>
                  </a:moveTo>
                  <a:lnTo>
                    <a:pt x="550333" y="0"/>
                  </a:lnTo>
                  <a:cubicBezTo>
                    <a:pt x="620427" y="0"/>
                    <a:pt x="677333" y="56907"/>
                    <a:pt x="677333" y="127000"/>
                  </a:cubicBezTo>
                  <a:lnTo>
                    <a:pt x="677333" y="550333"/>
                  </a:lnTo>
                  <a:cubicBezTo>
                    <a:pt x="677333" y="620427"/>
                    <a:pt x="620427" y="677333"/>
                    <a:pt x="550333" y="677333"/>
                  </a:cubicBezTo>
                  <a:lnTo>
                    <a:pt x="127000" y="677333"/>
                  </a:lnTo>
                  <a:cubicBezTo>
                    <a:pt x="56907" y="677333"/>
                    <a:pt x="0" y="620427"/>
                    <a:pt x="0" y="550333"/>
                  </a:cubicBezTo>
                  <a:lnTo>
                    <a:pt x="0" y="127000"/>
                  </a:lnTo>
                  <a:cubicBezTo>
                    <a:pt x="0" y="56907"/>
                    <a:pt x="56907" y="0"/>
                    <a:pt x="127000" y="0"/>
                  </a:cubicBezTo>
                  <a:close/>
                </a:path>
              </a:pathLst>
            </a:custGeom>
            <a:solidFill>
              <a:srgbClr val="3D8F8A"/>
            </a:solidFill>
          </p:spPr>
        </p:sp>
        <p:sp>
          <p:nvSpPr>
            <p:cNvPr id="50" name="Shape 48"/>
            <p:cNvSpPr/>
            <p:nvPr/>
          </p:nvSpPr>
          <p:spPr>
            <a:xfrm>
              <a:off x="13213" y="8775"/>
              <a:ext cx="386" cy="441"/>
            </a:xfrm>
            <a:custGeom>
              <a:avLst/>
              <a:gdLst/>
              <a:ahLst/>
              <a:cxnLst/>
              <a:rect l="l" t="t" r="r" b="b"/>
              <a:pathLst>
                <a:path w="277813" h="317500">
                  <a:moveTo>
                    <a:pt x="277813" y="127620"/>
                  </a:moveTo>
                  <a:cubicBezTo>
                    <a:pt x="268635" y="133697"/>
                    <a:pt x="258093" y="138596"/>
                    <a:pt x="247117" y="142503"/>
                  </a:cubicBezTo>
                  <a:cubicBezTo>
                    <a:pt x="217971" y="152921"/>
                    <a:pt x="179710" y="158750"/>
                    <a:pt x="138906" y="158750"/>
                  </a:cubicBezTo>
                  <a:cubicBezTo>
                    <a:pt x="98103" y="158750"/>
                    <a:pt x="59779" y="152859"/>
                    <a:pt x="30696" y="142503"/>
                  </a:cubicBezTo>
                  <a:cubicBezTo>
                    <a:pt x="19782" y="138596"/>
                    <a:pt x="9178" y="133697"/>
                    <a:pt x="0" y="127620"/>
                  </a:cubicBezTo>
                  <a:lnTo>
                    <a:pt x="0" y="178594"/>
                  </a:lnTo>
                  <a:cubicBezTo>
                    <a:pt x="0" y="206003"/>
                    <a:pt x="62198" y="228203"/>
                    <a:pt x="138906" y="228203"/>
                  </a:cubicBezTo>
                  <a:cubicBezTo>
                    <a:pt x="215615" y="228203"/>
                    <a:pt x="277813" y="206003"/>
                    <a:pt x="277813" y="178594"/>
                  </a:cubicBezTo>
                  <a:lnTo>
                    <a:pt x="277813" y="127620"/>
                  </a:lnTo>
                  <a:close/>
                  <a:moveTo>
                    <a:pt x="277813" y="79375"/>
                  </a:moveTo>
                  <a:lnTo>
                    <a:pt x="277813" y="49609"/>
                  </a:lnTo>
                  <a:cubicBezTo>
                    <a:pt x="277813" y="22200"/>
                    <a:pt x="215615" y="0"/>
                    <a:pt x="138906" y="0"/>
                  </a:cubicBezTo>
                  <a:cubicBezTo>
                    <a:pt x="62198" y="0"/>
                    <a:pt x="0" y="22200"/>
                    <a:pt x="0" y="49609"/>
                  </a:cubicBezTo>
                  <a:lnTo>
                    <a:pt x="0" y="79375"/>
                  </a:lnTo>
                  <a:cubicBezTo>
                    <a:pt x="0" y="106784"/>
                    <a:pt x="62198" y="128984"/>
                    <a:pt x="138906" y="128984"/>
                  </a:cubicBezTo>
                  <a:cubicBezTo>
                    <a:pt x="215615" y="128984"/>
                    <a:pt x="277813" y="106784"/>
                    <a:pt x="277813" y="79375"/>
                  </a:cubicBezTo>
                  <a:close/>
                  <a:moveTo>
                    <a:pt x="247117" y="241722"/>
                  </a:moveTo>
                  <a:cubicBezTo>
                    <a:pt x="218033" y="252078"/>
                    <a:pt x="179772" y="257969"/>
                    <a:pt x="138906" y="257969"/>
                  </a:cubicBezTo>
                  <a:cubicBezTo>
                    <a:pt x="98041" y="257969"/>
                    <a:pt x="59779" y="252078"/>
                    <a:pt x="30696" y="241722"/>
                  </a:cubicBezTo>
                  <a:cubicBezTo>
                    <a:pt x="19782" y="237815"/>
                    <a:pt x="9178" y="232916"/>
                    <a:pt x="0" y="226839"/>
                  </a:cubicBezTo>
                  <a:lnTo>
                    <a:pt x="0" y="267891"/>
                  </a:lnTo>
                  <a:cubicBezTo>
                    <a:pt x="0" y="295300"/>
                    <a:pt x="62198" y="317500"/>
                    <a:pt x="138906" y="317500"/>
                  </a:cubicBezTo>
                  <a:cubicBezTo>
                    <a:pt x="215615" y="317500"/>
                    <a:pt x="277813" y="295300"/>
                    <a:pt x="277813" y="267891"/>
                  </a:cubicBezTo>
                  <a:lnTo>
                    <a:pt x="277813" y="226839"/>
                  </a:lnTo>
                  <a:cubicBezTo>
                    <a:pt x="268635" y="232916"/>
                    <a:pt x="258093" y="237815"/>
                    <a:pt x="247117" y="241722"/>
                  </a:cubicBezTo>
                  <a:close/>
                </a:path>
              </a:pathLst>
            </a:custGeom>
            <a:solidFill>
              <a:srgbClr val="FFFFFF"/>
            </a:solidFill>
          </p:spPr>
        </p:sp>
        <p:sp>
          <p:nvSpPr>
            <p:cNvPr id="51" name="Shape 49"/>
            <p:cNvSpPr/>
            <p:nvPr/>
          </p:nvSpPr>
          <p:spPr>
            <a:xfrm>
              <a:off x="14108" y="8525"/>
              <a:ext cx="1176" cy="412"/>
            </a:xfrm>
            <a:custGeom>
              <a:avLst/>
              <a:gdLst/>
              <a:ahLst/>
              <a:cxnLst/>
              <a:rect l="l" t="t" r="r" b="b"/>
              <a:pathLst>
                <a:path w="846667" h="296333">
                  <a:moveTo>
                    <a:pt x="148167" y="0"/>
                  </a:moveTo>
                  <a:lnTo>
                    <a:pt x="698500" y="0"/>
                  </a:lnTo>
                  <a:cubicBezTo>
                    <a:pt x="780275" y="0"/>
                    <a:pt x="846667" y="66391"/>
                    <a:pt x="846667" y="148167"/>
                  </a:cubicBezTo>
                  <a:lnTo>
                    <a:pt x="846667" y="148167"/>
                  </a:lnTo>
                  <a:cubicBezTo>
                    <a:pt x="846667" y="229942"/>
                    <a:pt x="780275" y="296333"/>
                    <a:pt x="698500" y="296333"/>
                  </a:cubicBezTo>
                  <a:lnTo>
                    <a:pt x="148167" y="296333"/>
                  </a:lnTo>
                  <a:cubicBezTo>
                    <a:pt x="66391" y="296333"/>
                    <a:pt x="0" y="229942"/>
                    <a:pt x="0" y="148167"/>
                  </a:cubicBezTo>
                  <a:lnTo>
                    <a:pt x="0" y="148167"/>
                  </a:lnTo>
                  <a:cubicBezTo>
                    <a:pt x="0" y="66391"/>
                    <a:pt x="66391" y="0"/>
                    <a:pt x="148167" y="0"/>
                  </a:cubicBezTo>
                  <a:close/>
                </a:path>
              </a:pathLst>
            </a:custGeom>
            <a:solidFill>
              <a:srgbClr val="E5A044">
                <a:alpha val="20000"/>
              </a:srgbClr>
            </a:solidFill>
          </p:spPr>
        </p:sp>
        <p:sp>
          <p:nvSpPr>
            <p:cNvPr id="52" name="Text 50"/>
            <p:cNvSpPr/>
            <p:nvPr/>
          </p:nvSpPr>
          <p:spPr>
            <a:xfrm>
              <a:off x="14108" y="8525"/>
              <a:ext cx="1279" cy="412"/>
            </a:xfrm>
            <a:prstGeom prst="rect">
              <a:avLst/>
            </a:prstGeom>
            <a:noFill/>
          </p:spPr>
          <p:txBody>
            <a:bodyPr wrap="square" lIns="127000" tIns="42333" rIns="127000" bIns="42333" rtlCol="0" anchor="ctr"/>
            <a:lstStyle/>
            <a:p>
              <a:pPr>
                <a:lnSpc>
                  <a:spcPct val="120000"/>
                </a:lnSpc>
              </a:pPr>
              <a:r>
                <a:rPr lang="en-US" sz="1165" b="1" dirty="0">
                  <a:solidFill>
                    <a:srgbClr val="E5A044"/>
                  </a:solidFill>
                  <a:latin typeface="MiSans" pitchFamily="34" charset="-122"/>
                  <a:ea typeface="MiSans" pitchFamily="34" charset="-122"/>
                  <a:cs typeface="MiSans" pitchFamily="34" charset="-120"/>
                </a:rPr>
                <a:t>创新点四</a:t>
              </a:r>
              <a:endParaRPr lang="en-US" sz="1600" dirty="0"/>
            </a:p>
          </p:txBody>
        </p:sp>
        <p:sp>
          <p:nvSpPr>
            <p:cNvPr id="53" name="Text 51"/>
            <p:cNvSpPr/>
            <p:nvPr/>
          </p:nvSpPr>
          <p:spPr>
            <a:xfrm>
              <a:off x="14108" y="9054"/>
              <a:ext cx="8789" cy="470"/>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社区数据驱动思想</a:t>
              </a:r>
              <a:endParaRPr lang="en-US" sz="1600" dirty="0"/>
            </a:p>
          </p:txBody>
        </p:sp>
        <p:sp>
          <p:nvSpPr>
            <p:cNvPr id="54" name="Text 52"/>
            <p:cNvSpPr/>
            <p:nvPr/>
          </p:nvSpPr>
          <p:spPr>
            <a:xfrm>
              <a:off x="12932" y="9759"/>
              <a:ext cx="9906" cy="2219"/>
            </a:xfrm>
            <a:prstGeom prst="rect">
              <a:avLst/>
            </a:prstGeom>
            <a:noFill/>
          </p:spPr>
          <p:txBody>
            <a:bodyPr wrap="square" lIns="0" tIns="0" rIns="0" bIns="0" rtlCol="0" anchor="ctr"/>
            <a:lstStyle/>
            <a:p>
              <a:pPr>
                <a:lnSpc>
                  <a:spcPct val="140000"/>
                </a:lnSpc>
              </a:pPr>
              <a:r>
                <a:rPr lang="en-US" sz="1335" b="1" dirty="0">
                  <a:solidFill>
                    <a:srgbClr val="3D8F8A"/>
                  </a:solidFill>
                  <a:latin typeface="MiSans" pitchFamily="34" charset="-122"/>
                  <a:ea typeface="MiSans" pitchFamily="34" charset="-122"/>
                  <a:cs typeface="MiSans" pitchFamily="34" charset="-120"/>
                </a:rPr>
                <a:t>引入"社区验证配置模式"的数据驱动思想</a:t>
              </a:r>
              <a:r>
                <a:rPr lang="en-US" sz="1335" dirty="0">
                  <a:solidFill>
                    <a:srgbClr val="E0E2E6">
                      <a:alpha val="80000"/>
                    </a:srgbClr>
                  </a:solidFill>
                  <a:latin typeface="MiSans" pitchFamily="34" charset="-122"/>
                  <a:ea typeface="MiSans" pitchFamily="34" charset="-122"/>
                  <a:cs typeface="MiSans" pitchFamily="34" charset="-120"/>
                </a:rPr>
                <a:t>,将开源社区的集体经验转化为可复用的配置知识资产。通过统计分析高Star项目的环境配置模式,构建兼容性知识库,为依赖推断提供数据支撑,让自动生成的环境配置不仅"看起来合理",而且在实际运行中具备更高的成功率。</a:t>
              </a:r>
              <a:endParaRPr lang="en-US" sz="1600" dirty="0"/>
            </a:p>
          </p:txBody>
        </p:sp>
        <p:sp>
          <p:nvSpPr>
            <p:cNvPr id="55" name="Shape 53"/>
            <p:cNvSpPr/>
            <p:nvPr/>
          </p:nvSpPr>
          <p:spPr>
            <a:xfrm>
              <a:off x="12932" y="12219"/>
              <a:ext cx="9789" cy="1176"/>
            </a:xfrm>
            <a:custGeom>
              <a:avLst/>
              <a:gdLst/>
              <a:ahLst/>
              <a:cxnLst/>
              <a:rect l="l" t="t" r="r" b="b"/>
              <a:pathLst>
                <a:path w="7048500" h="846667">
                  <a:moveTo>
                    <a:pt x="84667" y="0"/>
                  </a:moveTo>
                  <a:lnTo>
                    <a:pt x="6963833" y="0"/>
                  </a:lnTo>
                  <a:cubicBezTo>
                    <a:pt x="7010593" y="0"/>
                    <a:pt x="7048500" y="37907"/>
                    <a:pt x="7048500" y="84667"/>
                  </a:cubicBezTo>
                  <a:lnTo>
                    <a:pt x="7048500" y="762000"/>
                  </a:lnTo>
                  <a:cubicBezTo>
                    <a:pt x="7048500" y="808760"/>
                    <a:pt x="7010593" y="846667"/>
                    <a:pt x="6963833" y="846667"/>
                  </a:cubicBezTo>
                  <a:lnTo>
                    <a:pt x="84667" y="846667"/>
                  </a:lnTo>
                  <a:cubicBezTo>
                    <a:pt x="37907" y="846667"/>
                    <a:pt x="0" y="808760"/>
                    <a:pt x="0" y="762000"/>
                  </a:cubicBezTo>
                  <a:lnTo>
                    <a:pt x="0" y="84667"/>
                  </a:lnTo>
                  <a:cubicBezTo>
                    <a:pt x="0" y="37907"/>
                    <a:pt x="37907" y="0"/>
                    <a:pt x="84667" y="0"/>
                  </a:cubicBezTo>
                  <a:close/>
                </a:path>
              </a:pathLst>
            </a:custGeom>
            <a:solidFill>
              <a:srgbClr val="3D8F8A">
                <a:alpha val="10196"/>
              </a:srgbClr>
            </a:solidFill>
          </p:spPr>
        </p:sp>
        <p:sp>
          <p:nvSpPr>
            <p:cNvPr id="56" name="Text 54"/>
            <p:cNvSpPr/>
            <p:nvPr/>
          </p:nvSpPr>
          <p:spPr>
            <a:xfrm>
              <a:off x="13167" y="12542"/>
              <a:ext cx="1132" cy="294"/>
            </a:xfrm>
            <a:prstGeom prst="rect">
              <a:avLst/>
            </a:prstGeom>
            <a:noFill/>
          </p:spPr>
          <p:txBody>
            <a:bodyPr wrap="square" lIns="0" tIns="0" rIns="0" bIns="0" rtlCol="0" anchor="ctr"/>
            <a:lstStyle/>
            <a:p>
              <a:pPr>
                <a:lnSpc>
                  <a:spcPct val="120000"/>
                </a:lnSpc>
              </a:pPr>
              <a:r>
                <a:rPr lang="en-US" sz="1165" dirty="0">
                  <a:solidFill>
                    <a:srgbClr val="E0E2E6">
                      <a:alpha val="70000"/>
                    </a:srgbClr>
                  </a:solidFill>
                  <a:latin typeface="MiSans" pitchFamily="34" charset="-122"/>
                  <a:ea typeface="MiSans" pitchFamily="34" charset="-122"/>
                  <a:cs typeface="MiSans" pitchFamily="34" charset="-120"/>
                </a:rPr>
                <a:t>知识库规模</a:t>
              </a:r>
              <a:endParaRPr lang="en-US" sz="1600" dirty="0"/>
            </a:p>
          </p:txBody>
        </p:sp>
        <p:sp>
          <p:nvSpPr>
            <p:cNvPr id="58" name="Shape 56"/>
            <p:cNvSpPr/>
            <p:nvPr/>
          </p:nvSpPr>
          <p:spPr>
            <a:xfrm>
              <a:off x="13167" y="13042"/>
              <a:ext cx="9318" cy="118"/>
            </a:xfrm>
            <a:custGeom>
              <a:avLst/>
              <a:gdLst/>
              <a:ahLst/>
              <a:cxnLst/>
              <a:rect l="l" t="t" r="r" b="b"/>
              <a:pathLst>
                <a:path w="6709833" h="84667">
                  <a:moveTo>
                    <a:pt x="42333" y="0"/>
                  </a:moveTo>
                  <a:lnTo>
                    <a:pt x="6667500" y="0"/>
                  </a:lnTo>
                  <a:cubicBezTo>
                    <a:pt x="6690880" y="0"/>
                    <a:pt x="6709833" y="18953"/>
                    <a:pt x="6709833" y="42333"/>
                  </a:cubicBezTo>
                  <a:lnTo>
                    <a:pt x="6709833" y="42333"/>
                  </a:lnTo>
                  <a:cubicBezTo>
                    <a:pt x="6709833" y="65713"/>
                    <a:pt x="6690880" y="84667"/>
                    <a:pt x="6667500" y="84667"/>
                  </a:cubicBezTo>
                  <a:lnTo>
                    <a:pt x="42333" y="84667"/>
                  </a:lnTo>
                  <a:cubicBezTo>
                    <a:pt x="18953" y="84667"/>
                    <a:pt x="0" y="65713"/>
                    <a:pt x="0" y="42333"/>
                  </a:cubicBezTo>
                  <a:lnTo>
                    <a:pt x="0" y="42333"/>
                  </a:lnTo>
                  <a:cubicBezTo>
                    <a:pt x="0" y="18953"/>
                    <a:pt x="18953" y="0"/>
                    <a:pt x="42333" y="0"/>
                  </a:cubicBezTo>
                  <a:close/>
                </a:path>
              </a:pathLst>
            </a:custGeom>
            <a:solidFill>
              <a:srgbClr val="3D8F8A">
                <a:alpha val="20000"/>
              </a:srgbClr>
            </a:solidFill>
          </p:spPr>
        </p:sp>
        <p:sp>
          <p:nvSpPr>
            <p:cNvPr id="59" name="Shape 57"/>
            <p:cNvSpPr/>
            <p:nvPr/>
          </p:nvSpPr>
          <p:spPr>
            <a:xfrm>
              <a:off x="13167" y="13042"/>
              <a:ext cx="6996" cy="118"/>
            </a:xfrm>
            <a:custGeom>
              <a:avLst/>
              <a:gdLst/>
              <a:ahLst/>
              <a:cxnLst/>
              <a:rect l="l" t="t" r="r" b="b"/>
              <a:pathLst>
                <a:path w="5037667" h="84667">
                  <a:moveTo>
                    <a:pt x="42333" y="0"/>
                  </a:moveTo>
                  <a:lnTo>
                    <a:pt x="4995333" y="0"/>
                  </a:lnTo>
                  <a:cubicBezTo>
                    <a:pt x="5018713" y="0"/>
                    <a:pt x="5037667" y="18953"/>
                    <a:pt x="5037667" y="42333"/>
                  </a:cubicBezTo>
                  <a:lnTo>
                    <a:pt x="5037667" y="42333"/>
                  </a:lnTo>
                  <a:cubicBezTo>
                    <a:pt x="5037667" y="65713"/>
                    <a:pt x="5018713" y="84667"/>
                    <a:pt x="4995333" y="84667"/>
                  </a:cubicBezTo>
                  <a:lnTo>
                    <a:pt x="42333" y="84667"/>
                  </a:lnTo>
                  <a:cubicBezTo>
                    <a:pt x="18953" y="84667"/>
                    <a:pt x="0" y="65713"/>
                    <a:pt x="0" y="42333"/>
                  </a:cubicBezTo>
                  <a:lnTo>
                    <a:pt x="0" y="42333"/>
                  </a:lnTo>
                  <a:cubicBezTo>
                    <a:pt x="0" y="18953"/>
                    <a:pt x="18953" y="0"/>
                    <a:pt x="42333" y="0"/>
                  </a:cubicBezTo>
                  <a:close/>
                </a:path>
              </a:pathLst>
            </a:custGeom>
            <a:solidFill>
              <a:srgbClr val="3D8F8A"/>
            </a:solidFill>
          </p:spPr>
        </p:sp>
      </p:grpSp>
      <p:grpSp>
        <p:nvGrpSpPr>
          <p:cNvPr id="69" name="组合 68"/>
          <p:cNvGrpSpPr/>
          <p:nvPr/>
        </p:nvGrpSpPr>
        <p:grpSpPr>
          <a:xfrm>
            <a:off x="521335" y="8188325"/>
            <a:ext cx="14441170" cy="882650"/>
            <a:chOff x="1678" y="14046"/>
            <a:chExt cx="21394" cy="1390"/>
          </a:xfrm>
        </p:grpSpPr>
        <p:sp>
          <p:nvSpPr>
            <p:cNvPr id="60" name="Shape 58"/>
            <p:cNvSpPr/>
            <p:nvPr/>
          </p:nvSpPr>
          <p:spPr>
            <a:xfrm>
              <a:off x="1678" y="14046"/>
              <a:ext cx="21395" cy="1391"/>
            </a:xfrm>
            <a:custGeom>
              <a:avLst/>
              <a:gdLst/>
              <a:ahLst/>
              <a:cxnLst/>
              <a:rect l="l" t="t" r="r" b="b"/>
              <a:pathLst>
                <a:path w="15405806" h="1001889">
                  <a:moveTo>
                    <a:pt x="126999" y="0"/>
                  </a:moveTo>
                  <a:lnTo>
                    <a:pt x="15278806" y="0"/>
                  </a:lnTo>
                  <a:cubicBezTo>
                    <a:pt x="15348946" y="0"/>
                    <a:pt x="15405806" y="56860"/>
                    <a:pt x="15405806" y="126999"/>
                  </a:cubicBezTo>
                  <a:lnTo>
                    <a:pt x="15405806" y="874889"/>
                  </a:lnTo>
                  <a:cubicBezTo>
                    <a:pt x="15405806" y="945029"/>
                    <a:pt x="15348946" y="1001889"/>
                    <a:pt x="15278806" y="1001889"/>
                  </a:cubicBezTo>
                  <a:lnTo>
                    <a:pt x="126999" y="1001889"/>
                  </a:lnTo>
                  <a:cubicBezTo>
                    <a:pt x="56860" y="1001889"/>
                    <a:pt x="0" y="945029"/>
                    <a:pt x="0" y="874889"/>
                  </a:cubicBezTo>
                  <a:lnTo>
                    <a:pt x="0" y="126999"/>
                  </a:lnTo>
                  <a:cubicBezTo>
                    <a:pt x="0" y="56907"/>
                    <a:pt x="56907" y="0"/>
                    <a:pt x="126999" y="0"/>
                  </a:cubicBezTo>
                  <a:close/>
                </a:path>
              </a:pathLst>
            </a:custGeom>
            <a:gradFill flip="none" rotWithShape="1">
              <a:gsLst>
                <a:gs pos="0">
                  <a:srgbClr val="3D8F8A">
                    <a:alpha val="15000"/>
                  </a:srgbClr>
                </a:gs>
                <a:gs pos="50000">
                  <a:srgbClr val="E5A044">
                    <a:alpha val="10000"/>
                  </a:srgbClr>
                </a:gs>
                <a:gs pos="100000">
                  <a:srgbClr val="3D8F8A">
                    <a:alpha val="15000"/>
                  </a:srgbClr>
                </a:gs>
              </a:gsLst>
              <a:lin ang="0" scaled="1"/>
            </a:gradFill>
            <a:ln w="8467">
              <a:solidFill>
                <a:srgbClr val="E5A044">
                  <a:alpha val="30196"/>
                </a:srgbClr>
              </a:solidFill>
              <a:prstDash val="solid"/>
            </a:ln>
          </p:spPr>
        </p:sp>
        <p:sp>
          <p:nvSpPr>
            <p:cNvPr id="61" name="Shape 59"/>
            <p:cNvSpPr/>
            <p:nvPr/>
          </p:nvSpPr>
          <p:spPr>
            <a:xfrm>
              <a:off x="1977" y="14522"/>
              <a:ext cx="441" cy="441"/>
            </a:xfrm>
            <a:custGeom>
              <a:avLst/>
              <a:gdLst/>
              <a:ahLst/>
              <a:cxnLst/>
              <a:rect l="l" t="t" r="r" b="b"/>
              <a:pathLst>
                <a:path w="317500" h="317500">
                  <a:moveTo>
                    <a:pt x="89483" y="0"/>
                  </a:moveTo>
                  <a:lnTo>
                    <a:pt x="228389" y="0"/>
                  </a:lnTo>
                  <a:cubicBezTo>
                    <a:pt x="244822" y="0"/>
                    <a:pt x="258217" y="13519"/>
                    <a:pt x="257597" y="29890"/>
                  </a:cubicBezTo>
                  <a:cubicBezTo>
                    <a:pt x="257473" y="33176"/>
                    <a:pt x="257349" y="36463"/>
                    <a:pt x="257163" y="39688"/>
                  </a:cubicBezTo>
                  <a:lnTo>
                    <a:pt x="287920" y="39688"/>
                  </a:lnTo>
                  <a:cubicBezTo>
                    <a:pt x="304105" y="39688"/>
                    <a:pt x="318368" y="53082"/>
                    <a:pt x="317128" y="70569"/>
                  </a:cubicBezTo>
                  <a:cubicBezTo>
                    <a:pt x="312477" y="134875"/>
                    <a:pt x="279611" y="170222"/>
                    <a:pt x="243954" y="188702"/>
                  </a:cubicBezTo>
                  <a:cubicBezTo>
                    <a:pt x="234156" y="193787"/>
                    <a:pt x="224172" y="197569"/>
                    <a:pt x="214685" y="200360"/>
                  </a:cubicBezTo>
                  <a:cubicBezTo>
                    <a:pt x="202158" y="218095"/>
                    <a:pt x="189136" y="227459"/>
                    <a:pt x="178780" y="232482"/>
                  </a:cubicBezTo>
                  <a:lnTo>
                    <a:pt x="178780" y="277813"/>
                  </a:lnTo>
                  <a:lnTo>
                    <a:pt x="218467" y="277813"/>
                  </a:lnTo>
                  <a:cubicBezTo>
                    <a:pt x="229443" y="277813"/>
                    <a:pt x="238311" y="286680"/>
                    <a:pt x="238311" y="297656"/>
                  </a:cubicBezTo>
                  <a:cubicBezTo>
                    <a:pt x="238311" y="308632"/>
                    <a:pt x="229443" y="317500"/>
                    <a:pt x="218467" y="317500"/>
                  </a:cubicBezTo>
                  <a:lnTo>
                    <a:pt x="99405" y="317500"/>
                  </a:lnTo>
                  <a:cubicBezTo>
                    <a:pt x="88429" y="317500"/>
                    <a:pt x="79561" y="308632"/>
                    <a:pt x="79561" y="297656"/>
                  </a:cubicBezTo>
                  <a:cubicBezTo>
                    <a:pt x="79561" y="286680"/>
                    <a:pt x="88429" y="277813"/>
                    <a:pt x="99405" y="277813"/>
                  </a:cubicBezTo>
                  <a:lnTo>
                    <a:pt x="139092" y="277813"/>
                  </a:lnTo>
                  <a:lnTo>
                    <a:pt x="139092" y="232482"/>
                  </a:lnTo>
                  <a:cubicBezTo>
                    <a:pt x="129170" y="227707"/>
                    <a:pt x="116830" y="218839"/>
                    <a:pt x="104800" y="202530"/>
                  </a:cubicBezTo>
                  <a:cubicBezTo>
                    <a:pt x="93390" y="199554"/>
                    <a:pt x="80987" y="195027"/>
                    <a:pt x="68895" y="188206"/>
                  </a:cubicBezTo>
                  <a:cubicBezTo>
                    <a:pt x="35347" y="169416"/>
                    <a:pt x="5085" y="134007"/>
                    <a:pt x="744" y="70445"/>
                  </a:cubicBezTo>
                  <a:cubicBezTo>
                    <a:pt x="-434" y="53020"/>
                    <a:pt x="13767" y="39625"/>
                    <a:pt x="29952" y="39625"/>
                  </a:cubicBezTo>
                  <a:lnTo>
                    <a:pt x="60709" y="39625"/>
                  </a:lnTo>
                  <a:cubicBezTo>
                    <a:pt x="60523" y="36401"/>
                    <a:pt x="60399" y="33176"/>
                    <a:pt x="60275" y="29828"/>
                  </a:cubicBezTo>
                  <a:cubicBezTo>
                    <a:pt x="59655" y="13395"/>
                    <a:pt x="73050" y="-62"/>
                    <a:pt x="89483" y="-62"/>
                  </a:cubicBezTo>
                  <a:close/>
                  <a:moveTo>
                    <a:pt x="62942" y="69453"/>
                  </a:moveTo>
                  <a:lnTo>
                    <a:pt x="30448" y="69453"/>
                  </a:lnTo>
                  <a:cubicBezTo>
                    <a:pt x="34292" y="121977"/>
                    <a:pt x="58415" y="148270"/>
                    <a:pt x="83282" y="162223"/>
                  </a:cubicBezTo>
                  <a:cubicBezTo>
                    <a:pt x="74352" y="139092"/>
                    <a:pt x="66973" y="108893"/>
                    <a:pt x="62942" y="69453"/>
                  </a:cubicBezTo>
                  <a:close/>
                  <a:moveTo>
                    <a:pt x="235645" y="159246"/>
                  </a:moveTo>
                  <a:cubicBezTo>
                    <a:pt x="260759" y="144487"/>
                    <a:pt x="283456" y="118256"/>
                    <a:pt x="287300" y="69453"/>
                  </a:cubicBezTo>
                  <a:lnTo>
                    <a:pt x="254868" y="69453"/>
                  </a:lnTo>
                  <a:cubicBezTo>
                    <a:pt x="251023" y="107218"/>
                    <a:pt x="244078" y="136550"/>
                    <a:pt x="235645" y="159246"/>
                  </a:cubicBezTo>
                  <a:close/>
                </a:path>
              </a:pathLst>
            </a:custGeom>
            <a:solidFill>
              <a:srgbClr val="E5A044"/>
            </a:solidFill>
          </p:spPr>
        </p:sp>
        <p:sp>
          <p:nvSpPr>
            <p:cNvPr id="62" name="Text 60"/>
            <p:cNvSpPr/>
            <p:nvPr/>
          </p:nvSpPr>
          <p:spPr>
            <a:xfrm>
              <a:off x="2705" y="14286"/>
              <a:ext cx="20268" cy="412"/>
            </a:xfrm>
            <a:prstGeom prst="rect">
              <a:avLst/>
            </a:prstGeom>
            <a:noFill/>
          </p:spPr>
          <p:txBody>
            <a:bodyPr wrap="square" lIns="0" tIns="0" rIns="0" bIns="0" rtlCol="0" anchor="ctr"/>
            <a:lstStyle/>
            <a:p>
              <a:pP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与现有工具的差异化优势</a:t>
              </a:r>
              <a:endParaRPr lang="en-US" sz="1600" dirty="0"/>
            </a:p>
          </p:txBody>
        </p:sp>
        <p:sp>
          <p:nvSpPr>
            <p:cNvPr id="63" name="Text 61"/>
            <p:cNvSpPr/>
            <p:nvPr/>
          </p:nvSpPr>
          <p:spPr>
            <a:xfrm>
              <a:off x="2705" y="14816"/>
              <a:ext cx="20239" cy="382"/>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相比</a:t>
              </a:r>
              <a:r>
                <a:rPr lang="en-US" sz="1335" b="1" dirty="0">
                  <a:solidFill>
                    <a:srgbClr val="E5A044"/>
                  </a:solidFill>
                  <a:latin typeface="MiSans" pitchFamily="34" charset="-122"/>
                  <a:ea typeface="MiSans" pitchFamily="34" charset="-122"/>
                  <a:cs typeface="MiSans" pitchFamily="34" charset="-120"/>
                </a:rPr>
                <a:t>pipreqs</a:t>
              </a:r>
              <a:r>
                <a:rPr lang="en-US" sz="1335" dirty="0">
                  <a:solidFill>
                    <a:srgbClr val="E0E2E6">
                      <a:alpha val="80000"/>
                    </a:srgbClr>
                  </a:solidFill>
                  <a:latin typeface="MiSans" pitchFamily="34" charset="-122"/>
                  <a:ea typeface="MiSans" pitchFamily="34" charset="-122"/>
                  <a:cs typeface="MiSans" pitchFamily="34" charset="-120"/>
                </a:rPr>
                <a:t>等现有工具,本项目在</a:t>
              </a:r>
              <a:r>
                <a:rPr lang="en-US" sz="1335" b="1" dirty="0">
                  <a:solidFill>
                    <a:srgbClr val="3D8F8A"/>
                  </a:solidFill>
                  <a:latin typeface="MiSans" pitchFamily="34" charset="-122"/>
                  <a:ea typeface="MiSans" pitchFamily="34" charset="-122"/>
                  <a:cs typeface="MiSans" pitchFamily="34" charset="-120"/>
                </a:rPr>
                <a:t>分析深度、准确性、使用便捷性、场景覆盖度</a:t>
              </a:r>
              <a:r>
                <a:rPr lang="en-US" sz="1335" dirty="0">
                  <a:solidFill>
                    <a:srgbClr val="E0E2E6">
                      <a:alpha val="80000"/>
                    </a:srgbClr>
                  </a:solidFill>
                  <a:latin typeface="MiSans" pitchFamily="34" charset="-122"/>
                  <a:ea typeface="MiSans" pitchFamily="34" charset="-122"/>
                  <a:cs typeface="MiSans" pitchFamily="34" charset="-120"/>
                </a:rPr>
                <a:t>等维度均有显著突破,特别是在</a:t>
              </a:r>
              <a:r>
                <a:rPr lang="en-US" sz="1335" dirty="0">
                  <a:solidFill>
                    <a:srgbClr val="E0E2E6">
                      <a:alpha val="80000"/>
                    </a:srgbClr>
                  </a:solidFill>
                  <a:highlight>
                    <a:srgbClr val="E5A044">
                      <a:alpha val="20000"/>
                    </a:srgbClr>
                  </a:highlight>
                  <a:latin typeface="MiSans" pitchFamily="34" charset="-122"/>
                  <a:ea typeface="MiSans" pitchFamily="34" charset="-122"/>
                  <a:cs typeface="MiSans" pitchFamily="34" charset="-120"/>
                </a:rPr>
                <a:t> LLM语义校正、版本兼容性推断、浏览器插件形态 </a:t>
              </a:r>
              <a:r>
                <a:rPr lang="en-US" sz="1335" dirty="0">
                  <a:solidFill>
                    <a:srgbClr val="E0E2E6">
                      <a:alpha val="80000"/>
                    </a:srgbClr>
                  </a:solidFill>
                  <a:latin typeface="MiSans" pitchFamily="34" charset="-122"/>
                  <a:ea typeface="MiSans" pitchFamily="34" charset="-122"/>
                  <a:cs typeface="MiSans" pitchFamily="34" charset="-120"/>
                </a:rPr>
                <a:t>等方面具备独特创新</a:t>
              </a:r>
              <a:endParaRPr lang="en-US" sz="1600" dirty="0"/>
            </a:p>
          </p:txBody>
        </p:sp>
      </p:gr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529167"/>
            <a:ext cx="677333" cy="42333"/>
          </a:xfrm>
          <a:custGeom>
            <a:avLst/>
            <a:gdLst/>
            <a:ahLst/>
            <a:cxnLst/>
            <a:rect l="l" t="t" r="r" b="b"/>
            <a:pathLst>
              <a:path w="677333" h="42333">
                <a:moveTo>
                  <a:pt x="0" y="0"/>
                </a:moveTo>
                <a:lnTo>
                  <a:pt x="677333" y="0"/>
                </a:lnTo>
                <a:lnTo>
                  <a:pt x="677333" y="42333"/>
                </a:lnTo>
                <a:lnTo>
                  <a:pt x="0" y="42333"/>
                </a:lnTo>
                <a:lnTo>
                  <a:pt x="0" y="0"/>
                </a:lnTo>
                <a:close/>
              </a:path>
            </a:pathLst>
          </a:custGeom>
          <a:solidFill>
            <a:srgbClr val="3D8F8A"/>
          </a:solidFill>
        </p:spPr>
      </p:sp>
      <p:sp>
        <p:nvSpPr>
          <p:cNvPr id="3" name="Text 1"/>
          <p:cNvSpPr/>
          <p:nvPr/>
        </p:nvSpPr>
        <p:spPr>
          <a:xfrm>
            <a:off x="1270000" y="423333"/>
            <a:ext cx="2317750" cy="254000"/>
          </a:xfrm>
          <a:prstGeom prst="rect">
            <a:avLst/>
          </a:prstGeom>
          <a:noFill/>
        </p:spPr>
        <p:txBody>
          <a:bodyPr wrap="square" lIns="0" tIns="0" rIns="0" bIns="0" rtlCol="0" anchor="ctr"/>
          <a:lstStyle/>
          <a:p>
            <a:pPr>
              <a:lnSpc>
                <a:spcPct val="130000"/>
              </a:lnSpc>
            </a:pPr>
            <a:r>
              <a:rPr lang="en-US" sz="1335" b="1" kern="0" spc="67" dirty="0">
                <a:solidFill>
                  <a:srgbClr val="3D8F8A"/>
                </a:solidFill>
                <a:latin typeface="MiSans" pitchFamily="34" charset="-122"/>
                <a:ea typeface="MiSans" pitchFamily="34" charset="-122"/>
                <a:cs typeface="MiSans" pitchFamily="34" charset="-120"/>
              </a:rPr>
              <a:t>TECHNICAL CHALLENGES</a:t>
            </a:r>
            <a:endParaRPr lang="en-US" sz="1600" dirty="0"/>
          </a:p>
        </p:txBody>
      </p:sp>
      <p:sp>
        <p:nvSpPr>
          <p:cNvPr id="4" name="Text 2"/>
          <p:cNvSpPr/>
          <p:nvPr/>
        </p:nvSpPr>
        <p:spPr>
          <a:xfrm>
            <a:off x="423333" y="804333"/>
            <a:ext cx="15663333" cy="508000"/>
          </a:xfrm>
          <a:prstGeom prst="rect">
            <a:avLst/>
          </a:prstGeom>
          <a:noFill/>
        </p:spPr>
        <p:txBody>
          <a:bodyPr wrap="square" lIns="0" tIns="0" rIns="0" bIns="0" rtlCol="0" anchor="ctr"/>
          <a:lstStyle/>
          <a:p>
            <a:pPr>
              <a:lnSpc>
                <a:spcPct val="80000"/>
              </a:lnSpc>
            </a:pPr>
            <a:r>
              <a:rPr lang="en-US" sz="4000" b="1" dirty="0">
                <a:solidFill>
                  <a:srgbClr val="E0E2E6"/>
                </a:solidFill>
                <a:latin typeface="阿里妈妈数黑体" pitchFamily="34" charset="-122"/>
                <a:ea typeface="阿里妈妈数黑体" pitchFamily="34" charset="-122"/>
                <a:cs typeface="阿里妈妈数黑体" pitchFamily="34" charset="-120"/>
              </a:rPr>
              <a:t>技术挑战攻克</a:t>
            </a:r>
            <a:endParaRPr lang="en-US" sz="1600" dirty="0"/>
          </a:p>
        </p:txBody>
      </p:sp>
      <p:grpSp>
        <p:nvGrpSpPr>
          <p:cNvPr id="6" name="组合 5"/>
          <p:cNvGrpSpPr/>
          <p:nvPr/>
        </p:nvGrpSpPr>
        <p:grpSpPr>
          <a:xfrm>
            <a:off x="434340" y="1847215"/>
            <a:ext cx="7576820" cy="3257550"/>
            <a:chOff x="684" y="2909"/>
            <a:chExt cx="11932" cy="5130"/>
          </a:xfrm>
        </p:grpSpPr>
        <p:sp>
          <p:nvSpPr>
            <p:cNvPr id="8" name="Shape 6"/>
            <p:cNvSpPr/>
            <p:nvPr/>
          </p:nvSpPr>
          <p:spPr>
            <a:xfrm>
              <a:off x="684" y="2909"/>
              <a:ext cx="11933" cy="5130"/>
            </a:xfrm>
            <a:custGeom>
              <a:avLst/>
              <a:gdLst/>
              <a:ahLst/>
              <a:cxnLst/>
              <a:rect l="l" t="t" r="r" b="b"/>
              <a:pathLst>
                <a:path w="7577667" h="5450417">
                  <a:moveTo>
                    <a:pt x="126995" y="0"/>
                  </a:moveTo>
                  <a:lnTo>
                    <a:pt x="7450672" y="0"/>
                  </a:lnTo>
                  <a:cubicBezTo>
                    <a:pt x="7520809" y="0"/>
                    <a:pt x="7577667" y="56857"/>
                    <a:pt x="7577667" y="126995"/>
                  </a:cubicBezTo>
                  <a:lnTo>
                    <a:pt x="7577667" y="5323422"/>
                  </a:lnTo>
                  <a:cubicBezTo>
                    <a:pt x="7577667" y="5393512"/>
                    <a:pt x="7520762" y="5450417"/>
                    <a:pt x="7450672" y="5450417"/>
                  </a:cubicBezTo>
                  <a:lnTo>
                    <a:pt x="126995" y="5450417"/>
                  </a:lnTo>
                  <a:cubicBezTo>
                    <a:pt x="56857" y="5450417"/>
                    <a:pt x="0" y="5393559"/>
                    <a:pt x="0" y="5323422"/>
                  </a:cubicBezTo>
                  <a:lnTo>
                    <a:pt x="0" y="126995"/>
                  </a:lnTo>
                  <a:cubicBezTo>
                    <a:pt x="0" y="56904"/>
                    <a:pt x="56904" y="0"/>
                    <a:pt x="126995" y="0"/>
                  </a:cubicBezTo>
                  <a:close/>
                </a:path>
              </a:pathLst>
            </a:custGeom>
            <a:gradFill flip="none" rotWithShape="1">
              <a:gsLst>
                <a:gs pos="0">
                  <a:srgbClr val="E5A044">
                    <a:alpha val="15000"/>
                  </a:srgbClr>
                </a:gs>
                <a:gs pos="100000">
                  <a:srgbClr val="000000">
                    <a:alpha val="0"/>
                  </a:srgbClr>
                </a:gs>
              </a:gsLst>
              <a:lin ang="2700000" scaled="1"/>
            </a:gradFill>
            <a:ln w="25400">
              <a:solidFill>
                <a:srgbClr val="E5A044">
                  <a:alpha val="40000"/>
                </a:srgbClr>
              </a:solidFill>
              <a:prstDash val="solid"/>
            </a:ln>
          </p:spPr>
        </p:sp>
        <p:sp>
          <p:nvSpPr>
            <p:cNvPr id="9" name="Shape 7"/>
            <p:cNvSpPr/>
            <p:nvPr/>
          </p:nvSpPr>
          <p:spPr>
            <a:xfrm>
              <a:off x="1101" y="3158"/>
              <a:ext cx="933" cy="558"/>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E5A044"/>
            </a:solidFill>
          </p:spPr>
        </p:sp>
        <p:sp>
          <p:nvSpPr>
            <p:cNvPr id="10" name="Text 8"/>
            <p:cNvSpPr/>
            <p:nvPr/>
          </p:nvSpPr>
          <p:spPr>
            <a:xfrm>
              <a:off x="1001" y="3158"/>
              <a:ext cx="1133" cy="558"/>
            </a:xfrm>
            <a:prstGeom prst="rect">
              <a:avLst/>
            </a:prstGeom>
            <a:noFill/>
          </p:spPr>
          <p:txBody>
            <a:bodyPr wrap="square" lIns="0" tIns="0" rIns="0" bIns="0" rtlCol="0" anchor="ctr"/>
            <a:lstStyle/>
            <a:p>
              <a:pPr algn="ctr">
                <a:lnSpc>
                  <a:spcPct val="110000"/>
                </a:lnSpc>
              </a:pPr>
              <a:r>
                <a:rPr lang="en-US" sz="2000" b="1" dirty="0">
                  <a:solidFill>
                    <a:srgbClr val="FFFFFF"/>
                  </a:solidFill>
                  <a:latin typeface="阿里妈妈数黑体" pitchFamily="34" charset="-122"/>
                  <a:ea typeface="阿里妈妈数黑体" pitchFamily="34" charset="-122"/>
                  <a:cs typeface="阿里妈妈数黑体" pitchFamily="34" charset="-120"/>
                </a:rPr>
                <a:t>01</a:t>
              </a:r>
              <a:endParaRPr lang="en-US" sz="1600" dirty="0"/>
            </a:p>
          </p:txBody>
        </p:sp>
        <p:sp>
          <p:nvSpPr>
            <p:cNvPr id="11" name="Text 9"/>
            <p:cNvSpPr/>
            <p:nvPr/>
          </p:nvSpPr>
          <p:spPr>
            <a:xfrm>
              <a:off x="2301" y="3298"/>
              <a:ext cx="4167" cy="279"/>
            </a:xfrm>
            <a:prstGeom prst="rect">
              <a:avLst/>
            </a:prstGeom>
            <a:noFill/>
          </p:spPr>
          <p:txBody>
            <a:bodyPr wrap="square" lIns="0" tIns="0" rIns="0" bIns="0" rtlCol="0" anchor="ctr"/>
            <a:lstStyle/>
            <a:p>
              <a:pP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无完整环境描述的依赖还原</a:t>
              </a:r>
              <a:endParaRPr lang="en-US" sz="1600" dirty="0"/>
            </a:p>
          </p:txBody>
        </p:sp>
        <p:sp>
          <p:nvSpPr>
            <p:cNvPr id="12" name="Shape 10"/>
            <p:cNvSpPr/>
            <p:nvPr/>
          </p:nvSpPr>
          <p:spPr>
            <a:xfrm>
              <a:off x="1185" y="4135"/>
              <a:ext cx="300" cy="179"/>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E5A044"/>
            </a:solidFill>
          </p:spPr>
        </p:sp>
        <p:sp>
          <p:nvSpPr>
            <p:cNvPr id="13" name="Text 11"/>
            <p:cNvSpPr/>
            <p:nvPr/>
          </p:nvSpPr>
          <p:spPr>
            <a:xfrm>
              <a:off x="1526" y="4085"/>
              <a:ext cx="10867" cy="279"/>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挑战描述</a:t>
              </a:r>
              <a:endParaRPr lang="en-US" sz="1600" dirty="0"/>
            </a:p>
          </p:txBody>
        </p:sp>
        <p:sp>
          <p:nvSpPr>
            <p:cNvPr id="14" name="Text 12"/>
            <p:cNvSpPr/>
            <p:nvPr/>
          </p:nvSpPr>
          <p:spPr>
            <a:xfrm>
              <a:off x="1143" y="4734"/>
              <a:ext cx="11233" cy="679"/>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在"无完整环境描述"的情况下,仅基于源码还原真实运行所需依赖集合。在真实的开源生态中,依赖信息并非总是显式、完整地存在于requirements.txt或README中。</a:t>
              </a:r>
              <a:endParaRPr lang="en-US" sz="1600" dirty="0"/>
            </a:p>
          </p:txBody>
        </p:sp>
        <p:sp>
          <p:nvSpPr>
            <p:cNvPr id="15" name="Shape 13"/>
            <p:cNvSpPr/>
            <p:nvPr/>
          </p:nvSpPr>
          <p:spPr>
            <a:xfrm>
              <a:off x="1222" y="5942"/>
              <a:ext cx="225" cy="179"/>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3D8F8A"/>
            </a:solidFill>
          </p:spPr>
        </p:sp>
        <p:sp>
          <p:nvSpPr>
            <p:cNvPr id="16" name="Text 14"/>
            <p:cNvSpPr/>
            <p:nvPr/>
          </p:nvSpPr>
          <p:spPr>
            <a:xfrm>
              <a:off x="1568" y="5877"/>
              <a:ext cx="10867" cy="279"/>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解决策略</a:t>
              </a:r>
              <a:endParaRPr lang="en-US" sz="1600" dirty="0"/>
            </a:p>
          </p:txBody>
        </p:sp>
        <p:sp>
          <p:nvSpPr>
            <p:cNvPr id="17" name="Shape 15"/>
            <p:cNvSpPr/>
            <p:nvPr/>
          </p:nvSpPr>
          <p:spPr>
            <a:xfrm>
              <a:off x="1191" y="6714"/>
              <a:ext cx="204" cy="139"/>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18" name="Text 16"/>
            <p:cNvSpPr/>
            <p:nvPr/>
          </p:nvSpPr>
          <p:spPr>
            <a:xfrm>
              <a:off x="1568" y="6674"/>
              <a:ext cx="8233" cy="239"/>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静态分析+LLM语义校正</a:t>
              </a:r>
              <a:r>
                <a:rPr lang="en-US" sz="1335" dirty="0">
                  <a:solidFill>
                    <a:srgbClr val="E0E2E6">
                      <a:alpha val="80000"/>
                    </a:srgbClr>
                  </a:solidFill>
                  <a:latin typeface="MiSans" pitchFamily="34" charset="-122"/>
                  <a:ea typeface="MiSans" pitchFamily="34" charset="-122"/>
                  <a:cs typeface="MiSans" pitchFamily="34" charset="-120"/>
                </a:rPr>
                <a:t>: 从import语句出发,结合上下文理解依赖关系</a:t>
              </a:r>
              <a:endParaRPr lang="en-US" sz="1600" dirty="0"/>
            </a:p>
          </p:txBody>
        </p:sp>
        <p:sp>
          <p:nvSpPr>
            <p:cNvPr id="19" name="Shape 17"/>
            <p:cNvSpPr/>
            <p:nvPr/>
          </p:nvSpPr>
          <p:spPr>
            <a:xfrm>
              <a:off x="1191" y="7032"/>
              <a:ext cx="204" cy="139"/>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20" name="Text 18"/>
            <p:cNvSpPr/>
            <p:nvPr/>
          </p:nvSpPr>
          <p:spPr>
            <a:xfrm>
              <a:off x="1568" y="6993"/>
              <a:ext cx="7717" cy="239"/>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别名映射与歧义消除</a:t>
              </a:r>
              <a:r>
                <a:rPr lang="en-US" sz="1335" dirty="0">
                  <a:solidFill>
                    <a:srgbClr val="E0E2E6">
                      <a:alpha val="80000"/>
                    </a:srgbClr>
                  </a:solidFill>
                  <a:latin typeface="MiSans" pitchFamily="34" charset="-122"/>
                  <a:ea typeface="MiSans" pitchFamily="34" charset="-122"/>
                  <a:cs typeface="MiSans" pitchFamily="34" charset="-120"/>
                </a:rPr>
                <a:t>: 处理sklearn vs scikit-learn等常见别名问题</a:t>
              </a:r>
              <a:endParaRPr lang="en-US" sz="1600" dirty="0"/>
            </a:p>
          </p:txBody>
        </p:sp>
        <p:sp>
          <p:nvSpPr>
            <p:cNvPr id="21" name="Shape 19"/>
            <p:cNvSpPr/>
            <p:nvPr/>
          </p:nvSpPr>
          <p:spPr>
            <a:xfrm>
              <a:off x="1191" y="7352"/>
              <a:ext cx="204" cy="139"/>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22" name="Text 20"/>
            <p:cNvSpPr/>
            <p:nvPr/>
          </p:nvSpPr>
          <p:spPr>
            <a:xfrm>
              <a:off x="1568" y="7312"/>
              <a:ext cx="7167" cy="239"/>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社区配置模式参考</a:t>
              </a:r>
              <a:r>
                <a:rPr lang="en-US" sz="1335" dirty="0">
                  <a:solidFill>
                    <a:srgbClr val="E0E2E6">
                      <a:alpha val="80000"/>
                    </a:srgbClr>
                  </a:solidFill>
                  <a:latin typeface="MiSans" pitchFamily="34" charset="-122"/>
                  <a:ea typeface="MiSans" pitchFamily="34" charset="-122"/>
                  <a:cs typeface="MiSans" pitchFamily="34" charset="-120"/>
                </a:rPr>
                <a:t>: 借助高Star项目的配置经验补全缺失信息</a:t>
              </a:r>
              <a:endParaRPr lang="en-US" sz="1600" dirty="0"/>
            </a:p>
          </p:txBody>
        </p:sp>
      </p:grpSp>
      <p:grpSp>
        <p:nvGrpSpPr>
          <p:cNvPr id="7" name="组合 6"/>
          <p:cNvGrpSpPr/>
          <p:nvPr/>
        </p:nvGrpSpPr>
        <p:grpSpPr>
          <a:xfrm>
            <a:off x="8244840" y="1847215"/>
            <a:ext cx="7576820" cy="3257550"/>
            <a:chOff x="12984" y="2909"/>
            <a:chExt cx="11932" cy="5130"/>
          </a:xfrm>
        </p:grpSpPr>
        <p:sp>
          <p:nvSpPr>
            <p:cNvPr id="30" name="Shape 28"/>
            <p:cNvSpPr/>
            <p:nvPr/>
          </p:nvSpPr>
          <p:spPr>
            <a:xfrm>
              <a:off x="12984" y="2909"/>
              <a:ext cx="11933" cy="5130"/>
            </a:xfrm>
            <a:custGeom>
              <a:avLst/>
              <a:gdLst/>
              <a:ahLst/>
              <a:cxnLst/>
              <a:rect l="l" t="t" r="r" b="b"/>
              <a:pathLst>
                <a:path w="7577667" h="5450417">
                  <a:moveTo>
                    <a:pt x="126995" y="0"/>
                  </a:moveTo>
                  <a:lnTo>
                    <a:pt x="7450672" y="0"/>
                  </a:lnTo>
                  <a:cubicBezTo>
                    <a:pt x="7520809" y="0"/>
                    <a:pt x="7577667" y="56857"/>
                    <a:pt x="7577667" y="126995"/>
                  </a:cubicBezTo>
                  <a:lnTo>
                    <a:pt x="7577667" y="5323422"/>
                  </a:lnTo>
                  <a:cubicBezTo>
                    <a:pt x="7577667" y="5393512"/>
                    <a:pt x="7520762" y="5450417"/>
                    <a:pt x="7450672" y="5450417"/>
                  </a:cubicBezTo>
                  <a:lnTo>
                    <a:pt x="126995" y="5450417"/>
                  </a:lnTo>
                  <a:cubicBezTo>
                    <a:pt x="56857" y="5450417"/>
                    <a:pt x="0" y="5393559"/>
                    <a:pt x="0" y="5323422"/>
                  </a:cubicBezTo>
                  <a:lnTo>
                    <a:pt x="0" y="126995"/>
                  </a:lnTo>
                  <a:cubicBezTo>
                    <a:pt x="0" y="56904"/>
                    <a:pt x="56904" y="0"/>
                    <a:pt x="126995" y="0"/>
                  </a:cubicBezTo>
                  <a:close/>
                </a:path>
              </a:pathLst>
            </a:custGeom>
            <a:gradFill flip="none" rotWithShape="1">
              <a:gsLst>
                <a:gs pos="0">
                  <a:srgbClr val="3D8F8A">
                    <a:alpha val="15000"/>
                  </a:srgbClr>
                </a:gs>
                <a:gs pos="100000">
                  <a:srgbClr val="000000">
                    <a:alpha val="0"/>
                  </a:srgbClr>
                </a:gs>
              </a:gsLst>
              <a:lin ang="2700000" scaled="1"/>
            </a:gradFill>
            <a:ln w="25400">
              <a:solidFill>
                <a:srgbClr val="3D8F8A">
                  <a:alpha val="40000"/>
                </a:srgbClr>
              </a:solidFill>
              <a:prstDash val="solid"/>
            </a:ln>
          </p:spPr>
        </p:sp>
        <p:sp>
          <p:nvSpPr>
            <p:cNvPr id="31" name="Shape 29"/>
            <p:cNvSpPr/>
            <p:nvPr/>
          </p:nvSpPr>
          <p:spPr>
            <a:xfrm>
              <a:off x="13401" y="3158"/>
              <a:ext cx="933" cy="558"/>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3D8F8A"/>
            </a:solidFill>
          </p:spPr>
        </p:sp>
        <p:sp>
          <p:nvSpPr>
            <p:cNvPr id="32" name="Text 30"/>
            <p:cNvSpPr/>
            <p:nvPr/>
          </p:nvSpPr>
          <p:spPr>
            <a:xfrm>
              <a:off x="13301" y="3158"/>
              <a:ext cx="1133" cy="558"/>
            </a:xfrm>
            <a:prstGeom prst="rect">
              <a:avLst/>
            </a:prstGeom>
            <a:noFill/>
          </p:spPr>
          <p:txBody>
            <a:bodyPr wrap="square" lIns="0" tIns="0" rIns="0" bIns="0" rtlCol="0" anchor="ctr"/>
            <a:lstStyle/>
            <a:p>
              <a:pPr algn="ctr">
                <a:lnSpc>
                  <a:spcPct val="110000"/>
                </a:lnSpc>
              </a:pPr>
              <a:r>
                <a:rPr lang="en-US" sz="2000" b="1" dirty="0">
                  <a:solidFill>
                    <a:srgbClr val="FFFFFF"/>
                  </a:solidFill>
                  <a:latin typeface="阿里妈妈数黑体" pitchFamily="34" charset="-122"/>
                  <a:ea typeface="阿里妈妈数黑体" pitchFamily="34" charset="-122"/>
                  <a:cs typeface="阿里妈妈数黑体" pitchFamily="34" charset="-120"/>
                </a:rPr>
                <a:t>02</a:t>
              </a:r>
              <a:endParaRPr lang="en-US" sz="1600" dirty="0"/>
            </a:p>
          </p:txBody>
        </p:sp>
        <p:sp>
          <p:nvSpPr>
            <p:cNvPr id="33" name="Text 31"/>
            <p:cNvSpPr/>
            <p:nvPr/>
          </p:nvSpPr>
          <p:spPr>
            <a:xfrm>
              <a:off x="14601" y="3298"/>
              <a:ext cx="3500" cy="279"/>
            </a:xfrm>
            <a:prstGeom prst="rect">
              <a:avLst/>
            </a:prstGeom>
            <a:noFill/>
          </p:spPr>
          <p:txBody>
            <a:bodyPr wrap="square" lIns="0" tIns="0" rIns="0" bIns="0" rtlCol="0" anchor="ctr"/>
            <a:lstStyle/>
            <a:p>
              <a:pP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浏览器端非侵入式分析</a:t>
              </a:r>
              <a:endParaRPr lang="en-US" sz="1600" dirty="0"/>
            </a:p>
          </p:txBody>
        </p:sp>
        <p:sp>
          <p:nvSpPr>
            <p:cNvPr id="34" name="Shape 32"/>
            <p:cNvSpPr/>
            <p:nvPr/>
          </p:nvSpPr>
          <p:spPr>
            <a:xfrm>
              <a:off x="13426" y="4085"/>
              <a:ext cx="300" cy="179"/>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E5A044"/>
            </a:solidFill>
          </p:spPr>
        </p:sp>
        <p:sp>
          <p:nvSpPr>
            <p:cNvPr id="35" name="Text 33"/>
            <p:cNvSpPr/>
            <p:nvPr/>
          </p:nvSpPr>
          <p:spPr>
            <a:xfrm>
              <a:off x="13767" y="4035"/>
              <a:ext cx="10867" cy="279"/>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挑战描述</a:t>
              </a:r>
              <a:endParaRPr lang="en-US" sz="1600" dirty="0"/>
            </a:p>
          </p:txBody>
        </p:sp>
        <p:sp>
          <p:nvSpPr>
            <p:cNvPr id="36" name="Text 34"/>
            <p:cNvSpPr/>
            <p:nvPr/>
          </p:nvSpPr>
          <p:spPr>
            <a:xfrm>
              <a:off x="13384" y="4749"/>
              <a:ext cx="11233" cy="77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在纯前端、受限环境下完成对中大型仓库的结构化源码分析。插件需在</a:t>
              </a:r>
              <a:r>
                <a:rPr lang="en-US" sz="1335" b="1" dirty="0">
                  <a:solidFill>
                    <a:srgbClr val="E5A044"/>
                  </a:solidFill>
                  <a:latin typeface="MiSans" pitchFamily="34" charset="-122"/>
                  <a:ea typeface="MiSans" pitchFamily="34" charset="-122"/>
                  <a:cs typeface="MiSans" pitchFamily="34" charset="-120"/>
                </a:rPr>
                <a:t>不克隆仓库、不执行代码</a:t>
              </a:r>
              <a:r>
                <a:rPr lang="en-US" sz="1335" dirty="0">
                  <a:solidFill>
                    <a:srgbClr val="E0E2E6">
                      <a:alpha val="80000"/>
                    </a:srgbClr>
                  </a:solidFill>
                  <a:latin typeface="MiSans" pitchFamily="34" charset="-122"/>
                  <a:ea typeface="MiSans" pitchFamily="34" charset="-122"/>
                  <a:cs typeface="MiSans" pitchFamily="34" charset="-120"/>
                </a:rPr>
                <a:t>的前提下,通过GitHub API获取文件树与源码,并处理API访问频率限制、文件数量控制等挑战。</a:t>
              </a:r>
              <a:endParaRPr lang="en-US" sz="1600" dirty="0"/>
            </a:p>
          </p:txBody>
        </p:sp>
        <p:sp>
          <p:nvSpPr>
            <p:cNvPr id="37" name="Shape 35"/>
            <p:cNvSpPr/>
            <p:nvPr/>
          </p:nvSpPr>
          <p:spPr>
            <a:xfrm>
              <a:off x="13449" y="6040"/>
              <a:ext cx="225" cy="179"/>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3D8F8A"/>
            </a:solidFill>
          </p:spPr>
        </p:sp>
        <p:sp>
          <p:nvSpPr>
            <p:cNvPr id="38" name="Text 36"/>
            <p:cNvSpPr/>
            <p:nvPr/>
          </p:nvSpPr>
          <p:spPr>
            <a:xfrm>
              <a:off x="13784" y="5941"/>
              <a:ext cx="10867" cy="279"/>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解决策略</a:t>
              </a:r>
              <a:endParaRPr lang="en-US" sz="1600" dirty="0"/>
            </a:p>
          </p:txBody>
        </p:sp>
        <p:sp>
          <p:nvSpPr>
            <p:cNvPr id="39" name="Shape 37"/>
            <p:cNvSpPr/>
            <p:nvPr/>
          </p:nvSpPr>
          <p:spPr>
            <a:xfrm>
              <a:off x="13449" y="6717"/>
              <a:ext cx="204" cy="139"/>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40" name="Text 38"/>
            <p:cNvSpPr/>
            <p:nvPr/>
          </p:nvSpPr>
          <p:spPr>
            <a:xfrm>
              <a:off x="13826" y="6677"/>
              <a:ext cx="6217" cy="239"/>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异步并发请求优化</a:t>
              </a:r>
              <a:r>
                <a:rPr lang="en-US" sz="1335" dirty="0">
                  <a:solidFill>
                    <a:srgbClr val="E0E2E6">
                      <a:alpha val="80000"/>
                    </a:srgbClr>
                  </a:solidFill>
                  <a:latin typeface="MiSans" pitchFamily="34" charset="-122"/>
                  <a:ea typeface="MiSans" pitchFamily="34" charset="-122"/>
                  <a:cs typeface="MiSans" pitchFamily="34" charset="-120"/>
                </a:rPr>
                <a:t>: 批量处理文件获取,提升分析效率</a:t>
              </a:r>
              <a:endParaRPr lang="en-US" sz="1600" dirty="0"/>
            </a:p>
          </p:txBody>
        </p:sp>
        <p:sp>
          <p:nvSpPr>
            <p:cNvPr id="41" name="Shape 39"/>
            <p:cNvSpPr/>
            <p:nvPr/>
          </p:nvSpPr>
          <p:spPr>
            <a:xfrm>
              <a:off x="13449" y="7036"/>
              <a:ext cx="204" cy="139"/>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42" name="Text 40"/>
            <p:cNvSpPr/>
            <p:nvPr/>
          </p:nvSpPr>
          <p:spPr>
            <a:xfrm>
              <a:off x="13826" y="6996"/>
              <a:ext cx="6483" cy="239"/>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智能文件筛选</a:t>
              </a:r>
              <a:r>
                <a:rPr lang="en-US" sz="1335" dirty="0">
                  <a:solidFill>
                    <a:srgbClr val="E0E2E6">
                      <a:alpha val="80000"/>
                    </a:srgbClr>
                  </a:solidFill>
                  <a:latin typeface="MiSans" pitchFamily="34" charset="-122"/>
                  <a:ea typeface="MiSans" pitchFamily="34" charset="-122"/>
                  <a:cs typeface="MiSans" pitchFamily="34" charset="-120"/>
                </a:rPr>
                <a:t>: 基于文件大小和类型,优先分析核心源码</a:t>
              </a:r>
              <a:endParaRPr lang="en-US" sz="1600" dirty="0"/>
            </a:p>
          </p:txBody>
        </p:sp>
        <p:sp>
          <p:nvSpPr>
            <p:cNvPr id="43" name="Shape 41"/>
            <p:cNvSpPr/>
            <p:nvPr/>
          </p:nvSpPr>
          <p:spPr>
            <a:xfrm>
              <a:off x="13449" y="7354"/>
              <a:ext cx="204" cy="139"/>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44" name="Text 42"/>
            <p:cNvSpPr/>
            <p:nvPr/>
          </p:nvSpPr>
          <p:spPr>
            <a:xfrm>
              <a:off x="13826" y="7314"/>
              <a:ext cx="5417" cy="239"/>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缓存与增量更新</a:t>
              </a:r>
              <a:r>
                <a:rPr lang="en-US" sz="1335" dirty="0">
                  <a:solidFill>
                    <a:srgbClr val="E0E2E6">
                      <a:alpha val="80000"/>
                    </a:srgbClr>
                  </a:solidFill>
                  <a:latin typeface="MiSans" pitchFamily="34" charset="-122"/>
                  <a:ea typeface="MiSans" pitchFamily="34" charset="-122"/>
                  <a:cs typeface="MiSans" pitchFamily="34" charset="-120"/>
                </a:rPr>
                <a:t>: 减少重复请求,优化用户体验</a:t>
              </a:r>
              <a:endParaRPr lang="en-US" sz="1600" dirty="0"/>
            </a:p>
          </p:txBody>
        </p:sp>
      </p:grpSp>
      <p:sp>
        <p:nvSpPr>
          <p:cNvPr id="53" name="Shape 50"/>
          <p:cNvSpPr/>
          <p:nvPr/>
        </p:nvSpPr>
        <p:spPr>
          <a:xfrm>
            <a:off x="423545" y="5481955"/>
            <a:ext cx="7577455" cy="3258185"/>
          </a:xfrm>
          <a:custGeom>
            <a:avLst/>
            <a:gdLst/>
            <a:ahLst/>
            <a:cxnLst/>
            <a:rect l="l" t="t" r="r" b="b"/>
            <a:pathLst>
              <a:path w="7577667" h="5450417">
                <a:moveTo>
                  <a:pt x="126995" y="0"/>
                </a:moveTo>
                <a:lnTo>
                  <a:pt x="7450672" y="0"/>
                </a:lnTo>
                <a:cubicBezTo>
                  <a:pt x="7520809" y="0"/>
                  <a:pt x="7577667" y="56857"/>
                  <a:pt x="7577667" y="126995"/>
                </a:cubicBezTo>
                <a:lnTo>
                  <a:pt x="7577667" y="5323422"/>
                </a:lnTo>
                <a:cubicBezTo>
                  <a:pt x="7577667" y="5393512"/>
                  <a:pt x="7520762" y="5450417"/>
                  <a:pt x="7450672" y="5450417"/>
                </a:cubicBezTo>
                <a:lnTo>
                  <a:pt x="126995" y="5450417"/>
                </a:lnTo>
                <a:cubicBezTo>
                  <a:pt x="56857" y="5450417"/>
                  <a:pt x="0" y="5393559"/>
                  <a:pt x="0" y="5323422"/>
                </a:cubicBezTo>
                <a:lnTo>
                  <a:pt x="0" y="126995"/>
                </a:lnTo>
                <a:cubicBezTo>
                  <a:pt x="0" y="56904"/>
                  <a:pt x="56904" y="0"/>
                  <a:pt x="126995" y="0"/>
                </a:cubicBezTo>
                <a:close/>
              </a:path>
            </a:pathLst>
          </a:custGeom>
          <a:gradFill flip="none" rotWithShape="1">
            <a:gsLst>
              <a:gs pos="0">
                <a:srgbClr val="5A6472">
                  <a:alpha val="15000"/>
                </a:srgbClr>
              </a:gs>
              <a:gs pos="100000">
                <a:srgbClr val="000000">
                  <a:alpha val="0"/>
                </a:srgbClr>
              </a:gs>
            </a:gsLst>
            <a:lin ang="2700000" scaled="1"/>
          </a:gradFill>
          <a:ln w="25400">
            <a:solidFill>
              <a:srgbClr val="5A6472">
                <a:alpha val="40000"/>
              </a:srgbClr>
            </a:solidFill>
            <a:prstDash val="solid"/>
          </a:ln>
        </p:spPr>
      </p:sp>
      <p:sp>
        <p:nvSpPr>
          <p:cNvPr id="54" name="Shape 51"/>
          <p:cNvSpPr/>
          <p:nvPr/>
        </p:nvSpPr>
        <p:spPr>
          <a:xfrm>
            <a:off x="688340" y="5640070"/>
            <a:ext cx="592455" cy="354330"/>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5A6472"/>
          </a:solidFill>
        </p:spPr>
      </p:sp>
      <p:sp>
        <p:nvSpPr>
          <p:cNvPr id="55" name="Text 52"/>
          <p:cNvSpPr/>
          <p:nvPr/>
        </p:nvSpPr>
        <p:spPr>
          <a:xfrm>
            <a:off x="624840" y="5640070"/>
            <a:ext cx="719455" cy="354330"/>
          </a:xfrm>
          <a:prstGeom prst="rect">
            <a:avLst/>
          </a:prstGeom>
          <a:noFill/>
        </p:spPr>
        <p:txBody>
          <a:bodyPr wrap="square" lIns="0" tIns="0" rIns="0" bIns="0" rtlCol="0" anchor="ctr"/>
          <a:lstStyle/>
          <a:p>
            <a:pPr algn="ctr">
              <a:lnSpc>
                <a:spcPct val="110000"/>
              </a:lnSpc>
            </a:pPr>
            <a:r>
              <a:rPr lang="en-US" sz="2000" b="1" dirty="0">
                <a:solidFill>
                  <a:srgbClr val="FFFFFF"/>
                </a:solidFill>
                <a:latin typeface="阿里妈妈数黑体" pitchFamily="34" charset="-122"/>
                <a:ea typeface="阿里妈妈数黑体" pitchFamily="34" charset="-122"/>
                <a:cs typeface="阿里妈妈数黑体" pitchFamily="34" charset="-120"/>
              </a:rPr>
              <a:t>03</a:t>
            </a:r>
            <a:endParaRPr lang="en-US" sz="1600" dirty="0"/>
          </a:p>
        </p:txBody>
      </p:sp>
      <p:sp>
        <p:nvSpPr>
          <p:cNvPr id="56" name="Text 53"/>
          <p:cNvSpPr/>
          <p:nvPr/>
        </p:nvSpPr>
        <p:spPr>
          <a:xfrm>
            <a:off x="1450340" y="5728970"/>
            <a:ext cx="2011045" cy="177165"/>
          </a:xfrm>
          <a:prstGeom prst="rect">
            <a:avLst/>
          </a:prstGeom>
          <a:noFill/>
        </p:spPr>
        <p:txBody>
          <a:bodyPr wrap="square" lIns="0" tIns="0" rIns="0" bIns="0" rtlCol="0" anchor="ctr"/>
          <a:lstStyle/>
          <a:p>
            <a:pP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第三方依赖准确识别</a:t>
            </a:r>
            <a:endParaRPr lang="en-US" sz="1600" dirty="0"/>
          </a:p>
        </p:txBody>
      </p:sp>
      <p:sp>
        <p:nvSpPr>
          <p:cNvPr id="57" name="Shape 54"/>
          <p:cNvSpPr/>
          <p:nvPr/>
        </p:nvSpPr>
        <p:spPr>
          <a:xfrm>
            <a:off x="715010" y="6127115"/>
            <a:ext cx="190500" cy="113665"/>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E5A044"/>
          </a:solidFill>
        </p:spPr>
      </p:sp>
      <p:sp>
        <p:nvSpPr>
          <p:cNvPr id="58" name="Text 55"/>
          <p:cNvSpPr/>
          <p:nvPr/>
        </p:nvSpPr>
        <p:spPr>
          <a:xfrm>
            <a:off x="931545" y="6095365"/>
            <a:ext cx="6900545" cy="177165"/>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挑战描述</a:t>
            </a:r>
            <a:endParaRPr lang="en-US" sz="1600" dirty="0"/>
          </a:p>
        </p:txBody>
      </p:sp>
      <p:sp>
        <p:nvSpPr>
          <p:cNvPr id="59" name="Text 56"/>
          <p:cNvSpPr/>
          <p:nvPr/>
        </p:nvSpPr>
        <p:spPr>
          <a:xfrm>
            <a:off x="725805" y="6310630"/>
            <a:ext cx="7132955" cy="923290"/>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在不运行代码、不借助完整静态分析框架的前提下,尽可能准确识别"真正需要安装的第三方依赖"。import语句解析存在多种复杂情况,包括多种import形式、import名称≠实际安装包名、标准库与第三方库区分等。</a:t>
            </a:r>
            <a:endParaRPr lang="en-US" sz="1600" dirty="0"/>
          </a:p>
        </p:txBody>
      </p:sp>
      <p:sp>
        <p:nvSpPr>
          <p:cNvPr id="60" name="Shape 57"/>
          <p:cNvSpPr/>
          <p:nvPr/>
        </p:nvSpPr>
        <p:spPr>
          <a:xfrm>
            <a:off x="762635" y="7525385"/>
            <a:ext cx="142875" cy="113665"/>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3D8F8A"/>
          </a:solidFill>
        </p:spPr>
      </p:sp>
      <p:sp>
        <p:nvSpPr>
          <p:cNvPr id="61" name="Text 58"/>
          <p:cNvSpPr/>
          <p:nvPr/>
        </p:nvSpPr>
        <p:spPr>
          <a:xfrm>
            <a:off x="995680" y="7474585"/>
            <a:ext cx="6900545" cy="177165"/>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解决策略</a:t>
            </a:r>
            <a:endParaRPr lang="en-US" sz="1600" dirty="0"/>
          </a:p>
        </p:txBody>
      </p:sp>
      <p:sp>
        <p:nvSpPr>
          <p:cNvPr id="62" name="Shape 59"/>
          <p:cNvSpPr/>
          <p:nvPr/>
        </p:nvSpPr>
        <p:spPr>
          <a:xfrm>
            <a:off x="756285" y="7965440"/>
            <a:ext cx="129540" cy="88265"/>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63" name="Text 60"/>
          <p:cNvSpPr/>
          <p:nvPr/>
        </p:nvSpPr>
        <p:spPr>
          <a:xfrm>
            <a:off x="995680" y="7940040"/>
            <a:ext cx="3862705" cy="151765"/>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多层分类器</a:t>
            </a:r>
            <a:r>
              <a:rPr lang="en-US" sz="1335" dirty="0">
                <a:solidFill>
                  <a:srgbClr val="E0E2E6">
                    <a:alpha val="80000"/>
                  </a:srgbClr>
                </a:solidFill>
                <a:latin typeface="MiSans" pitchFamily="34" charset="-122"/>
                <a:ea typeface="MiSans" pitchFamily="34" charset="-122"/>
                <a:cs typeface="MiSans" pitchFamily="34" charset="-120"/>
              </a:rPr>
              <a:t>: 标准库/第三方库/项目内模块智能区分</a:t>
            </a:r>
            <a:endParaRPr lang="en-US" sz="1600" dirty="0"/>
          </a:p>
        </p:txBody>
      </p:sp>
      <p:sp>
        <p:nvSpPr>
          <p:cNvPr id="64" name="Shape 61"/>
          <p:cNvSpPr/>
          <p:nvPr/>
        </p:nvSpPr>
        <p:spPr>
          <a:xfrm>
            <a:off x="756285" y="8168005"/>
            <a:ext cx="129540" cy="88265"/>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65" name="Text 62"/>
          <p:cNvSpPr/>
          <p:nvPr/>
        </p:nvSpPr>
        <p:spPr>
          <a:xfrm>
            <a:off x="995680" y="8142605"/>
            <a:ext cx="3556000" cy="151765"/>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LLM语义理解</a:t>
            </a:r>
            <a:r>
              <a:rPr lang="en-US" sz="1335" dirty="0">
                <a:solidFill>
                  <a:srgbClr val="E0E2E6">
                    <a:alpha val="80000"/>
                  </a:srgbClr>
                </a:solidFill>
                <a:latin typeface="MiSans" pitchFamily="34" charset="-122"/>
                <a:ea typeface="MiSans" pitchFamily="34" charset="-122"/>
                <a:cs typeface="MiSans" pitchFamily="34" charset="-120"/>
              </a:rPr>
              <a:t>: 结合上下文排除误判和内部模块</a:t>
            </a:r>
            <a:endParaRPr lang="en-US" sz="1600" dirty="0"/>
          </a:p>
        </p:txBody>
      </p:sp>
      <p:sp>
        <p:nvSpPr>
          <p:cNvPr id="66" name="Shape 63"/>
          <p:cNvSpPr/>
          <p:nvPr/>
        </p:nvSpPr>
        <p:spPr>
          <a:xfrm>
            <a:off x="756285" y="8370570"/>
            <a:ext cx="129540" cy="88265"/>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67" name="Text 64"/>
          <p:cNvSpPr/>
          <p:nvPr/>
        </p:nvSpPr>
        <p:spPr>
          <a:xfrm>
            <a:off x="995680" y="8345170"/>
            <a:ext cx="3725545" cy="151765"/>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包名映射库</a:t>
            </a:r>
            <a:r>
              <a:rPr lang="en-US" sz="1335" dirty="0">
                <a:solidFill>
                  <a:srgbClr val="E0E2E6">
                    <a:alpha val="80000"/>
                  </a:srgbClr>
                </a:solidFill>
                <a:latin typeface="MiSans" pitchFamily="34" charset="-122"/>
                <a:ea typeface="MiSans" pitchFamily="34" charset="-122"/>
                <a:cs typeface="MiSans" pitchFamily="34" charset="-120"/>
              </a:rPr>
              <a:t>: 维护import名与PyPI包名的对应关系</a:t>
            </a:r>
            <a:endParaRPr lang="en-US" sz="1600" dirty="0"/>
          </a:p>
        </p:txBody>
      </p:sp>
      <p:sp>
        <p:nvSpPr>
          <p:cNvPr id="74" name="Shape 72"/>
          <p:cNvSpPr/>
          <p:nvPr/>
        </p:nvSpPr>
        <p:spPr>
          <a:xfrm>
            <a:off x="8234045" y="5481955"/>
            <a:ext cx="7577455" cy="3258185"/>
          </a:xfrm>
          <a:custGeom>
            <a:avLst/>
            <a:gdLst/>
            <a:ahLst/>
            <a:cxnLst/>
            <a:rect l="l" t="t" r="r" b="b"/>
            <a:pathLst>
              <a:path w="7577667" h="5450417">
                <a:moveTo>
                  <a:pt x="126995" y="0"/>
                </a:moveTo>
                <a:lnTo>
                  <a:pt x="7450672" y="0"/>
                </a:lnTo>
                <a:cubicBezTo>
                  <a:pt x="7520809" y="0"/>
                  <a:pt x="7577667" y="56857"/>
                  <a:pt x="7577667" y="126995"/>
                </a:cubicBezTo>
                <a:lnTo>
                  <a:pt x="7577667" y="5323422"/>
                </a:lnTo>
                <a:cubicBezTo>
                  <a:pt x="7577667" y="5393512"/>
                  <a:pt x="7520762" y="5450417"/>
                  <a:pt x="7450672" y="5450417"/>
                </a:cubicBezTo>
                <a:lnTo>
                  <a:pt x="126995" y="5450417"/>
                </a:lnTo>
                <a:cubicBezTo>
                  <a:pt x="56857" y="5450417"/>
                  <a:pt x="0" y="5393559"/>
                  <a:pt x="0" y="5323422"/>
                </a:cubicBezTo>
                <a:lnTo>
                  <a:pt x="0" y="126995"/>
                </a:lnTo>
                <a:cubicBezTo>
                  <a:pt x="0" y="56904"/>
                  <a:pt x="56904" y="0"/>
                  <a:pt x="126995" y="0"/>
                </a:cubicBezTo>
                <a:close/>
              </a:path>
            </a:pathLst>
          </a:custGeom>
          <a:gradFill flip="none" rotWithShape="1">
            <a:gsLst>
              <a:gs pos="0">
                <a:srgbClr val="E5A044">
                  <a:alpha val="15000"/>
                </a:srgbClr>
              </a:gs>
              <a:gs pos="100000">
                <a:srgbClr val="000000">
                  <a:alpha val="0"/>
                </a:srgbClr>
              </a:gs>
            </a:gsLst>
            <a:lin ang="2700000" scaled="1"/>
          </a:gradFill>
          <a:ln w="25400">
            <a:solidFill>
              <a:srgbClr val="E5A044">
                <a:alpha val="40000"/>
              </a:srgbClr>
            </a:solidFill>
            <a:prstDash val="solid"/>
          </a:ln>
        </p:spPr>
      </p:sp>
      <p:sp>
        <p:nvSpPr>
          <p:cNvPr id="75" name="Shape 73"/>
          <p:cNvSpPr/>
          <p:nvPr/>
        </p:nvSpPr>
        <p:spPr>
          <a:xfrm>
            <a:off x="8498840" y="5640070"/>
            <a:ext cx="592455" cy="354330"/>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E5A044"/>
          </a:solidFill>
        </p:spPr>
      </p:sp>
      <p:sp>
        <p:nvSpPr>
          <p:cNvPr id="76" name="Text 74"/>
          <p:cNvSpPr/>
          <p:nvPr/>
        </p:nvSpPr>
        <p:spPr>
          <a:xfrm>
            <a:off x="8435340" y="5640070"/>
            <a:ext cx="719455" cy="354330"/>
          </a:xfrm>
          <a:prstGeom prst="rect">
            <a:avLst/>
          </a:prstGeom>
          <a:noFill/>
        </p:spPr>
        <p:txBody>
          <a:bodyPr wrap="square" lIns="0" tIns="0" rIns="0" bIns="0" rtlCol="0" anchor="ctr"/>
          <a:lstStyle/>
          <a:p>
            <a:pPr algn="ctr">
              <a:lnSpc>
                <a:spcPct val="110000"/>
              </a:lnSpc>
            </a:pPr>
            <a:r>
              <a:rPr lang="en-US" sz="2000" b="1" dirty="0">
                <a:solidFill>
                  <a:srgbClr val="FFFFFF"/>
                </a:solidFill>
                <a:latin typeface="阿里妈妈数黑体" pitchFamily="34" charset="-122"/>
                <a:ea typeface="阿里妈妈数黑体" pitchFamily="34" charset="-122"/>
                <a:cs typeface="阿里妈妈数黑体" pitchFamily="34" charset="-120"/>
              </a:rPr>
              <a:t>04</a:t>
            </a:r>
            <a:endParaRPr lang="en-US" sz="1600" dirty="0"/>
          </a:p>
        </p:txBody>
      </p:sp>
      <p:sp>
        <p:nvSpPr>
          <p:cNvPr id="77" name="Text 75"/>
          <p:cNvSpPr/>
          <p:nvPr/>
        </p:nvSpPr>
        <p:spPr>
          <a:xfrm>
            <a:off x="9260840" y="5728970"/>
            <a:ext cx="1587500" cy="177165"/>
          </a:xfrm>
          <a:prstGeom prst="rect">
            <a:avLst/>
          </a:prstGeom>
          <a:noFill/>
        </p:spPr>
        <p:txBody>
          <a:bodyPr wrap="square" lIns="0" tIns="0" rIns="0" bIns="0" rtlCol="0" anchor="ctr"/>
          <a:lstStyle/>
          <a:p>
            <a:pP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兼容性知识构建</a:t>
            </a:r>
            <a:endParaRPr lang="en-US" sz="1600" dirty="0"/>
          </a:p>
        </p:txBody>
      </p:sp>
      <p:sp>
        <p:nvSpPr>
          <p:cNvPr id="78" name="Shape 76"/>
          <p:cNvSpPr/>
          <p:nvPr/>
        </p:nvSpPr>
        <p:spPr>
          <a:xfrm>
            <a:off x="8525510" y="6127115"/>
            <a:ext cx="190500" cy="113665"/>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E5A044"/>
          </a:solidFill>
        </p:spPr>
      </p:sp>
      <p:sp>
        <p:nvSpPr>
          <p:cNvPr id="79" name="Text 77"/>
          <p:cNvSpPr/>
          <p:nvPr/>
        </p:nvSpPr>
        <p:spPr>
          <a:xfrm>
            <a:off x="8742045" y="6095365"/>
            <a:ext cx="6900545" cy="177165"/>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挑战描述</a:t>
            </a:r>
            <a:endParaRPr lang="en-US" sz="1600" dirty="0"/>
          </a:p>
        </p:txBody>
      </p:sp>
      <p:sp>
        <p:nvSpPr>
          <p:cNvPr id="80" name="Text 78"/>
          <p:cNvSpPr/>
          <p:nvPr/>
        </p:nvSpPr>
        <p:spPr>
          <a:xfrm>
            <a:off x="8509635" y="6339205"/>
            <a:ext cx="7132955" cy="680085"/>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Python生态中,依赖兼容性信息分散在PyPI元数据、CI配置、Dockerfile、历史issue/commit中,不存在一个统一、结构化、可直接查询的兼容性数据库。需要构建一个综合性的兼容性知识源。</a:t>
            </a:r>
            <a:endParaRPr lang="en-US" sz="1600" dirty="0"/>
          </a:p>
        </p:txBody>
      </p:sp>
      <p:sp>
        <p:nvSpPr>
          <p:cNvPr id="81" name="Shape 79"/>
          <p:cNvSpPr/>
          <p:nvPr/>
        </p:nvSpPr>
        <p:spPr>
          <a:xfrm>
            <a:off x="8573135" y="7538085"/>
            <a:ext cx="142875" cy="113665"/>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3D8F8A"/>
          </a:solidFill>
        </p:spPr>
      </p:sp>
      <p:sp>
        <p:nvSpPr>
          <p:cNvPr id="82" name="Text 80"/>
          <p:cNvSpPr/>
          <p:nvPr/>
        </p:nvSpPr>
        <p:spPr>
          <a:xfrm>
            <a:off x="8779510" y="7474585"/>
            <a:ext cx="6900545" cy="177165"/>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解决策略</a:t>
            </a:r>
            <a:endParaRPr lang="en-US" sz="1600" dirty="0"/>
          </a:p>
        </p:txBody>
      </p:sp>
      <p:sp>
        <p:nvSpPr>
          <p:cNvPr id="83" name="Shape 81"/>
          <p:cNvSpPr/>
          <p:nvPr/>
        </p:nvSpPr>
        <p:spPr>
          <a:xfrm>
            <a:off x="8540115" y="8041640"/>
            <a:ext cx="129540" cy="88265"/>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84" name="Text 82"/>
          <p:cNvSpPr/>
          <p:nvPr/>
        </p:nvSpPr>
        <p:spPr>
          <a:xfrm>
            <a:off x="8779510" y="8016240"/>
            <a:ext cx="4201795" cy="151765"/>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多源数据融合</a:t>
            </a:r>
            <a:r>
              <a:rPr lang="en-US" sz="1335" dirty="0">
                <a:solidFill>
                  <a:srgbClr val="E0E2E6">
                    <a:alpha val="80000"/>
                  </a:srgbClr>
                </a:solidFill>
                <a:latin typeface="MiSans" pitchFamily="34" charset="-122"/>
                <a:ea typeface="MiSans" pitchFamily="34" charset="-122"/>
                <a:cs typeface="MiSans" pitchFamily="34" charset="-120"/>
              </a:rPr>
              <a:t>: PyPI元数据+CI日志+Dockerfile综合提取</a:t>
            </a:r>
            <a:endParaRPr lang="en-US" sz="1600" dirty="0"/>
          </a:p>
        </p:txBody>
      </p:sp>
      <p:sp>
        <p:nvSpPr>
          <p:cNvPr id="85" name="Shape 83"/>
          <p:cNvSpPr/>
          <p:nvPr/>
        </p:nvSpPr>
        <p:spPr>
          <a:xfrm>
            <a:off x="8540115" y="8244205"/>
            <a:ext cx="129540" cy="88265"/>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86" name="Text 84"/>
          <p:cNvSpPr/>
          <p:nvPr/>
        </p:nvSpPr>
        <p:spPr>
          <a:xfrm>
            <a:off x="8779510" y="8218805"/>
            <a:ext cx="4043045" cy="151765"/>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需求驱动+懒加载</a:t>
            </a:r>
            <a:r>
              <a:rPr lang="en-US" sz="1335" dirty="0">
                <a:solidFill>
                  <a:srgbClr val="E0E2E6">
                    <a:alpha val="80000"/>
                  </a:srgbClr>
                </a:solidFill>
                <a:latin typeface="MiSans" pitchFamily="34" charset="-122"/>
                <a:ea typeface="MiSans" pitchFamily="34" charset="-122"/>
                <a:cs typeface="MiSans" pitchFamily="34" charset="-120"/>
              </a:rPr>
              <a:t>: 优先处理常见包,遇到新包动态补充</a:t>
            </a:r>
            <a:endParaRPr lang="en-US" sz="1600" dirty="0"/>
          </a:p>
        </p:txBody>
      </p:sp>
      <p:sp>
        <p:nvSpPr>
          <p:cNvPr id="87" name="Shape 85"/>
          <p:cNvSpPr/>
          <p:nvPr/>
        </p:nvSpPr>
        <p:spPr>
          <a:xfrm>
            <a:off x="8540115" y="8446770"/>
            <a:ext cx="129540" cy="88265"/>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3D8F8A"/>
          </a:solidFill>
        </p:spPr>
      </p:sp>
      <p:sp>
        <p:nvSpPr>
          <p:cNvPr id="88" name="Text 86"/>
          <p:cNvSpPr/>
          <p:nvPr/>
        </p:nvSpPr>
        <p:spPr>
          <a:xfrm>
            <a:off x="8779510" y="8421370"/>
            <a:ext cx="3535045" cy="151765"/>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社区验证模式</a:t>
            </a:r>
            <a:r>
              <a:rPr lang="en-US" sz="1335" dirty="0">
                <a:solidFill>
                  <a:srgbClr val="E0E2E6">
                    <a:alpha val="80000"/>
                  </a:srgbClr>
                </a:solidFill>
                <a:latin typeface="MiSans" pitchFamily="34" charset="-122"/>
                <a:ea typeface="MiSans" pitchFamily="34" charset="-122"/>
                <a:cs typeface="MiSans" pitchFamily="34" charset="-120"/>
              </a:rPr>
              <a:t>: 从高Star项目提取主流配置搭配</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529167"/>
            <a:ext cx="677333" cy="42333"/>
          </a:xfrm>
          <a:custGeom>
            <a:avLst/>
            <a:gdLst/>
            <a:ahLst/>
            <a:cxnLst/>
            <a:rect l="l" t="t" r="r" b="b"/>
            <a:pathLst>
              <a:path w="677333" h="42333">
                <a:moveTo>
                  <a:pt x="0" y="0"/>
                </a:moveTo>
                <a:lnTo>
                  <a:pt x="677333" y="0"/>
                </a:lnTo>
                <a:lnTo>
                  <a:pt x="677333" y="42333"/>
                </a:lnTo>
                <a:lnTo>
                  <a:pt x="0" y="42333"/>
                </a:lnTo>
                <a:lnTo>
                  <a:pt x="0" y="0"/>
                </a:lnTo>
                <a:close/>
              </a:path>
            </a:pathLst>
          </a:custGeom>
          <a:solidFill>
            <a:srgbClr val="3D8F8A"/>
          </a:solidFill>
        </p:spPr>
      </p:sp>
      <p:sp>
        <p:nvSpPr>
          <p:cNvPr id="3" name="Text 1"/>
          <p:cNvSpPr/>
          <p:nvPr/>
        </p:nvSpPr>
        <p:spPr>
          <a:xfrm>
            <a:off x="1270000" y="423333"/>
            <a:ext cx="2190750" cy="254000"/>
          </a:xfrm>
          <a:prstGeom prst="rect">
            <a:avLst/>
          </a:prstGeom>
          <a:noFill/>
        </p:spPr>
        <p:txBody>
          <a:bodyPr wrap="square" lIns="0" tIns="0" rIns="0" bIns="0" rtlCol="0" anchor="ctr"/>
          <a:lstStyle/>
          <a:p>
            <a:pPr>
              <a:lnSpc>
                <a:spcPct val="130000"/>
              </a:lnSpc>
            </a:pPr>
            <a:r>
              <a:rPr lang="en-US" sz="1335" b="1" kern="0" spc="67" dirty="0">
                <a:solidFill>
                  <a:srgbClr val="3D8F8A"/>
                </a:solidFill>
                <a:latin typeface="MiSans" pitchFamily="34" charset="-122"/>
                <a:ea typeface="MiSans" pitchFamily="34" charset="-122"/>
                <a:cs typeface="MiSans" pitchFamily="34" charset="-120"/>
              </a:rPr>
              <a:t>SYSTEM ARCHITECTURE</a:t>
            </a:r>
            <a:endParaRPr lang="en-US" sz="1600" dirty="0"/>
          </a:p>
        </p:txBody>
      </p:sp>
      <p:sp>
        <p:nvSpPr>
          <p:cNvPr id="4" name="Text 2"/>
          <p:cNvSpPr/>
          <p:nvPr/>
        </p:nvSpPr>
        <p:spPr>
          <a:xfrm>
            <a:off x="423333" y="804333"/>
            <a:ext cx="15663333" cy="508000"/>
          </a:xfrm>
          <a:prstGeom prst="rect">
            <a:avLst/>
          </a:prstGeom>
          <a:noFill/>
        </p:spPr>
        <p:txBody>
          <a:bodyPr wrap="square" lIns="0" tIns="0" rIns="0" bIns="0" rtlCol="0" anchor="ctr"/>
          <a:lstStyle/>
          <a:p>
            <a:pPr>
              <a:lnSpc>
                <a:spcPct val="80000"/>
              </a:lnSpc>
            </a:pPr>
            <a:r>
              <a:rPr lang="en-US" sz="4000" b="1" dirty="0">
                <a:solidFill>
                  <a:srgbClr val="E0E2E6"/>
                </a:solidFill>
                <a:latin typeface="阿里妈妈数黑体" pitchFamily="34" charset="-122"/>
                <a:ea typeface="阿里妈妈数黑体" pitchFamily="34" charset="-122"/>
                <a:cs typeface="阿里妈妈数黑体" pitchFamily="34" charset="-120"/>
              </a:rPr>
              <a:t>系统架构设计</a:t>
            </a:r>
            <a:endParaRPr lang="en-US" sz="1600" dirty="0"/>
          </a:p>
        </p:txBody>
      </p:sp>
      <p:grpSp>
        <p:nvGrpSpPr>
          <p:cNvPr id="6" name="组合 5"/>
          <p:cNvGrpSpPr/>
          <p:nvPr>
            <p:custDataLst>
              <p:tags r:id="rId1"/>
            </p:custDataLst>
          </p:nvPr>
        </p:nvGrpSpPr>
        <p:grpSpPr>
          <a:xfrm>
            <a:off x="1100455" y="1713230"/>
            <a:ext cx="7200000" cy="1121410"/>
            <a:chOff x="15669" y="3067"/>
            <a:chExt cx="9266" cy="1766"/>
          </a:xfrm>
        </p:grpSpPr>
        <p:sp>
          <p:nvSpPr>
            <p:cNvPr id="10" name="Shape 7"/>
            <p:cNvSpPr/>
            <p:nvPr>
              <p:custDataLst>
                <p:tags r:id="rId2"/>
              </p:custDataLst>
            </p:nvPr>
          </p:nvSpPr>
          <p:spPr>
            <a:xfrm>
              <a:off x="15669" y="3067"/>
              <a:ext cx="9267" cy="1767"/>
            </a:xfrm>
            <a:custGeom>
              <a:avLst/>
              <a:gdLst/>
              <a:ahLst/>
              <a:cxnLst/>
              <a:rect l="l" t="t" r="r" b="b"/>
              <a:pathLst>
                <a:path w="5884333" h="1121833">
                  <a:moveTo>
                    <a:pt x="42333" y="0"/>
                  </a:moveTo>
                  <a:lnTo>
                    <a:pt x="5757331" y="0"/>
                  </a:lnTo>
                  <a:cubicBezTo>
                    <a:pt x="5827472" y="0"/>
                    <a:pt x="5884333" y="56861"/>
                    <a:pt x="5884333" y="127003"/>
                  </a:cubicBezTo>
                  <a:lnTo>
                    <a:pt x="5884333" y="994831"/>
                  </a:lnTo>
                  <a:cubicBezTo>
                    <a:pt x="5884333" y="1064972"/>
                    <a:pt x="5827472" y="1121833"/>
                    <a:pt x="5757331" y="1121833"/>
                  </a:cubicBezTo>
                  <a:lnTo>
                    <a:pt x="42333" y="1121833"/>
                  </a:lnTo>
                  <a:cubicBezTo>
                    <a:pt x="18953" y="1121833"/>
                    <a:pt x="0" y="1102880"/>
                    <a:pt x="0" y="1079500"/>
                  </a:cubicBezTo>
                  <a:lnTo>
                    <a:pt x="0" y="42333"/>
                  </a:lnTo>
                  <a:cubicBezTo>
                    <a:pt x="0" y="18969"/>
                    <a:pt x="18969" y="0"/>
                    <a:pt x="42333" y="0"/>
                  </a:cubicBezTo>
                  <a:close/>
                </a:path>
              </a:pathLst>
            </a:custGeom>
            <a:gradFill flip="none" rotWithShape="1">
              <a:gsLst>
                <a:gs pos="0">
                  <a:srgbClr val="3D8F8A">
                    <a:alpha val="15000"/>
                  </a:srgbClr>
                </a:gs>
                <a:gs pos="100000">
                  <a:srgbClr val="000000">
                    <a:alpha val="0"/>
                  </a:srgbClr>
                </a:gs>
              </a:gsLst>
              <a:lin ang="2700000" scaled="1"/>
            </a:gradFill>
          </p:spPr>
        </p:sp>
        <p:sp>
          <p:nvSpPr>
            <p:cNvPr id="11" name="Shape 8"/>
            <p:cNvSpPr/>
            <p:nvPr>
              <p:custDataLst>
                <p:tags r:id="rId3"/>
              </p:custDataLst>
            </p:nvPr>
          </p:nvSpPr>
          <p:spPr>
            <a:xfrm>
              <a:off x="15669" y="3067"/>
              <a:ext cx="67" cy="1767"/>
            </a:xfrm>
            <a:custGeom>
              <a:avLst/>
              <a:gdLst/>
              <a:ahLst/>
              <a:cxnLst/>
              <a:rect l="l" t="t" r="r" b="b"/>
              <a:pathLst>
                <a:path w="42333" h="1121833">
                  <a:moveTo>
                    <a:pt x="42333" y="0"/>
                  </a:moveTo>
                  <a:lnTo>
                    <a:pt x="42333" y="0"/>
                  </a:lnTo>
                  <a:lnTo>
                    <a:pt x="42333" y="1121833"/>
                  </a:lnTo>
                  <a:lnTo>
                    <a:pt x="42333" y="1121833"/>
                  </a:lnTo>
                  <a:cubicBezTo>
                    <a:pt x="18953" y="1121833"/>
                    <a:pt x="0" y="1102880"/>
                    <a:pt x="0" y="1079500"/>
                  </a:cubicBezTo>
                  <a:lnTo>
                    <a:pt x="0" y="42333"/>
                  </a:lnTo>
                  <a:cubicBezTo>
                    <a:pt x="0" y="18953"/>
                    <a:pt x="18953" y="0"/>
                    <a:pt x="42333" y="0"/>
                  </a:cubicBezTo>
                  <a:close/>
                </a:path>
              </a:pathLst>
            </a:custGeom>
            <a:solidFill>
              <a:srgbClr val="3D8F8A"/>
            </a:solidFill>
          </p:spPr>
        </p:sp>
        <p:sp>
          <p:nvSpPr>
            <p:cNvPr id="12" name="Shape 9"/>
            <p:cNvSpPr/>
            <p:nvPr>
              <p:custDataLst>
                <p:tags r:id="rId4"/>
              </p:custDataLst>
            </p:nvPr>
          </p:nvSpPr>
          <p:spPr>
            <a:xfrm>
              <a:off x="15969" y="3333"/>
              <a:ext cx="667" cy="667"/>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3D8F8A"/>
            </a:solidFill>
          </p:spPr>
        </p:sp>
        <p:sp>
          <p:nvSpPr>
            <p:cNvPr id="13" name="Shape 10"/>
            <p:cNvSpPr/>
            <p:nvPr>
              <p:custDataLst>
                <p:tags r:id="rId5"/>
              </p:custDataLst>
            </p:nvPr>
          </p:nvSpPr>
          <p:spPr>
            <a:xfrm>
              <a:off x="16175" y="3517"/>
              <a:ext cx="263" cy="300"/>
            </a:xfrm>
            <a:custGeom>
              <a:avLst/>
              <a:gdLst/>
              <a:ahLst/>
              <a:cxnLst/>
              <a:rect l="l" t="t" r="r" b="b"/>
              <a:pathLst>
                <a:path w="166688" h="190500">
                  <a:moveTo>
                    <a:pt x="83344" y="92273"/>
                  </a:moveTo>
                  <a:cubicBezTo>
                    <a:pt x="107986" y="92273"/>
                    <a:pt x="127992" y="72267"/>
                    <a:pt x="127992" y="47625"/>
                  </a:cubicBezTo>
                  <a:cubicBezTo>
                    <a:pt x="127992" y="22983"/>
                    <a:pt x="107986" y="2977"/>
                    <a:pt x="83344" y="2977"/>
                  </a:cubicBezTo>
                  <a:cubicBezTo>
                    <a:pt x="58702" y="2977"/>
                    <a:pt x="38695" y="22983"/>
                    <a:pt x="38695" y="47625"/>
                  </a:cubicBezTo>
                  <a:cubicBezTo>
                    <a:pt x="38695" y="72267"/>
                    <a:pt x="58702" y="92273"/>
                    <a:pt x="83344" y="92273"/>
                  </a:cubicBezTo>
                  <a:close/>
                  <a:moveTo>
                    <a:pt x="72293" y="113109"/>
                  </a:moveTo>
                  <a:cubicBezTo>
                    <a:pt x="35644" y="113109"/>
                    <a:pt x="5953" y="142801"/>
                    <a:pt x="5953" y="179450"/>
                  </a:cubicBezTo>
                  <a:cubicBezTo>
                    <a:pt x="5953" y="185551"/>
                    <a:pt x="10902" y="190500"/>
                    <a:pt x="17004" y="190500"/>
                  </a:cubicBezTo>
                  <a:lnTo>
                    <a:pt x="149684" y="190500"/>
                  </a:lnTo>
                  <a:cubicBezTo>
                    <a:pt x="155786" y="190500"/>
                    <a:pt x="160734" y="185551"/>
                    <a:pt x="160734" y="179450"/>
                  </a:cubicBezTo>
                  <a:cubicBezTo>
                    <a:pt x="160734" y="142801"/>
                    <a:pt x="131043" y="113109"/>
                    <a:pt x="94394" y="113109"/>
                  </a:cubicBezTo>
                  <a:lnTo>
                    <a:pt x="72293" y="113109"/>
                  </a:lnTo>
                  <a:close/>
                </a:path>
              </a:pathLst>
            </a:custGeom>
            <a:solidFill>
              <a:srgbClr val="FFFFFF"/>
            </a:solidFill>
          </p:spPr>
        </p:sp>
        <p:sp>
          <p:nvSpPr>
            <p:cNvPr id="14" name="Text 11"/>
            <p:cNvSpPr/>
            <p:nvPr>
              <p:custDataLst>
                <p:tags r:id="rId6"/>
              </p:custDataLst>
            </p:nvPr>
          </p:nvSpPr>
          <p:spPr>
            <a:xfrm>
              <a:off x="16836" y="3433"/>
              <a:ext cx="16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用户交互层</a:t>
              </a:r>
              <a:endParaRPr lang="en-US" sz="1600" dirty="0"/>
            </a:p>
          </p:txBody>
        </p:sp>
        <p:sp>
          <p:nvSpPr>
            <p:cNvPr id="15" name="Text 12"/>
            <p:cNvSpPr/>
            <p:nvPr>
              <p:custDataLst>
                <p:tags r:id="rId7"/>
              </p:custDataLst>
            </p:nvPr>
          </p:nvSpPr>
          <p:spPr>
            <a:xfrm>
              <a:off x="15969" y="4133"/>
              <a:ext cx="8833" cy="43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浏览器插件前端界面,提供</a:t>
              </a:r>
              <a:r>
                <a:rPr lang="en-US" sz="1335" b="1" dirty="0">
                  <a:solidFill>
                    <a:srgbClr val="3D8F8A"/>
                  </a:solidFill>
                  <a:latin typeface="MiSans" pitchFamily="34" charset="-122"/>
                  <a:ea typeface="MiSans" pitchFamily="34" charset="-122"/>
                  <a:cs typeface="MiSans" pitchFamily="34" charset="-120"/>
                </a:rPr>
                <a:t>一键分析</a:t>
              </a:r>
              <a:r>
                <a:rPr lang="en-US" sz="1335" dirty="0">
                  <a:solidFill>
                    <a:srgbClr val="E0E2E6">
                      <a:alpha val="80000"/>
                    </a:srgbClr>
                  </a:solidFill>
                  <a:latin typeface="MiSans" pitchFamily="34" charset="-122"/>
                  <a:ea typeface="MiSans" pitchFamily="34" charset="-122"/>
                  <a:cs typeface="MiSans" pitchFamily="34" charset="-120"/>
                </a:rPr>
                <a:t>功能,展示分析结果和生成的依赖文件</a:t>
              </a:r>
              <a:endParaRPr lang="en-US" sz="1600" dirty="0"/>
            </a:p>
          </p:txBody>
        </p:sp>
      </p:grpSp>
      <p:grpSp>
        <p:nvGrpSpPr>
          <p:cNvPr id="7" name="组合 6"/>
          <p:cNvGrpSpPr/>
          <p:nvPr>
            <p:custDataLst>
              <p:tags r:id="rId8"/>
            </p:custDataLst>
          </p:nvPr>
        </p:nvGrpSpPr>
        <p:grpSpPr>
          <a:xfrm>
            <a:off x="8498840" y="2880995"/>
            <a:ext cx="7200000" cy="1121410"/>
            <a:chOff x="15669" y="5033"/>
            <a:chExt cx="9266" cy="1766"/>
          </a:xfrm>
        </p:grpSpPr>
        <p:sp>
          <p:nvSpPr>
            <p:cNvPr id="16" name="Shape 13"/>
            <p:cNvSpPr/>
            <p:nvPr>
              <p:custDataLst>
                <p:tags r:id="rId9"/>
              </p:custDataLst>
            </p:nvPr>
          </p:nvSpPr>
          <p:spPr>
            <a:xfrm>
              <a:off x="15669" y="5033"/>
              <a:ext cx="9267" cy="1767"/>
            </a:xfrm>
            <a:custGeom>
              <a:avLst/>
              <a:gdLst/>
              <a:ahLst/>
              <a:cxnLst/>
              <a:rect l="l" t="t" r="r" b="b"/>
              <a:pathLst>
                <a:path w="5884333" h="1121833">
                  <a:moveTo>
                    <a:pt x="42333" y="0"/>
                  </a:moveTo>
                  <a:lnTo>
                    <a:pt x="5757331" y="0"/>
                  </a:lnTo>
                  <a:cubicBezTo>
                    <a:pt x="5827472" y="0"/>
                    <a:pt x="5884333" y="56861"/>
                    <a:pt x="5884333" y="127003"/>
                  </a:cubicBezTo>
                  <a:lnTo>
                    <a:pt x="5884333" y="994831"/>
                  </a:lnTo>
                  <a:cubicBezTo>
                    <a:pt x="5884333" y="1064972"/>
                    <a:pt x="5827472" y="1121833"/>
                    <a:pt x="5757331" y="1121833"/>
                  </a:cubicBezTo>
                  <a:lnTo>
                    <a:pt x="42333" y="1121833"/>
                  </a:lnTo>
                  <a:cubicBezTo>
                    <a:pt x="18953" y="1121833"/>
                    <a:pt x="0" y="1102880"/>
                    <a:pt x="0" y="1079500"/>
                  </a:cubicBezTo>
                  <a:lnTo>
                    <a:pt x="0" y="42333"/>
                  </a:lnTo>
                  <a:cubicBezTo>
                    <a:pt x="0" y="18969"/>
                    <a:pt x="18969" y="0"/>
                    <a:pt x="42333" y="0"/>
                  </a:cubicBezTo>
                  <a:close/>
                </a:path>
              </a:pathLst>
            </a:custGeom>
            <a:gradFill flip="none" rotWithShape="1">
              <a:gsLst>
                <a:gs pos="0">
                  <a:srgbClr val="E5A044">
                    <a:alpha val="15000"/>
                  </a:srgbClr>
                </a:gs>
                <a:gs pos="100000">
                  <a:srgbClr val="000000">
                    <a:alpha val="0"/>
                  </a:srgbClr>
                </a:gs>
              </a:gsLst>
              <a:lin ang="2700000" scaled="1"/>
            </a:gradFill>
          </p:spPr>
        </p:sp>
        <p:sp>
          <p:nvSpPr>
            <p:cNvPr id="17" name="Shape 14"/>
            <p:cNvSpPr/>
            <p:nvPr>
              <p:custDataLst>
                <p:tags r:id="rId10"/>
              </p:custDataLst>
            </p:nvPr>
          </p:nvSpPr>
          <p:spPr>
            <a:xfrm>
              <a:off x="15669" y="5033"/>
              <a:ext cx="67" cy="1767"/>
            </a:xfrm>
            <a:custGeom>
              <a:avLst/>
              <a:gdLst/>
              <a:ahLst/>
              <a:cxnLst/>
              <a:rect l="l" t="t" r="r" b="b"/>
              <a:pathLst>
                <a:path w="42333" h="1121833">
                  <a:moveTo>
                    <a:pt x="42333" y="0"/>
                  </a:moveTo>
                  <a:lnTo>
                    <a:pt x="42333" y="0"/>
                  </a:lnTo>
                  <a:lnTo>
                    <a:pt x="42333" y="1121833"/>
                  </a:lnTo>
                  <a:lnTo>
                    <a:pt x="42333" y="1121833"/>
                  </a:lnTo>
                  <a:cubicBezTo>
                    <a:pt x="18953" y="1121833"/>
                    <a:pt x="0" y="1102880"/>
                    <a:pt x="0" y="1079500"/>
                  </a:cubicBezTo>
                  <a:lnTo>
                    <a:pt x="0" y="42333"/>
                  </a:lnTo>
                  <a:cubicBezTo>
                    <a:pt x="0" y="18953"/>
                    <a:pt x="18953" y="0"/>
                    <a:pt x="42333" y="0"/>
                  </a:cubicBezTo>
                  <a:close/>
                </a:path>
              </a:pathLst>
            </a:custGeom>
            <a:solidFill>
              <a:srgbClr val="E5A044"/>
            </a:solidFill>
          </p:spPr>
        </p:sp>
        <p:sp>
          <p:nvSpPr>
            <p:cNvPr id="18" name="Shape 15"/>
            <p:cNvSpPr/>
            <p:nvPr>
              <p:custDataLst>
                <p:tags r:id="rId11"/>
              </p:custDataLst>
            </p:nvPr>
          </p:nvSpPr>
          <p:spPr>
            <a:xfrm>
              <a:off x="15969" y="5300"/>
              <a:ext cx="667" cy="667"/>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E5A044"/>
            </a:solidFill>
          </p:spPr>
        </p:sp>
        <p:sp>
          <p:nvSpPr>
            <p:cNvPr id="19" name="Shape 16"/>
            <p:cNvSpPr/>
            <p:nvPr>
              <p:custDataLst>
                <p:tags r:id="rId12"/>
              </p:custDataLst>
            </p:nvPr>
          </p:nvSpPr>
          <p:spPr>
            <a:xfrm>
              <a:off x="16175" y="5483"/>
              <a:ext cx="263" cy="300"/>
            </a:xfrm>
            <a:custGeom>
              <a:avLst/>
              <a:gdLst/>
              <a:ahLst/>
              <a:cxnLst/>
              <a:rect l="l" t="t" r="r" b="b"/>
              <a:pathLst>
                <a:path w="166688" h="190500">
                  <a:moveTo>
                    <a:pt x="47625" y="-11906"/>
                  </a:moveTo>
                  <a:cubicBezTo>
                    <a:pt x="54211" y="-11906"/>
                    <a:pt x="59531" y="-6586"/>
                    <a:pt x="59531" y="0"/>
                  </a:cubicBezTo>
                  <a:lnTo>
                    <a:pt x="59531" y="35719"/>
                  </a:lnTo>
                  <a:lnTo>
                    <a:pt x="107156" y="35719"/>
                  </a:lnTo>
                  <a:lnTo>
                    <a:pt x="107156" y="0"/>
                  </a:lnTo>
                  <a:cubicBezTo>
                    <a:pt x="107156" y="-6586"/>
                    <a:pt x="112477" y="-11906"/>
                    <a:pt x="119063" y="-11906"/>
                  </a:cubicBezTo>
                  <a:cubicBezTo>
                    <a:pt x="125648" y="-11906"/>
                    <a:pt x="130969" y="-6586"/>
                    <a:pt x="130969" y="0"/>
                  </a:cubicBezTo>
                  <a:lnTo>
                    <a:pt x="130969" y="35719"/>
                  </a:lnTo>
                  <a:lnTo>
                    <a:pt x="154781" y="35719"/>
                  </a:lnTo>
                  <a:cubicBezTo>
                    <a:pt x="161367" y="35719"/>
                    <a:pt x="166688" y="41039"/>
                    <a:pt x="166688" y="47625"/>
                  </a:cubicBezTo>
                  <a:cubicBezTo>
                    <a:pt x="166688" y="54211"/>
                    <a:pt x="161367" y="59531"/>
                    <a:pt x="154781" y="59531"/>
                  </a:cubicBezTo>
                  <a:lnTo>
                    <a:pt x="154781" y="83344"/>
                  </a:lnTo>
                  <a:cubicBezTo>
                    <a:pt x="154781" y="118728"/>
                    <a:pt x="129034" y="148121"/>
                    <a:pt x="95250" y="153777"/>
                  </a:cubicBezTo>
                  <a:lnTo>
                    <a:pt x="95250" y="178594"/>
                  </a:lnTo>
                  <a:cubicBezTo>
                    <a:pt x="95250" y="185179"/>
                    <a:pt x="89929" y="190500"/>
                    <a:pt x="83344" y="190500"/>
                  </a:cubicBezTo>
                  <a:cubicBezTo>
                    <a:pt x="76758" y="190500"/>
                    <a:pt x="71438" y="185179"/>
                    <a:pt x="71438" y="178594"/>
                  </a:cubicBezTo>
                  <a:lnTo>
                    <a:pt x="71438" y="153777"/>
                  </a:lnTo>
                  <a:cubicBezTo>
                    <a:pt x="37654" y="148121"/>
                    <a:pt x="11906" y="118728"/>
                    <a:pt x="11906" y="83344"/>
                  </a:cubicBezTo>
                  <a:lnTo>
                    <a:pt x="11906" y="59531"/>
                  </a:lnTo>
                  <a:cubicBezTo>
                    <a:pt x="5321" y="59531"/>
                    <a:pt x="0" y="54211"/>
                    <a:pt x="0" y="47625"/>
                  </a:cubicBezTo>
                  <a:cubicBezTo>
                    <a:pt x="0" y="41039"/>
                    <a:pt x="5321" y="35719"/>
                    <a:pt x="11906" y="35719"/>
                  </a:cubicBezTo>
                  <a:lnTo>
                    <a:pt x="35719" y="35719"/>
                  </a:lnTo>
                  <a:lnTo>
                    <a:pt x="35719" y="0"/>
                  </a:lnTo>
                  <a:cubicBezTo>
                    <a:pt x="35719" y="-6586"/>
                    <a:pt x="41039" y="-11906"/>
                    <a:pt x="47625" y="-11906"/>
                  </a:cubicBezTo>
                  <a:close/>
                </a:path>
              </a:pathLst>
            </a:custGeom>
            <a:solidFill>
              <a:srgbClr val="FFFFFF"/>
            </a:solidFill>
          </p:spPr>
        </p:sp>
        <p:sp>
          <p:nvSpPr>
            <p:cNvPr id="20" name="Text 17"/>
            <p:cNvSpPr/>
            <p:nvPr>
              <p:custDataLst>
                <p:tags r:id="rId13"/>
              </p:custDataLst>
            </p:nvPr>
          </p:nvSpPr>
          <p:spPr>
            <a:xfrm>
              <a:off x="16836" y="5400"/>
              <a:ext cx="15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API交互层</a:t>
              </a:r>
              <a:endParaRPr lang="en-US" sz="1600" dirty="0"/>
            </a:p>
          </p:txBody>
        </p:sp>
        <p:sp>
          <p:nvSpPr>
            <p:cNvPr id="21" name="Text 18"/>
            <p:cNvSpPr/>
            <p:nvPr>
              <p:custDataLst>
                <p:tags r:id="rId14"/>
              </p:custDataLst>
            </p:nvPr>
          </p:nvSpPr>
          <p:spPr>
            <a:xfrm>
              <a:off x="15969" y="6100"/>
              <a:ext cx="8833" cy="43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与</a:t>
              </a:r>
              <a:r>
                <a:rPr lang="en-US" sz="1335" b="1" dirty="0">
                  <a:solidFill>
                    <a:srgbClr val="E5A044"/>
                  </a:solidFill>
                  <a:latin typeface="MiSans" pitchFamily="34" charset="-122"/>
                  <a:ea typeface="MiSans" pitchFamily="34" charset="-122"/>
                  <a:cs typeface="MiSans" pitchFamily="34" charset="-120"/>
                </a:rPr>
                <a:t>GitHub API</a:t>
              </a:r>
              <a:r>
                <a:rPr lang="en-US" sz="1335" dirty="0">
                  <a:solidFill>
                    <a:srgbClr val="E0E2E6">
                      <a:alpha val="80000"/>
                    </a:srgbClr>
                  </a:solidFill>
                  <a:latin typeface="MiSans" pitchFamily="34" charset="-122"/>
                  <a:ea typeface="MiSans" pitchFamily="34" charset="-122"/>
                  <a:cs typeface="MiSans" pitchFamily="34" charset="-120"/>
                </a:rPr>
                <a:t>交互,获取仓库文件树、源码内容和配置文件</a:t>
              </a:r>
              <a:endParaRPr lang="en-US" sz="1600" dirty="0"/>
            </a:p>
          </p:txBody>
        </p:sp>
      </p:grpSp>
      <p:grpSp>
        <p:nvGrpSpPr>
          <p:cNvPr id="46" name="组合 45"/>
          <p:cNvGrpSpPr/>
          <p:nvPr>
            <p:custDataLst>
              <p:tags r:id="rId15"/>
            </p:custDataLst>
          </p:nvPr>
        </p:nvGrpSpPr>
        <p:grpSpPr>
          <a:xfrm>
            <a:off x="1100455" y="4010660"/>
            <a:ext cx="7200000" cy="1121410"/>
            <a:chOff x="15669" y="7000"/>
            <a:chExt cx="9266" cy="1766"/>
          </a:xfrm>
        </p:grpSpPr>
        <p:sp>
          <p:nvSpPr>
            <p:cNvPr id="22" name="Shape 19"/>
            <p:cNvSpPr/>
            <p:nvPr>
              <p:custDataLst>
                <p:tags r:id="rId16"/>
              </p:custDataLst>
            </p:nvPr>
          </p:nvSpPr>
          <p:spPr>
            <a:xfrm>
              <a:off x="15669" y="7000"/>
              <a:ext cx="9267" cy="1767"/>
            </a:xfrm>
            <a:custGeom>
              <a:avLst/>
              <a:gdLst/>
              <a:ahLst/>
              <a:cxnLst/>
              <a:rect l="l" t="t" r="r" b="b"/>
              <a:pathLst>
                <a:path w="5884333" h="1121833">
                  <a:moveTo>
                    <a:pt x="42333" y="0"/>
                  </a:moveTo>
                  <a:lnTo>
                    <a:pt x="5757331" y="0"/>
                  </a:lnTo>
                  <a:cubicBezTo>
                    <a:pt x="5827472" y="0"/>
                    <a:pt x="5884333" y="56861"/>
                    <a:pt x="5884333" y="127003"/>
                  </a:cubicBezTo>
                  <a:lnTo>
                    <a:pt x="5884333" y="994831"/>
                  </a:lnTo>
                  <a:cubicBezTo>
                    <a:pt x="5884333" y="1064972"/>
                    <a:pt x="5827472" y="1121833"/>
                    <a:pt x="5757331" y="1121833"/>
                  </a:cubicBezTo>
                  <a:lnTo>
                    <a:pt x="42333" y="1121833"/>
                  </a:lnTo>
                  <a:cubicBezTo>
                    <a:pt x="18953" y="1121833"/>
                    <a:pt x="0" y="1102880"/>
                    <a:pt x="0" y="1079500"/>
                  </a:cubicBezTo>
                  <a:lnTo>
                    <a:pt x="0" y="42333"/>
                  </a:lnTo>
                  <a:cubicBezTo>
                    <a:pt x="0" y="18969"/>
                    <a:pt x="18969" y="0"/>
                    <a:pt x="42333" y="0"/>
                  </a:cubicBezTo>
                  <a:close/>
                </a:path>
              </a:pathLst>
            </a:custGeom>
            <a:gradFill flip="none" rotWithShape="1">
              <a:gsLst>
                <a:gs pos="0">
                  <a:srgbClr val="5A6472">
                    <a:alpha val="15000"/>
                  </a:srgbClr>
                </a:gs>
                <a:gs pos="100000">
                  <a:srgbClr val="000000">
                    <a:alpha val="0"/>
                  </a:srgbClr>
                </a:gs>
              </a:gsLst>
              <a:lin ang="2700000" scaled="1"/>
            </a:gradFill>
          </p:spPr>
        </p:sp>
        <p:sp>
          <p:nvSpPr>
            <p:cNvPr id="23" name="Shape 20"/>
            <p:cNvSpPr/>
            <p:nvPr>
              <p:custDataLst>
                <p:tags r:id="rId17"/>
              </p:custDataLst>
            </p:nvPr>
          </p:nvSpPr>
          <p:spPr>
            <a:xfrm>
              <a:off x="15669" y="7000"/>
              <a:ext cx="67" cy="1767"/>
            </a:xfrm>
            <a:custGeom>
              <a:avLst/>
              <a:gdLst/>
              <a:ahLst/>
              <a:cxnLst/>
              <a:rect l="l" t="t" r="r" b="b"/>
              <a:pathLst>
                <a:path w="42333" h="1121833">
                  <a:moveTo>
                    <a:pt x="42333" y="0"/>
                  </a:moveTo>
                  <a:lnTo>
                    <a:pt x="42333" y="0"/>
                  </a:lnTo>
                  <a:lnTo>
                    <a:pt x="42333" y="1121833"/>
                  </a:lnTo>
                  <a:lnTo>
                    <a:pt x="42333" y="1121833"/>
                  </a:lnTo>
                  <a:cubicBezTo>
                    <a:pt x="18953" y="1121833"/>
                    <a:pt x="0" y="1102880"/>
                    <a:pt x="0" y="1079500"/>
                  </a:cubicBezTo>
                  <a:lnTo>
                    <a:pt x="0" y="42333"/>
                  </a:lnTo>
                  <a:cubicBezTo>
                    <a:pt x="0" y="18953"/>
                    <a:pt x="18953" y="0"/>
                    <a:pt x="42333" y="0"/>
                  </a:cubicBezTo>
                  <a:close/>
                </a:path>
              </a:pathLst>
            </a:custGeom>
            <a:solidFill>
              <a:srgbClr val="5A6472"/>
            </a:solidFill>
          </p:spPr>
        </p:sp>
        <p:sp>
          <p:nvSpPr>
            <p:cNvPr id="24" name="Shape 21"/>
            <p:cNvSpPr/>
            <p:nvPr>
              <p:custDataLst>
                <p:tags r:id="rId18"/>
              </p:custDataLst>
            </p:nvPr>
          </p:nvSpPr>
          <p:spPr>
            <a:xfrm>
              <a:off x="15969" y="7267"/>
              <a:ext cx="667" cy="667"/>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5A6472"/>
            </a:solidFill>
          </p:spPr>
        </p:sp>
        <p:sp>
          <p:nvSpPr>
            <p:cNvPr id="25" name="Shape 22"/>
            <p:cNvSpPr/>
            <p:nvPr>
              <p:custDataLst>
                <p:tags r:id="rId19"/>
              </p:custDataLst>
            </p:nvPr>
          </p:nvSpPr>
          <p:spPr>
            <a:xfrm>
              <a:off x="16138" y="7450"/>
              <a:ext cx="338" cy="3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FFFFFF"/>
            </a:solidFill>
          </p:spPr>
        </p:sp>
        <p:sp>
          <p:nvSpPr>
            <p:cNvPr id="26" name="Text 23"/>
            <p:cNvSpPr/>
            <p:nvPr>
              <p:custDataLst>
                <p:tags r:id="rId20"/>
              </p:custDataLst>
            </p:nvPr>
          </p:nvSpPr>
          <p:spPr>
            <a:xfrm>
              <a:off x="16836" y="7367"/>
              <a:ext cx="19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源码分析引擎</a:t>
              </a:r>
              <a:endParaRPr lang="en-US" sz="1600" dirty="0"/>
            </a:p>
          </p:txBody>
        </p:sp>
        <p:sp>
          <p:nvSpPr>
            <p:cNvPr id="27" name="Text 24"/>
            <p:cNvSpPr/>
            <p:nvPr>
              <p:custDataLst>
                <p:tags r:id="rId21"/>
              </p:custDataLst>
            </p:nvPr>
          </p:nvSpPr>
          <p:spPr>
            <a:xfrm>
              <a:off x="15969" y="8067"/>
              <a:ext cx="8833" cy="43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静态解析</a:t>
              </a:r>
              <a:r>
                <a:rPr lang="en-US" sz="1335" b="1" dirty="0">
                  <a:solidFill>
                    <a:srgbClr val="5A6472"/>
                  </a:solidFill>
                  <a:latin typeface="MiSans" pitchFamily="34" charset="-122"/>
                  <a:ea typeface="MiSans" pitchFamily="34" charset="-122"/>
                  <a:cs typeface="MiSans" pitchFamily="34" charset="-120"/>
                </a:rPr>
                <a:t>import语句</a:t>
              </a:r>
              <a:r>
                <a:rPr lang="en-US" sz="1335" dirty="0">
                  <a:solidFill>
                    <a:srgbClr val="E0E2E6">
                      <a:alpha val="80000"/>
                    </a:srgbClr>
                  </a:solidFill>
                  <a:latin typeface="MiSans" pitchFamily="34" charset="-122"/>
                  <a:ea typeface="MiSans" pitchFamily="34" charset="-122"/>
                  <a:cs typeface="MiSans" pitchFamily="34" charset="-120"/>
                </a:rPr>
                <a:t>,构建依赖使用上下文,进行初步分类</a:t>
              </a:r>
              <a:endParaRPr lang="en-US" sz="1600" dirty="0"/>
            </a:p>
          </p:txBody>
        </p:sp>
      </p:grpSp>
      <p:grpSp>
        <p:nvGrpSpPr>
          <p:cNvPr id="47" name="组合 46"/>
          <p:cNvGrpSpPr/>
          <p:nvPr>
            <p:custDataLst>
              <p:tags r:id="rId22"/>
            </p:custDataLst>
          </p:nvPr>
        </p:nvGrpSpPr>
        <p:grpSpPr>
          <a:xfrm>
            <a:off x="8498840" y="5257800"/>
            <a:ext cx="7200000" cy="1121410"/>
            <a:chOff x="15669" y="8967"/>
            <a:chExt cx="9266" cy="1766"/>
          </a:xfrm>
        </p:grpSpPr>
        <p:sp>
          <p:nvSpPr>
            <p:cNvPr id="28" name="Shape 25"/>
            <p:cNvSpPr/>
            <p:nvPr>
              <p:custDataLst>
                <p:tags r:id="rId23"/>
              </p:custDataLst>
            </p:nvPr>
          </p:nvSpPr>
          <p:spPr>
            <a:xfrm>
              <a:off x="15669" y="8967"/>
              <a:ext cx="9267" cy="1767"/>
            </a:xfrm>
            <a:custGeom>
              <a:avLst/>
              <a:gdLst/>
              <a:ahLst/>
              <a:cxnLst/>
              <a:rect l="l" t="t" r="r" b="b"/>
              <a:pathLst>
                <a:path w="5884333" h="1121833">
                  <a:moveTo>
                    <a:pt x="42333" y="0"/>
                  </a:moveTo>
                  <a:lnTo>
                    <a:pt x="5757331" y="0"/>
                  </a:lnTo>
                  <a:cubicBezTo>
                    <a:pt x="5827472" y="0"/>
                    <a:pt x="5884333" y="56861"/>
                    <a:pt x="5884333" y="127003"/>
                  </a:cubicBezTo>
                  <a:lnTo>
                    <a:pt x="5884333" y="994831"/>
                  </a:lnTo>
                  <a:cubicBezTo>
                    <a:pt x="5884333" y="1064972"/>
                    <a:pt x="5827472" y="1121833"/>
                    <a:pt x="5757331" y="1121833"/>
                  </a:cubicBezTo>
                  <a:lnTo>
                    <a:pt x="42333" y="1121833"/>
                  </a:lnTo>
                  <a:cubicBezTo>
                    <a:pt x="18953" y="1121833"/>
                    <a:pt x="0" y="1102880"/>
                    <a:pt x="0" y="1079500"/>
                  </a:cubicBezTo>
                  <a:lnTo>
                    <a:pt x="0" y="42333"/>
                  </a:lnTo>
                  <a:cubicBezTo>
                    <a:pt x="0" y="18969"/>
                    <a:pt x="18969" y="0"/>
                    <a:pt x="42333" y="0"/>
                  </a:cubicBezTo>
                  <a:close/>
                </a:path>
              </a:pathLst>
            </a:custGeom>
            <a:gradFill flip="none" rotWithShape="1">
              <a:gsLst>
                <a:gs pos="0">
                  <a:srgbClr val="3D8F8A">
                    <a:alpha val="15000"/>
                  </a:srgbClr>
                </a:gs>
                <a:gs pos="100000">
                  <a:srgbClr val="000000">
                    <a:alpha val="0"/>
                  </a:srgbClr>
                </a:gs>
              </a:gsLst>
              <a:lin ang="2700000" scaled="1"/>
            </a:gradFill>
          </p:spPr>
        </p:sp>
        <p:sp>
          <p:nvSpPr>
            <p:cNvPr id="29" name="Shape 26"/>
            <p:cNvSpPr/>
            <p:nvPr>
              <p:custDataLst>
                <p:tags r:id="rId24"/>
              </p:custDataLst>
            </p:nvPr>
          </p:nvSpPr>
          <p:spPr>
            <a:xfrm>
              <a:off x="15669" y="8967"/>
              <a:ext cx="67" cy="1767"/>
            </a:xfrm>
            <a:custGeom>
              <a:avLst/>
              <a:gdLst/>
              <a:ahLst/>
              <a:cxnLst/>
              <a:rect l="l" t="t" r="r" b="b"/>
              <a:pathLst>
                <a:path w="42333" h="1121833">
                  <a:moveTo>
                    <a:pt x="42333" y="0"/>
                  </a:moveTo>
                  <a:lnTo>
                    <a:pt x="42333" y="0"/>
                  </a:lnTo>
                  <a:lnTo>
                    <a:pt x="42333" y="1121833"/>
                  </a:lnTo>
                  <a:lnTo>
                    <a:pt x="42333" y="1121833"/>
                  </a:lnTo>
                  <a:cubicBezTo>
                    <a:pt x="18953" y="1121833"/>
                    <a:pt x="0" y="1102880"/>
                    <a:pt x="0" y="1079500"/>
                  </a:cubicBezTo>
                  <a:lnTo>
                    <a:pt x="0" y="42333"/>
                  </a:lnTo>
                  <a:cubicBezTo>
                    <a:pt x="0" y="18953"/>
                    <a:pt x="18953" y="0"/>
                    <a:pt x="42333" y="0"/>
                  </a:cubicBezTo>
                  <a:close/>
                </a:path>
              </a:pathLst>
            </a:custGeom>
            <a:solidFill>
              <a:srgbClr val="3D8F8A"/>
            </a:solidFill>
          </p:spPr>
        </p:sp>
        <p:sp>
          <p:nvSpPr>
            <p:cNvPr id="30" name="Shape 27"/>
            <p:cNvSpPr/>
            <p:nvPr>
              <p:custDataLst>
                <p:tags r:id="rId25"/>
              </p:custDataLst>
            </p:nvPr>
          </p:nvSpPr>
          <p:spPr>
            <a:xfrm>
              <a:off x="15969" y="9233"/>
              <a:ext cx="667" cy="667"/>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3D8F8A"/>
            </a:solidFill>
          </p:spPr>
        </p:sp>
        <p:sp>
          <p:nvSpPr>
            <p:cNvPr id="31" name="Shape 28"/>
            <p:cNvSpPr/>
            <p:nvPr>
              <p:custDataLst>
                <p:tags r:id="rId26"/>
              </p:custDataLst>
            </p:nvPr>
          </p:nvSpPr>
          <p:spPr>
            <a:xfrm>
              <a:off x="16156" y="9417"/>
              <a:ext cx="300" cy="3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FFFFFF"/>
            </a:solidFill>
          </p:spPr>
        </p:sp>
        <p:sp>
          <p:nvSpPr>
            <p:cNvPr id="32" name="Text 29"/>
            <p:cNvSpPr/>
            <p:nvPr>
              <p:custDataLst>
                <p:tags r:id="rId27"/>
              </p:custDataLst>
            </p:nvPr>
          </p:nvSpPr>
          <p:spPr>
            <a:xfrm>
              <a:off x="16836" y="9333"/>
              <a:ext cx="1933"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LLM语义校正</a:t>
              </a:r>
              <a:endParaRPr lang="en-US" sz="1600" dirty="0"/>
            </a:p>
          </p:txBody>
        </p:sp>
        <p:sp>
          <p:nvSpPr>
            <p:cNvPr id="33" name="Text 30"/>
            <p:cNvSpPr/>
            <p:nvPr>
              <p:custDataLst>
                <p:tags r:id="rId28"/>
              </p:custDataLst>
            </p:nvPr>
          </p:nvSpPr>
          <p:spPr>
            <a:xfrm>
              <a:off x="15969" y="10033"/>
              <a:ext cx="8833" cy="433"/>
            </a:xfrm>
            <a:prstGeom prst="rect">
              <a:avLst/>
            </a:prstGeom>
            <a:noFill/>
          </p:spPr>
          <p:txBody>
            <a:bodyPr wrap="square" lIns="0" tIns="0" rIns="0" bIns="0" rtlCol="0" anchor="ctr"/>
            <a:lstStyle/>
            <a:p>
              <a:pPr>
                <a:lnSpc>
                  <a:spcPct val="140000"/>
                </a:lnSpc>
              </a:pPr>
              <a:r>
                <a:rPr lang="en-US" sz="1335" b="1" dirty="0">
                  <a:solidFill>
                    <a:srgbClr val="3D8F8A"/>
                  </a:solidFill>
                  <a:latin typeface="MiSans" pitchFamily="34" charset="-122"/>
                  <a:ea typeface="MiSans" pitchFamily="34" charset="-122"/>
                  <a:cs typeface="MiSans" pitchFamily="34" charset="-120"/>
                </a:rPr>
                <a:t>语义理解</a:t>
              </a:r>
              <a:r>
                <a:rPr lang="en-US" sz="1335" dirty="0">
                  <a:solidFill>
                    <a:srgbClr val="E0E2E6">
                      <a:alpha val="80000"/>
                    </a:srgbClr>
                  </a:solidFill>
                  <a:latin typeface="MiSans" pitchFamily="34" charset="-122"/>
                  <a:ea typeface="MiSans" pitchFamily="34" charset="-122"/>
                  <a:cs typeface="MiSans" pitchFamily="34" charset="-120"/>
                </a:rPr>
                <a:t>与校正,import到PyPI包名映射,排除误判和标注依赖类型</a:t>
              </a:r>
              <a:endParaRPr lang="en-US" sz="1600" dirty="0"/>
            </a:p>
          </p:txBody>
        </p:sp>
      </p:grpSp>
      <p:grpSp>
        <p:nvGrpSpPr>
          <p:cNvPr id="48" name="组合 47"/>
          <p:cNvGrpSpPr/>
          <p:nvPr>
            <p:custDataLst>
              <p:tags r:id="rId29"/>
            </p:custDataLst>
          </p:nvPr>
        </p:nvGrpSpPr>
        <p:grpSpPr>
          <a:xfrm>
            <a:off x="1100455" y="6675755"/>
            <a:ext cx="7200000" cy="1121410"/>
            <a:chOff x="15669" y="10933"/>
            <a:chExt cx="9266" cy="1766"/>
          </a:xfrm>
        </p:grpSpPr>
        <p:sp>
          <p:nvSpPr>
            <p:cNvPr id="34" name="Shape 31"/>
            <p:cNvSpPr/>
            <p:nvPr>
              <p:custDataLst>
                <p:tags r:id="rId30"/>
              </p:custDataLst>
            </p:nvPr>
          </p:nvSpPr>
          <p:spPr>
            <a:xfrm>
              <a:off x="15669" y="10933"/>
              <a:ext cx="9267" cy="1767"/>
            </a:xfrm>
            <a:custGeom>
              <a:avLst/>
              <a:gdLst/>
              <a:ahLst/>
              <a:cxnLst/>
              <a:rect l="l" t="t" r="r" b="b"/>
              <a:pathLst>
                <a:path w="5884333" h="1121833">
                  <a:moveTo>
                    <a:pt x="42333" y="0"/>
                  </a:moveTo>
                  <a:lnTo>
                    <a:pt x="5757331" y="0"/>
                  </a:lnTo>
                  <a:cubicBezTo>
                    <a:pt x="5827472" y="0"/>
                    <a:pt x="5884333" y="56861"/>
                    <a:pt x="5884333" y="127003"/>
                  </a:cubicBezTo>
                  <a:lnTo>
                    <a:pt x="5884333" y="994831"/>
                  </a:lnTo>
                  <a:cubicBezTo>
                    <a:pt x="5884333" y="1064972"/>
                    <a:pt x="5827472" y="1121833"/>
                    <a:pt x="5757331" y="1121833"/>
                  </a:cubicBezTo>
                  <a:lnTo>
                    <a:pt x="42333" y="1121833"/>
                  </a:lnTo>
                  <a:cubicBezTo>
                    <a:pt x="18953" y="1121833"/>
                    <a:pt x="0" y="1102880"/>
                    <a:pt x="0" y="1079500"/>
                  </a:cubicBezTo>
                  <a:lnTo>
                    <a:pt x="0" y="42333"/>
                  </a:lnTo>
                  <a:cubicBezTo>
                    <a:pt x="0" y="18969"/>
                    <a:pt x="18969" y="0"/>
                    <a:pt x="42333" y="0"/>
                  </a:cubicBezTo>
                  <a:close/>
                </a:path>
              </a:pathLst>
            </a:custGeom>
            <a:gradFill flip="none" rotWithShape="1">
              <a:gsLst>
                <a:gs pos="0">
                  <a:srgbClr val="E5A044">
                    <a:alpha val="15000"/>
                  </a:srgbClr>
                </a:gs>
                <a:gs pos="100000">
                  <a:srgbClr val="000000">
                    <a:alpha val="0"/>
                  </a:srgbClr>
                </a:gs>
              </a:gsLst>
              <a:lin ang="2700000" scaled="1"/>
            </a:gradFill>
          </p:spPr>
        </p:sp>
        <p:sp>
          <p:nvSpPr>
            <p:cNvPr id="35" name="Shape 32"/>
            <p:cNvSpPr/>
            <p:nvPr>
              <p:custDataLst>
                <p:tags r:id="rId31"/>
              </p:custDataLst>
            </p:nvPr>
          </p:nvSpPr>
          <p:spPr>
            <a:xfrm>
              <a:off x="15669" y="10933"/>
              <a:ext cx="67" cy="1767"/>
            </a:xfrm>
            <a:custGeom>
              <a:avLst/>
              <a:gdLst/>
              <a:ahLst/>
              <a:cxnLst/>
              <a:rect l="l" t="t" r="r" b="b"/>
              <a:pathLst>
                <a:path w="42333" h="1121833">
                  <a:moveTo>
                    <a:pt x="42333" y="0"/>
                  </a:moveTo>
                  <a:lnTo>
                    <a:pt x="42333" y="0"/>
                  </a:lnTo>
                  <a:lnTo>
                    <a:pt x="42333" y="1121833"/>
                  </a:lnTo>
                  <a:lnTo>
                    <a:pt x="42333" y="1121833"/>
                  </a:lnTo>
                  <a:cubicBezTo>
                    <a:pt x="18953" y="1121833"/>
                    <a:pt x="0" y="1102880"/>
                    <a:pt x="0" y="1079500"/>
                  </a:cubicBezTo>
                  <a:lnTo>
                    <a:pt x="0" y="42333"/>
                  </a:lnTo>
                  <a:cubicBezTo>
                    <a:pt x="0" y="18953"/>
                    <a:pt x="18953" y="0"/>
                    <a:pt x="42333" y="0"/>
                  </a:cubicBezTo>
                  <a:close/>
                </a:path>
              </a:pathLst>
            </a:custGeom>
            <a:solidFill>
              <a:srgbClr val="E5A044"/>
            </a:solidFill>
          </p:spPr>
        </p:sp>
        <p:sp>
          <p:nvSpPr>
            <p:cNvPr id="36" name="Shape 33"/>
            <p:cNvSpPr/>
            <p:nvPr>
              <p:custDataLst>
                <p:tags r:id="rId32"/>
              </p:custDataLst>
            </p:nvPr>
          </p:nvSpPr>
          <p:spPr>
            <a:xfrm>
              <a:off x="15969" y="11200"/>
              <a:ext cx="667" cy="667"/>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E5A044"/>
            </a:solidFill>
          </p:spPr>
        </p:sp>
        <p:sp>
          <p:nvSpPr>
            <p:cNvPr id="37" name="Shape 34"/>
            <p:cNvSpPr/>
            <p:nvPr>
              <p:custDataLst>
                <p:tags r:id="rId33"/>
              </p:custDataLst>
            </p:nvPr>
          </p:nvSpPr>
          <p:spPr>
            <a:xfrm>
              <a:off x="16175" y="11383"/>
              <a:ext cx="263" cy="3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FFFFFF"/>
            </a:solidFill>
          </p:spPr>
        </p:sp>
        <p:sp>
          <p:nvSpPr>
            <p:cNvPr id="38" name="Text 35"/>
            <p:cNvSpPr/>
            <p:nvPr>
              <p:custDataLst>
                <p:tags r:id="rId34"/>
              </p:custDataLst>
            </p:nvPr>
          </p:nvSpPr>
          <p:spPr>
            <a:xfrm>
              <a:off x="16836" y="11300"/>
              <a:ext cx="19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兼容性知识库</a:t>
              </a:r>
              <a:endParaRPr lang="en-US" sz="1600" dirty="0"/>
            </a:p>
          </p:txBody>
        </p:sp>
        <p:sp>
          <p:nvSpPr>
            <p:cNvPr id="39" name="Text 36"/>
            <p:cNvSpPr/>
            <p:nvPr>
              <p:custDataLst>
                <p:tags r:id="rId35"/>
              </p:custDataLst>
            </p:nvPr>
          </p:nvSpPr>
          <p:spPr>
            <a:xfrm>
              <a:off x="15969" y="12000"/>
              <a:ext cx="8833" cy="43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存储</a:t>
              </a:r>
              <a:r>
                <a:rPr lang="en-US" sz="1335" b="1" dirty="0">
                  <a:solidFill>
                    <a:srgbClr val="E5A044"/>
                  </a:solidFill>
                  <a:latin typeface="MiSans" pitchFamily="34" charset="-122"/>
                  <a:ea typeface="MiSans" pitchFamily="34" charset="-122"/>
                  <a:cs typeface="MiSans" pitchFamily="34" charset="-120"/>
                </a:rPr>
                <a:t>PyPI元数据</a:t>
              </a:r>
              <a:r>
                <a:rPr lang="en-US" sz="1335" dirty="0">
                  <a:solidFill>
                    <a:srgbClr val="E0E2E6">
                      <a:alpha val="80000"/>
                    </a:srgbClr>
                  </a:solidFill>
                  <a:latin typeface="MiSans" pitchFamily="34" charset="-122"/>
                  <a:ea typeface="MiSans" pitchFamily="34" charset="-122"/>
                  <a:cs typeface="MiSans" pitchFamily="34" charset="-120"/>
                </a:rPr>
                <a:t>、CI配置、社区验证的依赖兼容性信息</a:t>
              </a:r>
              <a:endParaRPr lang="en-US" sz="1600" dirty="0"/>
            </a:p>
          </p:txBody>
        </p:sp>
      </p:grpSp>
      <p:grpSp>
        <p:nvGrpSpPr>
          <p:cNvPr id="49" name="组合 48"/>
          <p:cNvGrpSpPr/>
          <p:nvPr>
            <p:custDataLst>
              <p:tags r:id="rId36"/>
            </p:custDataLst>
          </p:nvPr>
        </p:nvGrpSpPr>
        <p:grpSpPr>
          <a:xfrm>
            <a:off x="8498840" y="7803515"/>
            <a:ext cx="7200000" cy="1121410"/>
            <a:chOff x="15669" y="12900"/>
            <a:chExt cx="9266" cy="1766"/>
          </a:xfrm>
        </p:grpSpPr>
        <p:sp>
          <p:nvSpPr>
            <p:cNvPr id="40" name="Shape 37"/>
            <p:cNvSpPr/>
            <p:nvPr>
              <p:custDataLst>
                <p:tags r:id="rId37"/>
              </p:custDataLst>
            </p:nvPr>
          </p:nvSpPr>
          <p:spPr>
            <a:xfrm>
              <a:off x="15669" y="12900"/>
              <a:ext cx="9267" cy="1767"/>
            </a:xfrm>
            <a:custGeom>
              <a:avLst/>
              <a:gdLst/>
              <a:ahLst/>
              <a:cxnLst/>
              <a:rect l="l" t="t" r="r" b="b"/>
              <a:pathLst>
                <a:path w="5884333" h="1121833">
                  <a:moveTo>
                    <a:pt x="42333" y="0"/>
                  </a:moveTo>
                  <a:lnTo>
                    <a:pt x="5757331" y="0"/>
                  </a:lnTo>
                  <a:cubicBezTo>
                    <a:pt x="5827472" y="0"/>
                    <a:pt x="5884333" y="56861"/>
                    <a:pt x="5884333" y="127003"/>
                  </a:cubicBezTo>
                  <a:lnTo>
                    <a:pt x="5884333" y="994831"/>
                  </a:lnTo>
                  <a:cubicBezTo>
                    <a:pt x="5884333" y="1064972"/>
                    <a:pt x="5827472" y="1121833"/>
                    <a:pt x="5757331" y="1121833"/>
                  </a:cubicBezTo>
                  <a:lnTo>
                    <a:pt x="42333" y="1121833"/>
                  </a:lnTo>
                  <a:cubicBezTo>
                    <a:pt x="18953" y="1121833"/>
                    <a:pt x="0" y="1102880"/>
                    <a:pt x="0" y="1079500"/>
                  </a:cubicBezTo>
                  <a:lnTo>
                    <a:pt x="0" y="42333"/>
                  </a:lnTo>
                  <a:cubicBezTo>
                    <a:pt x="0" y="18969"/>
                    <a:pt x="18969" y="0"/>
                    <a:pt x="42333" y="0"/>
                  </a:cubicBezTo>
                  <a:close/>
                </a:path>
              </a:pathLst>
            </a:custGeom>
            <a:gradFill flip="none" rotWithShape="1">
              <a:gsLst>
                <a:gs pos="0">
                  <a:srgbClr val="5A6472">
                    <a:alpha val="15000"/>
                  </a:srgbClr>
                </a:gs>
                <a:gs pos="100000">
                  <a:srgbClr val="000000">
                    <a:alpha val="0"/>
                  </a:srgbClr>
                </a:gs>
              </a:gsLst>
              <a:lin ang="2700000" scaled="1"/>
            </a:gradFill>
          </p:spPr>
        </p:sp>
        <p:sp>
          <p:nvSpPr>
            <p:cNvPr id="41" name="Shape 38"/>
            <p:cNvSpPr/>
            <p:nvPr>
              <p:custDataLst>
                <p:tags r:id="rId38"/>
              </p:custDataLst>
            </p:nvPr>
          </p:nvSpPr>
          <p:spPr>
            <a:xfrm>
              <a:off x="15669" y="12900"/>
              <a:ext cx="67" cy="1767"/>
            </a:xfrm>
            <a:custGeom>
              <a:avLst/>
              <a:gdLst/>
              <a:ahLst/>
              <a:cxnLst/>
              <a:rect l="l" t="t" r="r" b="b"/>
              <a:pathLst>
                <a:path w="42333" h="1121833">
                  <a:moveTo>
                    <a:pt x="42333" y="0"/>
                  </a:moveTo>
                  <a:lnTo>
                    <a:pt x="42333" y="0"/>
                  </a:lnTo>
                  <a:lnTo>
                    <a:pt x="42333" y="1121833"/>
                  </a:lnTo>
                  <a:lnTo>
                    <a:pt x="42333" y="1121833"/>
                  </a:lnTo>
                  <a:cubicBezTo>
                    <a:pt x="18953" y="1121833"/>
                    <a:pt x="0" y="1102880"/>
                    <a:pt x="0" y="1079500"/>
                  </a:cubicBezTo>
                  <a:lnTo>
                    <a:pt x="0" y="42333"/>
                  </a:lnTo>
                  <a:cubicBezTo>
                    <a:pt x="0" y="18953"/>
                    <a:pt x="18953" y="0"/>
                    <a:pt x="42333" y="0"/>
                  </a:cubicBezTo>
                  <a:close/>
                </a:path>
              </a:pathLst>
            </a:custGeom>
            <a:solidFill>
              <a:srgbClr val="5A6472"/>
            </a:solidFill>
          </p:spPr>
        </p:sp>
        <p:sp>
          <p:nvSpPr>
            <p:cNvPr id="42" name="Shape 39"/>
            <p:cNvSpPr/>
            <p:nvPr>
              <p:custDataLst>
                <p:tags r:id="rId39"/>
              </p:custDataLst>
            </p:nvPr>
          </p:nvSpPr>
          <p:spPr>
            <a:xfrm>
              <a:off x="15969" y="13167"/>
              <a:ext cx="667" cy="667"/>
            </a:xfrm>
            <a:custGeom>
              <a:avLst/>
              <a:gdLst/>
              <a:ahLst/>
              <a:cxnLst/>
              <a:rect l="l" t="t" r="r" b="b"/>
              <a:pathLst>
                <a:path w="423333" h="423333">
                  <a:moveTo>
                    <a:pt x="84667" y="0"/>
                  </a:moveTo>
                  <a:lnTo>
                    <a:pt x="338667" y="0"/>
                  </a:lnTo>
                  <a:cubicBezTo>
                    <a:pt x="385427" y="0"/>
                    <a:pt x="423333" y="37907"/>
                    <a:pt x="423333" y="84667"/>
                  </a:cubicBezTo>
                  <a:lnTo>
                    <a:pt x="423333" y="338667"/>
                  </a:lnTo>
                  <a:cubicBezTo>
                    <a:pt x="423333" y="385427"/>
                    <a:pt x="385427" y="423333"/>
                    <a:pt x="338667" y="423333"/>
                  </a:cubicBezTo>
                  <a:lnTo>
                    <a:pt x="84667" y="423333"/>
                  </a:lnTo>
                  <a:cubicBezTo>
                    <a:pt x="37907" y="423333"/>
                    <a:pt x="0" y="385427"/>
                    <a:pt x="0" y="338667"/>
                  </a:cubicBezTo>
                  <a:lnTo>
                    <a:pt x="0" y="84667"/>
                  </a:lnTo>
                  <a:cubicBezTo>
                    <a:pt x="0" y="37907"/>
                    <a:pt x="37907" y="0"/>
                    <a:pt x="84667" y="0"/>
                  </a:cubicBezTo>
                  <a:close/>
                </a:path>
              </a:pathLst>
            </a:custGeom>
            <a:solidFill>
              <a:srgbClr val="5A6472"/>
            </a:solidFill>
          </p:spPr>
        </p:sp>
        <p:sp>
          <p:nvSpPr>
            <p:cNvPr id="43" name="Shape 40"/>
            <p:cNvSpPr/>
            <p:nvPr>
              <p:custDataLst>
                <p:tags r:id="rId40"/>
              </p:custDataLst>
            </p:nvPr>
          </p:nvSpPr>
          <p:spPr>
            <a:xfrm>
              <a:off x="16138" y="13350"/>
              <a:ext cx="338" cy="300"/>
            </a:xfrm>
            <a:custGeom>
              <a:avLst/>
              <a:gdLst/>
              <a:ahLst/>
              <a:cxnLst/>
              <a:rect l="l" t="t" r="r" b="b"/>
              <a:pathLst>
                <a:path w="214313" h="190500">
                  <a:moveTo>
                    <a:pt x="63103" y="57076"/>
                  </a:moveTo>
                  <a:lnTo>
                    <a:pt x="56145" y="50118"/>
                  </a:lnTo>
                  <a:cubicBezTo>
                    <a:pt x="51495" y="45467"/>
                    <a:pt x="51495" y="37914"/>
                    <a:pt x="56145" y="33263"/>
                  </a:cubicBezTo>
                  <a:lnTo>
                    <a:pt x="98822" y="-9451"/>
                  </a:lnTo>
                  <a:cubicBezTo>
                    <a:pt x="103473" y="-14101"/>
                    <a:pt x="111026" y="-14101"/>
                    <a:pt x="115677" y="-9451"/>
                  </a:cubicBezTo>
                  <a:lnTo>
                    <a:pt x="122634" y="-2456"/>
                  </a:lnTo>
                  <a:cubicBezTo>
                    <a:pt x="127285" y="2195"/>
                    <a:pt x="127285" y="9748"/>
                    <a:pt x="122634" y="14399"/>
                  </a:cubicBezTo>
                  <a:lnTo>
                    <a:pt x="79958" y="57076"/>
                  </a:lnTo>
                  <a:cubicBezTo>
                    <a:pt x="75307" y="61726"/>
                    <a:pt x="67754" y="61726"/>
                    <a:pt x="63103" y="57076"/>
                  </a:cubicBezTo>
                  <a:close/>
                  <a:moveTo>
                    <a:pt x="102691" y="78767"/>
                  </a:moveTo>
                  <a:lnTo>
                    <a:pt x="91008" y="67084"/>
                  </a:lnTo>
                  <a:lnTo>
                    <a:pt x="132680" y="25412"/>
                  </a:lnTo>
                  <a:lnTo>
                    <a:pt x="177105" y="69838"/>
                  </a:lnTo>
                  <a:lnTo>
                    <a:pt x="135434" y="111509"/>
                  </a:lnTo>
                  <a:lnTo>
                    <a:pt x="123751" y="99826"/>
                  </a:lnTo>
                  <a:lnTo>
                    <a:pt x="37430" y="186147"/>
                  </a:lnTo>
                  <a:cubicBezTo>
                    <a:pt x="31626" y="191951"/>
                    <a:pt x="22213" y="191951"/>
                    <a:pt x="16371" y="186147"/>
                  </a:cubicBezTo>
                  <a:cubicBezTo>
                    <a:pt x="10530" y="180342"/>
                    <a:pt x="10567" y="170929"/>
                    <a:pt x="16371" y="165088"/>
                  </a:cubicBezTo>
                  <a:lnTo>
                    <a:pt x="102691" y="78767"/>
                  </a:lnTo>
                  <a:close/>
                  <a:moveTo>
                    <a:pt x="145442" y="139378"/>
                  </a:moveTo>
                  <a:cubicBezTo>
                    <a:pt x="140791" y="134727"/>
                    <a:pt x="140791" y="127174"/>
                    <a:pt x="145442" y="122523"/>
                  </a:cubicBezTo>
                  <a:lnTo>
                    <a:pt x="188119" y="79846"/>
                  </a:lnTo>
                  <a:cubicBezTo>
                    <a:pt x="192770" y="75195"/>
                    <a:pt x="200323" y="75195"/>
                    <a:pt x="204974" y="79846"/>
                  </a:cubicBezTo>
                  <a:lnTo>
                    <a:pt x="211931" y="86804"/>
                  </a:lnTo>
                  <a:cubicBezTo>
                    <a:pt x="216582" y="91455"/>
                    <a:pt x="216582" y="99008"/>
                    <a:pt x="211931" y="103659"/>
                  </a:cubicBezTo>
                  <a:lnTo>
                    <a:pt x="169255" y="146372"/>
                  </a:lnTo>
                  <a:cubicBezTo>
                    <a:pt x="164604" y="151023"/>
                    <a:pt x="157051" y="151023"/>
                    <a:pt x="152400" y="146372"/>
                  </a:cubicBezTo>
                  <a:lnTo>
                    <a:pt x="145442" y="139415"/>
                  </a:lnTo>
                  <a:close/>
                </a:path>
              </a:pathLst>
            </a:custGeom>
            <a:solidFill>
              <a:srgbClr val="FFFFFF"/>
            </a:solidFill>
          </p:spPr>
        </p:sp>
        <p:sp>
          <p:nvSpPr>
            <p:cNvPr id="44" name="Text 41"/>
            <p:cNvSpPr/>
            <p:nvPr>
              <p:custDataLst>
                <p:tags r:id="rId41"/>
              </p:custDataLst>
            </p:nvPr>
          </p:nvSpPr>
          <p:spPr>
            <a:xfrm>
              <a:off x="16836" y="13267"/>
              <a:ext cx="19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规则引擎裁决</a:t>
              </a:r>
              <a:endParaRPr lang="en-US" sz="1600" dirty="0"/>
            </a:p>
          </p:txBody>
        </p:sp>
        <p:sp>
          <p:nvSpPr>
            <p:cNvPr id="45" name="Text 42"/>
            <p:cNvSpPr/>
            <p:nvPr>
              <p:custDataLst>
                <p:tags r:id="rId42"/>
              </p:custDataLst>
            </p:nvPr>
          </p:nvSpPr>
          <p:spPr>
            <a:xfrm>
              <a:off x="15969" y="13967"/>
              <a:ext cx="8833" cy="43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综合</a:t>
              </a:r>
              <a:r>
                <a:rPr lang="en-US" sz="1335" b="1" dirty="0">
                  <a:solidFill>
                    <a:srgbClr val="5A6472"/>
                  </a:solidFill>
                  <a:latin typeface="MiSans" pitchFamily="34" charset="-122"/>
                  <a:ea typeface="MiSans" pitchFamily="34" charset="-122"/>
                  <a:cs typeface="MiSans" pitchFamily="34" charset="-120"/>
                </a:rPr>
                <a:t>LLM建议</a:t>
              </a:r>
              <a:r>
                <a:rPr lang="en-US" sz="1335" dirty="0">
                  <a:solidFill>
                    <a:srgbClr val="E0E2E6">
                      <a:alpha val="80000"/>
                    </a:srgbClr>
                  </a:solidFill>
                  <a:latin typeface="MiSans" pitchFamily="34" charset="-122"/>
                  <a:ea typeface="MiSans" pitchFamily="34" charset="-122"/>
                  <a:cs typeface="MiSans" pitchFamily="34" charset="-120"/>
                </a:rPr>
                <a:t>与兼容性规则,生成最终的依赖清单和版本约束</a:t>
              </a:r>
              <a:endParaRPr lang="en-US" sz="1600" dirty="0"/>
            </a:p>
          </p:txBody>
        </p:sp>
      </p:gr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529167"/>
            <a:ext cx="677333" cy="42333"/>
          </a:xfrm>
          <a:custGeom>
            <a:avLst/>
            <a:gdLst/>
            <a:ahLst/>
            <a:cxnLst/>
            <a:rect l="l" t="t" r="r" b="b"/>
            <a:pathLst>
              <a:path w="677333" h="42333">
                <a:moveTo>
                  <a:pt x="0" y="0"/>
                </a:moveTo>
                <a:lnTo>
                  <a:pt x="677333" y="0"/>
                </a:lnTo>
                <a:lnTo>
                  <a:pt x="677333" y="42333"/>
                </a:lnTo>
                <a:lnTo>
                  <a:pt x="0" y="42333"/>
                </a:lnTo>
                <a:lnTo>
                  <a:pt x="0" y="0"/>
                </a:lnTo>
                <a:close/>
              </a:path>
            </a:pathLst>
          </a:custGeom>
          <a:solidFill>
            <a:srgbClr val="3D8F8A"/>
          </a:solidFill>
        </p:spPr>
      </p:sp>
      <p:sp>
        <p:nvSpPr>
          <p:cNvPr id="3" name="Text 1"/>
          <p:cNvSpPr/>
          <p:nvPr/>
        </p:nvSpPr>
        <p:spPr>
          <a:xfrm>
            <a:off x="1270000" y="423333"/>
            <a:ext cx="1693333" cy="254000"/>
          </a:xfrm>
          <a:prstGeom prst="rect">
            <a:avLst/>
          </a:prstGeom>
          <a:noFill/>
        </p:spPr>
        <p:txBody>
          <a:bodyPr wrap="square" lIns="0" tIns="0" rIns="0" bIns="0" rtlCol="0" anchor="ctr"/>
          <a:lstStyle/>
          <a:p>
            <a:pPr>
              <a:lnSpc>
                <a:spcPct val="130000"/>
              </a:lnSpc>
            </a:pPr>
            <a:r>
              <a:rPr lang="en-US" sz="1335" b="1" kern="0" spc="67" dirty="0">
                <a:solidFill>
                  <a:srgbClr val="3D8F8A"/>
                </a:solidFill>
                <a:latin typeface="MiSans" pitchFamily="34" charset="-122"/>
                <a:ea typeface="MiSans" pitchFamily="34" charset="-122"/>
                <a:cs typeface="MiSans" pitchFamily="34" charset="-120"/>
              </a:rPr>
              <a:t>CORE WORKFLOW</a:t>
            </a:r>
            <a:endParaRPr lang="en-US" sz="1600" dirty="0"/>
          </a:p>
        </p:txBody>
      </p:sp>
      <p:sp>
        <p:nvSpPr>
          <p:cNvPr id="4" name="Text 2"/>
          <p:cNvSpPr/>
          <p:nvPr/>
        </p:nvSpPr>
        <p:spPr>
          <a:xfrm>
            <a:off x="423333" y="804333"/>
            <a:ext cx="15663333" cy="508000"/>
          </a:xfrm>
          <a:prstGeom prst="rect">
            <a:avLst/>
          </a:prstGeom>
          <a:noFill/>
        </p:spPr>
        <p:txBody>
          <a:bodyPr wrap="square" lIns="0" tIns="0" rIns="0" bIns="0" rtlCol="0" anchor="ctr"/>
          <a:lstStyle/>
          <a:p>
            <a:pPr>
              <a:lnSpc>
                <a:spcPct val="80000"/>
              </a:lnSpc>
            </a:pPr>
            <a:r>
              <a:rPr lang="en-US" sz="4000" b="1" dirty="0">
                <a:solidFill>
                  <a:srgbClr val="E0E2E6"/>
                </a:solidFill>
                <a:latin typeface="阿里妈妈数黑体" pitchFamily="34" charset="-122"/>
                <a:ea typeface="阿里妈妈数黑体" pitchFamily="34" charset="-122"/>
                <a:cs typeface="阿里妈妈数黑体" pitchFamily="34" charset="-120"/>
              </a:rPr>
              <a:t>核心工作流程</a:t>
            </a:r>
            <a:endParaRPr lang="en-US" sz="1600" dirty="0"/>
          </a:p>
        </p:txBody>
      </p:sp>
      <p:grpSp>
        <p:nvGrpSpPr>
          <p:cNvPr id="91" name="组合 90"/>
          <p:cNvGrpSpPr/>
          <p:nvPr/>
        </p:nvGrpSpPr>
        <p:grpSpPr>
          <a:xfrm>
            <a:off x="426720" y="1312545"/>
            <a:ext cx="15405735" cy="7472045"/>
            <a:chOff x="672" y="2067"/>
            <a:chExt cx="24261" cy="12244"/>
          </a:xfrm>
        </p:grpSpPr>
        <p:sp>
          <p:nvSpPr>
            <p:cNvPr id="8" name="Shape 6"/>
            <p:cNvSpPr/>
            <p:nvPr/>
          </p:nvSpPr>
          <p:spPr>
            <a:xfrm>
              <a:off x="672" y="2067"/>
              <a:ext cx="5861" cy="2828"/>
            </a:xfrm>
            <a:custGeom>
              <a:avLst/>
              <a:gdLst/>
              <a:ahLst/>
              <a:cxnLst/>
              <a:rect l="l" t="t" r="r" b="b"/>
              <a:pathLst>
                <a:path w="3721806" h="1795639">
                  <a:moveTo>
                    <a:pt x="127006" y="0"/>
                  </a:moveTo>
                  <a:lnTo>
                    <a:pt x="3594800" y="0"/>
                  </a:lnTo>
                  <a:cubicBezTo>
                    <a:pt x="3664943" y="0"/>
                    <a:pt x="3721806" y="56862"/>
                    <a:pt x="3721806" y="127006"/>
                  </a:cubicBezTo>
                  <a:lnTo>
                    <a:pt x="3721806" y="1668633"/>
                  </a:lnTo>
                  <a:cubicBezTo>
                    <a:pt x="3721806" y="1738777"/>
                    <a:pt x="3664943" y="1795639"/>
                    <a:pt x="3594800" y="1795639"/>
                  </a:cubicBezTo>
                  <a:lnTo>
                    <a:pt x="127006" y="1795639"/>
                  </a:lnTo>
                  <a:cubicBezTo>
                    <a:pt x="56862" y="1795639"/>
                    <a:pt x="0" y="1738777"/>
                    <a:pt x="0" y="1668633"/>
                  </a:cubicBezTo>
                  <a:lnTo>
                    <a:pt x="0" y="127006"/>
                  </a:lnTo>
                  <a:cubicBezTo>
                    <a:pt x="0" y="56909"/>
                    <a:pt x="56909" y="0"/>
                    <a:pt x="127006" y="0"/>
                  </a:cubicBezTo>
                  <a:close/>
                </a:path>
              </a:pathLst>
            </a:custGeom>
            <a:gradFill flip="none" rotWithShape="1">
              <a:gsLst>
                <a:gs pos="0">
                  <a:srgbClr val="3D8F8A">
                    <a:alpha val="15000"/>
                  </a:srgbClr>
                </a:gs>
                <a:gs pos="100000">
                  <a:srgbClr val="000000">
                    <a:alpha val="0"/>
                  </a:srgbClr>
                </a:gs>
              </a:gsLst>
              <a:lin ang="2700000" scaled="1"/>
            </a:gradFill>
            <a:ln w="8467">
              <a:solidFill>
                <a:srgbClr val="3D8F8A">
                  <a:alpha val="30196"/>
                </a:srgbClr>
              </a:solidFill>
              <a:prstDash val="solid"/>
            </a:ln>
          </p:spPr>
        </p:sp>
        <p:sp>
          <p:nvSpPr>
            <p:cNvPr id="9" name="Shape 7"/>
            <p:cNvSpPr/>
            <p:nvPr/>
          </p:nvSpPr>
          <p:spPr>
            <a:xfrm>
              <a:off x="944" y="2615"/>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3D8F8A"/>
            </a:solidFill>
          </p:spPr>
        </p:sp>
        <p:sp>
          <p:nvSpPr>
            <p:cNvPr id="10" name="Text 8"/>
            <p:cNvSpPr/>
            <p:nvPr/>
          </p:nvSpPr>
          <p:spPr>
            <a:xfrm>
              <a:off x="878" y="2615"/>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①</a:t>
              </a:r>
              <a:endParaRPr lang="en-US" sz="1600" dirty="0"/>
            </a:p>
          </p:txBody>
        </p:sp>
        <p:sp>
          <p:nvSpPr>
            <p:cNvPr id="11" name="Text 9"/>
            <p:cNvSpPr/>
            <p:nvPr/>
          </p:nvSpPr>
          <p:spPr>
            <a:xfrm>
              <a:off x="1811" y="2715"/>
              <a:ext cx="2933"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用户打开GitHub仓库</a:t>
              </a:r>
              <a:endParaRPr lang="en-US" sz="1600" dirty="0"/>
            </a:p>
          </p:txBody>
        </p:sp>
        <p:sp>
          <p:nvSpPr>
            <p:cNvPr id="12" name="Text 10"/>
            <p:cNvSpPr/>
            <p:nvPr/>
          </p:nvSpPr>
          <p:spPr>
            <a:xfrm>
              <a:off x="944" y="3482"/>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用户在浏览器中访问GitHub上的Python开源项目仓库页面</a:t>
              </a:r>
              <a:endParaRPr lang="en-US" sz="1600" dirty="0"/>
            </a:p>
          </p:txBody>
        </p:sp>
        <p:sp>
          <p:nvSpPr>
            <p:cNvPr id="13" name="Shape 11"/>
            <p:cNvSpPr/>
            <p:nvPr/>
          </p:nvSpPr>
          <p:spPr>
            <a:xfrm>
              <a:off x="6806" y="2067"/>
              <a:ext cx="5861" cy="2828"/>
            </a:xfrm>
            <a:custGeom>
              <a:avLst/>
              <a:gdLst/>
              <a:ahLst/>
              <a:cxnLst/>
              <a:rect l="l" t="t" r="r" b="b"/>
              <a:pathLst>
                <a:path w="3721806" h="1795639">
                  <a:moveTo>
                    <a:pt x="127006" y="0"/>
                  </a:moveTo>
                  <a:lnTo>
                    <a:pt x="3594800" y="0"/>
                  </a:lnTo>
                  <a:cubicBezTo>
                    <a:pt x="3664943" y="0"/>
                    <a:pt x="3721806" y="56862"/>
                    <a:pt x="3721806" y="127006"/>
                  </a:cubicBezTo>
                  <a:lnTo>
                    <a:pt x="3721806" y="1668633"/>
                  </a:lnTo>
                  <a:cubicBezTo>
                    <a:pt x="3721806" y="1738777"/>
                    <a:pt x="3664943" y="1795639"/>
                    <a:pt x="3594800" y="1795639"/>
                  </a:cubicBezTo>
                  <a:lnTo>
                    <a:pt x="127006" y="1795639"/>
                  </a:lnTo>
                  <a:cubicBezTo>
                    <a:pt x="56862" y="1795639"/>
                    <a:pt x="0" y="1738777"/>
                    <a:pt x="0" y="1668633"/>
                  </a:cubicBezTo>
                  <a:lnTo>
                    <a:pt x="0" y="127006"/>
                  </a:lnTo>
                  <a:cubicBezTo>
                    <a:pt x="0" y="56909"/>
                    <a:pt x="56909" y="0"/>
                    <a:pt x="127006" y="0"/>
                  </a:cubicBezTo>
                  <a:close/>
                </a:path>
              </a:pathLst>
            </a:custGeom>
            <a:gradFill flip="none" rotWithShape="1">
              <a:gsLst>
                <a:gs pos="0">
                  <a:srgbClr val="E5A044">
                    <a:alpha val="15000"/>
                  </a:srgbClr>
                </a:gs>
                <a:gs pos="100000">
                  <a:srgbClr val="000000">
                    <a:alpha val="0"/>
                  </a:srgbClr>
                </a:gs>
              </a:gsLst>
              <a:lin ang="2700000" scaled="1"/>
            </a:gradFill>
            <a:ln w="8467">
              <a:solidFill>
                <a:srgbClr val="E5A044">
                  <a:alpha val="30196"/>
                </a:srgbClr>
              </a:solidFill>
              <a:prstDash val="solid"/>
            </a:ln>
          </p:spPr>
        </p:sp>
        <p:sp>
          <p:nvSpPr>
            <p:cNvPr id="14" name="Shape 12"/>
            <p:cNvSpPr/>
            <p:nvPr/>
          </p:nvSpPr>
          <p:spPr>
            <a:xfrm>
              <a:off x="7078" y="2615"/>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E5A044"/>
            </a:solidFill>
          </p:spPr>
        </p:sp>
        <p:sp>
          <p:nvSpPr>
            <p:cNvPr id="15" name="Text 13"/>
            <p:cNvSpPr/>
            <p:nvPr/>
          </p:nvSpPr>
          <p:spPr>
            <a:xfrm>
              <a:off x="7011" y="2615"/>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②</a:t>
              </a:r>
              <a:endParaRPr lang="en-US" sz="1600" dirty="0"/>
            </a:p>
          </p:txBody>
        </p:sp>
        <p:sp>
          <p:nvSpPr>
            <p:cNvPr id="16" name="Text 14"/>
            <p:cNvSpPr/>
            <p:nvPr/>
          </p:nvSpPr>
          <p:spPr>
            <a:xfrm>
              <a:off x="7944" y="2715"/>
              <a:ext cx="22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浏览器插件注入</a:t>
              </a:r>
              <a:endParaRPr lang="en-US" sz="1600" dirty="0"/>
            </a:p>
          </p:txBody>
        </p:sp>
        <p:sp>
          <p:nvSpPr>
            <p:cNvPr id="17" name="Text 15"/>
            <p:cNvSpPr/>
            <p:nvPr/>
          </p:nvSpPr>
          <p:spPr>
            <a:xfrm>
              <a:off x="7078" y="3482"/>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Content Script自动注入,识别当前页面是否为GitHub仓库页面</a:t>
              </a:r>
              <a:endParaRPr lang="en-US" sz="1600" dirty="0"/>
            </a:p>
          </p:txBody>
        </p:sp>
        <p:sp>
          <p:nvSpPr>
            <p:cNvPr id="18" name="Shape 16"/>
            <p:cNvSpPr/>
            <p:nvPr/>
          </p:nvSpPr>
          <p:spPr>
            <a:xfrm>
              <a:off x="12939" y="2067"/>
              <a:ext cx="5861" cy="2828"/>
            </a:xfrm>
            <a:custGeom>
              <a:avLst/>
              <a:gdLst/>
              <a:ahLst/>
              <a:cxnLst/>
              <a:rect l="l" t="t" r="r" b="b"/>
              <a:pathLst>
                <a:path w="3721806" h="1795639">
                  <a:moveTo>
                    <a:pt x="127006" y="0"/>
                  </a:moveTo>
                  <a:lnTo>
                    <a:pt x="3594800" y="0"/>
                  </a:lnTo>
                  <a:cubicBezTo>
                    <a:pt x="3664943" y="0"/>
                    <a:pt x="3721806" y="56862"/>
                    <a:pt x="3721806" y="127006"/>
                  </a:cubicBezTo>
                  <a:lnTo>
                    <a:pt x="3721806" y="1668633"/>
                  </a:lnTo>
                  <a:cubicBezTo>
                    <a:pt x="3721806" y="1738777"/>
                    <a:pt x="3664943" y="1795639"/>
                    <a:pt x="3594800" y="1795639"/>
                  </a:cubicBezTo>
                  <a:lnTo>
                    <a:pt x="127006" y="1795639"/>
                  </a:lnTo>
                  <a:cubicBezTo>
                    <a:pt x="56862" y="1795639"/>
                    <a:pt x="0" y="1738777"/>
                    <a:pt x="0" y="1668633"/>
                  </a:cubicBezTo>
                  <a:lnTo>
                    <a:pt x="0" y="127006"/>
                  </a:lnTo>
                  <a:cubicBezTo>
                    <a:pt x="0" y="56909"/>
                    <a:pt x="56909" y="0"/>
                    <a:pt x="127006" y="0"/>
                  </a:cubicBezTo>
                  <a:close/>
                </a:path>
              </a:pathLst>
            </a:custGeom>
            <a:gradFill flip="none" rotWithShape="1">
              <a:gsLst>
                <a:gs pos="0">
                  <a:srgbClr val="5A6472">
                    <a:alpha val="15000"/>
                  </a:srgbClr>
                </a:gs>
                <a:gs pos="100000">
                  <a:srgbClr val="000000">
                    <a:alpha val="0"/>
                  </a:srgbClr>
                </a:gs>
              </a:gsLst>
              <a:lin ang="2700000" scaled="1"/>
            </a:gradFill>
            <a:ln w="8467">
              <a:solidFill>
                <a:srgbClr val="5A6472">
                  <a:alpha val="30196"/>
                </a:srgbClr>
              </a:solidFill>
              <a:prstDash val="solid"/>
            </a:ln>
          </p:spPr>
        </p:sp>
        <p:sp>
          <p:nvSpPr>
            <p:cNvPr id="19" name="Shape 17"/>
            <p:cNvSpPr/>
            <p:nvPr/>
          </p:nvSpPr>
          <p:spPr>
            <a:xfrm>
              <a:off x="13211" y="2615"/>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5A6472"/>
            </a:solidFill>
          </p:spPr>
        </p:sp>
        <p:sp>
          <p:nvSpPr>
            <p:cNvPr id="20" name="Text 18"/>
            <p:cNvSpPr/>
            <p:nvPr/>
          </p:nvSpPr>
          <p:spPr>
            <a:xfrm>
              <a:off x="13144" y="2615"/>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③</a:t>
              </a:r>
              <a:endParaRPr lang="en-US" sz="1600" dirty="0"/>
            </a:p>
          </p:txBody>
        </p:sp>
        <p:sp>
          <p:nvSpPr>
            <p:cNvPr id="21" name="Text 19"/>
            <p:cNvSpPr/>
            <p:nvPr/>
          </p:nvSpPr>
          <p:spPr>
            <a:xfrm>
              <a:off x="14078" y="2715"/>
              <a:ext cx="19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解析仓库信息</a:t>
              </a:r>
              <a:endParaRPr lang="en-US" sz="1600" dirty="0"/>
            </a:p>
          </p:txBody>
        </p:sp>
        <p:sp>
          <p:nvSpPr>
            <p:cNvPr id="22" name="Text 20"/>
            <p:cNvSpPr/>
            <p:nvPr/>
          </p:nvSpPr>
          <p:spPr>
            <a:xfrm>
              <a:off x="13211" y="3482"/>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提取owner、repo、branch、commit等关键信息,确定分析目标</a:t>
              </a:r>
              <a:endParaRPr lang="en-US" sz="1600" dirty="0"/>
            </a:p>
          </p:txBody>
        </p:sp>
        <p:sp>
          <p:nvSpPr>
            <p:cNvPr id="23" name="Shape 21"/>
            <p:cNvSpPr/>
            <p:nvPr/>
          </p:nvSpPr>
          <p:spPr>
            <a:xfrm>
              <a:off x="19072" y="2067"/>
              <a:ext cx="5861" cy="2828"/>
            </a:xfrm>
            <a:custGeom>
              <a:avLst/>
              <a:gdLst/>
              <a:ahLst/>
              <a:cxnLst/>
              <a:rect l="l" t="t" r="r" b="b"/>
              <a:pathLst>
                <a:path w="3721806" h="1795639">
                  <a:moveTo>
                    <a:pt x="127006" y="0"/>
                  </a:moveTo>
                  <a:lnTo>
                    <a:pt x="3594800" y="0"/>
                  </a:lnTo>
                  <a:cubicBezTo>
                    <a:pt x="3664943" y="0"/>
                    <a:pt x="3721806" y="56862"/>
                    <a:pt x="3721806" y="127006"/>
                  </a:cubicBezTo>
                  <a:lnTo>
                    <a:pt x="3721806" y="1668633"/>
                  </a:lnTo>
                  <a:cubicBezTo>
                    <a:pt x="3721806" y="1738777"/>
                    <a:pt x="3664943" y="1795639"/>
                    <a:pt x="3594800" y="1795639"/>
                  </a:cubicBezTo>
                  <a:lnTo>
                    <a:pt x="127006" y="1795639"/>
                  </a:lnTo>
                  <a:cubicBezTo>
                    <a:pt x="56862" y="1795639"/>
                    <a:pt x="0" y="1738777"/>
                    <a:pt x="0" y="1668633"/>
                  </a:cubicBezTo>
                  <a:lnTo>
                    <a:pt x="0" y="127006"/>
                  </a:lnTo>
                  <a:cubicBezTo>
                    <a:pt x="0" y="56909"/>
                    <a:pt x="56909" y="0"/>
                    <a:pt x="127006" y="0"/>
                  </a:cubicBezTo>
                  <a:close/>
                </a:path>
              </a:pathLst>
            </a:custGeom>
            <a:gradFill flip="none" rotWithShape="1">
              <a:gsLst>
                <a:gs pos="0">
                  <a:srgbClr val="3D8F8A">
                    <a:alpha val="15000"/>
                  </a:srgbClr>
                </a:gs>
                <a:gs pos="100000">
                  <a:srgbClr val="000000">
                    <a:alpha val="0"/>
                  </a:srgbClr>
                </a:gs>
              </a:gsLst>
              <a:lin ang="2700000" scaled="1"/>
            </a:gradFill>
            <a:ln w="8467">
              <a:solidFill>
                <a:srgbClr val="3D8F8A">
                  <a:alpha val="30196"/>
                </a:srgbClr>
              </a:solidFill>
              <a:prstDash val="solid"/>
            </a:ln>
          </p:spPr>
        </p:sp>
        <p:sp>
          <p:nvSpPr>
            <p:cNvPr id="24" name="Shape 22"/>
            <p:cNvSpPr/>
            <p:nvPr/>
          </p:nvSpPr>
          <p:spPr>
            <a:xfrm>
              <a:off x="19344" y="2615"/>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3D8F8A"/>
            </a:solidFill>
          </p:spPr>
        </p:sp>
        <p:sp>
          <p:nvSpPr>
            <p:cNvPr id="25" name="Text 23"/>
            <p:cNvSpPr/>
            <p:nvPr/>
          </p:nvSpPr>
          <p:spPr>
            <a:xfrm>
              <a:off x="19278" y="2615"/>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④</a:t>
              </a:r>
              <a:endParaRPr lang="en-US" sz="1600" dirty="0"/>
            </a:p>
          </p:txBody>
        </p:sp>
        <p:sp>
          <p:nvSpPr>
            <p:cNvPr id="26" name="Text 24"/>
            <p:cNvSpPr/>
            <p:nvPr/>
          </p:nvSpPr>
          <p:spPr>
            <a:xfrm>
              <a:off x="20211" y="2715"/>
              <a:ext cx="3217"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GitHub API拉取文件树</a:t>
              </a:r>
              <a:endParaRPr lang="en-US" sz="1600" dirty="0"/>
            </a:p>
          </p:txBody>
        </p:sp>
        <p:sp>
          <p:nvSpPr>
            <p:cNvPr id="27" name="Text 25"/>
            <p:cNvSpPr/>
            <p:nvPr/>
          </p:nvSpPr>
          <p:spPr>
            <a:xfrm>
              <a:off x="19344" y="3482"/>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通过GitHub API获取仓库的完整文件树结构,识别Python源码文件</a:t>
              </a:r>
              <a:endParaRPr lang="en-US" sz="1600" dirty="0"/>
            </a:p>
          </p:txBody>
        </p:sp>
        <p:sp>
          <p:nvSpPr>
            <p:cNvPr id="28" name="Shape 26"/>
            <p:cNvSpPr/>
            <p:nvPr/>
          </p:nvSpPr>
          <p:spPr>
            <a:xfrm>
              <a:off x="672" y="5174"/>
              <a:ext cx="5861" cy="2828"/>
            </a:xfrm>
            <a:custGeom>
              <a:avLst/>
              <a:gdLst/>
              <a:ahLst/>
              <a:cxnLst/>
              <a:rect l="l" t="t" r="r" b="b"/>
              <a:pathLst>
                <a:path w="3721806" h="1795639">
                  <a:moveTo>
                    <a:pt x="127006" y="0"/>
                  </a:moveTo>
                  <a:lnTo>
                    <a:pt x="3594800" y="0"/>
                  </a:lnTo>
                  <a:cubicBezTo>
                    <a:pt x="3664943" y="0"/>
                    <a:pt x="3721806" y="56862"/>
                    <a:pt x="3721806" y="127006"/>
                  </a:cubicBezTo>
                  <a:lnTo>
                    <a:pt x="3721806" y="1668633"/>
                  </a:lnTo>
                  <a:cubicBezTo>
                    <a:pt x="3721806" y="1738777"/>
                    <a:pt x="3664943" y="1795639"/>
                    <a:pt x="3594800" y="1795639"/>
                  </a:cubicBezTo>
                  <a:lnTo>
                    <a:pt x="127006" y="1795639"/>
                  </a:lnTo>
                  <a:cubicBezTo>
                    <a:pt x="56862" y="1795639"/>
                    <a:pt x="0" y="1738777"/>
                    <a:pt x="0" y="1668633"/>
                  </a:cubicBezTo>
                  <a:lnTo>
                    <a:pt x="0" y="127006"/>
                  </a:lnTo>
                  <a:cubicBezTo>
                    <a:pt x="0" y="56909"/>
                    <a:pt x="56909" y="0"/>
                    <a:pt x="127006" y="0"/>
                  </a:cubicBezTo>
                  <a:close/>
                </a:path>
              </a:pathLst>
            </a:custGeom>
            <a:gradFill flip="none" rotWithShape="1">
              <a:gsLst>
                <a:gs pos="0">
                  <a:srgbClr val="E5A044">
                    <a:alpha val="15000"/>
                  </a:srgbClr>
                </a:gs>
                <a:gs pos="100000">
                  <a:srgbClr val="000000">
                    <a:alpha val="0"/>
                  </a:srgbClr>
                </a:gs>
              </a:gsLst>
              <a:lin ang="2700000" scaled="1"/>
            </a:gradFill>
            <a:ln w="8467">
              <a:solidFill>
                <a:srgbClr val="E5A044">
                  <a:alpha val="30196"/>
                </a:srgbClr>
              </a:solidFill>
              <a:prstDash val="solid"/>
            </a:ln>
          </p:spPr>
        </p:sp>
        <p:sp>
          <p:nvSpPr>
            <p:cNvPr id="29" name="Shape 27"/>
            <p:cNvSpPr/>
            <p:nvPr/>
          </p:nvSpPr>
          <p:spPr>
            <a:xfrm>
              <a:off x="944" y="5722"/>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E5A044"/>
            </a:solidFill>
          </p:spPr>
        </p:sp>
        <p:sp>
          <p:nvSpPr>
            <p:cNvPr id="30" name="Text 28"/>
            <p:cNvSpPr/>
            <p:nvPr/>
          </p:nvSpPr>
          <p:spPr>
            <a:xfrm>
              <a:off x="878" y="5722"/>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⑤</a:t>
              </a:r>
              <a:endParaRPr lang="en-US" sz="1600" dirty="0"/>
            </a:p>
          </p:txBody>
        </p:sp>
        <p:sp>
          <p:nvSpPr>
            <p:cNvPr id="31" name="Text 29"/>
            <p:cNvSpPr/>
            <p:nvPr/>
          </p:nvSpPr>
          <p:spPr>
            <a:xfrm>
              <a:off x="1811" y="5822"/>
              <a:ext cx="25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筛选目标语言文件</a:t>
              </a:r>
              <a:endParaRPr lang="en-US" sz="1600" dirty="0"/>
            </a:p>
          </p:txBody>
        </p:sp>
        <p:sp>
          <p:nvSpPr>
            <p:cNvPr id="32" name="Text 30"/>
            <p:cNvSpPr/>
            <p:nvPr/>
          </p:nvSpPr>
          <p:spPr>
            <a:xfrm>
              <a:off x="944" y="6589"/>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筛选.py文件,优先分析核心源码,排除测试和非关键文件</a:t>
              </a:r>
              <a:endParaRPr lang="en-US" sz="1600" dirty="0"/>
            </a:p>
          </p:txBody>
        </p:sp>
        <p:sp>
          <p:nvSpPr>
            <p:cNvPr id="33" name="Shape 31"/>
            <p:cNvSpPr/>
            <p:nvPr/>
          </p:nvSpPr>
          <p:spPr>
            <a:xfrm>
              <a:off x="6806" y="5174"/>
              <a:ext cx="5861" cy="2828"/>
            </a:xfrm>
            <a:custGeom>
              <a:avLst/>
              <a:gdLst/>
              <a:ahLst/>
              <a:cxnLst/>
              <a:rect l="l" t="t" r="r" b="b"/>
              <a:pathLst>
                <a:path w="3721806" h="1795639">
                  <a:moveTo>
                    <a:pt x="127006" y="0"/>
                  </a:moveTo>
                  <a:lnTo>
                    <a:pt x="3594800" y="0"/>
                  </a:lnTo>
                  <a:cubicBezTo>
                    <a:pt x="3664943" y="0"/>
                    <a:pt x="3721806" y="56862"/>
                    <a:pt x="3721806" y="127006"/>
                  </a:cubicBezTo>
                  <a:lnTo>
                    <a:pt x="3721806" y="1668633"/>
                  </a:lnTo>
                  <a:cubicBezTo>
                    <a:pt x="3721806" y="1738777"/>
                    <a:pt x="3664943" y="1795639"/>
                    <a:pt x="3594800" y="1795639"/>
                  </a:cubicBezTo>
                  <a:lnTo>
                    <a:pt x="127006" y="1795639"/>
                  </a:lnTo>
                  <a:cubicBezTo>
                    <a:pt x="56862" y="1795639"/>
                    <a:pt x="0" y="1738777"/>
                    <a:pt x="0" y="1668633"/>
                  </a:cubicBezTo>
                  <a:lnTo>
                    <a:pt x="0" y="127006"/>
                  </a:lnTo>
                  <a:cubicBezTo>
                    <a:pt x="0" y="56909"/>
                    <a:pt x="56909" y="0"/>
                    <a:pt x="127006" y="0"/>
                  </a:cubicBezTo>
                  <a:close/>
                </a:path>
              </a:pathLst>
            </a:custGeom>
            <a:gradFill flip="none" rotWithShape="1">
              <a:gsLst>
                <a:gs pos="0">
                  <a:srgbClr val="5A6472">
                    <a:alpha val="15000"/>
                  </a:srgbClr>
                </a:gs>
                <a:gs pos="100000">
                  <a:srgbClr val="000000">
                    <a:alpha val="0"/>
                  </a:srgbClr>
                </a:gs>
              </a:gsLst>
              <a:lin ang="2700000" scaled="1"/>
            </a:gradFill>
            <a:ln w="8467">
              <a:solidFill>
                <a:srgbClr val="5A6472">
                  <a:alpha val="30196"/>
                </a:srgbClr>
              </a:solidFill>
              <a:prstDash val="solid"/>
            </a:ln>
          </p:spPr>
        </p:sp>
        <p:sp>
          <p:nvSpPr>
            <p:cNvPr id="34" name="Shape 32"/>
            <p:cNvSpPr/>
            <p:nvPr/>
          </p:nvSpPr>
          <p:spPr>
            <a:xfrm>
              <a:off x="7078" y="5722"/>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5A6472"/>
            </a:solidFill>
          </p:spPr>
        </p:sp>
        <p:sp>
          <p:nvSpPr>
            <p:cNvPr id="35" name="Text 33"/>
            <p:cNvSpPr/>
            <p:nvPr/>
          </p:nvSpPr>
          <p:spPr>
            <a:xfrm>
              <a:off x="7011" y="5722"/>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⑥</a:t>
              </a:r>
              <a:endParaRPr lang="en-US" sz="1600" dirty="0"/>
            </a:p>
          </p:txBody>
        </p:sp>
        <p:sp>
          <p:nvSpPr>
            <p:cNvPr id="36" name="Text 34"/>
            <p:cNvSpPr/>
            <p:nvPr/>
          </p:nvSpPr>
          <p:spPr>
            <a:xfrm>
              <a:off x="7944" y="5822"/>
              <a:ext cx="2517"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并发拉取raw文件</a:t>
              </a:r>
              <a:endParaRPr lang="en-US" sz="1600" dirty="0"/>
            </a:p>
          </p:txBody>
        </p:sp>
        <p:sp>
          <p:nvSpPr>
            <p:cNvPr id="37" name="Text 35"/>
            <p:cNvSpPr/>
            <p:nvPr/>
          </p:nvSpPr>
          <p:spPr>
            <a:xfrm>
              <a:off x="7078" y="6589"/>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异步并发请求获取Python源码文件的原始内容,提升效率</a:t>
              </a:r>
              <a:endParaRPr lang="en-US" sz="1600" dirty="0"/>
            </a:p>
          </p:txBody>
        </p:sp>
        <p:sp>
          <p:nvSpPr>
            <p:cNvPr id="38" name="Shape 36"/>
            <p:cNvSpPr/>
            <p:nvPr/>
          </p:nvSpPr>
          <p:spPr>
            <a:xfrm>
              <a:off x="12939" y="5174"/>
              <a:ext cx="5861" cy="2828"/>
            </a:xfrm>
            <a:custGeom>
              <a:avLst/>
              <a:gdLst/>
              <a:ahLst/>
              <a:cxnLst/>
              <a:rect l="l" t="t" r="r" b="b"/>
              <a:pathLst>
                <a:path w="3721806" h="1795639">
                  <a:moveTo>
                    <a:pt x="127006" y="0"/>
                  </a:moveTo>
                  <a:lnTo>
                    <a:pt x="3594800" y="0"/>
                  </a:lnTo>
                  <a:cubicBezTo>
                    <a:pt x="3664943" y="0"/>
                    <a:pt x="3721806" y="56862"/>
                    <a:pt x="3721806" y="127006"/>
                  </a:cubicBezTo>
                  <a:lnTo>
                    <a:pt x="3721806" y="1668633"/>
                  </a:lnTo>
                  <a:cubicBezTo>
                    <a:pt x="3721806" y="1738777"/>
                    <a:pt x="3664943" y="1795639"/>
                    <a:pt x="3594800" y="1795639"/>
                  </a:cubicBezTo>
                  <a:lnTo>
                    <a:pt x="127006" y="1795639"/>
                  </a:lnTo>
                  <a:cubicBezTo>
                    <a:pt x="56862" y="1795639"/>
                    <a:pt x="0" y="1738777"/>
                    <a:pt x="0" y="1668633"/>
                  </a:cubicBezTo>
                  <a:lnTo>
                    <a:pt x="0" y="127006"/>
                  </a:lnTo>
                  <a:cubicBezTo>
                    <a:pt x="0" y="56909"/>
                    <a:pt x="56909" y="0"/>
                    <a:pt x="127006" y="0"/>
                  </a:cubicBezTo>
                  <a:close/>
                </a:path>
              </a:pathLst>
            </a:custGeom>
            <a:gradFill flip="none" rotWithShape="1">
              <a:gsLst>
                <a:gs pos="0">
                  <a:srgbClr val="3D8F8A">
                    <a:alpha val="15000"/>
                  </a:srgbClr>
                </a:gs>
                <a:gs pos="100000">
                  <a:srgbClr val="000000">
                    <a:alpha val="0"/>
                  </a:srgbClr>
                </a:gs>
              </a:gsLst>
              <a:lin ang="2700000" scaled="1"/>
            </a:gradFill>
            <a:ln w="8467">
              <a:solidFill>
                <a:srgbClr val="3D8F8A">
                  <a:alpha val="30196"/>
                </a:srgbClr>
              </a:solidFill>
              <a:prstDash val="solid"/>
            </a:ln>
          </p:spPr>
        </p:sp>
        <p:sp>
          <p:nvSpPr>
            <p:cNvPr id="39" name="Shape 37"/>
            <p:cNvSpPr/>
            <p:nvPr/>
          </p:nvSpPr>
          <p:spPr>
            <a:xfrm>
              <a:off x="13211" y="5722"/>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3D8F8A"/>
            </a:solidFill>
          </p:spPr>
        </p:sp>
        <p:sp>
          <p:nvSpPr>
            <p:cNvPr id="40" name="Text 38"/>
            <p:cNvSpPr/>
            <p:nvPr/>
          </p:nvSpPr>
          <p:spPr>
            <a:xfrm>
              <a:off x="13144" y="5722"/>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⑦</a:t>
              </a:r>
              <a:endParaRPr lang="en-US" sz="1600" dirty="0"/>
            </a:p>
          </p:txBody>
        </p:sp>
        <p:sp>
          <p:nvSpPr>
            <p:cNvPr id="41" name="Text 39"/>
            <p:cNvSpPr/>
            <p:nvPr/>
          </p:nvSpPr>
          <p:spPr>
            <a:xfrm>
              <a:off x="14078" y="5822"/>
              <a:ext cx="2917"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本地静态解析import</a:t>
              </a:r>
              <a:endParaRPr lang="en-US" sz="1600" dirty="0"/>
            </a:p>
          </p:txBody>
        </p:sp>
        <p:sp>
          <p:nvSpPr>
            <p:cNvPr id="42" name="Text 40"/>
            <p:cNvSpPr/>
            <p:nvPr/>
          </p:nvSpPr>
          <p:spPr>
            <a:xfrm>
              <a:off x="13211" y="6589"/>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使用AST和正则表达式提取import语句,不执行代码保证安全</a:t>
              </a:r>
              <a:endParaRPr lang="en-US" sz="1600" dirty="0"/>
            </a:p>
          </p:txBody>
        </p:sp>
        <p:sp>
          <p:nvSpPr>
            <p:cNvPr id="43" name="Shape 41"/>
            <p:cNvSpPr/>
            <p:nvPr/>
          </p:nvSpPr>
          <p:spPr>
            <a:xfrm>
              <a:off x="19072" y="5174"/>
              <a:ext cx="5861" cy="2828"/>
            </a:xfrm>
            <a:custGeom>
              <a:avLst/>
              <a:gdLst/>
              <a:ahLst/>
              <a:cxnLst/>
              <a:rect l="l" t="t" r="r" b="b"/>
              <a:pathLst>
                <a:path w="3721806" h="1795639">
                  <a:moveTo>
                    <a:pt x="127006" y="0"/>
                  </a:moveTo>
                  <a:lnTo>
                    <a:pt x="3594800" y="0"/>
                  </a:lnTo>
                  <a:cubicBezTo>
                    <a:pt x="3664943" y="0"/>
                    <a:pt x="3721806" y="56862"/>
                    <a:pt x="3721806" y="127006"/>
                  </a:cubicBezTo>
                  <a:lnTo>
                    <a:pt x="3721806" y="1668633"/>
                  </a:lnTo>
                  <a:cubicBezTo>
                    <a:pt x="3721806" y="1738777"/>
                    <a:pt x="3664943" y="1795639"/>
                    <a:pt x="3594800" y="1795639"/>
                  </a:cubicBezTo>
                  <a:lnTo>
                    <a:pt x="127006" y="1795639"/>
                  </a:lnTo>
                  <a:cubicBezTo>
                    <a:pt x="56862" y="1795639"/>
                    <a:pt x="0" y="1738777"/>
                    <a:pt x="0" y="1668633"/>
                  </a:cubicBezTo>
                  <a:lnTo>
                    <a:pt x="0" y="127006"/>
                  </a:lnTo>
                  <a:cubicBezTo>
                    <a:pt x="0" y="56909"/>
                    <a:pt x="56909" y="0"/>
                    <a:pt x="127006" y="0"/>
                  </a:cubicBezTo>
                  <a:close/>
                </a:path>
              </a:pathLst>
            </a:custGeom>
            <a:gradFill flip="none" rotWithShape="1">
              <a:gsLst>
                <a:gs pos="0">
                  <a:srgbClr val="E5A044">
                    <a:alpha val="15000"/>
                  </a:srgbClr>
                </a:gs>
                <a:gs pos="100000">
                  <a:srgbClr val="000000">
                    <a:alpha val="0"/>
                  </a:srgbClr>
                </a:gs>
              </a:gsLst>
              <a:lin ang="2700000" scaled="1"/>
            </a:gradFill>
            <a:ln w="8467">
              <a:solidFill>
                <a:srgbClr val="E5A044">
                  <a:alpha val="30196"/>
                </a:srgbClr>
              </a:solidFill>
              <a:prstDash val="solid"/>
            </a:ln>
          </p:spPr>
        </p:sp>
        <p:sp>
          <p:nvSpPr>
            <p:cNvPr id="44" name="Shape 42"/>
            <p:cNvSpPr/>
            <p:nvPr/>
          </p:nvSpPr>
          <p:spPr>
            <a:xfrm>
              <a:off x="19344" y="5722"/>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E5A044"/>
            </a:solidFill>
          </p:spPr>
        </p:sp>
        <p:sp>
          <p:nvSpPr>
            <p:cNvPr id="45" name="Text 43"/>
            <p:cNvSpPr/>
            <p:nvPr/>
          </p:nvSpPr>
          <p:spPr>
            <a:xfrm>
              <a:off x="19278" y="5722"/>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⑧</a:t>
              </a:r>
              <a:endParaRPr lang="en-US" sz="1600" dirty="0"/>
            </a:p>
          </p:txBody>
        </p:sp>
        <p:sp>
          <p:nvSpPr>
            <p:cNvPr id="46" name="Text 44"/>
            <p:cNvSpPr/>
            <p:nvPr/>
          </p:nvSpPr>
          <p:spPr>
            <a:xfrm>
              <a:off x="20211" y="5822"/>
              <a:ext cx="2317"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import初步分类</a:t>
              </a:r>
              <a:endParaRPr lang="en-US" sz="1600" dirty="0"/>
            </a:p>
          </p:txBody>
        </p:sp>
        <p:sp>
          <p:nvSpPr>
            <p:cNvPr id="47" name="Text 45"/>
            <p:cNvSpPr/>
            <p:nvPr/>
          </p:nvSpPr>
          <p:spPr>
            <a:xfrm>
              <a:off x="19344" y="6589"/>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将import分为标准库、本地模块、第三方候选三类</a:t>
              </a:r>
              <a:endParaRPr lang="en-US" sz="1600" dirty="0"/>
            </a:p>
          </p:txBody>
        </p:sp>
        <p:sp>
          <p:nvSpPr>
            <p:cNvPr id="48" name="Shape 46"/>
            <p:cNvSpPr/>
            <p:nvPr/>
          </p:nvSpPr>
          <p:spPr>
            <a:xfrm>
              <a:off x="672" y="8281"/>
              <a:ext cx="5861" cy="2878"/>
            </a:xfrm>
            <a:custGeom>
              <a:avLst/>
              <a:gdLst/>
              <a:ahLst/>
              <a:cxnLst/>
              <a:rect l="l" t="t" r="r" b="b"/>
              <a:pathLst>
                <a:path w="3721806" h="1827389">
                  <a:moveTo>
                    <a:pt x="127004" y="0"/>
                  </a:moveTo>
                  <a:lnTo>
                    <a:pt x="3594802" y="0"/>
                  </a:lnTo>
                  <a:cubicBezTo>
                    <a:pt x="3664944" y="0"/>
                    <a:pt x="3721806" y="56861"/>
                    <a:pt x="3721806" y="127004"/>
                  </a:cubicBezTo>
                  <a:lnTo>
                    <a:pt x="3721806" y="1700385"/>
                  </a:lnTo>
                  <a:cubicBezTo>
                    <a:pt x="3721806" y="1770527"/>
                    <a:pt x="3664944" y="1827389"/>
                    <a:pt x="3594802" y="1827389"/>
                  </a:cubicBezTo>
                  <a:lnTo>
                    <a:pt x="127004" y="1827389"/>
                  </a:lnTo>
                  <a:cubicBezTo>
                    <a:pt x="56861" y="1827389"/>
                    <a:pt x="0" y="1770527"/>
                    <a:pt x="0" y="1700385"/>
                  </a:cubicBezTo>
                  <a:lnTo>
                    <a:pt x="0" y="127004"/>
                  </a:lnTo>
                  <a:cubicBezTo>
                    <a:pt x="0" y="56908"/>
                    <a:pt x="56908" y="0"/>
                    <a:pt x="127004" y="0"/>
                  </a:cubicBezTo>
                  <a:close/>
                </a:path>
              </a:pathLst>
            </a:custGeom>
            <a:gradFill flip="none" rotWithShape="1">
              <a:gsLst>
                <a:gs pos="0">
                  <a:srgbClr val="5A6472">
                    <a:alpha val="15000"/>
                  </a:srgbClr>
                </a:gs>
                <a:gs pos="100000">
                  <a:srgbClr val="000000">
                    <a:alpha val="0"/>
                  </a:srgbClr>
                </a:gs>
              </a:gsLst>
              <a:lin ang="2700000" scaled="1"/>
            </a:gradFill>
            <a:ln w="8467">
              <a:solidFill>
                <a:srgbClr val="5A6472">
                  <a:alpha val="30196"/>
                </a:srgbClr>
              </a:solidFill>
              <a:prstDash val="solid"/>
            </a:ln>
          </p:spPr>
        </p:sp>
        <p:sp>
          <p:nvSpPr>
            <p:cNvPr id="49" name="Shape 47"/>
            <p:cNvSpPr/>
            <p:nvPr/>
          </p:nvSpPr>
          <p:spPr>
            <a:xfrm>
              <a:off x="944" y="8852"/>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5A6472"/>
            </a:solidFill>
          </p:spPr>
        </p:sp>
        <p:sp>
          <p:nvSpPr>
            <p:cNvPr id="50" name="Text 48"/>
            <p:cNvSpPr/>
            <p:nvPr/>
          </p:nvSpPr>
          <p:spPr>
            <a:xfrm>
              <a:off x="878" y="8852"/>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⑨</a:t>
              </a:r>
              <a:endParaRPr lang="en-US" sz="1600" dirty="0"/>
            </a:p>
          </p:txBody>
        </p:sp>
        <p:sp>
          <p:nvSpPr>
            <p:cNvPr id="51" name="Text 49"/>
            <p:cNvSpPr/>
            <p:nvPr/>
          </p:nvSpPr>
          <p:spPr>
            <a:xfrm>
              <a:off x="1811" y="8952"/>
              <a:ext cx="22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构建使用上下文</a:t>
              </a:r>
              <a:endParaRPr lang="en-US" sz="1600" dirty="0"/>
            </a:p>
          </p:txBody>
        </p:sp>
        <p:sp>
          <p:nvSpPr>
            <p:cNvPr id="52" name="Text 50"/>
            <p:cNvSpPr/>
            <p:nvPr/>
          </p:nvSpPr>
          <p:spPr>
            <a:xfrm>
              <a:off x="944" y="9718"/>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记录import所在的文件路径和import方式,为后续语义分析提供上下文</a:t>
              </a:r>
              <a:endParaRPr lang="en-US" sz="1600" dirty="0"/>
            </a:p>
          </p:txBody>
        </p:sp>
        <p:sp>
          <p:nvSpPr>
            <p:cNvPr id="53" name="Shape 51"/>
            <p:cNvSpPr/>
            <p:nvPr/>
          </p:nvSpPr>
          <p:spPr>
            <a:xfrm>
              <a:off x="6817" y="8293"/>
              <a:ext cx="5833" cy="2850"/>
            </a:xfrm>
            <a:custGeom>
              <a:avLst/>
              <a:gdLst/>
              <a:ahLst/>
              <a:cxnLst/>
              <a:rect l="l" t="t" r="r" b="b"/>
              <a:pathLst>
                <a:path w="3704167" h="1809750">
                  <a:moveTo>
                    <a:pt x="127008" y="0"/>
                  </a:moveTo>
                  <a:lnTo>
                    <a:pt x="3577158" y="0"/>
                  </a:lnTo>
                  <a:cubicBezTo>
                    <a:pt x="3647303" y="0"/>
                    <a:pt x="3704167" y="56864"/>
                    <a:pt x="3704167" y="127008"/>
                  </a:cubicBezTo>
                  <a:lnTo>
                    <a:pt x="3704167" y="1682742"/>
                  </a:lnTo>
                  <a:cubicBezTo>
                    <a:pt x="3704167" y="1752886"/>
                    <a:pt x="3647303" y="1809750"/>
                    <a:pt x="3577158" y="1809750"/>
                  </a:cubicBezTo>
                  <a:lnTo>
                    <a:pt x="127008" y="1809750"/>
                  </a:lnTo>
                  <a:cubicBezTo>
                    <a:pt x="56864" y="1809750"/>
                    <a:pt x="0" y="1752886"/>
                    <a:pt x="0" y="1682742"/>
                  </a:cubicBezTo>
                  <a:lnTo>
                    <a:pt x="0" y="127008"/>
                  </a:lnTo>
                  <a:cubicBezTo>
                    <a:pt x="0" y="56864"/>
                    <a:pt x="56864" y="0"/>
                    <a:pt x="127008" y="0"/>
                  </a:cubicBezTo>
                  <a:close/>
                </a:path>
              </a:pathLst>
            </a:custGeom>
            <a:gradFill flip="none" rotWithShape="1">
              <a:gsLst>
                <a:gs pos="0">
                  <a:srgbClr val="3D8F8A">
                    <a:alpha val="20000"/>
                  </a:srgbClr>
                </a:gs>
                <a:gs pos="100000">
                  <a:srgbClr val="E5A044">
                    <a:alpha val="10000"/>
                  </a:srgbClr>
                </a:gs>
              </a:gsLst>
              <a:lin ang="2700000" scaled="1"/>
            </a:gradFill>
            <a:ln w="25400">
              <a:solidFill>
                <a:srgbClr val="3D8F8A">
                  <a:alpha val="50196"/>
                </a:srgbClr>
              </a:solidFill>
              <a:prstDash val="solid"/>
            </a:ln>
          </p:spPr>
        </p:sp>
        <p:sp>
          <p:nvSpPr>
            <p:cNvPr id="54" name="Shape 52"/>
            <p:cNvSpPr/>
            <p:nvPr/>
          </p:nvSpPr>
          <p:spPr>
            <a:xfrm>
              <a:off x="7100" y="8852"/>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E5A044"/>
            </a:solidFill>
          </p:spPr>
        </p:sp>
        <p:sp>
          <p:nvSpPr>
            <p:cNvPr id="55" name="Shape 53"/>
            <p:cNvSpPr/>
            <p:nvPr/>
          </p:nvSpPr>
          <p:spPr>
            <a:xfrm>
              <a:off x="7269" y="9035"/>
              <a:ext cx="338" cy="3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FFFFFF"/>
            </a:solidFill>
          </p:spPr>
        </p:sp>
        <p:sp>
          <p:nvSpPr>
            <p:cNvPr id="56" name="Text 54"/>
            <p:cNvSpPr/>
            <p:nvPr/>
          </p:nvSpPr>
          <p:spPr>
            <a:xfrm>
              <a:off x="7967" y="8952"/>
              <a:ext cx="280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⑩ LLM语义校正 ⭐</a:t>
              </a:r>
              <a:endParaRPr lang="en-US" sz="1600" dirty="0"/>
            </a:p>
          </p:txBody>
        </p:sp>
        <p:sp>
          <p:nvSpPr>
            <p:cNvPr id="57" name="Text 55"/>
            <p:cNvSpPr/>
            <p:nvPr/>
          </p:nvSpPr>
          <p:spPr>
            <a:xfrm>
              <a:off x="7100" y="9718"/>
              <a:ext cx="5400" cy="867"/>
            </a:xfrm>
            <a:prstGeom prst="rect">
              <a:avLst/>
            </a:prstGeom>
            <a:noFill/>
          </p:spPr>
          <p:txBody>
            <a:bodyPr wrap="square" lIns="0" tIns="0" rIns="0" bIns="0" rtlCol="0" anchor="ctr"/>
            <a:lstStyle/>
            <a:p>
              <a:pPr>
                <a:lnSpc>
                  <a:spcPct val="140000"/>
                </a:lnSpc>
              </a:pPr>
              <a:r>
                <a:rPr lang="en-US" sz="1335" b="1" dirty="0">
                  <a:solidFill>
                    <a:srgbClr val="E5A044"/>
                  </a:solidFill>
                  <a:latin typeface="MiSans" pitchFamily="34" charset="-122"/>
                  <a:ea typeface="MiSans" pitchFamily="34" charset="-122"/>
                  <a:cs typeface="MiSans" pitchFamily="34" charset="-120"/>
                </a:rPr>
                <a:t>核心创新</a:t>
              </a:r>
              <a:r>
                <a:rPr lang="en-US" sz="1335" dirty="0">
                  <a:solidFill>
                    <a:srgbClr val="E0E2E6">
                      <a:alpha val="80000"/>
                    </a:srgbClr>
                  </a:solidFill>
                  <a:latin typeface="MiSans" pitchFamily="34" charset="-122"/>
                  <a:ea typeface="MiSans" pitchFamily="34" charset="-122"/>
                  <a:cs typeface="MiSans" pitchFamily="34" charset="-120"/>
                </a:rPr>
                <a:t>: import到PyPI包名映射,排除误判,标注可选依赖</a:t>
              </a:r>
              <a:endParaRPr lang="en-US" sz="1600" dirty="0"/>
            </a:p>
          </p:txBody>
        </p:sp>
        <p:sp>
          <p:nvSpPr>
            <p:cNvPr id="58" name="Shape 56"/>
            <p:cNvSpPr/>
            <p:nvPr/>
          </p:nvSpPr>
          <p:spPr>
            <a:xfrm>
              <a:off x="12939" y="8281"/>
              <a:ext cx="5861" cy="2878"/>
            </a:xfrm>
            <a:custGeom>
              <a:avLst/>
              <a:gdLst/>
              <a:ahLst/>
              <a:cxnLst/>
              <a:rect l="l" t="t" r="r" b="b"/>
              <a:pathLst>
                <a:path w="3721806" h="1827389">
                  <a:moveTo>
                    <a:pt x="127004" y="0"/>
                  </a:moveTo>
                  <a:lnTo>
                    <a:pt x="3594802" y="0"/>
                  </a:lnTo>
                  <a:cubicBezTo>
                    <a:pt x="3664944" y="0"/>
                    <a:pt x="3721806" y="56861"/>
                    <a:pt x="3721806" y="127004"/>
                  </a:cubicBezTo>
                  <a:lnTo>
                    <a:pt x="3721806" y="1700385"/>
                  </a:lnTo>
                  <a:cubicBezTo>
                    <a:pt x="3721806" y="1770527"/>
                    <a:pt x="3664944" y="1827389"/>
                    <a:pt x="3594802" y="1827389"/>
                  </a:cubicBezTo>
                  <a:lnTo>
                    <a:pt x="127004" y="1827389"/>
                  </a:lnTo>
                  <a:cubicBezTo>
                    <a:pt x="56861" y="1827389"/>
                    <a:pt x="0" y="1770527"/>
                    <a:pt x="0" y="1700385"/>
                  </a:cubicBezTo>
                  <a:lnTo>
                    <a:pt x="0" y="127004"/>
                  </a:lnTo>
                  <a:cubicBezTo>
                    <a:pt x="0" y="56908"/>
                    <a:pt x="56908" y="0"/>
                    <a:pt x="127004" y="0"/>
                  </a:cubicBezTo>
                  <a:close/>
                </a:path>
              </a:pathLst>
            </a:custGeom>
            <a:gradFill flip="none" rotWithShape="1">
              <a:gsLst>
                <a:gs pos="0">
                  <a:srgbClr val="E5A044">
                    <a:alpha val="15000"/>
                  </a:srgbClr>
                </a:gs>
                <a:gs pos="100000">
                  <a:srgbClr val="000000">
                    <a:alpha val="0"/>
                  </a:srgbClr>
                </a:gs>
              </a:gsLst>
              <a:lin ang="2700000" scaled="1"/>
            </a:gradFill>
            <a:ln w="8467">
              <a:solidFill>
                <a:srgbClr val="E5A044">
                  <a:alpha val="30196"/>
                </a:srgbClr>
              </a:solidFill>
              <a:prstDash val="solid"/>
            </a:ln>
          </p:spPr>
        </p:sp>
        <p:sp>
          <p:nvSpPr>
            <p:cNvPr id="59" name="Shape 57"/>
            <p:cNvSpPr/>
            <p:nvPr/>
          </p:nvSpPr>
          <p:spPr>
            <a:xfrm>
              <a:off x="13211" y="8852"/>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E5A044"/>
            </a:solidFill>
          </p:spPr>
        </p:sp>
        <p:sp>
          <p:nvSpPr>
            <p:cNvPr id="60" name="Text 58"/>
            <p:cNvSpPr/>
            <p:nvPr/>
          </p:nvSpPr>
          <p:spPr>
            <a:xfrm>
              <a:off x="13144" y="8852"/>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⑪</a:t>
              </a:r>
              <a:endParaRPr lang="en-US" sz="1600" dirty="0"/>
            </a:p>
          </p:txBody>
        </p:sp>
        <p:sp>
          <p:nvSpPr>
            <p:cNvPr id="61" name="Text 59"/>
            <p:cNvSpPr/>
            <p:nvPr/>
          </p:nvSpPr>
          <p:spPr>
            <a:xfrm>
              <a:off x="14078" y="8952"/>
              <a:ext cx="22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候选依赖包清单</a:t>
              </a:r>
              <a:endParaRPr lang="en-US" sz="1600" dirty="0"/>
            </a:p>
          </p:txBody>
        </p:sp>
        <p:sp>
          <p:nvSpPr>
            <p:cNvPr id="62" name="Text 60"/>
            <p:cNvSpPr/>
            <p:nvPr/>
          </p:nvSpPr>
          <p:spPr>
            <a:xfrm>
              <a:off x="13211" y="9718"/>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生成经过语义校正的候选依赖包清单,包含不确定性标注</a:t>
              </a:r>
              <a:endParaRPr lang="en-US" sz="1600" dirty="0"/>
            </a:p>
          </p:txBody>
        </p:sp>
        <p:sp>
          <p:nvSpPr>
            <p:cNvPr id="63" name="Shape 61"/>
            <p:cNvSpPr/>
            <p:nvPr/>
          </p:nvSpPr>
          <p:spPr>
            <a:xfrm>
              <a:off x="19072" y="8281"/>
              <a:ext cx="5861" cy="2878"/>
            </a:xfrm>
            <a:custGeom>
              <a:avLst/>
              <a:gdLst/>
              <a:ahLst/>
              <a:cxnLst/>
              <a:rect l="l" t="t" r="r" b="b"/>
              <a:pathLst>
                <a:path w="3721806" h="1827389">
                  <a:moveTo>
                    <a:pt x="127004" y="0"/>
                  </a:moveTo>
                  <a:lnTo>
                    <a:pt x="3594802" y="0"/>
                  </a:lnTo>
                  <a:cubicBezTo>
                    <a:pt x="3664944" y="0"/>
                    <a:pt x="3721806" y="56861"/>
                    <a:pt x="3721806" y="127004"/>
                  </a:cubicBezTo>
                  <a:lnTo>
                    <a:pt x="3721806" y="1700385"/>
                  </a:lnTo>
                  <a:cubicBezTo>
                    <a:pt x="3721806" y="1770527"/>
                    <a:pt x="3664944" y="1827389"/>
                    <a:pt x="3594802" y="1827389"/>
                  </a:cubicBezTo>
                  <a:lnTo>
                    <a:pt x="127004" y="1827389"/>
                  </a:lnTo>
                  <a:cubicBezTo>
                    <a:pt x="56861" y="1827389"/>
                    <a:pt x="0" y="1770527"/>
                    <a:pt x="0" y="1700385"/>
                  </a:cubicBezTo>
                  <a:lnTo>
                    <a:pt x="0" y="127004"/>
                  </a:lnTo>
                  <a:cubicBezTo>
                    <a:pt x="0" y="56908"/>
                    <a:pt x="56908" y="0"/>
                    <a:pt x="127004" y="0"/>
                  </a:cubicBezTo>
                  <a:close/>
                </a:path>
              </a:pathLst>
            </a:custGeom>
            <a:gradFill flip="none" rotWithShape="1">
              <a:gsLst>
                <a:gs pos="0">
                  <a:srgbClr val="5A6472">
                    <a:alpha val="15000"/>
                  </a:srgbClr>
                </a:gs>
                <a:gs pos="100000">
                  <a:srgbClr val="000000">
                    <a:alpha val="0"/>
                  </a:srgbClr>
                </a:gs>
              </a:gsLst>
              <a:lin ang="2700000" scaled="1"/>
            </a:gradFill>
            <a:ln w="8467">
              <a:solidFill>
                <a:srgbClr val="5A6472">
                  <a:alpha val="30196"/>
                </a:srgbClr>
              </a:solidFill>
              <a:prstDash val="solid"/>
            </a:ln>
          </p:spPr>
        </p:sp>
        <p:sp>
          <p:nvSpPr>
            <p:cNvPr id="64" name="Shape 62"/>
            <p:cNvSpPr/>
            <p:nvPr/>
          </p:nvSpPr>
          <p:spPr>
            <a:xfrm>
              <a:off x="19344" y="8852"/>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5A6472"/>
            </a:solidFill>
          </p:spPr>
        </p:sp>
        <p:sp>
          <p:nvSpPr>
            <p:cNvPr id="65" name="Text 63"/>
            <p:cNvSpPr/>
            <p:nvPr/>
          </p:nvSpPr>
          <p:spPr>
            <a:xfrm>
              <a:off x="19278" y="8852"/>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⑫</a:t>
              </a:r>
              <a:endParaRPr lang="en-US" sz="1600" dirty="0"/>
            </a:p>
          </p:txBody>
        </p:sp>
        <p:sp>
          <p:nvSpPr>
            <p:cNvPr id="66" name="Text 64"/>
            <p:cNvSpPr/>
            <p:nvPr/>
          </p:nvSpPr>
          <p:spPr>
            <a:xfrm>
              <a:off x="20211" y="8952"/>
              <a:ext cx="25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兼容性知识库查询</a:t>
              </a:r>
              <a:endParaRPr lang="en-US" sz="1600" dirty="0"/>
            </a:p>
          </p:txBody>
        </p:sp>
        <p:sp>
          <p:nvSpPr>
            <p:cNvPr id="67" name="Text 65"/>
            <p:cNvSpPr/>
            <p:nvPr/>
          </p:nvSpPr>
          <p:spPr>
            <a:xfrm>
              <a:off x="19344" y="9718"/>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查询Requires-Python、已知版本冲突、主流稳定组合等兼容性信息</a:t>
              </a:r>
              <a:endParaRPr lang="en-US" sz="1600" dirty="0"/>
            </a:p>
          </p:txBody>
        </p:sp>
        <p:sp>
          <p:nvSpPr>
            <p:cNvPr id="68" name="Shape 66"/>
            <p:cNvSpPr/>
            <p:nvPr/>
          </p:nvSpPr>
          <p:spPr>
            <a:xfrm>
              <a:off x="683" y="11444"/>
              <a:ext cx="5833" cy="2850"/>
            </a:xfrm>
            <a:custGeom>
              <a:avLst/>
              <a:gdLst/>
              <a:ahLst/>
              <a:cxnLst/>
              <a:rect l="l" t="t" r="r" b="b"/>
              <a:pathLst>
                <a:path w="3704167" h="1809750">
                  <a:moveTo>
                    <a:pt x="127008" y="0"/>
                  </a:moveTo>
                  <a:lnTo>
                    <a:pt x="3577158" y="0"/>
                  </a:lnTo>
                  <a:cubicBezTo>
                    <a:pt x="3647303" y="0"/>
                    <a:pt x="3704167" y="56864"/>
                    <a:pt x="3704167" y="127008"/>
                  </a:cubicBezTo>
                  <a:lnTo>
                    <a:pt x="3704167" y="1682742"/>
                  </a:lnTo>
                  <a:cubicBezTo>
                    <a:pt x="3704167" y="1752886"/>
                    <a:pt x="3647303" y="1809750"/>
                    <a:pt x="3577158" y="1809750"/>
                  </a:cubicBezTo>
                  <a:lnTo>
                    <a:pt x="127008" y="1809750"/>
                  </a:lnTo>
                  <a:cubicBezTo>
                    <a:pt x="56864" y="1809750"/>
                    <a:pt x="0" y="1752886"/>
                    <a:pt x="0" y="1682742"/>
                  </a:cubicBezTo>
                  <a:lnTo>
                    <a:pt x="0" y="127008"/>
                  </a:lnTo>
                  <a:cubicBezTo>
                    <a:pt x="0" y="56864"/>
                    <a:pt x="56864" y="0"/>
                    <a:pt x="127008" y="0"/>
                  </a:cubicBezTo>
                  <a:close/>
                </a:path>
              </a:pathLst>
            </a:custGeom>
            <a:gradFill flip="none" rotWithShape="1">
              <a:gsLst>
                <a:gs pos="0">
                  <a:srgbClr val="3D8F8A">
                    <a:alpha val="20000"/>
                  </a:srgbClr>
                </a:gs>
                <a:gs pos="100000">
                  <a:srgbClr val="E5A044">
                    <a:alpha val="10000"/>
                  </a:srgbClr>
                </a:gs>
              </a:gsLst>
              <a:lin ang="2700000" scaled="1"/>
            </a:gradFill>
            <a:ln w="25400">
              <a:solidFill>
                <a:srgbClr val="3D8F8A">
                  <a:alpha val="50196"/>
                </a:srgbClr>
              </a:solidFill>
              <a:prstDash val="solid"/>
            </a:ln>
          </p:spPr>
        </p:sp>
        <p:sp>
          <p:nvSpPr>
            <p:cNvPr id="69" name="Shape 67"/>
            <p:cNvSpPr/>
            <p:nvPr/>
          </p:nvSpPr>
          <p:spPr>
            <a:xfrm>
              <a:off x="967" y="12003"/>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E5A044"/>
            </a:solidFill>
          </p:spPr>
        </p:sp>
        <p:sp>
          <p:nvSpPr>
            <p:cNvPr id="70" name="Shape 68"/>
            <p:cNvSpPr/>
            <p:nvPr/>
          </p:nvSpPr>
          <p:spPr>
            <a:xfrm>
              <a:off x="1135" y="12187"/>
              <a:ext cx="338" cy="3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FFFFFF"/>
            </a:solidFill>
          </p:spPr>
        </p:sp>
        <p:sp>
          <p:nvSpPr>
            <p:cNvPr id="71" name="Text 69"/>
            <p:cNvSpPr/>
            <p:nvPr/>
          </p:nvSpPr>
          <p:spPr>
            <a:xfrm>
              <a:off x="1833" y="12103"/>
              <a:ext cx="280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⑬ LLM推理补全 ⭐</a:t>
              </a:r>
              <a:endParaRPr lang="en-US" sz="1600" dirty="0"/>
            </a:p>
          </p:txBody>
        </p:sp>
        <p:sp>
          <p:nvSpPr>
            <p:cNvPr id="72" name="Text 70"/>
            <p:cNvSpPr/>
            <p:nvPr/>
          </p:nvSpPr>
          <p:spPr>
            <a:xfrm>
              <a:off x="967" y="12870"/>
              <a:ext cx="5400" cy="867"/>
            </a:xfrm>
            <a:prstGeom prst="rect">
              <a:avLst/>
            </a:prstGeom>
            <a:noFill/>
          </p:spPr>
          <p:txBody>
            <a:bodyPr wrap="square" lIns="0" tIns="0" rIns="0" bIns="0" rtlCol="0" anchor="ctr"/>
            <a:lstStyle/>
            <a:p>
              <a:pPr>
                <a:lnSpc>
                  <a:spcPct val="140000"/>
                </a:lnSpc>
              </a:pPr>
              <a:r>
                <a:rPr lang="en-US" sz="1335" b="1" dirty="0">
                  <a:solidFill>
                    <a:srgbClr val="E5A044"/>
                  </a:solidFill>
                  <a:latin typeface="MiSans" pitchFamily="34" charset="-122"/>
                  <a:ea typeface="MiSans" pitchFamily="34" charset="-122"/>
                  <a:cs typeface="MiSans" pitchFamily="34" charset="-120"/>
                </a:rPr>
                <a:t>核心创新</a:t>
              </a:r>
              <a:r>
                <a:rPr lang="en-US" sz="1335" dirty="0">
                  <a:solidFill>
                    <a:srgbClr val="E0E2E6">
                      <a:alpha val="80000"/>
                    </a:srgbClr>
                  </a:solidFill>
                  <a:latin typeface="MiSans" pitchFamily="34" charset="-122"/>
                  <a:ea typeface="MiSans" pitchFamily="34" charset="-122"/>
                  <a:cs typeface="MiSans" pitchFamily="34" charset="-120"/>
                </a:rPr>
                <a:t>: 缺失依赖补全,合理版本区间建议,给出解释</a:t>
              </a:r>
              <a:endParaRPr lang="en-US" sz="1600" dirty="0"/>
            </a:p>
          </p:txBody>
        </p:sp>
        <p:sp>
          <p:nvSpPr>
            <p:cNvPr id="73" name="Shape 71"/>
            <p:cNvSpPr/>
            <p:nvPr/>
          </p:nvSpPr>
          <p:spPr>
            <a:xfrm>
              <a:off x="6806" y="11433"/>
              <a:ext cx="5861" cy="2878"/>
            </a:xfrm>
            <a:custGeom>
              <a:avLst/>
              <a:gdLst/>
              <a:ahLst/>
              <a:cxnLst/>
              <a:rect l="l" t="t" r="r" b="b"/>
              <a:pathLst>
                <a:path w="3721806" h="1827389">
                  <a:moveTo>
                    <a:pt x="127004" y="0"/>
                  </a:moveTo>
                  <a:lnTo>
                    <a:pt x="3594802" y="0"/>
                  </a:lnTo>
                  <a:cubicBezTo>
                    <a:pt x="3664944" y="0"/>
                    <a:pt x="3721806" y="56861"/>
                    <a:pt x="3721806" y="127004"/>
                  </a:cubicBezTo>
                  <a:lnTo>
                    <a:pt x="3721806" y="1700385"/>
                  </a:lnTo>
                  <a:cubicBezTo>
                    <a:pt x="3721806" y="1770527"/>
                    <a:pt x="3664944" y="1827389"/>
                    <a:pt x="3594802" y="1827389"/>
                  </a:cubicBezTo>
                  <a:lnTo>
                    <a:pt x="127004" y="1827389"/>
                  </a:lnTo>
                  <a:cubicBezTo>
                    <a:pt x="56861" y="1827389"/>
                    <a:pt x="0" y="1770527"/>
                    <a:pt x="0" y="1700385"/>
                  </a:cubicBezTo>
                  <a:lnTo>
                    <a:pt x="0" y="127004"/>
                  </a:lnTo>
                  <a:cubicBezTo>
                    <a:pt x="0" y="56908"/>
                    <a:pt x="56908" y="0"/>
                    <a:pt x="127004" y="0"/>
                  </a:cubicBezTo>
                  <a:close/>
                </a:path>
              </a:pathLst>
            </a:custGeom>
            <a:gradFill flip="none" rotWithShape="1">
              <a:gsLst>
                <a:gs pos="0">
                  <a:srgbClr val="E5A044">
                    <a:alpha val="15000"/>
                  </a:srgbClr>
                </a:gs>
                <a:gs pos="100000">
                  <a:srgbClr val="000000">
                    <a:alpha val="0"/>
                  </a:srgbClr>
                </a:gs>
              </a:gsLst>
              <a:lin ang="2700000" scaled="1"/>
            </a:gradFill>
            <a:ln w="8467">
              <a:solidFill>
                <a:srgbClr val="E5A044">
                  <a:alpha val="30196"/>
                </a:srgbClr>
              </a:solidFill>
              <a:prstDash val="solid"/>
            </a:ln>
          </p:spPr>
        </p:sp>
        <p:sp>
          <p:nvSpPr>
            <p:cNvPr id="74" name="Shape 72"/>
            <p:cNvSpPr/>
            <p:nvPr/>
          </p:nvSpPr>
          <p:spPr>
            <a:xfrm>
              <a:off x="7078" y="12003"/>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E5A044"/>
            </a:solidFill>
          </p:spPr>
        </p:sp>
        <p:sp>
          <p:nvSpPr>
            <p:cNvPr id="75" name="Text 73"/>
            <p:cNvSpPr/>
            <p:nvPr/>
          </p:nvSpPr>
          <p:spPr>
            <a:xfrm>
              <a:off x="7011" y="12003"/>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⑭</a:t>
              </a:r>
              <a:endParaRPr lang="en-US" sz="1600" dirty="0"/>
            </a:p>
          </p:txBody>
        </p:sp>
        <p:sp>
          <p:nvSpPr>
            <p:cNvPr id="76" name="Text 74"/>
            <p:cNvSpPr/>
            <p:nvPr/>
          </p:nvSpPr>
          <p:spPr>
            <a:xfrm>
              <a:off x="7944" y="12103"/>
              <a:ext cx="195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规则引擎裁决</a:t>
              </a:r>
              <a:endParaRPr lang="en-US" sz="1600" dirty="0"/>
            </a:p>
          </p:txBody>
        </p:sp>
        <p:sp>
          <p:nvSpPr>
            <p:cNvPr id="77" name="Text 75"/>
            <p:cNvSpPr/>
            <p:nvPr/>
          </p:nvSpPr>
          <p:spPr>
            <a:xfrm>
              <a:off x="7078" y="12870"/>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LLM建议不等于直接采纳,规则引擎综合裁决确保结果可靠性</a:t>
              </a:r>
              <a:endParaRPr lang="en-US" sz="1600" dirty="0"/>
            </a:p>
          </p:txBody>
        </p:sp>
        <p:sp>
          <p:nvSpPr>
            <p:cNvPr id="78" name="Shape 76"/>
            <p:cNvSpPr/>
            <p:nvPr/>
          </p:nvSpPr>
          <p:spPr>
            <a:xfrm>
              <a:off x="12939" y="11433"/>
              <a:ext cx="5861" cy="2878"/>
            </a:xfrm>
            <a:custGeom>
              <a:avLst/>
              <a:gdLst/>
              <a:ahLst/>
              <a:cxnLst/>
              <a:rect l="l" t="t" r="r" b="b"/>
              <a:pathLst>
                <a:path w="3721806" h="1827389">
                  <a:moveTo>
                    <a:pt x="127004" y="0"/>
                  </a:moveTo>
                  <a:lnTo>
                    <a:pt x="3594802" y="0"/>
                  </a:lnTo>
                  <a:cubicBezTo>
                    <a:pt x="3664944" y="0"/>
                    <a:pt x="3721806" y="56861"/>
                    <a:pt x="3721806" y="127004"/>
                  </a:cubicBezTo>
                  <a:lnTo>
                    <a:pt x="3721806" y="1700385"/>
                  </a:lnTo>
                  <a:cubicBezTo>
                    <a:pt x="3721806" y="1770527"/>
                    <a:pt x="3664944" y="1827389"/>
                    <a:pt x="3594802" y="1827389"/>
                  </a:cubicBezTo>
                  <a:lnTo>
                    <a:pt x="127004" y="1827389"/>
                  </a:lnTo>
                  <a:cubicBezTo>
                    <a:pt x="56861" y="1827389"/>
                    <a:pt x="0" y="1770527"/>
                    <a:pt x="0" y="1700385"/>
                  </a:cubicBezTo>
                  <a:lnTo>
                    <a:pt x="0" y="127004"/>
                  </a:lnTo>
                  <a:cubicBezTo>
                    <a:pt x="0" y="56908"/>
                    <a:pt x="56908" y="0"/>
                    <a:pt x="127004" y="0"/>
                  </a:cubicBezTo>
                  <a:close/>
                </a:path>
              </a:pathLst>
            </a:custGeom>
            <a:gradFill flip="none" rotWithShape="1">
              <a:gsLst>
                <a:gs pos="0">
                  <a:srgbClr val="3D8F8A">
                    <a:alpha val="15000"/>
                  </a:srgbClr>
                </a:gs>
                <a:gs pos="100000">
                  <a:srgbClr val="000000">
                    <a:alpha val="0"/>
                  </a:srgbClr>
                </a:gs>
              </a:gsLst>
              <a:lin ang="2700000" scaled="1"/>
            </a:gradFill>
            <a:ln w="8467">
              <a:solidFill>
                <a:srgbClr val="3D8F8A">
                  <a:alpha val="30196"/>
                </a:srgbClr>
              </a:solidFill>
              <a:prstDash val="solid"/>
            </a:ln>
          </p:spPr>
        </p:sp>
        <p:sp>
          <p:nvSpPr>
            <p:cNvPr id="79" name="Shape 77"/>
            <p:cNvSpPr/>
            <p:nvPr/>
          </p:nvSpPr>
          <p:spPr>
            <a:xfrm>
              <a:off x="13211" y="12003"/>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3D8F8A"/>
            </a:solidFill>
          </p:spPr>
        </p:sp>
        <p:sp>
          <p:nvSpPr>
            <p:cNvPr id="80" name="Text 78"/>
            <p:cNvSpPr/>
            <p:nvPr/>
          </p:nvSpPr>
          <p:spPr>
            <a:xfrm>
              <a:off x="13144" y="12003"/>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⑮</a:t>
              </a:r>
              <a:endParaRPr lang="en-US" sz="1600" dirty="0"/>
            </a:p>
          </p:txBody>
        </p:sp>
        <p:sp>
          <p:nvSpPr>
            <p:cNvPr id="81" name="Text 79"/>
            <p:cNvSpPr/>
            <p:nvPr/>
          </p:nvSpPr>
          <p:spPr>
            <a:xfrm>
              <a:off x="14078" y="12103"/>
              <a:ext cx="320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生成requirements.txt</a:t>
              </a:r>
              <a:endParaRPr lang="en-US" sz="1600" dirty="0"/>
            </a:p>
          </p:txBody>
        </p:sp>
        <p:sp>
          <p:nvSpPr>
            <p:cNvPr id="82" name="Text 80"/>
            <p:cNvSpPr/>
            <p:nvPr/>
          </p:nvSpPr>
          <p:spPr>
            <a:xfrm>
              <a:off x="13211" y="12870"/>
              <a:ext cx="5450"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生成标准化的requirements.txt或requirements.lock文件</a:t>
              </a:r>
              <a:endParaRPr lang="en-US" sz="1600" dirty="0"/>
            </a:p>
          </p:txBody>
        </p:sp>
        <p:sp>
          <p:nvSpPr>
            <p:cNvPr id="83" name="Shape 81"/>
            <p:cNvSpPr/>
            <p:nvPr/>
          </p:nvSpPr>
          <p:spPr>
            <a:xfrm>
              <a:off x="19072" y="11433"/>
              <a:ext cx="5861" cy="2878"/>
            </a:xfrm>
            <a:custGeom>
              <a:avLst/>
              <a:gdLst/>
              <a:ahLst/>
              <a:cxnLst/>
              <a:rect l="l" t="t" r="r" b="b"/>
              <a:pathLst>
                <a:path w="3721806" h="1827389">
                  <a:moveTo>
                    <a:pt x="127004" y="0"/>
                  </a:moveTo>
                  <a:lnTo>
                    <a:pt x="3594802" y="0"/>
                  </a:lnTo>
                  <a:cubicBezTo>
                    <a:pt x="3664944" y="0"/>
                    <a:pt x="3721806" y="56861"/>
                    <a:pt x="3721806" y="127004"/>
                  </a:cubicBezTo>
                  <a:lnTo>
                    <a:pt x="3721806" y="1700385"/>
                  </a:lnTo>
                  <a:cubicBezTo>
                    <a:pt x="3721806" y="1770527"/>
                    <a:pt x="3664944" y="1827389"/>
                    <a:pt x="3594802" y="1827389"/>
                  </a:cubicBezTo>
                  <a:lnTo>
                    <a:pt x="127004" y="1827389"/>
                  </a:lnTo>
                  <a:cubicBezTo>
                    <a:pt x="56861" y="1827389"/>
                    <a:pt x="0" y="1770527"/>
                    <a:pt x="0" y="1700385"/>
                  </a:cubicBezTo>
                  <a:lnTo>
                    <a:pt x="0" y="127004"/>
                  </a:lnTo>
                  <a:cubicBezTo>
                    <a:pt x="0" y="56908"/>
                    <a:pt x="56908" y="0"/>
                    <a:pt x="127004" y="0"/>
                  </a:cubicBezTo>
                  <a:close/>
                </a:path>
              </a:pathLst>
            </a:custGeom>
            <a:gradFill flip="none" rotWithShape="1">
              <a:gsLst>
                <a:gs pos="0">
                  <a:srgbClr val="5A6472">
                    <a:alpha val="15000"/>
                  </a:srgbClr>
                </a:gs>
                <a:gs pos="100000">
                  <a:srgbClr val="000000">
                    <a:alpha val="0"/>
                  </a:srgbClr>
                </a:gs>
              </a:gsLst>
              <a:lin ang="2700000" scaled="1"/>
            </a:gradFill>
            <a:ln w="8467">
              <a:solidFill>
                <a:srgbClr val="5A6472">
                  <a:alpha val="30196"/>
                </a:srgbClr>
              </a:solidFill>
              <a:prstDash val="solid"/>
            </a:ln>
          </p:spPr>
        </p:sp>
        <p:sp>
          <p:nvSpPr>
            <p:cNvPr id="84" name="Shape 82"/>
            <p:cNvSpPr/>
            <p:nvPr/>
          </p:nvSpPr>
          <p:spPr>
            <a:xfrm>
              <a:off x="19344" y="12003"/>
              <a:ext cx="667" cy="667"/>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5A6472"/>
            </a:solidFill>
          </p:spPr>
        </p:sp>
        <p:sp>
          <p:nvSpPr>
            <p:cNvPr id="85" name="Text 83"/>
            <p:cNvSpPr/>
            <p:nvPr/>
          </p:nvSpPr>
          <p:spPr>
            <a:xfrm>
              <a:off x="19278" y="12003"/>
              <a:ext cx="800" cy="667"/>
            </a:xfrm>
            <a:prstGeom prst="rect">
              <a:avLst/>
            </a:prstGeom>
            <a:noFill/>
          </p:spPr>
          <p:txBody>
            <a:bodyPr wrap="square" lIns="0" tIns="0" rIns="0" bIns="0" rtlCol="0" anchor="ctr"/>
            <a:lstStyle/>
            <a:p>
              <a:pPr algn="ctr">
                <a:lnSpc>
                  <a:spcPct val="130000"/>
                </a:lnSpc>
              </a:pPr>
              <a:r>
                <a:rPr lang="en-US" sz="1335" b="1" dirty="0">
                  <a:solidFill>
                    <a:srgbClr val="FFFFFF"/>
                  </a:solidFill>
                  <a:latin typeface="MiSans" pitchFamily="34" charset="-122"/>
                  <a:ea typeface="MiSans" pitchFamily="34" charset="-122"/>
                  <a:cs typeface="MiSans" pitchFamily="34" charset="-120"/>
                </a:rPr>
                <a:t>⑯</a:t>
              </a:r>
              <a:endParaRPr lang="en-US" sz="1600" dirty="0"/>
            </a:p>
          </p:txBody>
        </p:sp>
        <p:sp>
          <p:nvSpPr>
            <p:cNvPr id="86" name="Text 84"/>
            <p:cNvSpPr/>
            <p:nvPr/>
          </p:nvSpPr>
          <p:spPr>
            <a:xfrm>
              <a:off x="20211" y="12103"/>
              <a:ext cx="3100" cy="467"/>
            </a:xfrm>
            <a:prstGeom prst="rect">
              <a:avLst/>
            </a:prstGeom>
            <a:noFill/>
          </p:spPr>
          <p:txBody>
            <a:bodyPr wrap="square" lIns="0" tIns="0" rIns="0" bIns="0" rtlCol="0" anchor="ctr"/>
            <a:lstStyle/>
            <a:p>
              <a:pPr>
                <a:lnSpc>
                  <a:spcPct val="130000"/>
                </a:lnSpc>
              </a:pPr>
              <a:r>
                <a:rPr lang="en-US" sz="1500" b="1" dirty="0">
                  <a:solidFill>
                    <a:srgbClr val="E0E2E6"/>
                  </a:solidFill>
                  <a:latin typeface="阿里妈妈数黑体" pitchFamily="34" charset="-122"/>
                  <a:ea typeface="阿里妈妈数黑体" pitchFamily="34" charset="-122"/>
                  <a:cs typeface="阿里妈妈数黑体" pitchFamily="34" charset="-120"/>
                </a:rPr>
                <a:t>(</a:t>
              </a:r>
              <a:r>
                <a:rPr lang="zh-CN" altLang="en-US" sz="1500" b="1" dirty="0">
                  <a:solidFill>
                    <a:srgbClr val="E0E2E6"/>
                  </a:solidFill>
                  <a:latin typeface="阿里妈妈数黑体" pitchFamily="34" charset="-122"/>
                  <a:ea typeface="阿里妈妈数黑体" pitchFamily="34" charset="-122"/>
                  <a:cs typeface="阿里妈妈数黑体" pitchFamily="34" charset="-120"/>
                </a:rPr>
                <a:t>拓展</a:t>
              </a:r>
              <a:r>
                <a:rPr lang="en-US" sz="1500" b="1" dirty="0">
                  <a:solidFill>
                    <a:srgbClr val="E0E2E6"/>
                  </a:solidFill>
                  <a:latin typeface="阿里妈妈数黑体" pitchFamily="34" charset="-122"/>
                  <a:ea typeface="阿里妈妈数黑体" pitchFamily="34" charset="-122"/>
                  <a:cs typeface="阿里妈妈数黑体" pitchFamily="34" charset="-120"/>
                </a:rPr>
                <a:t>)Dockerfile生成</a:t>
              </a:r>
              <a:endParaRPr lang="en-US" sz="1600" dirty="0"/>
            </a:p>
          </p:txBody>
        </p:sp>
        <p:sp>
          <p:nvSpPr>
            <p:cNvPr id="87" name="Text 85"/>
            <p:cNvSpPr/>
            <p:nvPr/>
          </p:nvSpPr>
          <p:spPr>
            <a:xfrm>
              <a:off x="19344" y="12870"/>
              <a:ext cx="5450" cy="867"/>
            </a:xfrm>
            <a:prstGeom prst="rect">
              <a:avLst/>
            </a:prstGeom>
            <a:noFill/>
          </p:spPr>
          <p:txBody>
            <a:bodyPr wrap="square" lIns="0" tIns="0" rIns="0" bIns="0" rtlCol="0" anchor="ctr"/>
            <a:lstStyle/>
            <a:p>
              <a:pPr>
                <a:lnSpc>
                  <a:spcPct val="140000"/>
                </a:lnSpc>
              </a:pPr>
              <a:r>
                <a:rPr lang="zh-CN" altLang="en-US" sz="1335" dirty="0">
                  <a:solidFill>
                    <a:srgbClr val="E0E2E6">
                      <a:alpha val="80000"/>
                    </a:srgbClr>
                  </a:solidFill>
                  <a:latin typeface="黑体" panose="02010609060101010101" charset="-122"/>
                  <a:ea typeface="黑体" panose="02010609060101010101" charset="-122"/>
                  <a:cs typeface="黑体" panose="02010609060101010101" charset="-122"/>
                </a:rPr>
                <a:t>拓展</a:t>
              </a:r>
              <a:r>
                <a:rPr lang="en-US" sz="1335" dirty="0">
                  <a:solidFill>
                    <a:srgbClr val="E0E2E6">
                      <a:alpha val="80000"/>
                    </a:srgbClr>
                  </a:solidFill>
                  <a:latin typeface="黑体" panose="02010609060101010101" charset="-122"/>
                  <a:ea typeface="黑体" panose="02010609060101010101" charset="-122"/>
                  <a:cs typeface="黑体" panose="02010609060101010101" charset="-122"/>
                </a:rPr>
                <a:t>步骤:结合主流基础镜像,自动构建可复现的Dockerfile</a:t>
              </a:r>
              <a:endParaRPr lang="en-US" sz="1600" dirty="0">
                <a:latin typeface="黑体" panose="02010609060101010101" charset="-122"/>
                <a:ea typeface="黑体" panose="02010609060101010101" charset="-122"/>
                <a:cs typeface="黑体" panose="02010609060101010101" charset="-122"/>
              </a:endParaRPr>
            </a:p>
          </p:txBody>
        </p:sp>
      </p:gr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529167"/>
            <a:ext cx="677333" cy="42333"/>
          </a:xfrm>
          <a:custGeom>
            <a:avLst/>
            <a:gdLst/>
            <a:ahLst/>
            <a:cxnLst/>
            <a:rect l="l" t="t" r="r" b="b"/>
            <a:pathLst>
              <a:path w="677333" h="42333">
                <a:moveTo>
                  <a:pt x="0" y="0"/>
                </a:moveTo>
                <a:lnTo>
                  <a:pt x="677333" y="0"/>
                </a:lnTo>
                <a:lnTo>
                  <a:pt x="677333" y="42333"/>
                </a:lnTo>
                <a:lnTo>
                  <a:pt x="0" y="42333"/>
                </a:lnTo>
                <a:lnTo>
                  <a:pt x="0" y="0"/>
                </a:lnTo>
                <a:close/>
              </a:path>
            </a:pathLst>
          </a:custGeom>
          <a:solidFill>
            <a:srgbClr val="3D8F8A"/>
          </a:solidFill>
        </p:spPr>
      </p:sp>
      <p:sp>
        <p:nvSpPr>
          <p:cNvPr id="3" name="Text 1"/>
          <p:cNvSpPr/>
          <p:nvPr/>
        </p:nvSpPr>
        <p:spPr>
          <a:xfrm>
            <a:off x="1270000" y="423333"/>
            <a:ext cx="2169583" cy="254000"/>
          </a:xfrm>
          <a:prstGeom prst="rect">
            <a:avLst/>
          </a:prstGeom>
          <a:noFill/>
        </p:spPr>
        <p:txBody>
          <a:bodyPr wrap="square" lIns="0" tIns="0" rIns="0" bIns="0" rtlCol="0" anchor="ctr"/>
          <a:lstStyle/>
          <a:p>
            <a:pPr>
              <a:lnSpc>
                <a:spcPct val="130000"/>
              </a:lnSpc>
            </a:pPr>
            <a:r>
              <a:rPr lang="en-US" sz="1335" b="1" kern="0" spc="67" dirty="0">
                <a:solidFill>
                  <a:srgbClr val="3D8F8A"/>
                </a:solidFill>
                <a:latin typeface="MiSans" pitchFamily="34" charset="-122"/>
                <a:ea typeface="MiSans" pitchFamily="34" charset="-122"/>
                <a:cs typeface="MiSans" pitchFamily="34" charset="-120"/>
              </a:rPr>
              <a:t>DATA &amp; COMPATIBILITY</a:t>
            </a:r>
            <a:endParaRPr lang="en-US" sz="1600" dirty="0"/>
          </a:p>
        </p:txBody>
      </p:sp>
      <p:sp>
        <p:nvSpPr>
          <p:cNvPr id="4" name="Text 2"/>
          <p:cNvSpPr/>
          <p:nvPr/>
        </p:nvSpPr>
        <p:spPr>
          <a:xfrm>
            <a:off x="423333" y="804333"/>
            <a:ext cx="15663333" cy="508000"/>
          </a:xfrm>
          <a:prstGeom prst="rect">
            <a:avLst/>
          </a:prstGeom>
          <a:noFill/>
        </p:spPr>
        <p:txBody>
          <a:bodyPr wrap="square" lIns="0" tIns="0" rIns="0" bIns="0" rtlCol="0" anchor="ctr"/>
          <a:lstStyle/>
          <a:p>
            <a:pPr>
              <a:lnSpc>
                <a:spcPct val="80000"/>
              </a:lnSpc>
            </a:pPr>
            <a:r>
              <a:rPr lang="en-US" sz="4000" b="1" dirty="0">
                <a:solidFill>
                  <a:srgbClr val="E0E2E6"/>
                </a:solidFill>
                <a:latin typeface="阿里妈妈数黑体" pitchFamily="34" charset="-122"/>
                <a:ea typeface="阿里妈妈数黑体" pitchFamily="34" charset="-122"/>
                <a:cs typeface="阿里妈妈数黑体" pitchFamily="34" charset="-120"/>
              </a:rPr>
              <a:t>数据获取与兼容性策略</a:t>
            </a:r>
            <a:endParaRPr lang="en-US" sz="1600" dirty="0"/>
          </a:p>
        </p:txBody>
      </p:sp>
      <p:grpSp>
        <p:nvGrpSpPr>
          <p:cNvPr id="69" name="组合 68"/>
          <p:cNvGrpSpPr>
            <a:grpSpLocks noChangeAspect="1"/>
          </p:cNvGrpSpPr>
          <p:nvPr/>
        </p:nvGrpSpPr>
        <p:grpSpPr>
          <a:xfrm>
            <a:off x="423722" y="1358900"/>
            <a:ext cx="7602465" cy="3960353"/>
            <a:chOff x="667" y="2140"/>
            <a:chExt cx="14333" cy="7467"/>
          </a:xfrm>
        </p:grpSpPr>
        <p:sp>
          <p:nvSpPr>
            <p:cNvPr id="8" name="Shape 6"/>
            <p:cNvSpPr/>
            <p:nvPr/>
          </p:nvSpPr>
          <p:spPr>
            <a:xfrm>
              <a:off x="667" y="2140"/>
              <a:ext cx="14333" cy="7467"/>
            </a:xfrm>
            <a:custGeom>
              <a:avLst/>
              <a:gdLst/>
              <a:ahLst/>
              <a:cxnLst/>
              <a:rect l="l" t="t" r="r" b="b"/>
              <a:pathLst>
                <a:path w="9101667" h="4741333">
                  <a:moveTo>
                    <a:pt x="127020" y="0"/>
                  </a:moveTo>
                  <a:lnTo>
                    <a:pt x="8974646" y="0"/>
                  </a:lnTo>
                  <a:cubicBezTo>
                    <a:pt x="9044798" y="0"/>
                    <a:pt x="9101667" y="56869"/>
                    <a:pt x="9101667" y="127020"/>
                  </a:cubicBezTo>
                  <a:lnTo>
                    <a:pt x="9101667" y="4614313"/>
                  </a:lnTo>
                  <a:cubicBezTo>
                    <a:pt x="9101667" y="4684464"/>
                    <a:pt x="9044798" y="4741333"/>
                    <a:pt x="8974646" y="4741333"/>
                  </a:cubicBezTo>
                  <a:lnTo>
                    <a:pt x="127020" y="4741333"/>
                  </a:lnTo>
                  <a:cubicBezTo>
                    <a:pt x="56869" y="4741333"/>
                    <a:pt x="0" y="4684464"/>
                    <a:pt x="0" y="4614313"/>
                  </a:cubicBezTo>
                  <a:lnTo>
                    <a:pt x="0" y="127020"/>
                  </a:lnTo>
                  <a:cubicBezTo>
                    <a:pt x="0" y="56916"/>
                    <a:pt x="56916" y="0"/>
                    <a:pt x="127020" y="0"/>
                  </a:cubicBezTo>
                  <a:close/>
                </a:path>
              </a:pathLst>
            </a:custGeom>
            <a:gradFill flip="none" rotWithShape="1">
              <a:gsLst>
                <a:gs pos="0">
                  <a:srgbClr val="3D8F8A">
                    <a:alpha val="15000"/>
                  </a:srgbClr>
                </a:gs>
                <a:gs pos="100000">
                  <a:srgbClr val="000000">
                    <a:alpha val="0"/>
                  </a:srgbClr>
                </a:gs>
              </a:gsLst>
              <a:lin ang="2700000" scaled="1"/>
            </a:gradFill>
            <a:ln w="25400">
              <a:solidFill>
                <a:srgbClr val="3D8F8A">
                  <a:alpha val="40000"/>
                </a:srgbClr>
              </a:solidFill>
              <a:prstDash val="solid"/>
            </a:ln>
          </p:spPr>
        </p:sp>
        <p:sp>
          <p:nvSpPr>
            <p:cNvPr id="9" name="Shape 7"/>
            <p:cNvSpPr/>
            <p:nvPr/>
          </p:nvSpPr>
          <p:spPr>
            <a:xfrm>
              <a:off x="1084" y="2557"/>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3D8F8A"/>
            </a:solidFill>
          </p:spPr>
        </p:sp>
        <p:sp>
          <p:nvSpPr>
            <p:cNvPr id="10" name="Shape 8"/>
            <p:cNvSpPr/>
            <p:nvPr/>
          </p:nvSpPr>
          <p:spPr>
            <a:xfrm>
              <a:off x="1376" y="2823"/>
              <a:ext cx="350" cy="400"/>
            </a:xfrm>
            <a:custGeom>
              <a:avLst/>
              <a:gdLst/>
              <a:ahLst/>
              <a:cxnLst/>
              <a:rect l="l" t="t" r="r" b="b"/>
              <a:pathLst>
                <a:path w="222250" h="254000">
                  <a:moveTo>
                    <a:pt x="222250" y="102096"/>
                  </a:moveTo>
                  <a:cubicBezTo>
                    <a:pt x="214908" y="106958"/>
                    <a:pt x="206474" y="110877"/>
                    <a:pt x="197693" y="114002"/>
                  </a:cubicBezTo>
                  <a:cubicBezTo>
                    <a:pt x="174377" y="122337"/>
                    <a:pt x="143768" y="127000"/>
                    <a:pt x="111125" y="127000"/>
                  </a:cubicBezTo>
                  <a:cubicBezTo>
                    <a:pt x="78482" y="127000"/>
                    <a:pt x="47823" y="122287"/>
                    <a:pt x="24557" y="114002"/>
                  </a:cubicBezTo>
                  <a:cubicBezTo>
                    <a:pt x="15825" y="110877"/>
                    <a:pt x="7342" y="106958"/>
                    <a:pt x="0" y="102096"/>
                  </a:cubicBezTo>
                  <a:lnTo>
                    <a:pt x="0" y="142875"/>
                  </a:lnTo>
                  <a:cubicBezTo>
                    <a:pt x="0" y="164802"/>
                    <a:pt x="49758" y="182563"/>
                    <a:pt x="111125" y="182563"/>
                  </a:cubicBezTo>
                  <a:cubicBezTo>
                    <a:pt x="172492" y="182563"/>
                    <a:pt x="222250" y="164802"/>
                    <a:pt x="222250" y="142875"/>
                  </a:cubicBezTo>
                  <a:lnTo>
                    <a:pt x="222250" y="102096"/>
                  </a:lnTo>
                  <a:close/>
                  <a:moveTo>
                    <a:pt x="222250" y="63500"/>
                  </a:moveTo>
                  <a:lnTo>
                    <a:pt x="222250" y="39688"/>
                  </a:lnTo>
                  <a:cubicBezTo>
                    <a:pt x="222250" y="17760"/>
                    <a:pt x="172492" y="0"/>
                    <a:pt x="111125" y="0"/>
                  </a:cubicBezTo>
                  <a:cubicBezTo>
                    <a:pt x="49758" y="0"/>
                    <a:pt x="0" y="17760"/>
                    <a:pt x="0" y="39688"/>
                  </a:cubicBezTo>
                  <a:lnTo>
                    <a:pt x="0" y="63500"/>
                  </a:lnTo>
                  <a:cubicBezTo>
                    <a:pt x="0" y="85427"/>
                    <a:pt x="49758" y="103188"/>
                    <a:pt x="111125" y="103188"/>
                  </a:cubicBezTo>
                  <a:cubicBezTo>
                    <a:pt x="172492" y="103188"/>
                    <a:pt x="222250" y="85427"/>
                    <a:pt x="222250" y="63500"/>
                  </a:cubicBezTo>
                  <a:close/>
                  <a:moveTo>
                    <a:pt x="197693" y="193377"/>
                  </a:moveTo>
                  <a:cubicBezTo>
                    <a:pt x="174427" y="201662"/>
                    <a:pt x="143818" y="206375"/>
                    <a:pt x="111125" y="206375"/>
                  </a:cubicBezTo>
                  <a:cubicBezTo>
                    <a:pt x="78432" y="206375"/>
                    <a:pt x="47823" y="201662"/>
                    <a:pt x="24557" y="193377"/>
                  </a:cubicBezTo>
                  <a:cubicBezTo>
                    <a:pt x="15825" y="190252"/>
                    <a:pt x="7342" y="186333"/>
                    <a:pt x="0" y="181471"/>
                  </a:cubicBezTo>
                  <a:lnTo>
                    <a:pt x="0" y="214313"/>
                  </a:lnTo>
                  <a:cubicBezTo>
                    <a:pt x="0" y="236240"/>
                    <a:pt x="49758" y="254000"/>
                    <a:pt x="111125" y="254000"/>
                  </a:cubicBezTo>
                  <a:cubicBezTo>
                    <a:pt x="172492" y="254000"/>
                    <a:pt x="222250" y="236240"/>
                    <a:pt x="222250" y="214313"/>
                  </a:cubicBezTo>
                  <a:lnTo>
                    <a:pt x="222250" y="181471"/>
                  </a:lnTo>
                  <a:cubicBezTo>
                    <a:pt x="214908" y="186333"/>
                    <a:pt x="206474" y="190252"/>
                    <a:pt x="197693" y="193377"/>
                  </a:cubicBezTo>
                  <a:close/>
                </a:path>
              </a:pathLst>
            </a:custGeom>
            <a:solidFill>
              <a:srgbClr val="FFFFFF"/>
            </a:solidFill>
          </p:spPr>
        </p:sp>
        <p:sp>
          <p:nvSpPr>
            <p:cNvPr id="11" name="Text 9"/>
            <p:cNvSpPr/>
            <p:nvPr/>
          </p:nvSpPr>
          <p:spPr>
            <a:xfrm>
              <a:off x="2284" y="2757"/>
              <a:ext cx="9155" cy="533"/>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数据来源一：PyPI元数据</a:t>
              </a:r>
              <a:endParaRPr lang="en-US" sz="1600" dirty="0"/>
            </a:p>
          </p:txBody>
        </p:sp>
        <p:sp>
          <p:nvSpPr>
            <p:cNvPr id="12" name="Shape 10"/>
            <p:cNvSpPr/>
            <p:nvPr/>
          </p:nvSpPr>
          <p:spPr>
            <a:xfrm>
              <a:off x="1126" y="3840"/>
              <a:ext cx="300" cy="3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8"/>
                    <a:pt x="95250" y="71438"/>
                  </a:cubicBezTo>
                  <a:cubicBezTo>
                    <a:pt x="88679" y="71438"/>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3" y="128997"/>
                    <a:pt x="119063" y="133945"/>
                  </a:cubicBezTo>
                  <a:cubicBezTo>
                    <a:pt x="119063" y="138894"/>
                    <a:pt x="115081" y="142875"/>
                    <a:pt x="110133" y="142875"/>
                  </a:cubicBezTo>
                  <a:lnTo>
                    <a:pt x="80367" y="142875"/>
                  </a:lnTo>
                  <a:cubicBezTo>
                    <a:pt x="75419" y="142875"/>
                    <a:pt x="71438" y="138894"/>
                    <a:pt x="71438" y="133945"/>
                  </a:cubicBezTo>
                  <a:cubicBezTo>
                    <a:pt x="71438" y="128997"/>
                    <a:pt x="75419" y="125016"/>
                    <a:pt x="80367" y="125016"/>
                  </a:cubicBezTo>
                  <a:lnTo>
                    <a:pt x="89297" y="125016"/>
                  </a:lnTo>
                  <a:lnTo>
                    <a:pt x="89297" y="101203"/>
                  </a:lnTo>
                  <a:lnTo>
                    <a:pt x="80367" y="101203"/>
                  </a:lnTo>
                  <a:cubicBezTo>
                    <a:pt x="75419" y="101203"/>
                    <a:pt x="71438" y="97222"/>
                    <a:pt x="71438" y="92273"/>
                  </a:cubicBezTo>
                  <a:cubicBezTo>
                    <a:pt x="71438" y="87325"/>
                    <a:pt x="75419" y="83344"/>
                    <a:pt x="80367" y="83344"/>
                  </a:cubicBezTo>
                  <a:close/>
                </a:path>
              </a:pathLst>
            </a:custGeom>
            <a:solidFill>
              <a:srgbClr val="3D8F8A"/>
            </a:solidFill>
          </p:spPr>
        </p:sp>
        <p:sp>
          <p:nvSpPr>
            <p:cNvPr id="13" name="Text 11"/>
            <p:cNvSpPr/>
            <p:nvPr/>
          </p:nvSpPr>
          <p:spPr>
            <a:xfrm>
              <a:off x="1467" y="3757"/>
              <a:ext cx="13267" cy="467"/>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数据内容</a:t>
              </a:r>
              <a:endParaRPr lang="en-US" sz="1600" dirty="0"/>
            </a:p>
          </p:txBody>
        </p:sp>
        <p:sp>
          <p:nvSpPr>
            <p:cNvPr id="14" name="Shape 12"/>
            <p:cNvSpPr/>
            <p:nvPr/>
          </p:nvSpPr>
          <p:spPr>
            <a:xfrm>
              <a:off x="1184" y="4423"/>
              <a:ext cx="133" cy="267"/>
            </a:xfrm>
            <a:custGeom>
              <a:avLst/>
              <a:gdLst/>
              <a:ahLst/>
              <a:cxnLst/>
              <a:rect l="l" t="t" r="r" b="b"/>
              <a:pathLst>
                <a:path w="84667" h="169333">
                  <a:moveTo>
                    <a:pt x="81723" y="77192"/>
                  </a:moveTo>
                  <a:cubicBezTo>
                    <a:pt x="85857" y="81326"/>
                    <a:pt x="85857" y="88040"/>
                    <a:pt x="81723" y="92174"/>
                  </a:cubicBezTo>
                  <a:lnTo>
                    <a:pt x="28807" y="145091"/>
                  </a:lnTo>
                  <a:cubicBezTo>
                    <a:pt x="24672" y="149225"/>
                    <a:pt x="17959" y="149225"/>
                    <a:pt x="13824" y="145091"/>
                  </a:cubicBezTo>
                  <a:cubicBezTo>
                    <a:pt x="9690" y="140957"/>
                    <a:pt x="9690" y="134243"/>
                    <a:pt x="13824" y="130109"/>
                  </a:cubicBezTo>
                  <a:lnTo>
                    <a:pt x="59267" y="84667"/>
                  </a:lnTo>
                  <a:lnTo>
                    <a:pt x="13858" y="39224"/>
                  </a:lnTo>
                  <a:cubicBezTo>
                    <a:pt x="9723" y="35090"/>
                    <a:pt x="9723" y="28377"/>
                    <a:pt x="13858" y="24242"/>
                  </a:cubicBezTo>
                  <a:cubicBezTo>
                    <a:pt x="17992" y="20108"/>
                    <a:pt x="24705" y="20108"/>
                    <a:pt x="28840" y="24242"/>
                  </a:cubicBezTo>
                  <a:lnTo>
                    <a:pt x="81756" y="77159"/>
                  </a:lnTo>
                  <a:close/>
                </a:path>
              </a:pathLst>
            </a:custGeom>
            <a:solidFill>
              <a:srgbClr val="3D8F8A"/>
            </a:solidFill>
          </p:spPr>
        </p:sp>
        <p:sp>
          <p:nvSpPr>
            <p:cNvPr id="15" name="Text 13"/>
            <p:cNvSpPr/>
            <p:nvPr/>
          </p:nvSpPr>
          <p:spPr>
            <a:xfrm>
              <a:off x="1551" y="4223"/>
              <a:ext cx="7737" cy="534"/>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Requires-Python</a:t>
              </a:r>
              <a:r>
                <a:rPr lang="en-US" sz="1335" dirty="0">
                  <a:solidFill>
                    <a:srgbClr val="E0E2E6">
                      <a:alpha val="80000"/>
                    </a:srgbClr>
                  </a:solidFill>
                  <a:latin typeface="MiSans" pitchFamily="34" charset="-122"/>
                  <a:ea typeface="MiSans" pitchFamily="34" charset="-122"/>
                  <a:cs typeface="MiSans" pitchFamily="34" charset="-120"/>
                </a:rPr>
                <a:t>: 声明的Python版本要求</a:t>
              </a:r>
              <a:endParaRPr lang="en-US" sz="1600" dirty="0"/>
            </a:p>
          </p:txBody>
        </p:sp>
        <p:sp>
          <p:nvSpPr>
            <p:cNvPr id="16" name="Shape 14"/>
            <p:cNvSpPr/>
            <p:nvPr/>
          </p:nvSpPr>
          <p:spPr>
            <a:xfrm>
              <a:off x="1184" y="4957"/>
              <a:ext cx="133" cy="267"/>
            </a:xfrm>
            <a:custGeom>
              <a:avLst/>
              <a:gdLst/>
              <a:ahLst/>
              <a:cxnLst/>
              <a:rect l="l" t="t" r="r" b="b"/>
              <a:pathLst>
                <a:path w="84667" h="169333">
                  <a:moveTo>
                    <a:pt x="81723" y="77192"/>
                  </a:moveTo>
                  <a:cubicBezTo>
                    <a:pt x="85857" y="81326"/>
                    <a:pt x="85857" y="88040"/>
                    <a:pt x="81723" y="92174"/>
                  </a:cubicBezTo>
                  <a:lnTo>
                    <a:pt x="28807" y="145091"/>
                  </a:lnTo>
                  <a:cubicBezTo>
                    <a:pt x="24672" y="149225"/>
                    <a:pt x="17959" y="149225"/>
                    <a:pt x="13824" y="145091"/>
                  </a:cubicBezTo>
                  <a:cubicBezTo>
                    <a:pt x="9690" y="140957"/>
                    <a:pt x="9690" y="134243"/>
                    <a:pt x="13824" y="130109"/>
                  </a:cubicBezTo>
                  <a:lnTo>
                    <a:pt x="59267" y="84667"/>
                  </a:lnTo>
                  <a:lnTo>
                    <a:pt x="13858" y="39224"/>
                  </a:lnTo>
                  <a:cubicBezTo>
                    <a:pt x="9723" y="35090"/>
                    <a:pt x="9723" y="28377"/>
                    <a:pt x="13858" y="24242"/>
                  </a:cubicBezTo>
                  <a:cubicBezTo>
                    <a:pt x="17992" y="20108"/>
                    <a:pt x="24705" y="20108"/>
                    <a:pt x="28840" y="24242"/>
                  </a:cubicBezTo>
                  <a:lnTo>
                    <a:pt x="81756" y="77159"/>
                  </a:lnTo>
                  <a:close/>
                </a:path>
              </a:pathLst>
            </a:custGeom>
            <a:solidFill>
              <a:srgbClr val="3D8F8A"/>
            </a:solidFill>
          </p:spPr>
        </p:sp>
        <p:sp>
          <p:nvSpPr>
            <p:cNvPr id="17" name="Text 15"/>
            <p:cNvSpPr/>
            <p:nvPr/>
          </p:nvSpPr>
          <p:spPr>
            <a:xfrm>
              <a:off x="1551" y="4890"/>
              <a:ext cx="6428" cy="400"/>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install_requires</a:t>
              </a:r>
              <a:r>
                <a:rPr lang="en-US" sz="1335" dirty="0">
                  <a:solidFill>
                    <a:srgbClr val="E0E2E6">
                      <a:alpha val="80000"/>
                    </a:srgbClr>
                  </a:solidFill>
                  <a:latin typeface="MiSans" pitchFamily="34" charset="-122"/>
                  <a:ea typeface="MiSans" pitchFamily="34" charset="-122"/>
                  <a:cs typeface="MiSans" pitchFamily="34" charset="-120"/>
                </a:rPr>
                <a:t>: 声明的依赖包列表</a:t>
              </a:r>
              <a:endParaRPr lang="en-US" sz="1600" dirty="0"/>
            </a:p>
          </p:txBody>
        </p:sp>
        <p:sp>
          <p:nvSpPr>
            <p:cNvPr id="18" name="Shape 16"/>
            <p:cNvSpPr/>
            <p:nvPr/>
          </p:nvSpPr>
          <p:spPr>
            <a:xfrm>
              <a:off x="1184" y="5490"/>
              <a:ext cx="133" cy="267"/>
            </a:xfrm>
            <a:custGeom>
              <a:avLst/>
              <a:gdLst/>
              <a:ahLst/>
              <a:cxnLst/>
              <a:rect l="l" t="t" r="r" b="b"/>
              <a:pathLst>
                <a:path w="84667" h="169333">
                  <a:moveTo>
                    <a:pt x="81723" y="77192"/>
                  </a:moveTo>
                  <a:cubicBezTo>
                    <a:pt x="85857" y="81326"/>
                    <a:pt x="85857" y="88040"/>
                    <a:pt x="81723" y="92174"/>
                  </a:cubicBezTo>
                  <a:lnTo>
                    <a:pt x="28807" y="145091"/>
                  </a:lnTo>
                  <a:cubicBezTo>
                    <a:pt x="24672" y="149225"/>
                    <a:pt x="17959" y="149225"/>
                    <a:pt x="13824" y="145091"/>
                  </a:cubicBezTo>
                  <a:cubicBezTo>
                    <a:pt x="9690" y="140957"/>
                    <a:pt x="9690" y="134243"/>
                    <a:pt x="13824" y="130109"/>
                  </a:cubicBezTo>
                  <a:lnTo>
                    <a:pt x="59267" y="84667"/>
                  </a:lnTo>
                  <a:lnTo>
                    <a:pt x="13858" y="39224"/>
                  </a:lnTo>
                  <a:cubicBezTo>
                    <a:pt x="9723" y="35090"/>
                    <a:pt x="9723" y="28377"/>
                    <a:pt x="13858" y="24242"/>
                  </a:cubicBezTo>
                  <a:cubicBezTo>
                    <a:pt x="17992" y="20108"/>
                    <a:pt x="24705" y="20108"/>
                    <a:pt x="28840" y="24242"/>
                  </a:cubicBezTo>
                  <a:lnTo>
                    <a:pt x="81756" y="77159"/>
                  </a:lnTo>
                  <a:close/>
                </a:path>
              </a:pathLst>
            </a:custGeom>
            <a:solidFill>
              <a:srgbClr val="3D8F8A"/>
            </a:solidFill>
          </p:spPr>
        </p:sp>
        <p:sp>
          <p:nvSpPr>
            <p:cNvPr id="19" name="Text 17"/>
            <p:cNvSpPr/>
            <p:nvPr/>
          </p:nvSpPr>
          <p:spPr>
            <a:xfrm>
              <a:off x="1551" y="5424"/>
              <a:ext cx="7660" cy="334"/>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extras_require</a:t>
              </a:r>
              <a:r>
                <a:rPr lang="en-US" sz="1335" dirty="0">
                  <a:solidFill>
                    <a:srgbClr val="E0E2E6">
                      <a:alpha val="80000"/>
                    </a:srgbClr>
                  </a:solidFill>
                  <a:latin typeface="MiSans" pitchFamily="34" charset="-122"/>
                  <a:ea typeface="MiSans" pitchFamily="34" charset="-122"/>
                  <a:cs typeface="MiSans" pitchFamily="34" charset="-120"/>
                </a:rPr>
                <a:t>: 可选依赖组定义</a:t>
              </a:r>
              <a:endParaRPr lang="en-US" sz="1600" dirty="0"/>
            </a:p>
          </p:txBody>
        </p:sp>
        <p:sp>
          <p:nvSpPr>
            <p:cNvPr id="20" name="Shape 18"/>
            <p:cNvSpPr/>
            <p:nvPr/>
          </p:nvSpPr>
          <p:spPr>
            <a:xfrm>
              <a:off x="1126" y="7013"/>
              <a:ext cx="300" cy="300"/>
            </a:xfrm>
            <a:custGeom>
              <a:avLst/>
              <a:gdLst/>
              <a:ahLst/>
              <a:cxnLst/>
              <a:rect l="l" t="t" r="r" b="b"/>
              <a:pathLst>
                <a:path w="190500" h="190500">
                  <a:moveTo>
                    <a:pt x="72591" y="3535"/>
                  </a:moveTo>
                  <a:cubicBezTo>
                    <a:pt x="73707" y="-1972"/>
                    <a:pt x="78581" y="-5953"/>
                    <a:pt x="84237" y="-5953"/>
                  </a:cubicBezTo>
                  <a:lnTo>
                    <a:pt x="106487" y="-5953"/>
                  </a:lnTo>
                  <a:cubicBezTo>
                    <a:pt x="112142" y="-5953"/>
                    <a:pt x="117016" y="-1972"/>
                    <a:pt x="118132" y="3535"/>
                  </a:cubicBezTo>
                  <a:lnTo>
                    <a:pt x="123527" y="29580"/>
                  </a:lnTo>
                  <a:cubicBezTo>
                    <a:pt x="128774" y="31812"/>
                    <a:pt x="133685" y="34677"/>
                    <a:pt x="138150" y="38063"/>
                  </a:cubicBezTo>
                  <a:lnTo>
                    <a:pt x="163376" y="29691"/>
                  </a:lnTo>
                  <a:cubicBezTo>
                    <a:pt x="168734" y="27905"/>
                    <a:pt x="174613" y="30138"/>
                    <a:pt x="177440" y="35049"/>
                  </a:cubicBezTo>
                  <a:lnTo>
                    <a:pt x="188565" y="54322"/>
                  </a:lnTo>
                  <a:cubicBezTo>
                    <a:pt x="191393" y="59234"/>
                    <a:pt x="190388" y="65410"/>
                    <a:pt x="186147" y="69168"/>
                  </a:cubicBezTo>
                  <a:lnTo>
                    <a:pt x="166315" y="86804"/>
                  </a:lnTo>
                  <a:cubicBezTo>
                    <a:pt x="166650" y="89557"/>
                    <a:pt x="166799" y="92385"/>
                    <a:pt x="166799" y="95250"/>
                  </a:cubicBezTo>
                  <a:cubicBezTo>
                    <a:pt x="166799" y="98115"/>
                    <a:pt x="166613" y="100943"/>
                    <a:pt x="166315" y="103696"/>
                  </a:cubicBezTo>
                  <a:lnTo>
                    <a:pt x="186184" y="121369"/>
                  </a:lnTo>
                  <a:cubicBezTo>
                    <a:pt x="190426" y="125127"/>
                    <a:pt x="191393" y="131341"/>
                    <a:pt x="188602" y="136215"/>
                  </a:cubicBezTo>
                  <a:lnTo>
                    <a:pt x="177478" y="155488"/>
                  </a:lnTo>
                  <a:cubicBezTo>
                    <a:pt x="174650" y="160362"/>
                    <a:pt x="168771" y="162632"/>
                    <a:pt x="163413" y="160846"/>
                  </a:cubicBezTo>
                  <a:lnTo>
                    <a:pt x="138187" y="152474"/>
                  </a:lnTo>
                  <a:cubicBezTo>
                    <a:pt x="133685" y="155860"/>
                    <a:pt x="128774" y="158688"/>
                    <a:pt x="123565" y="160958"/>
                  </a:cubicBezTo>
                  <a:lnTo>
                    <a:pt x="118207" y="186965"/>
                  </a:lnTo>
                  <a:cubicBezTo>
                    <a:pt x="117053" y="192509"/>
                    <a:pt x="112179" y="196453"/>
                    <a:pt x="106561" y="196453"/>
                  </a:cubicBezTo>
                  <a:lnTo>
                    <a:pt x="84311" y="196453"/>
                  </a:lnTo>
                  <a:cubicBezTo>
                    <a:pt x="78656" y="196453"/>
                    <a:pt x="73782" y="192472"/>
                    <a:pt x="72665" y="186965"/>
                  </a:cubicBezTo>
                  <a:lnTo>
                    <a:pt x="67308" y="160958"/>
                  </a:lnTo>
                  <a:cubicBezTo>
                    <a:pt x="62061" y="158725"/>
                    <a:pt x="57187" y="155860"/>
                    <a:pt x="52685" y="152474"/>
                  </a:cubicBezTo>
                  <a:lnTo>
                    <a:pt x="27347" y="160846"/>
                  </a:lnTo>
                  <a:cubicBezTo>
                    <a:pt x="21989" y="162632"/>
                    <a:pt x="16111" y="160400"/>
                    <a:pt x="13283" y="155488"/>
                  </a:cubicBezTo>
                  <a:lnTo>
                    <a:pt x="2158" y="136215"/>
                  </a:lnTo>
                  <a:cubicBezTo>
                    <a:pt x="-670" y="131304"/>
                    <a:pt x="335" y="125127"/>
                    <a:pt x="4576" y="121369"/>
                  </a:cubicBezTo>
                  <a:lnTo>
                    <a:pt x="24445" y="103696"/>
                  </a:lnTo>
                  <a:cubicBezTo>
                    <a:pt x="24110" y="100943"/>
                    <a:pt x="23961" y="98115"/>
                    <a:pt x="23961" y="95250"/>
                  </a:cubicBezTo>
                  <a:cubicBezTo>
                    <a:pt x="23961" y="92385"/>
                    <a:pt x="24147" y="89557"/>
                    <a:pt x="24445" y="86804"/>
                  </a:cubicBezTo>
                  <a:lnTo>
                    <a:pt x="4576" y="69131"/>
                  </a:lnTo>
                  <a:cubicBezTo>
                    <a:pt x="335" y="65373"/>
                    <a:pt x="-633" y="59159"/>
                    <a:pt x="2158" y="54285"/>
                  </a:cubicBezTo>
                  <a:lnTo>
                    <a:pt x="13283" y="35012"/>
                  </a:lnTo>
                  <a:cubicBezTo>
                    <a:pt x="16111" y="30100"/>
                    <a:pt x="21989" y="27868"/>
                    <a:pt x="27347" y="29654"/>
                  </a:cubicBezTo>
                  <a:lnTo>
                    <a:pt x="52574" y="38026"/>
                  </a:lnTo>
                  <a:cubicBezTo>
                    <a:pt x="57076" y="34640"/>
                    <a:pt x="61987" y="31812"/>
                    <a:pt x="67196" y="29542"/>
                  </a:cubicBezTo>
                  <a:lnTo>
                    <a:pt x="72591" y="3535"/>
                  </a:lnTo>
                  <a:close/>
                  <a:moveTo>
                    <a:pt x="95362" y="125016"/>
                  </a:moveTo>
                  <a:cubicBezTo>
                    <a:pt x="105996" y="124976"/>
                    <a:pt x="115801" y="119266"/>
                    <a:pt x="121084" y="110036"/>
                  </a:cubicBezTo>
                  <a:cubicBezTo>
                    <a:pt x="126366" y="100807"/>
                    <a:pt x="126324" y="89460"/>
                    <a:pt x="120972" y="80271"/>
                  </a:cubicBezTo>
                  <a:cubicBezTo>
                    <a:pt x="115620" y="71081"/>
                    <a:pt x="105773" y="65444"/>
                    <a:pt x="95138" y="65484"/>
                  </a:cubicBezTo>
                  <a:cubicBezTo>
                    <a:pt x="84504" y="65524"/>
                    <a:pt x="74699" y="71234"/>
                    <a:pt x="69416" y="80464"/>
                  </a:cubicBezTo>
                  <a:cubicBezTo>
                    <a:pt x="64134" y="89693"/>
                    <a:pt x="64176" y="101040"/>
                    <a:pt x="69528" y="110229"/>
                  </a:cubicBezTo>
                  <a:cubicBezTo>
                    <a:pt x="74880" y="119419"/>
                    <a:pt x="84727" y="125056"/>
                    <a:pt x="95362" y="125016"/>
                  </a:cubicBezTo>
                  <a:close/>
                </a:path>
              </a:pathLst>
            </a:custGeom>
            <a:solidFill>
              <a:srgbClr val="E5A044"/>
            </a:solidFill>
          </p:spPr>
        </p:sp>
        <p:sp>
          <p:nvSpPr>
            <p:cNvPr id="21" name="Text 19"/>
            <p:cNvSpPr/>
            <p:nvPr/>
          </p:nvSpPr>
          <p:spPr>
            <a:xfrm>
              <a:off x="1467" y="6930"/>
              <a:ext cx="13267" cy="467"/>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获取策略</a:t>
              </a:r>
              <a:endParaRPr lang="en-US" sz="1600" dirty="0"/>
            </a:p>
          </p:txBody>
        </p:sp>
        <p:sp>
          <p:nvSpPr>
            <p:cNvPr id="22" name="Text 20"/>
            <p:cNvSpPr/>
            <p:nvPr/>
          </p:nvSpPr>
          <p:spPr>
            <a:xfrm>
              <a:off x="1084" y="7530"/>
              <a:ext cx="13633"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采用</a:t>
              </a:r>
              <a:r>
                <a:rPr lang="en-US" sz="1335" b="1" dirty="0">
                  <a:solidFill>
                    <a:srgbClr val="E5A044"/>
                  </a:solidFill>
                  <a:latin typeface="MiSans" pitchFamily="34" charset="-122"/>
                  <a:ea typeface="MiSans" pitchFamily="34" charset="-122"/>
                  <a:cs typeface="MiSans" pitchFamily="34" charset="-120"/>
                </a:rPr>
                <a:t>需求驱动+懒加载策略</a:t>
              </a:r>
              <a:r>
                <a:rPr lang="en-US" sz="1335" dirty="0">
                  <a:solidFill>
                    <a:srgbClr val="E0E2E6">
                      <a:alpha val="80000"/>
                    </a:srgbClr>
                  </a:solidFill>
                  <a:latin typeface="MiSans" pitchFamily="34" charset="-122"/>
                  <a:ea typeface="MiSans" pitchFamily="34" charset="-122"/>
                  <a:cs typeface="MiSans" pitchFamily="34" charset="-120"/>
                </a:rPr>
                <a:t>:先从真实GitHub项目中收集依赖,得到"常见包集合"(如top 5k/top 10k),只对这些包的常见版本拉取PyPI元数据,遇到新包再补充抓取。</a:t>
              </a:r>
              <a:endParaRPr lang="en-US" sz="1600" dirty="0"/>
            </a:p>
          </p:txBody>
        </p:sp>
      </p:grpSp>
      <p:grpSp>
        <p:nvGrpSpPr>
          <p:cNvPr id="70" name="组合 69"/>
          <p:cNvGrpSpPr/>
          <p:nvPr/>
        </p:nvGrpSpPr>
        <p:grpSpPr>
          <a:xfrm>
            <a:off x="424815" y="5516245"/>
            <a:ext cx="9101455" cy="3043555"/>
            <a:chOff x="667" y="9913"/>
            <a:chExt cx="14333" cy="7467"/>
          </a:xfrm>
        </p:grpSpPr>
        <p:sp>
          <p:nvSpPr>
            <p:cNvPr id="26" name="Shape 24"/>
            <p:cNvSpPr/>
            <p:nvPr/>
          </p:nvSpPr>
          <p:spPr>
            <a:xfrm>
              <a:off x="667" y="9913"/>
              <a:ext cx="14333" cy="7467"/>
            </a:xfrm>
            <a:custGeom>
              <a:avLst/>
              <a:gdLst/>
              <a:ahLst/>
              <a:cxnLst/>
              <a:rect l="l" t="t" r="r" b="b"/>
              <a:pathLst>
                <a:path w="9101667" h="4741333">
                  <a:moveTo>
                    <a:pt x="127020" y="0"/>
                  </a:moveTo>
                  <a:lnTo>
                    <a:pt x="8974646" y="0"/>
                  </a:lnTo>
                  <a:cubicBezTo>
                    <a:pt x="9044798" y="0"/>
                    <a:pt x="9101667" y="56869"/>
                    <a:pt x="9101667" y="127020"/>
                  </a:cubicBezTo>
                  <a:lnTo>
                    <a:pt x="9101667" y="4614313"/>
                  </a:lnTo>
                  <a:cubicBezTo>
                    <a:pt x="9101667" y="4684464"/>
                    <a:pt x="9044798" y="4741333"/>
                    <a:pt x="8974646" y="4741333"/>
                  </a:cubicBezTo>
                  <a:lnTo>
                    <a:pt x="127020" y="4741333"/>
                  </a:lnTo>
                  <a:cubicBezTo>
                    <a:pt x="56869" y="4741333"/>
                    <a:pt x="0" y="4684464"/>
                    <a:pt x="0" y="4614313"/>
                  </a:cubicBezTo>
                  <a:lnTo>
                    <a:pt x="0" y="127020"/>
                  </a:lnTo>
                  <a:cubicBezTo>
                    <a:pt x="0" y="56916"/>
                    <a:pt x="56916" y="0"/>
                    <a:pt x="127020" y="0"/>
                  </a:cubicBezTo>
                  <a:close/>
                </a:path>
              </a:pathLst>
            </a:custGeom>
            <a:gradFill flip="none" rotWithShape="1">
              <a:gsLst>
                <a:gs pos="0">
                  <a:srgbClr val="E5A044">
                    <a:alpha val="15000"/>
                  </a:srgbClr>
                </a:gs>
                <a:gs pos="100000">
                  <a:srgbClr val="000000">
                    <a:alpha val="0"/>
                  </a:srgbClr>
                </a:gs>
              </a:gsLst>
              <a:lin ang="2700000" scaled="1"/>
            </a:gradFill>
            <a:ln w="25400">
              <a:solidFill>
                <a:srgbClr val="E5A044">
                  <a:alpha val="40000"/>
                </a:srgbClr>
              </a:solidFill>
              <a:prstDash val="solid"/>
            </a:ln>
          </p:spPr>
        </p:sp>
        <p:sp>
          <p:nvSpPr>
            <p:cNvPr id="27" name="Shape 25"/>
            <p:cNvSpPr/>
            <p:nvPr/>
          </p:nvSpPr>
          <p:spPr>
            <a:xfrm>
              <a:off x="1084" y="10330"/>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E5A044"/>
            </a:solidFill>
          </p:spPr>
        </p:sp>
        <p:sp>
          <p:nvSpPr>
            <p:cNvPr id="28" name="Shape 26"/>
            <p:cNvSpPr/>
            <p:nvPr/>
          </p:nvSpPr>
          <p:spPr>
            <a:xfrm>
              <a:off x="1351" y="10597"/>
              <a:ext cx="400" cy="400"/>
            </a:xfrm>
            <a:custGeom>
              <a:avLst/>
              <a:gdLst/>
              <a:ahLst/>
              <a:cxnLst/>
              <a:rect l="l" t="t" r="r" b="b"/>
              <a:pathLst>
                <a:path w="254000" h="254000">
                  <a:moveTo>
                    <a:pt x="127000" y="0"/>
                  </a:moveTo>
                  <a:cubicBezTo>
                    <a:pt x="129282" y="0"/>
                    <a:pt x="131564" y="496"/>
                    <a:pt x="133648" y="1439"/>
                  </a:cubicBezTo>
                  <a:lnTo>
                    <a:pt x="227112" y="41077"/>
                  </a:lnTo>
                  <a:cubicBezTo>
                    <a:pt x="238026" y="45690"/>
                    <a:pt x="246162" y="56455"/>
                    <a:pt x="246112" y="69453"/>
                  </a:cubicBezTo>
                  <a:cubicBezTo>
                    <a:pt x="245864" y="118666"/>
                    <a:pt x="225623" y="208707"/>
                    <a:pt x="140146" y="249634"/>
                  </a:cubicBezTo>
                  <a:cubicBezTo>
                    <a:pt x="131862" y="253603"/>
                    <a:pt x="122238" y="253603"/>
                    <a:pt x="113953" y="249634"/>
                  </a:cubicBezTo>
                  <a:cubicBezTo>
                    <a:pt x="28426" y="208707"/>
                    <a:pt x="8235" y="118666"/>
                    <a:pt x="7987" y="69453"/>
                  </a:cubicBezTo>
                  <a:cubicBezTo>
                    <a:pt x="7937" y="56455"/>
                    <a:pt x="16073" y="45690"/>
                    <a:pt x="26987" y="41077"/>
                  </a:cubicBezTo>
                  <a:lnTo>
                    <a:pt x="120402" y="1439"/>
                  </a:lnTo>
                  <a:cubicBezTo>
                    <a:pt x="122486" y="496"/>
                    <a:pt x="124718" y="0"/>
                    <a:pt x="127000" y="0"/>
                  </a:cubicBezTo>
                  <a:close/>
                  <a:moveTo>
                    <a:pt x="127000" y="33139"/>
                  </a:moveTo>
                  <a:lnTo>
                    <a:pt x="127000" y="220712"/>
                  </a:lnTo>
                  <a:cubicBezTo>
                    <a:pt x="195461" y="187573"/>
                    <a:pt x="213866" y="114151"/>
                    <a:pt x="214313" y="70197"/>
                  </a:cubicBezTo>
                  <a:lnTo>
                    <a:pt x="127000" y="33189"/>
                  </a:lnTo>
                  <a:lnTo>
                    <a:pt x="127000" y="33189"/>
                  </a:lnTo>
                  <a:close/>
                </a:path>
              </a:pathLst>
            </a:custGeom>
            <a:solidFill>
              <a:srgbClr val="FFFFFF"/>
            </a:solidFill>
          </p:spPr>
        </p:sp>
        <p:sp>
          <p:nvSpPr>
            <p:cNvPr id="29" name="Text 27"/>
            <p:cNvSpPr/>
            <p:nvPr/>
          </p:nvSpPr>
          <p:spPr>
            <a:xfrm>
              <a:off x="2284" y="10530"/>
              <a:ext cx="7699" cy="533"/>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数据来源二：CI/实际安装行为</a:t>
              </a:r>
              <a:endParaRPr lang="en-US" sz="1600" dirty="0"/>
            </a:p>
          </p:txBody>
        </p:sp>
        <p:sp>
          <p:nvSpPr>
            <p:cNvPr id="30" name="Shape 28"/>
            <p:cNvSpPr/>
            <p:nvPr/>
          </p:nvSpPr>
          <p:spPr>
            <a:xfrm>
              <a:off x="1126" y="11613"/>
              <a:ext cx="300" cy="3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8"/>
                    <a:pt x="95250" y="71438"/>
                  </a:cubicBezTo>
                  <a:cubicBezTo>
                    <a:pt x="88679" y="71438"/>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3" y="128997"/>
                    <a:pt x="119063" y="133945"/>
                  </a:cubicBezTo>
                  <a:cubicBezTo>
                    <a:pt x="119063" y="138894"/>
                    <a:pt x="115081" y="142875"/>
                    <a:pt x="110133" y="142875"/>
                  </a:cubicBezTo>
                  <a:lnTo>
                    <a:pt x="80367" y="142875"/>
                  </a:lnTo>
                  <a:cubicBezTo>
                    <a:pt x="75419" y="142875"/>
                    <a:pt x="71438" y="138894"/>
                    <a:pt x="71438" y="133945"/>
                  </a:cubicBezTo>
                  <a:cubicBezTo>
                    <a:pt x="71438" y="128997"/>
                    <a:pt x="75419" y="125016"/>
                    <a:pt x="80367" y="125016"/>
                  </a:cubicBezTo>
                  <a:lnTo>
                    <a:pt x="89297" y="125016"/>
                  </a:lnTo>
                  <a:lnTo>
                    <a:pt x="89297" y="101203"/>
                  </a:lnTo>
                  <a:lnTo>
                    <a:pt x="80367" y="101203"/>
                  </a:lnTo>
                  <a:cubicBezTo>
                    <a:pt x="75419" y="101203"/>
                    <a:pt x="71438" y="97222"/>
                    <a:pt x="71438" y="92273"/>
                  </a:cubicBezTo>
                  <a:cubicBezTo>
                    <a:pt x="71438" y="87325"/>
                    <a:pt x="75419" y="83344"/>
                    <a:pt x="80367" y="83344"/>
                  </a:cubicBezTo>
                  <a:close/>
                </a:path>
              </a:pathLst>
            </a:custGeom>
            <a:solidFill>
              <a:srgbClr val="E5A044"/>
            </a:solidFill>
          </p:spPr>
        </p:sp>
        <p:sp>
          <p:nvSpPr>
            <p:cNvPr id="31" name="Text 29"/>
            <p:cNvSpPr/>
            <p:nvPr/>
          </p:nvSpPr>
          <p:spPr>
            <a:xfrm>
              <a:off x="1467" y="11530"/>
              <a:ext cx="13267" cy="467"/>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隐性知识来源</a:t>
              </a:r>
              <a:endParaRPr lang="en-US" sz="1600" dirty="0"/>
            </a:p>
          </p:txBody>
        </p:sp>
        <p:sp>
          <p:nvSpPr>
            <p:cNvPr id="32" name="Text 30"/>
            <p:cNvSpPr/>
            <p:nvPr/>
          </p:nvSpPr>
          <p:spPr>
            <a:xfrm>
              <a:off x="1084" y="12130"/>
              <a:ext cx="13633" cy="43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部分兼容性信息PyPI不会明确声明,需要从实际运行中提取。包括:</a:t>
              </a:r>
              <a:endParaRPr lang="en-US" sz="1600" dirty="0"/>
            </a:p>
          </p:txBody>
        </p:sp>
        <p:sp>
          <p:nvSpPr>
            <p:cNvPr id="33" name="Shape 31"/>
            <p:cNvSpPr/>
            <p:nvPr/>
          </p:nvSpPr>
          <p:spPr>
            <a:xfrm>
              <a:off x="1184" y="12763"/>
              <a:ext cx="133" cy="267"/>
            </a:xfrm>
            <a:custGeom>
              <a:avLst/>
              <a:gdLst/>
              <a:ahLst/>
              <a:cxnLst/>
              <a:rect l="l" t="t" r="r" b="b"/>
              <a:pathLst>
                <a:path w="84667" h="169333">
                  <a:moveTo>
                    <a:pt x="81723" y="77192"/>
                  </a:moveTo>
                  <a:cubicBezTo>
                    <a:pt x="85857" y="81326"/>
                    <a:pt x="85857" y="88040"/>
                    <a:pt x="81723" y="92174"/>
                  </a:cubicBezTo>
                  <a:lnTo>
                    <a:pt x="28807" y="145091"/>
                  </a:lnTo>
                  <a:cubicBezTo>
                    <a:pt x="24672" y="149225"/>
                    <a:pt x="17959" y="149225"/>
                    <a:pt x="13824" y="145091"/>
                  </a:cubicBezTo>
                  <a:cubicBezTo>
                    <a:pt x="9690" y="140957"/>
                    <a:pt x="9690" y="134243"/>
                    <a:pt x="13824" y="130109"/>
                  </a:cubicBezTo>
                  <a:lnTo>
                    <a:pt x="59267" y="84667"/>
                  </a:lnTo>
                  <a:lnTo>
                    <a:pt x="13858" y="39224"/>
                  </a:lnTo>
                  <a:cubicBezTo>
                    <a:pt x="9723" y="35090"/>
                    <a:pt x="9723" y="28377"/>
                    <a:pt x="13858" y="24242"/>
                  </a:cubicBezTo>
                  <a:cubicBezTo>
                    <a:pt x="17992" y="20108"/>
                    <a:pt x="24705" y="20108"/>
                    <a:pt x="28840" y="24242"/>
                  </a:cubicBezTo>
                  <a:lnTo>
                    <a:pt x="81756" y="77159"/>
                  </a:lnTo>
                  <a:close/>
                </a:path>
              </a:pathLst>
            </a:custGeom>
            <a:solidFill>
              <a:srgbClr val="E5A044"/>
            </a:solidFill>
          </p:spPr>
        </p:sp>
        <p:sp>
          <p:nvSpPr>
            <p:cNvPr id="34" name="Text 32"/>
            <p:cNvSpPr/>
            <p:nvPr/>
          </p:nvSpPr>
          <p:spPr>
            <a:xfrm>
              <a:off x="1550" y="12696"/>
              <a:ext cx="10740" cy="400"/>
            </a:xfrm>
            <a:prstGeom prst="rect">
              <a:avLst/>
            </a:prstGeom>
            <a:noFill/>
          </p:spPr>
          <p:txBody>
            <a:bodyPr wrap="square" lIns="0" tIns="0" rIns="0" bIns="0" rtlCol="0" anchor="ctr"/>
            <a:lstStyle/>
            <a:p>
              <a:pPr>
                <a:lnSpc>
                  <a:spcPct val="130000"/>
                </a:lnSpc>
              </a:pPr>
              <a:r>
                <a:rPr lang="en-US" sz="1335" b="1" dirty="0">
                  <a:solidFill>
                    <a:srgbClr val="E5A044"/>
                  </a:solidFill>
                  <a:latin typeface="MiSans" pitchFamily="34" charset="-122"/>
                  <a:ea typeface="MiSans" pitchFamily="34" charset="-122"/>
                  <a:cs typeface="MiSans" pitchFamily="34" charset="-120"/>
                </a:rPr>
                <a:t>GitHub Actions</a:t>
              </a:r>
              <a:r>
                <a:rPr lang="en-US" sz="1335" dirty="0">
                  <a:solidFill>
                    <a:srgbClr val="E0E2E6">
                      <a:alpha val="80000"/>
                    </a:srgbClr>
                  </a:solidFill>
                  <a:latin typeface="MiSans" pitchFamily="34" charset="-122"/>
                  <a:ea typeface="MiSans" pitchFamily="34" charset="-122"/>
                  <a:cs typeface="MiSans" pitchFamily="34" charset="-120"/>
                </a:rPr>
                <a:t>: 成功的Python版本、依赖版本组合</a:t>
              </a:r>
              <a:endParaRPr lang="en-US" sz="1600" dirty="0"/>
            </a:p>
          </p:txBody>
        </p:sp>
        <p:sp>
          <p:nvSpPr>
            <p:cNvPr id="35" name="Shape 33"/>
            <p:cNvSpPr/>
            <p:nvPr/>
          </p:nvSpPr>
          <p:spPr>
            <a:xfrm>
              <a:off x="1184" y="13297"/>
              <a:ext cx="133" cy="267"/>
            </a:xfrm>
            <a:custGeom>
              <a:avLst/>
              <a:gdLst/>
              <a:ahLst/>
              <a:cxnLst/>
              <a:rect l="l" t="t" r="r" b="b"/>
              <a:pathLst>
                <a:path w="84667" h="169333">
                  <a:moveTo>
                    <a:pt x="81723" y="77192"/>
                  </a:moveTo>
                  <a:cubicBezTo>
                    <a:pt x="85857" y="81326"/>
                    <a:pt x="85857" y="88040"/>
                    <a:pt x="81723" y="92174"/>
                  </a:cubicBezTo>
                  <a:lnTo>
                    <a:pt x="28807" y="145091"/>
                  </a:lnTo>
                  <a:cubicBezTo>
                    <a:pt x="24672" y="149225"/>
                    <a:pt x="17959" y="149225"/>
                    <a:pt x="13824" y="145091"/>
                  </a:cubicBezTo>
                  <a:cubicBezTo>
                    <a:pt x="9690" y="140957"/>
                    <a:pt x="9690" y="134243"/>
                    <a:pt x="13824" y="130109"/>
                  </a:cubicBezTo>
                  <a:lnTo>
                    <a:pt x="59267" y="84667"/>
                  </a:lnTo>
                  <a:lnTo>
                    <a:pt x="13858" y="39224"/>
                  </a:lnTo>
                  <a:cubicBezTo>
                    <a:pt x="9723" y="35090"/>
                    <a:pt x="9723" y="28377"/>
                    <a:pt x="13858" y="24242"/>
                  </a:cubicBezTo>
                  <a:cubicBezTo>
                    <a:pt x="17992" y="20108"/>
                    <a:pt x="24705" y="20108"/>
                    <a:pt x="28840" y="24242"/>
                  </a:cubicBezTo>
                  <a:lnTo>
                    <a:pt x="81756" y="77159"/>
                  </a:lnTo>
                  <a:close/>
                </a:path>
              </a:pathLst>
            </a:custGeom>
            <a:solidFill>
              <a:srgbClr val="E5A044"/>
            </a:solidFill>
          </p:spPr>
        </p:sp>
        <p:sp>
          <p:nvSpPr>
            <p:cNvPr id="36" name="Text 34"/>
            <p:cNvSpPr/>
            <p:nvPr/>
          </p:nvSpPr>
          <p:spPr>
            <a:xfrm>
              <a:off x="1551" y="13230"/>
              <a:ext cx="10200" cy="400"/>
            </a:xfrm>
            <a:prstGeom prst="rect">
              <a:avLst/>
            </a:prstGeom>
            <a:noFill/>
          </p:spPr>
          <p:txBody>
            <a:bodyPr wrap="square" lIns="0" tIns="0" rIns="0" bIns="0" rtlCol="0" anchor="ctr"/>
            <a:lstStyle/>
            <a:p>
              <a:pPr>
                <a:lnSpc>
                  <a:spcPct val="130000"/>
                </a:lnSpc>
              </a:pPr>
              <a:r>
                <a:rPr lang="en-US" sz="1335" b="1" dirty="0">
                  <a:solidFill>
                    <a:srgbClr val="E5A044"/>
                  </a:solidFill>
                  <a:latin typeface="MiSans" pitchFamily="34" charset="-122"/>
                  <a:ea typeface="MiSans" pitchFamily="34" charset="-122"/>
                  <a:cs typeface="MiSans" pitchFamily="34" charset="-120"/>
                </a:rPr>
                <a:t>Dockerfile</a:t>
              </a:r>
              <a:r>
                <a:rPr lang="en-US" sz="1335" dirty="0">
                  <a:solidFill>
                    <a:srgbClr val="E0E2E6">
                      <a:alpha val="80000"/>
                    </a:srgbClr>
                  </a:solidFill>
                  <a:latin typeface="MiSans" pitchFamily="34" charset="-122"/>
                  <a:ea typeface="MiSans" pitchFamily="34" charset="-122"/>
                  <a:cs typeface="MiSans" pitchFamily="34" charset="-120"/>
                </a:rPr>
                <a:t>: Base image、pip install顺序等环境信息</a:t>
              </a:r>
              <a:endParaRPr lang="en-US" sz="1600" dirty="0"/>
            </a:p>
          </p:txBody>
        </p:sp>
        <p:sp>
          <p:nvSpPr>
            <p:cNvPr id="37" name="Shape 35"/>
            <p:cNvSpPr/>
            <p:nvPr/>
          </p:nvSpPr>
          <p:spPr>
            <a:xfrm>
              <a:off x="1163" y="15520"/>
              <a:ext cx="225" cy="300"/>
            </a:xfrm>
            <a:custGeom>
              <a:avLst/>
              <a:gdLst/>
              <a:ahLst/>
              <a:cxnLst/>
              <a:rect l="l" t="t" r="r" b="b"/>
              <a:pathLst>
                <a:path w="142875" h="190500">
                  <a:moveTo>
                    <a:pt x="0" y="23812"/>
                  </a:moveTo>
                  <a:cubicBezTo>
                    <a:pt x="0" y="10678"/>
                    <a:pt x="10678" y="0"/>
                    <a:pt x="23812" y="0"/>
                  </a:cubicBezTo>
                  <a:lnTo>
                    <a:pt x="79437" y="0"/>
                  </a:lnTo>
                  <a:cubicBezTo>
                    <a:pt x="85762" y="0"/>
                    <a:pt x="91827" y="2493"/>
                    <a:pt x="96292" y="6958"/>
                  </a:cubicBezTo>
                  <a:lnTo>
                    <a:pt x="135917" y="46620"/>
                  </a:lnTo>
                  <a:cubicBezTo>
                    <a:pt x="140382" y="51085"/>
                    <a:pt x="142875" y="57150"/>
                    <a:pt x="142875" y="63475"/>
                  </a:cubicBezTo>
                  <a:lnTo>
                    <a:pt x="142875" y="166688"/>
                  </a:lnTo>
                  <a:cubicBezTo>
                    <a:pt x="142875" y="179822"/>
                    <a:pt x="132197" y="190500"/>
                    <a:pt x="119063" y="190500"/>
                  </a:cubicBezTo>
                  <a:lnTo>
                    <a:pt x="23812" y="190500"/>
                  </a:lnTo>
                  <a:cubicBezTo>
                    <a:pt x="10678" y="190500"/>
                    <a:pt x="0" y="179822"/>
                    <a:pt x="0" y="166688"/>
                  </a:cubicBezTo>
                  <a:lnTo>
                    <a:pt x="0" y="23812"/>
                  </a:lnTo>
                  <a:close/>
                  <a:moveTo>
                    <a:pt x="77391" y="21766"/>
                  </a:moveTo>
                  <a:lnTo>
                    <a:pt x="77391" y="56555"/>
                  </a:lnTo>
                  <a:cubicBezTo>
                    <a:pt x="77391" y="61503"/>
                    <a:pt x="81372" y="65484"/>
                    <a:pt x="86320" y="65484"/>
                  </a:cubicBezTo>
                  <a:lnTo>
                    <a:pt x="121109" y="65484"/>
                  </a:lnTo>
                  <a:lnTo>
                    <a:pt x="77391" y="21766"/>
                  </a:lnTo>
                  <a:close/>
                  <a:moveTo>
                    <a:pt x="57373" y="109984"/>
                  </a:moveTo>
                  <a:cubicBezTo>
                    <a:pt x="60573" y="106226"/>
                    <a:pt x="60164" y="100608"/>
                    <a:pt x="56406" y="97408"/>
                  </a:cubicBezTo>
                  <a:cubicBezTo>
                    <a:pt x="52648" y="94208"/>
                    <a:pt x="47030" y="94617"/>
                    <a:pt x="43830" y="98375"/>
                  </a:cubicBezTo>
                  <a:lnTo>
                    <a:pt x="25971" y="119211"/>
                  </a:lnTo>
                  <a:cubicBezTo>
                    <a:pt x="23106" y="122560"/>
                    <a:pt x="23106" y="127471"/>
                    <a:pt x="25971" y="130820"/>
                  </a:cubicBezTo>
                  <a:lnTo>
                    <a:pt x="43830" y="151656"/>
                  </a:lnTo>
                  <a:cubicBezTo>
                    <a:pt x="47030" y="155414"/>
                    <a:pt x="52685" y="155823"/>
                    <a:pt x="56406" y="152623"/>
                  </a:cubicBezTo>
                  <a:cubicBezTo>
                    <a:pt x="60127" y="149423"/>
                    <a:pt x="60573" y="143768"/>
                    <a:pt x="57373" y="140047"/>
                  </a:cubicBezTo>
                  <a:lnTo>
                    <a:pt x="44500" y="125016"/>
                  </a:lnTo>
                  <a:lnTo>
                    <a:pt x="57373" y="109984"/>
                  </a:lnTo>
                  <a:close/>
                  <a:moveTo>
                    <a:pt x="99045" y="98375"/>
                  </a:moveTo>
                  <a:cubicBezTo>
                    <a:pt x="95845" y="94617"/>
                    <a:pt x="90190" y="94208"/>
                    <a:pt x="86469" y="97408"/>
                  </a:cubicBezTo>
                  <a:cubicBezTo>
                    <a:pt x="82748" y="100608"/>
                    <a:pt x="82302" y="106263"/>
                    <a:pt x="85502" y="109984"/>
                  </a:cubicBezTo>
                  <a:lnTo>
                    <a:pt x="98375" y="125016"/>
                  </a:lnTo>
                  <a:lnTo>
                    <a:pt x="85502" y="140047"/>
                  </a:lnTo>
                  <a:cubicBezTo>
                    <a:pt x="82302" y="143805"/>
                    <a:pt x="82711" y="149423"/>
                    <a:pt x="86469" y="152623"/>
                  </a:cubicBezTo>
                  <a:cubicBezTo>
                    <a:pt x="90227" y="155823"/>
                    <a:pt x="95845" y="155414"/>
                    <a:pt x="99045" y="151656"/>
                  </a:cubicBezTo>
                  <a:lnTo>
                    <a:pt x="116904" y="130820"/>
                  </a:lnTo>
                  <a:cubicBezTo>
                    <a:pt x="119769" y="127471"/>
                    <a:pt x="119769" y="122560"/>
                    <a:pt x="116904" y="119211"/>
                  </a:cubicBezTo>
                  <a:lnTo>
                    <a:pt x="99045" y="98375"/>
                  </a:lnTo>
                  <a:close/>
                </a:path>
              </a:pathLst>
            </a:custGeom>
            <a:solidFill>
              <a:srgbClr val="3D8F8A"/>
            </a:solidFill>
          </p:spPr>
        </p:sp>
        <p:sp>
          <p:nvSpPr>
            <p:cNvPr id="38" name="Text 36"/>
            <p:cNvSpPr/>
            <p:nvPr/>
          </p:nvSpPr>
          <p:spPr>
            <a:xfrm>
              <a:off x="1467" y="15437"/>
              <a:ext cx="13267" cy="467"/>
            </a:xfrm>
            <a:prstGeom prst="rect">
              <a:avLst/>
            </a:prstGeom>
            <a:noFill/>
          </p:spPr>
          <p:txBody>
            <a:bodyPr wrap="square" lIns="0" tIns="0" rIns="0" bIns="0" rtlCol="0" anchor="ctr"/>
            <a:lstStyle/>
            <a:p>
              <a:pPr>
                <a:lnSpc>
                  <a:spcPct val="130000"/>
                </a:lnSpc>
              </a:pPr>
              <a:r>
                <a:rPr lang="en-US" sz="1500" b="1" dirty="0">
                  <a:solidFill>
                    <a:srgbClr val="E0E2E6"/>
                  </a:solidFill>
                  <a:latin typeface="MiSans" pitchFamily="34" charset="-122"/>
                  <a:ea typeface="MiSans" pitchFamily="34" charset="-122"/>
                  <a:cs typeface="MiSans" pitchFamily="34" charset="-120"/>
                </a:rPr>
                <a:t>获取位置</a:t>
              </a:r>
              <a:endParaRPr lang="en-US" sz="1600" dirty="0"/>
            </a:p>
          </p:txBody>
        </p:sp>
        <p:sp>
          <p:nvSpPr>
            <p:cNvPr id="39" name="Shape 37"/>
            <p:cNvSpPr/>
            <p:nvPr/>
          </p:nvSpPr>
          <p:spPr>
            <a:xfrm>
              <a:off x="1184" y="16103"/>
              <a:ext cx="133" cy="267"/>
            </a:xfrm>
            <a:custGeom>
              <a:avLst/>
              <a:gdLst/>
              <a:ahLst/>
              <a:cxnLst/>
              <a:rect l="l" t="t" r="r" b="b"/>
              <a:pathLst>
                <a:path w="84667" h="169333">
                  <a:moveTo>
                    <a:pt x="81723" y="77192"/>
                  </a:moveTo>
                  <a:cubicBezTo>
                    <a:pt x="85857" y="81326"/>
                    <a:pt x="85857" y="88040"/>
                    <a:pt x="81723" y="92174"/>
                  </a:cubicBezTo>
                  <a:lnTo>
                    <a:pt x="28807" y="145091"/>
                  </a:lnTo>
                  <a:cubicBezTo>
                    <a:pt x="24672" y="149225"/>
                    <a:pt x="17959" y="149225"/>
                    <a:pt x="13824" y="145091"/>
                  </a:cubicBezTo>
                  <a:cubicBezTo>
                    <a:pt x="9690" y="140957"/>
                    <a:pt x="9690" y="134243"/>
                    <a:pt x="13824" y="130109"/>
                  </a:cubicBezTo>
                  <a:lnTo>
                    <a:pt x="59267" y="84667"/>
                  </a:lnTo>
                  <a:lnTo>
                    <a:pt x="13858" y="39224"/>
                  </a:lnTo>
                  <a:cubicBezTo>
                    <a:pt x="9723" y="35090"/>
                    <a:pt x="9723" y="28377"/>
                    <a:pt x="13858" y="24242"/>
                  </a:cubicBezTo>
                  <a:cubicBezTo>
                    <a:pt x="17992" y="20108"/>
                    <a:pt x="24705" y="20108"/>
                    <a:pt x="28840" y="24242"/>
                  </a:cubicBezTo>
                  <a:lnTo>
                    <a:pt x="81756" y="77159"/>
                  </a:lnTo>
                  <a:close/>
                </a:path>
              </a:pathLst>
            </a:custGeom>
            <a:solidFill>
              <a:srgbClr val="3D8F8A"/>
            </a:solidFill>
          </p:spPr>
        </p:sp>
        <p:sp>
          <p:nvSpPr>
            <p:cNvPr id="40" name="Text 38"/>
            <p:cNvSpPr/>
            <p:nvPr/>
          </p:nvSpPr>
          <p:spPr>
            <a:xfrm>
              <a:off x="1551" y="16037"/>
              <a:ext cx="3967" cy="400"/>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CI配置</a:t>
              </a:r>
              <a:r>
                <a:rPr lang="en-US" sz="1335" dirty="0">
                  <a:solidFill>
                    <a:srgbClr val="E0E2E6">
                      <a:alpha val="80000"/>
                    </a:srgbClr>
                  </a:solidFill>
                  <a:latin typeface="MiSans" pitchFamily="34" charset="-122"/>
                  <a:ea typeface="MiSans" pitchFamily="34" charset="-122"/>
                  <a:cs typeface="MiSans" pitchFamily="34" charset="-120"/>
                </a:rPr>
                <a:t>: .github/workflows/*.yml</a:t>
              </a:r>
              <a:endParaRPr lang="en-US" sz="1600" dirty="0"/>
            </a:p>
          </p:txBody>
        </p:sp>
        <p:sp>
          <p:nvSpPr>
            <p:cNvPr id="41" name="Shape 39"/>
            <p:cNvSpPr/>
            <p:nvPr/>
          </p:nvSpPr>
          <p:spPr>
            <a:xfrm>
              <a:off x="1184" y="16637"/>
              <a:ext cx="133" cy="267"/>
            </a:xfrm>
            <a:custGeom>
              <a:avLst/>
              <a:gdLst/>
              <a:ahLst/>
              <a:cxnLst/>
              <a:rect l="l" t="t" r="r" b="b"/>
              <a:pathLst>
                <a:path w="84667" h="169333">
                  <a:moveTo>
                    <a:pt x="81723" y="77192"/>
                  </a:moveTo>
                  <a:cubicBezTo>
                    <a:pt x="85857" y="81326"/>
                    <a:pt x="85857" y="88040"/>
                    <a:pt x="81723" y="92174"/>
                  </a:cubicBezTo>
                  <a:lnTo>
                    <a:pt x="28807" y="145091"/>
                  </a:lnTo>
                  <a:cubicBezTo>
                    <a:pt x="24672" y="149225"/>
                    <a:pt x="17959" y="149225"/>
                    <a:pt x="13824" y="145091"/>
                  </a:cubicBezTo>
                  <a:cubicBezTo>
                    <a:pt x="9690" y="140957"/>
                    <a:pt x="9690" y="134243"/>
                    <a:pt x="13824" y="130109"/>
                  </a:cubicBezTo>
                  <a:lnTo>
                    <a:pt x="59267" y="84667"/>
                  </a:lnTo>
                  <a:lnTo>
                    <a:pt x="13858" y="39224"/>
                  </a:lnTo>
                  <a:cubicBezTo>
                    <a:pt x="9723" y="35090"/>
                    <a:pt x="9723" y="28377"/>
                    <a:pt x="13858" y="24242"/>
                  </a:cubicBezTo>
                  <a:cubicBezTo>
                    <a:pt x="17992" y="20108"/>
                    <a:pt x="24705" y="20108"/>
                    <a:pt x="28840" y="24242"/>
                  </a:cubicBezTo>
                  <a:lnTo>
                    <a:pt x="81756" y="77159"/>
                  </a:lnTo>
                  <a:close/>
                </a:path>
              </a:pathLst>
            </a:custGeom>
            <a:solidFill>
              <a:srgbClr val="3D8F8A"/>
            </a:solidFill>
          </p:spPr>
        </p:sp>
        <p:sp>
          <p:nvSpPr>
            <p:cNvPr id="42" name="Text 40"/>
            <p:cNvSpPr/>
            <p:nvPr/>
          </p:nvSpPr>
          <p:spPr>
            <a:xfrm>
              <a:off x="1551" y="16570"/>
              <a:ext cx="4583" cy="400"/>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Dockerfile</a:t>
              </a:r>
              <a:r>
                <a:rPr lang="en-US" sz="1335" dirty="0">
                  <a:solidFill>
                    <a:srgbClr val="E0E2E6">
                      <a:alpha val="80000"/>
                    </a:srgbClr>
                  </a:solidFill>
                  <a:latin typeface="MiSans" pitchFamily="34" charset="-122"/>
                  <a:ea typeface="MiSans" pitchFamily="34" charset="-122"/>
                  <a:cs typeface="MiSans" pitchFamily="34" charset="-120"/>
                </a:rPr>
                <a:t>: 仓库根目录或docker/目录</a:t>
              </a:r>
              <a:endParaRPr lang="en-US" sz="1600" dirty="0"/>
            </a:p>
          </p:txBody>
        </p:sp>
      </p:grpSp>
      <p:grpSp>
        <p:nvGrpSpPr>
          <p:cNvPr id="74" name="组合 73"/>
          <p:cNvGrpSpPr/>
          <p:nvPr/>
        </p:nvGrpSpPr>
        <p:grpSpPr>
          <a:xfrm>
            <a:off x="8593455" y="1407795"/>
            <a:ext cx="7233409" cy="3912155"/>
            <a:chOff x="15361" y="2140"/>
            <a:chExt cx="9533" cy="7051"/>
          </a:xfrm>
        </p:grpSpPr>
        <p:sp>
          <p:nvSpPr>
            <p:cNvPr id="43" name="Shape 41"/>
            <p:cNvSpPr/>
            <p:nvPr/>
          </p:nvSpPr>
          <p:spPr>
            <a:xfrm>
              <a:off x="15361" y="2140"/>
              <a:ext cx="9533" cy="7051"/>
            </a:xfrm>
            <a:custGeom>
              <a:avLst/>
              <a:gdLst/>
              <a:ahLst/>
              <a:cxnLst/>
              <a:rect l="l" t="t" r="r" b="b"/>
              <a:pathLst>
                <a:path w="6053667" h="6424083">
                  <a:moveTo>
                    <a:pt x="127006" y="0"/>
                  </a:moveTo>
                  <a:lnTo>
                    <a:pt x="5926661" y="0"/>
                  </a:lnTo>
                  <a:cubicBezTo>
                    <a:pt x="5996804" y="0"/>
                    <a:pt x="6053667" y="56862"/>
                    <a:pt x="6053667" y="127006"/>
                  </a:cubicBezTo>
                  <a:lnTo>
                    <a:pt x="6053667" y="6297077"/>
                  </a:lnTo>
                  <a:cubicBezTo>
                    <a:pt x="6053667" y="6367221"/>
                    <a:pt x="5996804" y="6424083"/>
                    <a:pt x="5926661" y="6424083"/>
                  </a:cubicBezTo>
                  <a:lnTo>
                    <a:pt x="127006" y="6424083"/>
                  </a:lnTo>
                  <a:cubicBezTo>
                    <a:pt x="56862" y="6424083"/>
                    <a:pt x="0" y="6367221"/>
                    <a:pt x="0" y="6297077"/>
                  </a:cubicBezTo>
                  <a:lnTo>
                    <a:pt x="0" y="127006"/>
                  </a:lnTo>
                  <a:cubicBezTo>
                    <a:pt x="0" y="56909"/>
                    <a:pt x="56909" y="0"/>
                    <a:pt x="127006" y="0"/>
                  </a:cubicBezTo>
                  <a:close/>
                </a:path>
              </a:pathLst>
            </a:custGeom>
            <a:gradFill flip="none" rotWithShape="1">
              <a:gsLst>
                <a:gs pos="0">
                  <a:srgbClr val="5A6472">
                    <a:alpha val="15000"/>
                  </a:srgbClr>
                </a:gs>
                <a:gs pos="100000">
                  <a:srgbClr val="000000">
                    <a:alpha val="0"/>
                  </a:srgbClr>
                </a:gs>
              </a:gsLst>
              <a:lin ang="2700000" scaled="1"/>
            </a:gradFill>
            <a:ln w="25400">
              <a:solidFill>
                <a:srgbClr val="5A6472">
                  <a:alpha val="40000"/>
                </a:srgbClr>
              </a:solidFill>
              <a:prstDash val="solid"/>
            </a:ln>
          </p:spPr>
        </p:sp>
        <p:sp>
          <p:nvSpPr>
            <p:cNvPr id="44" name="Shape 42"/>
            <p:cNvSpPr/>
            <p:nvPr/>
          </p:nvSpPr>
          <p:spPr>
            <a:xfrm>
              <a:off x="15777" y="2557"/>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5A6472"/>
            </a:solidFill>
          </p:spPr>
        </p:sp>
        <p:sp>
          <p:nvSpPr>
            <p:cNvPr id="45" name="Shape 43"/>
            <p:cNvSpPr/>
            <p:nvPr/>
          </p:nvSpPr>
          <p:spPr>
            <a:xfrm>
              <a:off x="16044" y="2823"/>
              <a:ext cx="400" cy="400"/>
            </a:xfrm>
            <a:custGeom>
              <a:avLst/>
              <a:gdLst/>
              <a:ahLst/>
              <a:cxnLst/>
              <a:rect l="l" t="t" r="r" b="b"/>
              <a:pathLst>
                <a:path w="254000" h="254000">
                  <a:moveTo>
                    <a:pt x="15875" y="15875"/>
                  </a:moveTo>
                  <a:cubicBezTo>
                    <a:pt x="24656" y="15875"/>
                    <a:pt x="31750" y="22969"/>
                    <a:pt x="31750" y="31750"/>
                  </a:cubicBezTo>
                  <a:lnTo>
                    <a:pt x="31750" y="198438"/>
                  </a:lnTo>
                  <a:cubicBezTo>
                    <a:pt x="31750" y="202803"/>
                    <a:pt x="35322" y="206375"/>
                    <a:pt x="39688" y="206375"/>
                  </a:cubicBezTo>
                  <a:lnTo>
                    <a:pt x="238125" y="206375"/>
                  </a:lnTo>
                  <a:cubicBezTo>
                    <a:pt x="246906" y="206375"/>
                    <a:pt x="254000" y="213469"/>
                    <a:pt x="254000" y="222250"/>
                  </a:cubicBezTo>
                  <a:cubicBezTo>
                    <a:pt x="254000" y="231031"/>
                    <a:pt x="246906" y="238125"/>
                    <a:pt x="238125" y="238125"/>
                  </a:cubicBezTo>
                  <a:lnTo>
                    <a:pt x="39688" y="238125"/>
                  </a:lnTo>
                  <a:cubicBezTo>
                    <a:pt x="17760" y="238125"/>
                    <a:pt x="0" y="220365"/>
                    <a:pt x="0" y="198438"/>
                  </a:cubicBezTo>
                  <a:lnTo>
                    <a:pt x="0" y="31750"/>
                  </a:lnTo>
                  <a:cubicBezTo>
                    <a:pt x="0" y="22969"/>
                    <a:pt x="7094" y="15875"/>
                    <a:pt x="15875" y="15875"/>
                  </a:cubicBezTo>
                  <a:close/>
                  <a:moveTo>
                    <a:pt x="63500" y="47625"/>
                  </a:moveTo>
                  <a:cubicBezTo>
                    <a:pt x="63500" y="38844"/>
                    <a:pt x="70594" y="31750"/>
                    <a:pt x="79375" y="31750"/>
                  </a:cubicBezTo>
                  <a:lnTo>
                    <a:pt x="174625" y="31750"/>
                  </a:lnTo>
                  <a:cubicBezTo>
                    <a:pt x="183406" y="31750"/>
                    <a:pt x="190500" y="38844"/>
                    <a:pt x="190500" y="47625"/>
                  </a:cubicBezTo>
                  <a:cubicBezTo>
                    <a:pt x="190500" y="56406"/>
                    <a:pt x="183406" y="63500"/>
                    <a:pt x="174625" y="63500"/>
                  </a:cubicBezTo>
                  <a:lnTo>
                    <a:pt x="79375" y="63500"/>
                  </a:lnTo>
                  <a:cubicBezTo>
                    <a:pt x="70594" y="63500"/>
                    <a:pt x="63500" y="56406"/>
                    <a:pt x="63500" y="47625"/>
                  </a:cubicBezTo>
                  <a:close/>
                  <a:moveTo>
                    <a:pt x="79375" y="87313"/>
                  </a:moveTo>
                  <a:lnTo>
                    <a:pt x="142875" y="87313"/>
                  </a:lnTo>
                  <a:cubicBezTo>
                    <a:pt x="151656" y="87313"/>
                    <a:pt x="158750" y="94407"/>
                    <a:pt x="158750" y="103188"/>
                  </a:cubicBezTo>
                  <a:cubicBezTo>
                    <a:pt x="158750" y="111968"/>
                    <a:pt x="151656" y="119063"/>
                    <a:pt x="142875" y="119063"/>
                  </a:cubicBezTo>
                  <a:lnTo>
                    <a:pt x="79375" y="119063"/>
                  </a:lnTo>
                  <a:cubicBezTo>
                    <a:pt x="70594" y="119063"/>
                    <a:pt x="63500" y="111968"/>
                    <a:pt x="63500" y="103188"/>
                  </a:cubicBezTo>
                  <a:cubicBezTo>
                    <a:pt x="63500" y="94407"/>
                    <a:pt x="70594" y="87313"/>
                    <a:pt x="79375" y="87313"/>
                  </a:cubicBezTo>
                  <a:close/>
                  <a:moveTo>
                    <a:pt x="79375" y="142875"/>
                  </a:moveTo>
                  <a:lnTo>
                    <a:pt x="206375" y="142875"/>
                  </a:lnTo>
                  <a:cubicBezTo>
                    <a:pt x="215156" y="142875"/>
                    <a:pt x="222250" y="149969"/>
                    <a:pt x="222250" y="158750"/>
                  </a:cubicBezTo>
                  <a:cubicBezTo>
                    <a:pt x="222250" y="167531"/>
                    <a:pt x="215156" y="174625"/>
                    <a:pt x="206375" y="174625"/>
                  </a:cubicBezTo>
                  <a:lnTo>
                    <a:pt x="79375" y="174625"/>
                  </a:lnTo>
                  <a:cubicBezTo>
                    <a:pt x="70594" y="174625"/>
                    <a:pt x="63500" y="167531"/>
                    <a:pt x="63500" y="158750"/>
                  </a:cubicBezTo>
                  <a:cubicBezTo>
                    <a:pt x="63500" y="149969"/>
                    <a:pt x="70594" y="142875"/>
                    <a:pt x="79375" y="142875"/>
                  </a:cubicBezTo>
                  <a:close/>
                </a:path>
              </a:pathLst>
            </a:custGeom>
            <a:solidFill>
              <a:srgbClr val="FFFFFF"/>
            </a:solidFill>
          </p:spPr>
        </p:sp>
        <p:sp>
          <p:nvSpPr>
            <p:cNvPr id="46" name="Text 44"/>
            <p:cNvSpPr/>
            <p:nvPr/>
          </p:nvSpPr>
          <p:spPr>
            <a:xfrm>
              <a:off x="16977" y="2757"/>
              <a:ext cx="5000" cy="533"/>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数据来源三：真实仓库环境</a:t>
              </a:r>
              <a:endParaRPr lang="en-US" sz="1600" dirty="0"/>
            </a:p>
          </p:txBody>
        </p:sp>
        <p:sp>
          <p:nvSpPr>
            <p:cNvPr id="47" name="Text 45"/>
            <p:cNvSpPr/>
            <p:nvPr/>
          </p:nvSpPr>
          <p:spPr>
            <a:xfrm>
              <a:off x="15777" y="3757"/>
              <a:ext cx="8833" cy="1300"/>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通过统计分析</a:t>
              </a:r>
              <a:r>
                <a:rPr lang="en-US" sz="1335" b="1" dirty="0">
                  <a:solidFill>
                    <a:srgbClr val="5A6472"/>
                  </a:solidFill>
                  <a:latin typeface="MiSans" pitchFamily="34" charset="-122"/>
                  <a:ea typeface="MiSans" pitchFamily="34" charset="-122"/>
                  <a:cs typeface="MiSans" pitchFamily="34" charset="-120"/>
                </a:rPr>
                <a:t>高Star开源项目</a:t>
              </a:r>
              <a:r>
                <a:rPr lang="en-US" sz="1335" dirty="0">
                  <a:solidFill>
                    <a:srgbClr val="E0E2E6">
                      <a:alpha val="80000"/>
                    </a:srgbClr>
                  </a:solidFill>
                  <a:latin typeface="MiSans" pitchFamily="34" charset="-122"/>
                  <a:ea typeface="MiSans" pitchFamily="34" charset="-122"/>
                  <a:cs typeface="MiSans" pitchFamily="34" charset="-120"/>
                </a:rPr>
                <a:t>的环境配置文件,总结当前开源社区中已被大量实践验证的主流环境配置模式。这些模式代表了开源社区在长期协作和反复复现过程中逐步形成的技术共识。</a:t>
              </a:r>
              <a:endParaRPr lang="en-US" sz="1600" dirty="0"/>
            </a:p>
          </p:txBody>
        </p:sp>
        <p:sp>
          <p:nvSpPr>
            <p:cNvPr id="48" name="Shape 46"/>
            <p:cNvSpPr/>
            <p:nvPr/>
          </p:nvSpPr>
          <p:spPr>
            <a:xfrm>
              <a:off x="15777" y="5323"/>
              <a:ext cx="8700" cy="2600"/>
            </a:xfrm>
            <a:custGeom>
              <a:avLst/>
              <a:gdLst/>
              <a:ahLst/>
              <a:cxnLst/>
              <a:rect l="l" t="t" r="r" b="b"/>
              <a:pathLst>
                <a:path w="5524500" h="1651000">
                  <a:moveTo>
                    <a:pt x="84663" y="0"/>
                  </a:moveTo>
                  <a:lnTo>
                    <a:pt x="5439837" y="0"/>
                  </a:lnTo>
                  <a:cubicBezTo>
                    <a:pt x="5486595" y="0"/>
                    <a:pt x="5524500" y="37905"/>
                    <a:pt x="5524500" y="84663"/>
                  </a:cubicBezTo>
                  <a:lnTo>
                    <a:pt x="5524500" y="1566337"/>
                  </a:lnTo>
                  <a:cubicBezTo>
                    <a:pt x="5524500" y="1613095"/>
                    <a:pt x="5486595" y="1651000"/>
                    <a:pt x="5439837" y="1651000"/>
                  </a:cubicBezTo>
                  <a:lnTo>
                    <a:pt x="84663" y="1651000"/>
                  </a:lnTo>
                  <a:cubicBezTo>
                    <a:pt x="37905" y="1651000"/>
                    <a:pt x="0" y="1613095"/>
                    <a:pt x="0" y="1566337"/>
                  </a:cubicBezTo>
                  <a:lnTo>
                    <a:pt x="0" y="84663"/>
                  </a:lnTo>
                  <a:cubicBezTo>
                    <a:pt x="0" y="37936"/>
                    <a:pt x="37936" y="0"/>
                    <a:pt x="84663" y="0"/>
                  </a:cubicBezTo>
                  <a:close/>
                </a:path>
              </a:pathLst>
            </a:custGeom>
            <a:solidFill>
              <a:srgbClr val="5A6472">
                <a:alpha val="10196"/>
              </a:srgbClr>
            </a:solidFill>
          </p:spPr>
        </p:sp>
        <p:sp>
          <p:nvSpPr>
            <p:cNvPr id="49" name="Text 47"/>
            <p:cNvSpPr/>
            <p:nvPr/>
          </p:nvSpPr>
          <p:spPr>
            <a:xfrm>
              <a:off x="16044" y="5590"/>
              <a:ext cx="8300" cy="400"/>
            </a:xfrm>
            <a:prstGeom prst="rect">
              <a:avLst/>
            </a:prstGeom>
            <a:noFill/>
          </p:spPr>
          <p:txBody>
            <a:bodyPr wrap="square" lIns="0" tIns="0" rIns="0" bIns="0" rtlCol="0" anchor="ctr"/>
            <a:lstStyle/>
            <a:p>
              <a:pPr>
                <a:lnSpc>
                  <a:spcPct val="130000"/>
                </a:lnSpc>
              </a:pPr>
              <a:r>
                <a:rPr lang="en-US" sz="1335" b="1" dirty="0">
                  <a:solidFill>
                    <a:srgbClr val="E0E2E6"/>
                  </a:solidFill>
                  <a:latin typeface="MiSans" pitchFamily="34" charset="-122"/>
                  <a:ea typeface="MiSans" pitchFamily="34" charset="-122"/>
                  <a:cs typeface="MiSans" pitchFamily="34" charset="-120"/>
                </a:rPr>
                <a:t>统计维度</a:t>
              </a:r>
              <a:endParaRPr lang="en-US" sz="1600" dirty="0"/>
            </a:p>
          </p:txBody>
        </p:sp>
        <p:sp>
          <p:nvSpPr>
            <p:cNvPr id="50" name="Text 48"/>
            <p:cNvSpPr/>
            <p:nvPr/>
          </p:nvSpPr>
          <p:spPr>
            <a:xfrm>
              <a:off x="16044" y="6190"/>
              <a:ext cx="1733" cy="400"/>
            </a:xfrm>
            <a:prstGeom prst="rect">
              <a:avLst/>
            </a:prstGeom>
            <a:noFill/>
          </p:spPr>
          <p:txBody>
            <a:bodyPr wrap="square" lIns="0" tIns="0" rIns="0" bIns="0" rtlCol="0" anchor="ctr"/>
            <a:lstStyle/>
            <a:p>
              <a:pPr>
                <a:lnSpc>
                  <a:spcPct val="130000"/>
                </a:lnSpc>
              </a:pPr>
              <a:r>
                <a:rPr lang="en-US" sz="1335" dirty="0">
                  <a:solidFill>
                    <a:srgbClr val="E0E2E6">
                      <a:alpha val="80000"/>
                    </a:srgbClr>
                  </a:solidFill>
                  <a:latin typeface="MiSans" pitchFamily="34" charset="-122"/>
                  <a:ea typeface="MiSans" pitchFamily="34" charset="-122"/>
                  <a:cs typeface="MiSans" pitchFamily="34" charset="-120"/>
                </a:rPr>
                <a:t>分析项目数量</a:t>
              </a:r>
              <a:endParaRPr lang="en-US" sz="1600" dirty="0"/>
            </a:p>
          </p:txBody>
        </p:sp>
        <p:sp>
          <p:nvSpPr>
            <p:cNvPr id="52" name="Text 50"/>
            <p:cNvSpPr/>
            <p:nvPr/>
          </p:nvSpPr>
          <p:spPr>
            <a:xfrm>
              <a:off x="16044" y="6723"/>
              <a:ext cx="1700" cy="400"/>
            </a:xfrm>
            <a:prstGeom prst="rect">
              <a:avLst/>
            </a:prstGeom>
            <a:noFill/>
          </p:spPr>
          <p:txBody>
            <a:bodyPr wrap="square" lIns="0" tIns="0" rIns="0" bIns="0" rtlCol="0" anchor="ctr"/>
            <a:lstStyle/>
            <a:p>
              <a:pPr>
                <a:lnSpc>
                  <a:spcPct val="130000"/>
                </a:lnSpc>
              </a:pPr>
              <a:r>
                <a:rPr lang="en-US" sz="1335" dirty="0">
                  <a:solidFill>
                    <a:srgbClr val="E0E2E6">
                      <a:alpha val="80000"/>
                    </a:srgbClr>
                  </a:solidFill>
                  <a:latin typeface="MiSans" pitchFamily="34" charset="-122"/>
                  <a:ea typeface="MiSans" pitchFamily="34" charset="-122"/>
                  <a:cs typeface="MiSans" pitchFamily="34" charset="-120"/>
                </a:rPr>
                <a:t>Star总数门槛</a:t>
              </a:r>
              <a:endParaRPr lang="en-US" sz="1600" dirty="0"/>
            </a:p>
          </p:txBody>
        </p:sp>
        <p:sp>
          <p:nvSpPr>
            <p:cNvPr id="54" name="Text 52"/>
            <p:cNvSpPr/>
            <p:nvPr/>
          </p:nvSpPr>
          <p:spPr>
            <a:xfrm>
              <a:off x="16044" y="7257"/>
              <a:ext cx="1733" cy="400"/>
            </a:xfrm>
            <a:prstGeom prst="rect">
              <a:avLst/>
            </a:prstGeom>
            <a:noFill/>
          </p:spPr>
          <p:txBody>
            <a:bodyPr wrap="square" lIns="0" tIns="0" rIns="0" bIns="0" rtlCol="0" anchor="ctr"/>
            <a:lstStyle/>
            <a:p>
              <a:pPr>
                <a:lnSpc>
                  <a:spcPct val="130000"/>
                </a:lnSpc>
              </a:pPr>
              <a:r>
                <a:rPr lang="en-US" sz="1335" dirty="0">
                  <a:solidFill>
                    <a:srgbClr val="E0E2E6">
                      <a:alpha val="80000"/>
                    </a:srgbClr>
                  </a:solidFill>
                  <a:latin typeface="MiSans" pitchFamily="34" charset="-122"/>
                  <a:ea typeface="MiSans" pitchFamily="34" charset="-122"/>
                  <a:cs typeface="MiSans" pitchFamily="34" charset="-120"/>
                </a:rPr>
                <a:t>配置模式提取</a:t>
              </a:r>
              <a:endParaRPr lang="en-US" sz="1600" dirty="0"/>
            </a:p>
          </p:txBody>
        </p:sp>
      </p:grpSp>
      <p:grpSp>
        <p:nvGrpSpPr>
          <p:cNvPr id="73" name="组合 72"/>
          <p:cNvGrpSpPr/>
          <p:nvPr/>
        </p:nvGrpSpPr>
        <p:grpSpPr>
          <a:xfrm>
            <a:off x="9754235" y="5509260"/>
            <a:ext cx="6071235" cy="3075940"/>
            <a:chOff x="15350" y="12553"/>
            <a:chExt cx="9561" cy="4844"/>
          </a:xfrm>
        </p:grpSpPr>
        <p:sp>
          <p:nvSpPr>
            <p:cNvPr id="56" name="Shape 54"/>
            <p:cNvSpPr/>
            <p:nvPr/>
          </p:nvSpPr>
          <p:spPr>
            <a:xfrm>
              <a:off x="15350" y="12553"/>
              <a:ext cx="9561" cy="4844"/>
            </a:xfrm>
            <a:custGeom>
              <a:avLst/>
              <a:gdLst/>
              <a:ahLst/>
              <a:cxnLst/>
              <a:rect l="l" t="t" r="r" b="b"/>
              <a:pathLst>
                <a:path w="6071306" h="3076222">
                  <a:moveTo>
                    <a:pt x="126986" y="0"/>
                  </a:moveTo>
                  <a:lnTo>
                    <a:pt x="5944319" y="0"/>
                  </a:lnTo>
                  <a:cubicBezTo>
                    <a:pt x="6014452" y="0"/>
                    <a:pt x="6071306" y="56854"/>
                    <a:pt x="6071306" y="126986"/>
                  </a:cubicBezTo>
                  <a:lnTo>
                    <a:pt x="6071306" y="2949236"/>
                  </a:lnTo>
                  <a:cubicBezTo>
                    <a:pt x="6071306" y="3019368"/>
                    <a:pt x="6014452" y="3076222"/>
                    <a:pt x="5944319" y="3076222"/>
                  </a:cubicBezTo>
                  <a:lnTo>
                    <a:pt x="126986" y="3076222"/>
                  </a:lnTo>
                  <a:cubicBezTo>
                    <a:pt x="56854" y="3076222"/>
                    <a:pt x="0" y="3019368"/>
                    <a:pt x="0" y="2949236"/>
                  </a:cubicBezTo>
                  <a:lnTo>
                    <a:pt x="0" y="126986"/>
                  </a:lnTo>
                  <a:cubicBezTo>
                    <a:pt x="0" y="56901"/>
                    <a:pt x="56901" y="0"/>
                    <a:pt x="126986" y="0"/>
                  </a:cubicBezTo>
                  <a:close/>
                </a:path>
              </a:pathLst>
            </a:custGeom>
            <a:gradFill flip="none" rotWithShape="1">
              <a:gsLst>
                <a:gs pos="0">
                  <a:srgbClr val="3D8F8A">
                    <a:alpha val="20000"/>
                  </a:srgbClr>
                </a:gs>
                <a:gs pos="100000">
                  <a:srgbClr val="E5A044">
                    <a:alpha val="10000"/>
                  </a:srgbClr>
                </a:gs>
              </a:gsLst>
              <a:lin ang="2700000" scaled="1"/>
            </a:gradFill>
            <a:ln w="8467">
              <a:solidFill>
                <a:srgbClr val="3D8F8A">
                  <a:alpha val="40000"/>
                </a:srgbClr>
              </a:solidFill>
              <a:prstDash val="solid"/>
            </a:ln>
          </p:spPr>
        </p:sp>
        <p:sp>
          <p:nvSpPr>
            <p:cNvPr id="57" name="Shape 55"/>
            <p:cNvSpPr/>
            <p:nvPr/>
          </p:nvSpPr>
          <p:spPr>
            <a:xfrm>
              <a:off x="19947" y="12959"/>
              <a:ext cx="375" cy="500"/>
            </a:xfrm>
            <a:custGeom>
              <a:avLst/>
              <a:gdLst/>
              <a:ahLst/>
              <a:cxnLst/>
              <a:rect l="l" t="t" r="r" b="b"/>
              <a:pathLst>
                <a:path w="238125" h="317500">
                  <a:moveTo>
                    <a:pt x="181632" y="238125"/>
                  </a:moveTo>
                  <a:cubicBezTo>
                    <a:pt x="186159" y="224296"/>
                    <a:pt x="195213" y="211770"/>
                    <a:pt x="205445" y="200980"/>
                  </a:cubicBezTo>
                  <a:cubicBezTo>
                    <a:pt x="225723" y="179648"/>
                    <a:pt x="238125" y="150813"/>
                    <a:pt x="238125" y="119063"/>
                  </a:cubicBezTo>
                  <a:cubicBezTo>
                    <a:pt x="238125" y="53330"/>
                    <a:pt x="184795" y="0"/>
                    <a:pt x="119062" y="0"/>
                  </a:cubicBezTo>
                  <a:cubicBezTo>
                    <a:pt x="53330" y="0"/>
                    <a:pt x="0" y="53330"/>
                    <a:pt x="0" y="119062"/>
                  </a:cubicBezTo>
                  <a:cubicBezTo>
                    <a:pt x="0" y="150813"/>
                    <a:pt x="12402" y="179648"/>
                    <a:pt x="32680" y="200980"/>
                  </a:cubicBezTo>
                  <a:cubicBezTo>
                    <a:pt x="42912" y="211770"/>
                    <a:pt x="52028" y="224296"/>
                    <a:pt x="56493" y="238125"/>
                  </a:cubicBezTo>
                  <a:lnTo>
                    <a:pt x="181570" y="238125"/>
                  </a:lnTo>
                  <a:close/>
                  <a:moveTo>
                    <a:pt x="178594" y="267891"/>
                  </a:moveTo>
                  <a:lnTo>
                    <a:pt x="59531" y="267891"/>
                  </a:lnTo>
                  <a:lnTo>
                    <a:pt x="59531" y="277813"/>
                  </a:lnTo>
                  <a:cubicBezTo>
                    <a:pt x="59531" y="305222"/>
                    <a:pt x="81731" y="327422"/>
                    <a:pt x="109141" y="327422"/>
                  </a:cubicBezTo>
                  <a:lnTo>
                    <a:pt x="128984" y="327422"/>
                  </a:lnTo>
                  <a:cubicBezTo>
                    <a:pt x="156394" y="327422"/>
                    <a:pt x="178594" y="305222"/>
                    <a:pt x="178594" y="277813"/>
                  </a:cubicBezTo>
                  <a:lnTo>
                    <a:pt x="178594" y="267891"/>
                  </a:lnTo>
                  <a:close/>
                  <a:moveTo>
                    <a:pt x="114102" y="69453"/>
                  </a:moveTo>
                  <a:cubicBezTo>
                    <a:pt x="89421" y="69453"/>
                    <a:pt x="69453" y="89421"/>
                    <a:pt x="69453" y="114102"/>
                  </a:cubicBezTo>
                  <a:cubicBezTo>
                    <a:pt x="69453" y="122349"/>
                    <a:pt x="62818" y="128984"/>
                    <a:pt x="54570" y="128984"/>
                  </a:cubicBezTo>
                  <a:cubicBezTo>
                    <a:pt x="46323" y="128984"/>
                    <a:pt x="39688" y="122349"/>
                    <a:pt x="39688" y="114102"/>
                  </a:cubicBezTo>
                  <a:cubicBezTo>
                    <a:pt x="39688" y="72988"/>
                    <a:pt x="72988" y="39688"/>
                    <a:pt x="114102" y="39688"/>
                  </a:cubicBezTo>
                  <a:cubicBezTo>
                    <a:pt x="122349" y="39688"/>
                    <a:pt x="128984" y="46323"/>
                    <a:pt x="128984" y="54570"/>
                  </a:cubicBezTo>
                  <a:cubicBezTo>
                    <a:pt x="128984" y="62818"/>
                    <a:pt x="122349" y="69453"/>
                    <a:pt x="114102" y="69453"/>
                  </a:cubicBezTo>
                  <a:close/>
                </a:path>
              </a:pathLst>
            </a:custGeom>
            <a:solidFill>
              <a:srgbClr val="E5A044"/>
            </a:solidFill>
          </p:spPr>
        </p:sp>
        <p:sp>
          <p:nvSpPr>
            <p:cNvPr id="58" name="Text 56"/>
            <p:cNvSpPr/>
            <p:nvPr/>
          </p:nvSpPr>
          <p:spPr>
            <a:xfrm>
              <a:off x="15672" y="13659"/>
              <a:ext cx="8917" cy="467"/>
            </a:xfrm>
            <a:prstGeom prst="rect">
              <a:avLst/>
            </a:prstGeom>
            <a:noFill/>
          </p:spPr>
          <p:txBody>
            <a:bodyPr wrap="square" lIns="0" tIns="0" rIns="0" bIns="0" rtlCol="0" anchor="ctr"/>
            <a:lstStyle/>
            <a:p>
              <a:pPr algn="ct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数据驱动决策价值</a:t>
              </a:r>
              <a:endParaRPr lang="en-US" sz="1600" dirty="0"/>
            </a:p>
          </p:txBody>
        </p:sp>
        <p:sp>
          <p:nvSpPr>
            <p:cNvPr id="59" name="Shape 57"/>
            <p:cNvSpPr/>
            <p:nvPr/>
          </p:nvSpPr>
          <p:spPr>
            <a:xfrm>
              <a:off x="15755" y="14392"/>
              <a:ext cx="8750" cy="1200"/>
            </a:xfrm>
            <a:custGeom>
              <a:avLst/>
              <a:gdLst/>
              <a:ahLst/>
              <a:cxnLst/>
              <a:rect l="l" t="t" r="r" b="b"/>
              <a:pathLst>
                <a:path w="5556250" h="762000">
                  <a:moveTo>
                    <a:pt x="84666" y="0"/>
                  </a:moveTo>
                  <a:lnTo>
                    <a:pt x="5471584" y="0"/>
                  </a:lnTo>
                  <a:cubicBezTo>
                    <a:pt x="5518344" y="0"/>
                    <a:pt x="5556250" y="37906"/>
                    <a:pt x="5556250" y="84666"/>
                  </a:cubicBezTo>
                  <a:lnTo>
                    <a:pt x="5556250" y="677334"/>
                  </a:lnTo>
                  <a:cubicBezTo>
                    <a:pt x="5556250" y="724094"/>
                    <a:pt x="5518344" y="762000"/>
                    <a:pt x="5471584" y="762000"/>
                  </a:cubicBezTo>
                  <a:lnTo>
                    <a:pt x="84666" y="762000"/>
                  </a:lnTo>
                  <a:cubicBezTo>
                    <a:pt x="37906" y="762000"/>
                    <a:pt x="0" y="724094"/>
                    <a:pt x="0" y="677334"/>
                  </a:cubicBezTo>
                  <a:lnTo>
                    <a:pt x="0" y="84666"/>
                  </a:lnTo>
                  <a:cubicBezTo>
                    <a:pt x="0" y="37937"/>
                    <a:pt x="37937" y="0"/>
                    <a:pt x="84666" y="0"/>
                  </a:cubicBezTo>
                  <a:close/>
                </a:path>
              </a:pathLst>
            </a:custGeom>
            <a:solidFill>
              <a:srgbClr val="3D8F8A">
                <a:alpha val="10196"/>
              </a:srgbClr>
            </a:solidFill>
          </p:spPr>
        </p:sp>
        <p:sp>
          <p:nvSpPr>
            <p:cNvPr id="60" name="Text 58"/>
            <p:cNvSpPr/>
            <p:nvPr/>
          </p:nvSpPr>
          <p:spPr>
            <a:xfrm>
              <a:off x="15955" y="14659"/>
              <a:ext cx="2000" cy="400"/>
            </a:xfrm>
            <a:prstGeom prst="rect">
              <a:avLst/>
            </a:prstGeom>
            <a:noFill/>
          </p:spPr>
          <p:txBody>
            <a:bodyPr wrap="square" lIns="0" tIns="0" rIns="0" bIns="0" rtlCol="0" anchor="ctr"/>
            <a:lstStyle/>
            <a:p>
              <a:pPr>
                <a:lnSpc>
                  <a:spcPct val="130000"/>
                </a:lnSpc>
              </a:pPr>
              <a:r>
                <a:rPr lang="en-US" sz="1335" dirty="0">
                  <a:solidFill>
                    <a:srgbClr val="E0E2E6">
                      <a:alpha val="80000"/>
                    </a:srgbClr>
                  </a:solidFill>
                  <a:latin typeface="MiSans" pitchFamily="34" charset="-122"/>
                  <a:ea typeface="MiSans" pitchFamily="34" charset="-122"/>
                  <a:cs typeface="MiSans" pitchFamily="34" charset="-120"/>
                </a:rPr>
                <a:t>配置准确率提升</a:t>
              </a:r>
              <a:endParaRPr lang="en-US" sz="1600" dirty="0"/>
            </a:p>
          </p:txBody>
        </p:sp>
        <p:sp>
          <p:nvSpPr>
            <p:cNvPr id="62" name="Shape 60"/>
            <p:cNvSpPr/>
            <p:nvPr/>
          </p:nvSpPr>
          <p:spPr>
            <a:xfrm>
              <a:off x="15955" y="15259"/>
              <a:ext cx="8350" cy="133"/>
            </a:xfrm>
            <a:custGeom>
              <a:avLst/>
              <a:gdLst/>
              <a:ahLst/>
              <a:cxnLst/>
              <a:rect l="l" t="t" r="r" b="b"/>
              <a:pathLst>
                <a:path w="5302250" h="84667">
                  <a:moveTo>
                    <a:pt x="42333" y="0"/>
                  </a:moveTo>
                  <a:lnTo>
                    <a:pt x="5259917" y="0"/>
                  </a:lnTo>
                  <a:cubicBezTo>
                    <a:pt x="5283297" y="0"/>
                    <a:pt x="5302250" y="18953"/>
                    <a:pt x="5302250" y="42333"/>
                  </a:cubicBezTo>
                  <a:lnTo>
                    <a:pt x="5302250" y="42333"/>
                  </a:lnTo>
                  <a:cubicBezTo>
                    <a:pt x="5302250" y="65713"/>
                    <a:pt x="5283297" y="84667"/>
                    <a:pt x="5259917" y="84667"/>
                  </a:cubicBezTo>
                  <a:lnTo>
                    <a:pt x="42333" y="84667"/>
                  </a:lnTo>
                  <a:cubicBezTo>
                    <a:pt x="18953" y="84667"/>
                    <a:pt x="0" y="65713"/>
                    <a:pt x="0" y="42333"/>
                  </a:cubicBezTo>
                  <a:lnTo>
                    <a:pt x="0" y="42333"/>
                  </a:lnTo>
                  <a:cubicBezTo>
                    <a:pt x="0" y="18953"/>
                    <a:pt x="18953" y="0"/>
                    <a:pt x="42333" y="0"/>
                  </a:cubicBezTo>
                  <a:close/>
                </a:path>
              </a:pathLst>
            </a:custGeom>
            <a:solidFill>
              <a:srgbClr val="3D8F8A">
                <a:alpha val="20000"/>
              </a:srgbClr>
            </a:solidFill>
          </p:spPr>
        </p:sp>
        <p:sp>
          <p:nvSpPr>
            <p:cNvPr id="63" name="Shape 61"/>
            <p:cNvSpPr/>
            <p:nvPr/>
          </p:nvSpPr>
          <p:spPr>
            <a:xfrm>
              <a:off x="15955" y="15259"/>
              <a:ext cx="7100" cy="133"/>
            </a:xfrm>
            <a:custGeom>
              <a:avLst/>
              <a:gdLst/>
              <a:ahLst/>
              <a:cxnLst/>
              <a:rect l="l" t="t" r="r" b="b"/>
              <a:pathLst>
                <a:path w="4508500" h="84667">
                  <a:moveTo>
                    <a:pt x="42333" y="0"/>
                  </a:moveTo>
                  <a:lnTo>
                    <a:pt x="4466167" y="0"/>
                  </a:lnTo>
                  <a:cubicBezTo>
                    <a:pt x="4489547" y="0"/>
                    <a:pt x="4508500" y="18953"/>
                    <a:pt x="4508500" y="42333"/>
                  </a:cubicBezTo>
                  <a:lnTo>
                    <a:pt x="4508500" y="42333"/>
                  </a:lnTo>
                  <a:cubicBezTo>
                    <a:pt x="4508500" y="65713"/>
                    <a:pt x="4489547" y="84667"/>
                    <a:pt x="4466167" y="84667"/>
                  </a:cubicBezTo>
                  <a:lnTo>
                    <a:pt x="42333" y="84667"/>
                  </a:lnTo>
                  <a:cubicBezTo>
                    <a:pt x="18953" y="84667"/>
                    <a:pt x="0" y="65713"/>
                    <a:pt x="0" y="42333"/>
                  </a:cubicBezTo>
                  <a:lnTo>
                    <a:pt x="0" y="42333"/>
                  </a:lnTo>
                  <a:cubicBezTo>
                    <a:pt x="0" y="18953"/>
                    <a:pt x="18953" y="0"/>
                    <a:pt x="42333" y="0"/>
                  </a:cubicBezTo>
                  <a:close/>
                </a:path>
              </a:pathLst>
            </a:custGeom>
            <a:solidFill>
              <a:srgbClr val="3D8F8A"/>
            </a:solidFill>
          </p:spPr>
        </p:sp>
        <p:sp>
          <p:nvSpPr>
            <p:cNvPr id="64" name="Shape 62"/>
            <p:cNvSpPr/>
            <p:nvPr/>
          </p:nvSpPr>
          <p:spPr>
            <a:xfrm>
              <a:off x="15755" y="15792"/>
              <a:ext cx="8750" cy="1200"/>
            </a:xfrm>
            <a:custGeom>
              <a:avLst/>
              <a:gdLst/>
              <a:ahLst/>
              <a:cxnLst/>
              <a:rect l="l" t="t" r="r" b="b"/>
              <a:pathLst>
                <a:path w="5556250" h="762000">
                  <a:moveTo>
                    <a:pt x="84666" y="0"/>
                  </a:moveTo>
                  <a:lnTo>
                    <a:pt x="5471584" y="0"/>
                  </a:lnTo>
                  <a:cubicBezTo>
                    <a:pt x="5518344" y="0"/>
                    <a:pt x="5556250" y="37906"/>
                    <a:pt x="5556250" y="84666"/>
                  </a:cubicBezTo>
                  <a:lnTo>
                    <a:pt x="5556250" y="677334"/>
                  </a:lnTo>
                  <a:cubicBezTo>
                    <a:pt x="5556250" y="724094"/>
                    <a:pt x="5518344" y="762000"/>
                    <a:pt x="5471584" y="762000"/>
                  </a:cubicBezTo>
                  <a:lnTo>
                    <a:pt x="84666" y="762000"/>
                  </a:lnTo>
                  <a:cubicBezTo>
                    <a:pt x="37906" y="762000"/>
                    <a:pt x="0" y="724094"/>
                    <a:pt x="0" y="677334"/>
                  </a:cubicBezTo>
                  <a:lnTo>
                    <a:pt x="0" y="84666"/>
                  </a:lnTo>
                  <a:cubicBezTo>
                    <a:pt x="0" y="37937"/>
                    <a:pt x="37937" y="0"/>
                    <a:pt x="84666" y="0"/>
                  </a:cubicBezTo>
                  <a:close/>
                </a:path>
              </a:pathLst>
            </a:custGeom>
            <a:solidFill>
              <a:srgbClr val="E5A044">
                <a:alpha val="10196"/>
              </a:srgbClr>
            </a:solidFill>
          </p:spPr>
        </p:sp>
        <p:sp>
          <p:nvSpPr>
            <p:cNvPr id="65" name="Text 63"/>
            <p:cNvSpPr/>
            <p:nvPr/>
          </p:nvSpPr>
          <p:spPr>
            <a:xfrm>
              <a:off x="15955" y="16059"/>
              <a:ext cx="2000" cy="400"/>
            </a:xfrm>
            <a:prstGeom prst="rect">
              <a:avLst/>
            </a:prstGeom>
            <a:noFill/>
          </p:spPr>
          <p:txBody>
            <a:bodyPr wrap="square" lIns="0" tIns="0" rIns="0" bIns="0" rtlCol="0" anchor="ctr"/>
            <a:lstStyle/>
            <a:p>
              <a:pPr>
                <a:lnSpc>
                  <a:spcPct val="130000"/>
                </a:lnSpc>
              </a:pPr>
              <a:r>
                <a:rPr lang="en-US" sz="1335" dirty="0">
                  <a:solidFill>
                    <a:srgbClr val="E0E2E6">
                      <a:alpha val="80000"/>
                    </a:srgbClr>
                  </a:solidFill>
                  <a:latin typeface="MiSans" pitchFamily="34" charset="-122"/>
                  <a:ea typeface="MiSans" pitchFamily="34" charset="-122"/>
                  <a:cs typeface="MiSans" pitchFamily="34" charset="-120"/>
                </a:rPr>
                <a:t>复现成功率提升</a:t>
              </a:r>
              <a:endParaRPr lang="en-US" sz="1600" dirty="0"/>
            </a:p>
          </p:txBody>
        </p:sp>
        <p:sp>
          <p:nvSpPr>
            <p:cNvPr id="67" name="Shape 65"/>
            <p:cNvSpPr/>
            <p:nvPr/>
          </p:nvSpPr>
          <p:spPr>
            <a:xfrm>
              <a:off x="15955" y="16659"/>
              <a:ext cx="8350" cy="133"/>
            </a:xfrm>
            <a:custGeom>
              <a:avLst/>
              <a:gdLst/>
              <a:ahLst/>
              <a:cxnLst/>
              <a:rect l="l" t="t" r="r" b="b"/>
              <a:pathLst>
                <a:path w="5302250" h="84667">
                  <a:moveTo>
                    <a:pt x="42333" y="0"/>
                  </a:moveTo>
                  <a:lnTo>
                    <a:pt x="5259917" y="0"/>
                  </a:lnTo>
                  <a:cubicBezTo>
                    <a:pt x="5283297" y="0"/>
                    <a:pt x="5302250" y="18953"/>
                    <a:pt x="5302250" y="42333"/>
                  </a:cubicBezTo>
                  <a:lnTo>
                    <a:pt x="5302250" y="42333"/>
                  </a:lnTo>
                  <a:cubicBezTo>
                    <a:pt x="5302250" y="65713"/>
                    <a:pt x="5283297" y="84667"/>
                    <a:pt x="5259917" y="84667"/>
                  </a:cubicBezTo>
                  <a:lnTo>
                    <a:pt x="42333" y="84667"/>
                  </a:lnTo>
                  <a:cubicBezTo>
                    <a:pt x="18953" y="84667"/>
                    <a:pt x="0" y="65713"/>
                    <a:pt x="0" y="42333"/>
                  </a:cubicBezTo>
                  <a:lnTo>
                    <a:pt x="0" y="42333"/>
                  </a:lnTo>
                  <a:cubicBezTo>
                    <a:pt x="0" y="18953"/>
                    <a:pt x="18953" y="0"/>
                    <a:pt x="42333" y="0"/>
                  </a:cubicBezTo>
                  <a:close/>
                </a:path>
              </a:pathLst>
            </a:custGeom>
            <a:solidFill>
              <a:srgbClr val="E5A044">
                <a:alpha val="20000"/>
              </a:srgbClr>
            </a:solidFill>
          </p:spPr>
        </p:sp>
        <p:sp>
          <p:nvSpPr>
            <p:cNvPr id="68" name="Shape 66"/>
            <p:cNvSpPr/>
            <p:nvPr/>
          </p:nvSpPr>
          <p:spPr>
            <a:xfrm>
              <a:off x="15955" y="16659"/>
              <a:ext cx="7517" cy="133"/>
            </a:xfrm>
            <a:custGeom>
              <a:avLst/>
              <a:gdLst/>
              <a:ahLst/>
              <a:cxnLst/>
              <a:rect l="l" t="t" r="r" b="b"/>
              <a:pathLst>
                <a:path w="4773083" h="84667">
                  <a:moveTo>
                    <a:pt x="42333" y="0"/>
                  </a:moveTo>
                  <a:lnTo>
                    <a:pt x="4730750" y="0"/>
                  </a:lnTo>
                  <a:cubicBezTo>
                    <a:pt x="4754130" y="0"/>
                    <a:pt x="4773083" y="18953"/>
                    <a:pt x="4773083" y="42333"/>
                  </a:cubicBezTo>
                  <a:lnTo>
                    <a:pt x="4773083" y="42333"/>
                  </a:lnTo>
                  <a:cubicBezTo>
                    <a:pt x="4773083" y="65713"/>
                    <a:pt x="4754130" y="84667"/>
                    <a:pt x="4730750" y="84667"/>
                  </a:cubicBezTo>
                  <a:lnTo>
                    <a:pt x="42333" y="84667"/>
                  </a:lnTo>
                  <a:cubicBezTo>
                    <a:pt x="18953" y="84667"/>
                    <a:pt x="0" y="65713"/>
                    <a:pt x="0" y="42333"/>
                  </a:cubicBezTo>
                  <a:lnTo>
                    <a:pt x="0" y="42333"/>
                  </a:lnTo>
                  <a:cubicBezTo>
                    <a:pt x="0" y="18953"/>
                    <a:pt x="18953" y="0"/>
                    <a:pt x="42333" y="0"/>
                  </a:cubicBezTo>
                  <a:close/>
                </a:path>
              </a:pathLst>
            </a:custGeom>
            <a:solidFill>
              <a:srgbClr val="E5A044"/>
            </a:solidFill>
          </p:spPr>
        </p:sp>
      </p:gr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529167"/>
            <a:ext cx="677333" cy="42333"/>
          </a:xfrm>
          <a:custGeom>
            <a:avLst/>
            <a:gdLst/>
            <a:ahLst/>
            <a:cxnLst/>
            <a:rect l="l" t="t" r="r" b="b"/>
            <a:pathLst>
              <a:path w="677333" h="42333">
                <a:moveTo>
                  <a:pt x="0" y="0"/>
                </a:moveTo>
                <a:lnTo>
                  <a:pt x="677333" y="0"/>
                </a:lnTo>
                <a:lnTo>
                  <a:pt x="677333" y="42333"/>
                </a:lnTo>
                <a:lnTo>
                  <a:pt x="0" y="42333"/>
                </a:lnTo>
                <a:lnTo>
                  <a:pt x="0" y="0"/>
                </a:lnTo>
                <a:close/>
              </a:path>
            </a:pathLst>
          </a:custGeom>
          <a:solidFill>
            <a:srgbClr val="3D8F8A"/>
          </a:solidFill>
        </p:spPr>
      </p:sp>
      <p:sp>
        <p:nvSpPr>
          <p:cNvPr id="3" name="Text 1"/>
          <p:cNvSpPr/>
          <p:nvPr/>
        </p:nvSpPr>
        <p:spPr>
          <a:xfrm>
            <a:off x="1270000" y="423333"/>
            <a:ext cx="2349500" cy="254000"/>
          </a:xfrm>
          <a:prstGeom prst="rect">
            <a:avLst/>
          </a:prstGeom>
          <a:noFill/>
        </p:spPr>
        <p:txBody>
          <a:bodyPr wrap="square" lIns="0" tIns="0" rIns="0" bIns="0" rtlCol="0" anchor="ctr"/>
          <a:lstStyle/>
          <a:p>
            <a:pPr>
              <a:lnSpc>
                <a:spcPct val="130000"/>
              </a:lnSpc>
            </a:pPr>
            <a:r>
              <a:rPr lang="en-US" sz="1335" b="1" kern="0" spc="67" dirty="0">
                <a:solidFill>
                  <a:srgbClr val="3D8F8A"/>
                </a:solidFill>
                <a:latin typeface="MiSans" pitchFamily="34" charset="-122"/>
                <a:ea typeface="MiSans" pitchFamily="34" charset="-122"/>
                <a:cs typeface="MiSans" pitchFamily="34" charset="-120"/>
              </a:rPr>
              <a:t>APPLICATION SCENARIO 1</a:t>
            </a:r>
            <a:endParaRPr lang="en-US" sz="1600" dirty="0"/>
          </a:p>
        </p:txBody>
      </p:sp>
      <p:sp>
        <p:nvSpPr>
          <p:cNvPr id="4" name="Text 2"/>
          <p:cNvSpPr/>
          <p:nvPr/>
        </p:nvSpPr>
        <p:spPr>
          <a:xfrm>
            <a:off x="423333" y="804333"/>
            <a:ext cx="15663333" cy="508000"/>
          </a:xfrm>
          <a:prstGeom prst="rect">
            <a:avLst/>
          </a:prstGeom>
          <a:noFill/>
        </p:spPr>
        <p:txBody>
          <a:bodyPr wrap="square" lIns="0" tIns="0" rIns="0" bIns="0" rtlCol="0" anchor="ctr"/>
          <a:lstStyle/>
          <a:p>
            <a:pPr>
              <a:lnSpc>
                <a:spcPct val="80000"/>
              </a:lnSpc>
            </a:pPr>
            <a:r>
              <a:rPr lang="en-US" sz="4000" b="1" dirty="0">
                <a:solidFill>
                  <a:srgbClr val="E0E2E6"/>
                </a:solidFill>
                <a:latin typeface="阿里妈妈数黑体" pitchFamily="34" charset="-122"/>
                <a:ea typeface="阿里妈妈数黑体" pitchFamily="34" charset="-122"/>
                <a:cs typeface="阿里妈妈数黑体" pitchFamily="34" charset="-120"/>
              </a:rPr>
              <a:t>应用场景：开源项目维护者</a:t>
            </a:r>
            <a:endParaRPr lang="en-US" sz="1600" dirty="0"/>
          </a:p>
        </p:txBody>
      </p:sp>
      <p:sp>
        <p:nvSpPr>
          <p:cNvPr id="8" name="Shape 6"/>
          <p:cNvSpPr/>
          <p:nvPr/>
        </p:nvSpPr>
        <p:spPr>
          <a:xfrm>
            <a:off x="433705" y="1425575"/>
            <a:ext cx="9101455" cy="3520440"/>
          </a:xfrm>
          <a:custGeom>
            <a:avLst/>
            <a:gdLst/>
            <a:ahLst/>
            <a:cxnLst/>
            <a:rect l="l" t="t" r="r" b="b"/>
            <a:pathLst>
              <a:path w="9101667" h="4318000">
                <a:moveTo>
                  <a:pt x="126992" y="0"/>
                </a:moveTo>
                <a:lnTo>
                  <a:pt x="8974674" y="0"/>
                </a:lnTo>
                <a:cubicBezTo>
                  <a:pt x="9044810" y="0"/>
                  <a:pt x="9101667" y="56856"/>
                  <a:pt x="9101667" y="126992"/>
                </a:cubicBezTo>
                <a:lnTo>
                  <a:pt x="9101667" y="4191008"/>
                </a:lnTo>
                <a:cubicBezTo>
                  <a:pt x="9101667" y="4261144"/>
                  <a:pt x="9044810" y="4318000"/>
                  <a:pt x="8974674" y="4318000"/>
                </a:cubicBezTo>
                <a:lnTo>
                  <a:pt x="126992" y="4318000"/>
                </a:lnTo>
                <a:cubicBezTo>
                  <a:pt x="56856" y="4318000"/>
                  <a:pt x="0" y="4261144"/>
                  <a:pt x="0" y="4191008"/>
                </a:cubicBezTo>
                <a:lnTo>
                  <a:pt x="0" y="126992"/>
                </a:lnTo>
                <a:cubicBezTo>
                  <a:pt x="0" y="56903"/>
                  <a:pt x="56903" y="0"/>
                  <a:pt x="126992" y="0"/>
                </a:cubicBezTo>
                <a:close/>
              </a:path>
            </a:pathLst>
          </a:custGeom>
          <a:gradFill flip="none" rotWithShape="1">
            <a:gsLst>
              <a:gs pos="0">
                <a:srgbClr val="E5A044">
                  <a:alpha val="15000"/>
                </a:srgbClr>
              </a:gs>
              <a:gs pos="100000">
                <a:srgbClr val="000000">
                  <a:alpha val="0"/>
                </a:srgbClr>
              </a:gs>
            </a:gsLst>
            <a:lin ang="2700000" scaled="1"/>
          </a:gradFill>
          <a:ln w="25400">
            <a:solidFill>
              <a:srgbClr val="E5A044">
                <a:alpha val="40000"/>
              </a:srgbClr>
            </a:solidFill>
            <a:prstDash val="solid"/>
          </a:ln>
        </p:spPr>
      </p:sp>
      <p:sp>
        <p:nvSpPr>
          <p:cNvPr id="9" name="Shape 7"/>
          <p:cNvSpPr/>
          <p:nvPr/>
        </p:nvSpPr>
        <p:spPr>
          <a:xfrm>
            <a:off x="698500" y="1641475"/>
            <a:ext cx="592455" cy="483235"/>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E5A044"/>
          </a:solidFill>
        </p:spPr>
      </p:sp>
      <p:sp>
        <p:nvSpPr>
          <p:cNvPr id="10" name="Shape 8"/>
          <p:cNvSpPr/>
          <p:nvPr/>
        </p:nvSpPr>
        <p:spPr>
          <a:xfrm>
            <a:off x="868045" y="1779270"/>
            <a:ext cx="254000" cy="207010"/>
          </a:xfrm>
          <a:custGeom>
            <a:avLst/>
            <a:gdLst/>
            <a:ahLst/>
            <a:cxnLst/>
            <a:rect l="l" t="t" r="r" b="b"/>
            <a:pathLst>
              <a:path w="254000" h="254000">
                <a:moveTo>
                  <a:pt x="127000" y="0"/>
                </a:moveTo>
                <a:cubicBezTo>
                  <a:pt x="134293" y="0"/>
                  <a:pt x="140990" y="4018"/>
                  <a:pt x="144463" y="10418"/>
                </a:cubicBezTo>
                <a:lnTo>
                  <a:pt x="251619" y="208855"/>
                </a:lnTo>
                <a:cubicBezTo>
                  <a:pt x="254943" y="215007"/>
                  <a:pt x="254794" y="222448"/>
                  <a:pt x="251222" y="228451"/>
                </a:cubicBezTo>
                <a:cubicBezTo>
                  <a:pt x="247650" y="234454"/>
                  <a:pt x="241151" y="238125"/>
                  <a:pt x="234156" y="238125"/>
                </a:cubicBezTo>
                <a:lnTo>
                  <a:pt x="19844" y="238125"/>
                </a:lnTo>
                <a:cubicBezTo>
                  <a:pt x="12849" y="238125"/>
                  <a:pt x="6400" y="234454"/>
                  <a:pt x="2778" y="228451"/>
                </a:cubicBezTo>
                <a:cubicBezTo>
                  <a:pt x="-843" y="222448"/>
                  <a:pt x="-943" y="215007"/>
                  <a:pt x="2381" y="208855"/>
                </a:cubicBezTo>
                <a:lnTo>
                  <a:pt x="109538" y="10418"/>
                </a:lnTo>
                <a:cubicBezTo>
                  <a:pt x="113010" y="4018"/>
                  <a:pt x="119707" y="0"/>
                  <a:pt x="127000" y="0"/>
                </a:cubicBezTo>
                <a:close/>
                <a:moveTo>
                  <a:pt x="127000" y="83344"/>
                </a:moveTo>
                <a:cubicBezTo>
                  <a:pt x="120402" y="83344"/>
                  <a:pt x="115094" y="88652"/>
                  <a:pt x="115094" y="95250"/>
                </a:cubicBezTo>
                <a:lnTo>
                  <a:pt x="115094" y="150813"/>
                </a:lnTo>
                <a:cubicBezTo>
                  <a:pt x="115094" y="157411"/>
                  <a:pt x="120402" y="162719"/>
                  <a:pt x="127000" y="162719"/>
                </a:cubicBezTo>
                <a:cubicBezTo>
                  <a:pt x="133598" y="162719"/>
                  <a:pt x="138906" y="157411"/>
                  <a:pt x="138906" y="150813"/>
                </a:cubicBezTo>
                <a:lnTo>
                  <a:pt x="138906" y="95250"/>
                </a:lnTo>
                <a:cubicBezTo>
                  <a:pt x="138906" y="88652"/>
                  <a:pt x="133598" y="83344"/>
                  <a:pt x="127000" y="83344"/>
                </a:cubicBezTo>
                <a:close/>
                <a:moveTo>
                  <a:pt x="140246" y="190500"/>
                </a:moveTo>
                <a:cubicBezTo>
                  <a:pt x="140547" y="185583"/>
                  <a:pt x="138095" y="180906"/>
                  <a:pt x="133880" y="178356"/>
                </a:cubicBezTo>
                <a:cubicBezTo>
                  <a:pt x="129666" y="175807"/>
                  <a:pt x="124384" y="175807"/>
                  <a:pt x="120169" y="178356"/>
                </a:cubicBezTo>
                <a:cubicBezTo>
                  <a:pt x="115955" y="180906"/>
                  <a:pt x="113503" y="185583"/>
                  <a:pt x="113804" y="190500"/>
                </a:cubicBezTo>
                <a:cubicBezTo>
                  <a:pt x="113503" y="195417"/>
                  <a:pt x="115955" y="200094"/>
                  <a:pt x="120169" y="202644"/>
                </a:cubicBezTo>
                <a:cubicBezTo>
                  <a:pt x="124384" y="205193"/>
                  <a:pt x="129666" y="205193"/>
                  <a:pt x="133880" y="202644"/>
                </a:cubicBezTo>
                <a:cubicBezTo>
                  <a:pt x="138095" y="200094"/>
                  <a:pt x="140547" y="195417"/>
                  <a:pt x="140246" y="190500"/>
                </a:cubicBezTo>
                <a:close/>
              </a:path>
            </a:pathLst>
          </a:custGeom>
          <a:solidFill>
            <a:srgbClr val="FFFFFF"/>
          </a:solidFill>
        </p:spPr>
      </p:sp>
      <p:sp>
        <p:nvSpPr>
          <p:cNvPr id="11" name="Text 9"/>
          <p:cNvSpPr/>
          <p:nvPr/>
        </p:nvSpPr>
        <p:spPr>
          <a:xfrm>
            <a:off x="1460500" y="1744980"/>
            <a:ext cx="1651000" cy="276225"/>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应用场景背景</a:t>
            </a:r>
            <a:endParaRPr lang="en-US" sz="1600" dirty="0"/>
          </a:p>
        </p:txBody>
      </p:sp>
      <p:sp>
        <p:nvSpPr>
          <p:cNvPr id="12" name="Text 10"/>
          <p:cNvSpPr/>
          <p:nvPr/>
        </p:nvSpPr>
        <p:spPr>
          <a:xfrm>
            <a:off x="698500" y="2262505"/>
            <a:ext cx="8656955" cy="1056640"/>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很多开源项目在快速迭代过程中,</a:t>
            </a:r>
            <a:r>
              <a:rPr lang="en-US" sz="1335" b="1" dirty="0">
                <a:solidFill>
                  <a:srgbClr val="E5A044"/>
                </a:solidFill>
                <a:latin typeface="MiSans" pitchFamily="34" charset="-122"/>
                <a:ea typeface="MiSans" pitchFamily="34" charset="-122"/>
                <a:cs typeface="MiSans" pitchFamily="34" charset="-120"/>
              </a:rPr>
              <a:t>requirements.txt未及时更新</a:t>
            </a:r>
            <a:r>
              <a:rPr lang="en-US" sz="1335" dirty="0">
                <a:solidFill>
                  <a:srgbClr val="E0E2E6">
                    <a:alpha val="80000"/>
                  </a:srgbClr>
                </a:solidFill>
                <a:latin typeface="MiSans" pitchFamily="34" charset="-122"/>
                <a:ea typeface="MiSans" pitchFamily="34" charset="-122"/>
                <a:cs typeface="MiSans" pitchFamily="34" charset="-120"/>
              </a:rPr>
              <a:t>,依赖只写了部分核心库,遗漏了间接使用的依赖。仅在README中以文字描述环境,而非标准化配置文件。这导致新贡献者或CI在复现项目时容易出现ModuleNotFoundError、版本冲突、不同机器运行结果不一致等问题。</a:t>
            </a:r>
            <a:endParaRPr lang="en-US" sz="1600" dirty="0"/>
          </a:p>
        </p:txBody>
      </p:sp>
      <p:sp>
        <p:nvSpPr>
          <p:cNvPr id="13" name="Shape 11"/>
          <p:cNvSpPr/>
          <p:nvPr/>
        </p:nvSpPr>
        <p:spPr>
          <a:xfrm>
            <a:off x="698500" y="3700780"/>
            <a:ext cx="2042795" cy="828040"/>
          </a:xfrm>
          <a:custGeom>
            <a:avLst/>
            <a:gdLst/>
            <a:ahLst/>
            <a:cxnLst/>
            <a:rect l="l" t="t" r="r" b="b"/>
            <a:pathLst>
              <a:path w="2042583" h="1016000">
                <a:moveTo>
                  <a:pt x="84663" y="0"/>
                </a:moveTo>
                <a:lnTo>
                  <a:pt x="1957920" y="0"/>
                </a:lnTo>
                <a:cubicBezTo>
                  <a:pt x="2004678" y="0"/>
                  <a:pt x="2042583" y="37905"/>
                  <a:pt x="2042583" y="84663"/>
                </a:cubicBezTo>
                <a:lnTo>
                  <a:pt x="2042583" y="931337"/>
                </a:lnTo>
                <a:cubicBezTo>
                  <a:pt x="2042583" y="978095"/>
                  <a:pt x="2004678" y="1016000"/>
                  <a:pt x="1957920" y="1016000"/>
                </a:cubicBezTo>
                <a:lnTo>
                  <a:pt x="84663" y="1016000"/>
                </a:lnTo>
                <a:cubicBezTo>
                  <a:pt x="37905" y="1016000"/>
                  <a:pt x="0" y="978095"/>
                  <a:pt x="0" y="931337"/>
                </a:cubicBezTo>
                <a:lnTo>
                  <a:pt x="0" y="84663"/>
                </a:lnTo>
                <a:cubicBezTo>
                  <a:pt x="0" y="37936"/>
                  <a:pt x="37936" y="0"/>
                  <a:pt x="84663" y="0"/>
                </a:cubicBezTo>
                <a:close/>
              </a:path>
            </a:pathLst>
          </a:custGeom>
          <a:solidFill>
            <a:srgbClr val="E5A044">
              <a:alpha val="10196"/>
            </a:srgbClr>
          </a:solidFill>
        </p:spPr>
      </p:sp>
      <p:sp>
        <p:nvSpPr>
          <p:cNvPr id="14" name="Shape 12"/>
          <p:cNvSpPr/>
          <p:nvPr/>
        </p:nvSpPr>
        <p:spPr>
          <a:xfrm>
            <a:off x="1626870" y="3804285"/>
            <a:ext cx="190500" cy="207010"/>
          </a:xfrm>
          <a:custGeom>
            <a:avLst/>
            <a:gdLst/>
            <a:ahLst/>
            <a:cxnLst/>
            <a:rect l="l" t="t" r="r" b="b"/>
            <a:pathLst>
              <a:path w="190500" h="254000">
                <a:moveTo>
                  <a:pt x="0" y="31750"/>
                </a:moveTo>
                <a:cubicBezTo>
                  <a:pt x="0" y="14238"/>
                  <a:pt x="14238" y="0"/>
                  <a:pt x="31750" y="0"/>
                </a:cubicBezTo>
                <a:lnTo>
                  <a:pt x="105916" y="0"/>
                </a:lnTo>
                <a:cubicBezTo>
                  <a:pt x="114350" y="0"/>
                  <a:pt x="122436" y="3324"/>
                  <a:pt x="128389" y="9277"/>
                </a:cubicBezTo>
                <a:lnTo>
                  <a:pt x="181223" y="62161"/>
                </a:lnTo>
                <a:cubicBezTo>
                  <a:pt x="187176" y="68114"/>
                  <a:pt x="190500" y="76200"/>
                  <a:pt x="190500" y="84634"/>
                </a:cubicBezTo>
                <a:lnTo>
                  <a:pt x="190500" y="222250"/>
                </a:lnTo>
                <a:cubicBezTo>
                  <a:pt x="190500" y="239762"/>
                  <a:pt x="176262" y="254000"/>
                  <a:pt x="158750" y="254000"/>
                </a:cubicBezTo>
                <a:lnTo>
                  <a:pt x="31750" y="254000"/>
                </a:lnTo>
                <a:cubicBezTo>
                  <a:pt x="14238" y="254000"/>
                  <a:pt x="0" y="239762"/>
                  <a:pt x="0" y="222250"/>
                </a:cubicBezTo>
                <a:lnTo>
                  <a:pt x="0" y="31750"/>
                </a:lnTo>
                <a:close/>
                <a:moveTo>
                  <a:pt x="103188" y="29021"/>
                </a:moveTo>
                <a:lnTo>
                  <a:pt x="103188" y="75406"/>
                </a:lnTo>
                <a:cubicBezTo>
                  <a:pt x="103188" y="82004"/>
                  <a:pt x="108496" y="87313"/>
                  <a:pt x="115094" y="87313"/>
                </a:cubicBezTo>
                <a:lnTo>
                  <a:pt x="161479" y="87313"/>
                </a:lnTo>
                <a:lnTo>
                  <a:pt x="103188" y="29021"/>
                </a:lnTo>
                <a:close/>
                <a:moveTo>
                  <a:pt x="59531" y="127000"/>
                </a:moveTo>
                <a:cubicBezTo>
                  <a:pt x="52933" y="127000"/>
                  <a:pt x="47625" y="132308"/>
                  <a:pt x="47625" y="138906"/>
                </a:cubicBezTo>
                <a:cubicBezTo>
                  <a:pt x="47625" y="145504"/>
                  <a:pt x="52933" y="150813"/>
                  <a:pt x="59531" y="150813"/>
                </a:cubicBezTo>
                <a:lnTo>
                  <a:pt x="130969" y="150813"/>
                </a:lnTo>
                <a:cubicBezTo>
                  <a:pt x="137567" y="150813"/>
                  <a:pt x="142875" y="145504"/>
                  <a:pt x="142875" y="138906"/>
                </a:cubicBezTo>
                <a:cubicBezTo>
                  <a:pt x="142875" y="132308"/>
                  <a:pt x="137567" y="127000"/>
                  <a:pt x="130969" y="127000"/>
                </a:cubicBezTo>
                <a:lnTo>
                  <a:pt x="59531" y="127000"/>
                </a:lnTo>
                <a:close/>
                <a:moveTo>
                  <a:pt x="59531" y="174625"/>
                </a:moveTo>
                <a:cubicBezTo>
                  <a:pt x="52933" y="174625"/>
                  <a:pt x="47625" y="179933"/>
                  <a:pt x="47625" y="186531"/>
                </a:cubicBezTo>
                <a:cubicBezTo>
                  <a:pt x="47625" y="193129"/>
                  <a:pt x="52933" y="198438"/>
                  <a:pt x="59531" y="198438"/>
                </a:cubicBezTo>
                <a:lnTo>
                  <a:pt x="130969" y="198438"/>
                </a:lnTo>
                <a:cubicBezTo>
                  <a:pt x="137567" y="198438"/>
                  <a:pt x="142875" y="193129"/>
                  <a:pt x="142875" y="186531"/>
                </a:cubicBezTo>
                <a:cubicBezTo>
                  <a:pt x="142875" y="179933"/>
                  <a:pt x="137567" y="174625"/>
                  <a:pt x="130969" y="174625"/>
                </a:cubicBezTo>
                <a:lnTo>
                  <a:pt x="59531" y="174625"/>
                </a:lnTo>
                <a:close/>
              </a:path>
            </a:pathLst>
          </a:custGeom>
          <a:solidFill>
            <a:srgbClr val="E5A044"/>
          </a:solidFill>
        </p:spPr>
      </p:sp>
      <p:sp>
        <p:nvSpPr>
          <p:cNvPr id="15" name="Text 13"/>
          <p:cNvSpPr/>
          <p:nvPr/>
        </p:nvSpPr>
        <p:spPr>
          <a:xfrm>
            <a:off x="788670" y="4080510"/>
            <a:ext cx="1862455" cy="172085"/>
          </a:xfrm>
          <a:prstGeom prst="rect">
            <a:avLst/>
          </a:prstGeom>
          <a:noFill/>
        </p:spPr>
        <p:txBody>
          <a:bodyPr wrap="square" lIns="0" tIns="0" rIns="0" bIns="0" rtlCol="0" anchor="ctr"/>
          <a:lstStyle/>
          <a:p>
            <a:pPr algn="ctr">
              <a:lnSpc>
                <a:spcPct val="120000"/>
              </a:lnSpc>
            </a:pPr>
            <a:r>
              <a:rPr lang="en-US" sz="1165" dirty="0">
                <a:solidFill>
                  <a:srgbClr val="E0E2E6">
                    <a:alpha val="70000"/>
                  </a:srgbClr>
                </a:solidFill>
                <a:latin typeface="MiSans" pitchFamily="34" charset="-122"/>
                <a:ea typeface="MiSans" pitchFamily="34" charset="-122"/>
                <a:cs typeface="MiSans" pitchFamily="34" charset="-120"/>
              </a:rPr>
              <a:t>requirements</a:t>
            </a:r>
            <a:endParaRPr lang="en-US" sz="1600" dirty="0"/>
          </a:p>
        </p:txBody>
      </p:sp>
      <p:sp>
        <p:nvSpPr>
          <p:cNvPr id="16" name="Text 14"/>
          <p:cNvSpPr/>
          <p:nvPr/>
        </p:nvSpPr>
        <p:spPr>
          <a:xfrm>
            <a:off x="788670" y="4253230"/>
            <a:ext cx="1862455" cy="172085"/>
          </a:xfrm>
          <a:prstGeom prst="rect">
            <a:avLst/>
          </a:prstGeom>
          <a:noFill/>
        </p:spPr>
        <p:txBody>
          <a:bodyPr wrap="square" lIns="0" tIns="0" rIns="0" bIns="0" rtlCol="0" anchor="ctr"/>
          <a:lstStyle/>
          <a:p>
            <a:pPr algn="ctr">
              <a:lnSpc>
                <a:spcPct val="120000"/>
              </a:lnSpc>
            </a:pPr>
            <a:r>
              <a:rPr lang="en-US" sz="1165" b="1" dirty="0">
                <a:solidFill>
                  <a:srgbClr val="E0E2E6"/>
                </a:solidFill>
                <a:latin typeface="MiSans" pitchFamily="34" charset="-122"/>
                <a:ea typeface="MiSans" pitchFamily="34" charset="-122"/>
                <a:cs typeface="MiSans" pitchFamily="34" charset="-120"/>
              </a:rPr>
              <a:t>过时缺失</a:t>
            </a:r>
            <a:endParaRPr lang="en-US" sz="1600" dirty="0"/>
          </a:p>
        </p:txBody>
      </p:sp>
      <p:sp>
        <p:nvSpPr>
          <p:cNvPr id="17" name="Shape 15"/>
          <p:cNvSpPr/>
          <p:nvPr/>
        </p:nvSpPr>
        <p:spPr>
          <a:xfrm>
            <a:off x="2872105" y="3700780"/>
            <a:ext cx="2042795" cy="828040"/>
          </a:xfrm>
          <a:custGeom>
            <a:avLst/>
            <a:gdLst/>
            <a:ahLst/>
            <a:cxnLst/>
            <a:rect l="l" t="t" r="r" b="b"/>
            <a:pathLst>
              <a:path w="2042583" h="1016000">
                <a:moveTo>
                  <a:pt x="84663" y="0"/>
                </a:moveTo>
                <a:lnTo>
                  <a:pt x="1957920" y="0"/>
                </a:lnTo>
                <a:cubicBezTo>
                  <a:pt x="2004678" y="0"/>
                  <a:pt x="2042583" y="37905"/>
                  <a:pt x="2042583" y="84663"/>
                </a:cubicBezTo>
                <a:lnTo>
                  <a:pt x="2042583" y="931337"/>
                </a:lnTo>
                <a:cubicBezTo>
                  <a:pt x="2042583" y="978095"/>
                  <a:pt x="2004678" y="1016000"/>
                  <a:pt x="1957920" y="1016000"/>
                </a:cubicBezTo>
                <a:lnTo>
                  <a:pt x="84663" y="1016000"/>
                </a:lnTo>
                <a:cubicBezTo>
                  <a:pt x="37905" y="1016000"/>
                  <a:pt x="0" y="978095"/>
                  <a:pt x="0" y="931337"/>
                </a:cubicBezTo>
                <a:lnTo>
                  <a:pt x="0" y="84663"/>
                </a:lnTo>
                <a:cubicBezTo>
                  <a:pt x="0" y="37936"/>
                  <a:pt x="37936" y="0"/>
                  <a:pt x="84663" y="0"/>
                </a:cubicBezTo>
                <a:close/>
              </a:path>
            </a:pathLst>
          </a:custGeom>
          <a:solidFill>
            <a:srgbClr val="E5A044">
              <a:alpha val="10196"/>
            </a:srgbClr>
          </a:solidFill>
        </p:spPr>
      </p:sp>
      <p:sp>
        <p:nvSpPr>
          <p:cNvPr id="18" name="Shape 16"/>
          <p:cNvSpPr/>
          <p:nvPr/>
        </p:nvSpPr>
        <p:spPr>
          <a:xfrm>
            <a:off x="3768725" y="3804285"/>
            <a:ext cx="254000" cy="207010"/>
          </a:xfrm>
          <a:custGeom>
            <a:avLst/>
            <a:gdLst/>
            <a:ahLst/>
            <a:cxnLst/>
            <a:rect l="l" t="t" r="r" b="b"/>
            <a:pathLst>
              <a:path w="254000" h="254000">
                <a:moveTo>
                  <a:pt x="111125" y="0"/>
                </a:moveTo>
                <a:cubicBezTo>
                  <a:pt x="128637" y="0"/>
                  <a:pt x="142875" y="10666"/>
                  <a:pt x="142875" y="23812"/>
                </a:cubicBezTo>
                <a:cubicBezTo>
                  <a:pt x="142875" y="28972"/>
                  <a:pt x="140692" y="33734"/>
                  <a:pt x="136922" y="37654"/>
                </a:cubicBezTo>
                <a:cubicBezTo>
                  <a:pt x="133648" y="41077"/>
                  <a:pt x="130969" y="45244"/>
                  <a:pt x="130969" y="50006"/>
                </a:cubicBezTo>
                <a:cubicBezTo>
                  <a:pt x="130969" y="57448"/>
                  <a:pt x="137021" y="63500"/>
                  <a:pt x="144463" y="63500"/>
                </a:cubicBezTo>
                <a:lnTo>
                  <a:pt x="166688" y="63500"/>
                </a:lnTo>
                <a:cubicBezTo>
                  <a:pt x="179834" y="63500"/>
                  <a:pt x="190500" y="74166"/>
                  <a:pt x="190500" y="87313"/>
                </a:cubicBezTo>
                <a:lnTo>
                  <a:pt x="190500" y="109538"/>
                </a:lnTo>
                <a:cubicBezTo>
                  <a:pt x="190500" y="116979"/>
                  <a:pt x="196552" y="123031"/>
                  <a:pt x="203994" y="123031"/>
                </a:cubicBezTo>
                <a:cubicBezTo>
                  <a:pt x="208707" y="123031"/>
                  <a:pt x="212923" y="120352"/>
                  <a:pt x="216346" y="117078"/>
                </a:cubicBezTo>
                <a:cubicBezTo>
                  <a:pt x="220266" y="113357"/>
                  <a:pt x="225028" y="111125"/>
                  <a:pt x="230188" y="111125"/>
                </a:cubicBezTo>
                <a:cubicBezTo>
                  <a:pt x="243334" y="111125"/>
                  <a:pt x="254000" y="125363"/>
                  <a:pt x="254000" y="142875"/>
                </a:cubicBezTo>
                <a:cubicBezTo>
                  <a:pt x="254000" y="160387"/>
                  <a:pt x="243334" y="174625"/>
                  <a:pt x="230188" y="174625"/>
                </a:cubicBezTo>
                <a:cubicBezTo>
                  <a:pt x="225028" y="174625"/>
                  <a:pt x="220216" y="172442"/>
                  <a:pt x="216346" y="168672"/>
                </a:cubicBezTo>
                <a:cubicBezTo>
                  <a:pt x="212923" y="165398"/>
                  <a:pt x="208756" y="162719"/>
                  <a:pt x="203994" y="162719"/>
                </a:cubicBezTo>
                <a:cubicBezTo>
                  <a:pt x="196552" y="162719"/>
                  <a:pt x="190500" y="168771"/>
                  <a:pt x="190500" y="176213"/>
                </a:cubicBezTo>
                <a:lnTo>
                  <a:pt x="190500" y="230188"/>
                </a:lnTo>
                <a:cubicBezTo>
                  <a:pt x="190500" y="243334"/>
                  <a:pt x="179834" y="254000"/>
                  <a:pt x="166688" y="254000"/>
                </a:cubicBezTo>
                <a:lnTo>
                  <a:pt x="138509" y="254000"/>
                </a:lnTo>
                <a:cubicBezTo>
                  <a:pt x="132159" y="254000"/>
                  <a:pt x="127000" y="248841"/>
                  <a:pt x="127000" y="242491"/>
                </a:cubicBezTo>
                <a:cubicBezTo>
                  <a:pt x="127000" y="237927"/>
                  <a:pt x="129877" y="233908"/>
                  <a:pt x="133548" y="231180"/>
                </a:cubicBezTo>
                <a:cubicBezTo>
                  <a:pt x="139303" y="226864"/>
                  <a:pt x="142875" y="220911"/>
                  <a:pt x="142875" y="214313"/>
                </a:cubicBezTo>
                <a:cubicBezTo>
                  <a:pt x="142875" y="201166"/>
                  <a:pt x="128637" y="190500"/>
                  <a:pt x="111125" y="190500"/>
                </a:cubicBezTo>
                <a:cubicBezTo>
                  <a:pt x="93613" y="190500"/>
                  <a:pt x="79375" y="201166"/>
                  <a:pt x="79375" y="214313"/>
                </a:cubicBezTo>
                <a:cubicBezTo>
                  <a:pt x="79375" y="220911"/>
                  <a:pt x="82947" y="226864"/>
                  <a:pt x="88702" y="231180"/>
                </a:cubicBezTo>
                <a:cubicBezTo>
                  <a:pt x="92373" y="233908"/>
                  <a:pt x="95250" y="237877"/>
                  <a:pt x="95250" y="242491"/>
                </a:cubicBezTo>
                <a:cubicBezTo>
                  <a:pt x="95250" y="248841"/>
                  <a:pt x="90091" y="254000"/>
                  <a:pt x="83741" y="254000"/>
                </a:cubicBezTo>
                <a:lnTo>
                  <a:pt x="23812" y="254000"/>
                </a:lnTo>
                <a:cubicBezTo>
                  <a:pt x="10666" y="254000"/>
                  <a:pt x="0" y="243334"/>
                  <a:pt x="0" y="230188"/>
                </a:cubicBezTo>
                <a:lnTo>
                  <a:pt x="0" y="170259"/>
                </a:lnTo>
                <a:cubicBezTo>
                  <a:pt x="0" y="163909"/>
                  <a:pt x="5159" y="158750"/>
                  <a:pt x="11509" y="158750"/>
                </a:cubicBezTo>
                <a:cubicBezTo>
                  <a:pt x="16073" y="158750"/>
                  <a:pt x="20092" y="161627"/>
                  <a:pt x="22820" y="165298"/>
                </a:cubicBezTo>
                <a:cubicBezTo>
                  <a:pt x="27136" y="171053"/>
                  <a:pt x="33089" y="174625"/>
                  <a:pt x="39688" y="174625"/>
                </a:cubicBezTo>
                <a:cubicBezTo>
                  <a:pt x="52834" y="174625"/>
                  <a:pt x="63500" y="160387"/>
                  <a:pt x="63500" y="142875"/>
                </a:cubicBezTo>
                <a:cubicBezTo>
                  <a:pt x="63500" y="125363"/>
                  <a:pt x="52834" y="111125"/>
                  <a:pt x="39688" y="111125"/>
                </a:cubicBezTo>
                <a:cubicBezTo>
                  <a:pt x="33089" y="111125"/>
                  <a:pt x="27136" y="114697"/>
                  <a:pt x="22820" y="120452"/>
                </a:cubicBezTo>
                <a:cubicBezTo>
                  <a:pt x="20092" y="124123"/>
                  <a:pt x="16123" y="127000"/>
                  <a:pt x="11509" y="127000"/>
                </a:cubicBezTo>
                <a:cubicBezTo>
                  <a:pt x="5159" y="127000"/>
                  <a:pt x="0" y="121841"/>
                  <a:pt x="0" y="115491"/>
                </a:cubicBezTo>
                <a:lnTo>
                  <a:pt x="0" y="87313"/>
                </a:lnTo>
                <a:cubicBezTo>
                  <a:pt x="0" y="74166"/>
                  <a:pt x="10666" y="63500"/>
                  <a:pt x="23812" y="63500"/>
                </a:cubicBezTo>
                <a:lnTo>
                  <a:pt x="77788" y="63500"/>
                </a:lnTo>
                <a:cubicBezTo>
                  <a:pt x="85229" y="63500"/>
                  <a:pt x="91281" y="57448"/>
                  <a:pt x="91281" y="50006"/>
                </a:cubicBezTo>
                <a:cubicBezTo>
                  <a:pt x="91281" y="45293"/>
                  <a:pt x="88602" y="41077"/>
                  <a:pt x="85328" y="37654"/>
                </a:cubicBezTo>
                <a:cubicBezTo>
                  <a:pt x="81607" y="33734"/>
                  <a:pt x="79375" y="28972"/>
                  <a:pt x="79375" y="23813"/>
                </a:cubicBezTo>
                <a:cubicBezTo>
                  <a:pt x="79375" y="10666"/>
                  <a:pt x="93613" y="0"/>
                  <a:pt x="111125" y="0"/>
                </a:cubicBezTo>
                <a:close/>
              </a:path>
            </a:pathLst>
          </a:custGeom>
          <a:solidFill>
            <a:srgbClr val="E5A044"/>
          </a:solidFill>
        </p:spPr>
      </p:sp>
      <p:sp>
        <p:nvSpPr>
          <p:cNvPr id="19" name="Text 17"/>
          <p:cNvSpPr/>
          <p:nvPr/>
        </p:nvSpPr>
        <p:spPr>
          <a:xfrm>
            <a:off x="2962275" y="4080510"/>
            <a:ext cx="1862455" cy="172085"/>
          </a:xfrm>
          <a:prstGeom prst="rect">
            <a:avLst/>
          </a:prstGeom>
          <a:noFill/>
        </p:spPr>
        <p:txBody>
          <a:bodyPr wrap="square" lIns="0" tIns="0" rIns="0" bIns="0" rtlCol="0" anchor="ctr"/>
          <a:lstStyle/>
          <a:p>
            <a:pPr algn="ctr">
              <a:lnSpc>
                <a:spcPct val="120000"/>
              </a:lnSpc>
            </a:pPr>
            <a:r>
              <a:rPr lang="en-US" sz="1165" dirty="0">
                <a:solidFill>
                  <a:srgbClr val="E0E2E6">
                    <a:alpha val="70000"/>
                  </a:srgbClr>
                </a:solidFill>
                <a:latin typeface="MiSans" pitchFamily="34" charset="-122"/>
                <a:ea typeface="MiSans" pitchFamily="34" charset="-122"/>
                <a:cs typeface="MiSans" pitchFamily="34" charset="-120"/>
              </a:rPr>
              <a:t>间接依赖</a:t>
            </a:r>
            <a:endParaRPr lang="en-US" sz="1600" dirty="0"/>
          </a:p>
        </p:txBody>
      </p:sp>
      <p:sp>
        <p:nvSpPr>
          <p:cNvPr id="20" name="Text 18"/>
          <p:cNvSpPr/>
          <p:nvPr/>
        </p:nvSpPr>
        <p:spPr>
          <a:xfrm>
            <a:off x="2962275" y="4253230"/>
            <a:ext cx="1862455" cy="172085"/>
          </a:xfrm>
          <a:prstGeom prst="rect">
            <a:avLst/>
          </a:prstGeom>
          <a:noFill/>
        </p:spPr>
        <p:txBody>
          <a:bodyPr wrap="square" lIns="0" tIns="0" rIns="0" bIns="0" rtlCol="0" anchor="ctr"/>
          <a:lstStyle/>
          <a:p>
            <a:pPr algn="ctr">
              <a:lnSpc>
                <a:spcPct val="120000"/>
              </a:lnSpc>
            </a:pPr>
            <a:r>
              <a:rPr lang="en-US" sz="1165" b="1" dirty="0">
                <a:solidFill>
                  <a:srgbClr val="E0E2E6"/>
                </a:solidFill>
                <a:latin typeface="MiSans" pitchFamily="34" charset="-122"/>
                <a:ea typeface="MiSans" pitchFamily="34" charset="-122"/>
                <a:cs typeface="MiSans" pitchFamily="34" charset="-120"/>
              </a:rPr>
              <a:t>遗漏未写</a:t>
            </a:r>
            <a:endParaRPr lang="en-US" sz="1600" dirty="0"/>
          </a:p>
        </p:txBody>
      </p:sp>
      <p:sp>
        <p:nvSpPr>
          <p:cNvPr id="21" name="Shape 19"/>
          <p:cNvSpPr/>
          <p:nvPr/>
        </p:nvSpPr>
        <p:spPr>
          <a:xfrm>
            <a:off x="5046345" y="3700780"/>
            <a:ext cx="2042795" cy="828040"/>
          </a:xfrm>
          <a:custGeom>
            <a:avLst/>
            <a:gdLst/>
            <a:ahLst/>
            <a:cxnLst/>
            <a:rect l="l" t="t" r="r" b="b"/>
            <a:pathLst>
              <a:path w="2042583" h="1016000">
                <a:moveTo>
                  <a:pt x="84663" y="0"/>
                </a:moveTo>
                <a:lnTo>
                  <a:pt x="1957920" y="0"/>
                </a:lnTo>
                <a:cubicBezTo>
                  <a:pt x="2004678" y="0"/>
                  <a:pt x="2042583" y="37905"/>
                  <a:pt x="2042583" y="84663"/>
                </a:cubicBezTo>
                <a:lnTo>
                  <a:pt x="2042583" y="931337"/>
                </a:lnTo>
                <a:cubicBezTo>
                  <a:pt x="2042583" y="978095"/>
                  <a:pt x="2004678" y="1016000"/>
                  <a:pt x="1957920" y="1016000"/>
                </a:cubicBezTo>
                <a:lnTo>
                  <a:pt x="84663" y="1016000"/>
                </a:lnTo>
                <a:cubicBezTo>
                  <a:pt x="37905" y="1016000"/>
                  <a:pt x="0" y="978095"/>
                  <a:pt x="0" y="931337"/>
                </a:cubicBezTo>
                <a:lnTo>
                  <a:pt x="0" y="84663"/>
                </a:lnTo>
                <a:cubicBezTo>
                  <a:pt x="0" y="37936"/>
                  <a:pt x="37936" y="0"/>
                  <a:pt x="84663" y="0"/>
                </a:cubicBezTo>
                <a:close/>
              </a:path>
            </a:pathLst>
          </a:custGeom>
          <a:solidFill>
            <a:srgbClr val="E5A044">
              <a:alpha val="10196"/>
            </a:srgbClr>
          </a:solidFill>
        </p:spPr>
      </p:sp>
      <p:sp>
        <p:nvSpPr>
          <p:cNvPr id="22" name="Shape 20"/>
          <p:cNvSpPr/>
          <p:nvPr/>
        </p:nvSpPr>
        <p:spPr>
          <a:xfrm>
            <a:off x="5958205" y="3804285"/>
            <a:ext cx="222250" cy="207010"/>
          </a:xfrm>
          <a:custGeom>
            <a:avLst/>
            <a:gdLst/>
            <a:ahLst/>
            <a:cxnLst/>
            <a:rect l="l" t="t" r="r" b="b"/>
            <a:pathLst>
              <a:path w="222250" h="254000">
                <a:moveTo>
                  <a:pt x="190500" y="254000"/>
                </a:moveTo>
                <a:lnTo>
                  <a:pt x="47625" y="254000"/>
                </a:lnTo>
                <a:cubicBezTo>
                  <a:pt x="21332" y="254000"/>
                  <a:pt x="0" y="232668"/>
                  <a:pt x="0" y="206375"/>
                </a:cubicBezTo>
                <a:lnTo>
                  <a:pt x="0" y="47625"/>
                </a:lnTo>
                <a:cubicBezTo>
                  <a:pt x="0" y="21332"/>
                  <a:pt x="21332" y="0"/>
                  <a:pt x="47625" y="0"/>
                </a:cubicBezTo>
                <a:lnTo>
                  <a:pt x="198438" y="0"/>
                </a:lnTo>
                <a:cubicBezTo>
                  <a:pt x="211584" y="0"/>
                  <a:pt x="222250" y="10666"/>
                  <a:pt x="222250" y="23812"/>
                </a:cubicBezTo>
                <a:lnTo>
                  <a:pt x="222250" y="166688"/>
                </a:lnTo>
                <a:cubicBezTo>
                  <a:pt x="222250" y="177056"/>
                  <a:pt x="215602" y="185886"/>
                  <a:pt x="206375" y="189161"/>
                </a:cubicBezTo>
                <a:lnTo>
                  <a:pt x="206375" y="222250"/>
                </a:lnTo>
                <a:cubicBezTo>
                  <a:pt x="215156" y="222250"/>
                  <a:pt x="222250" y="229344"/>
                  <a:pt x="222250" y="238125"/>
                </a:cubicBezTo>
                <a:cubicBezTo>
                  <a:pt x="222250" y="246906"/>
                  <a:pt x="215156" y="254000"/>
                  <a:pt x="206375" y="254000"/>
                </a:cubicBezTo>
                <a:lnTo>
                  <a:pt x="190500" y="254000"/>
                </a:lnTo>
                <a:close/>
                <a:moveTo>
                  <a:pt x="47625" y="190500"/>
                </a:moveTo>
                <a:cubicBezTo>
                  <a:pt x="38844" y="190500"/>
                  <a:pt x="31750" y="197594"/>
                  <a:pt x="31750" y="206375"/>
                </a:cubicBezTo>
                <a:cubicBezTo>
                  <a:pt x="31750" y="215156"/>
                  <a:pt x="38844" y="222250"/>
                  <a:pt x="47625" y="222250"/>
                </a:cubicBezTo>
                <a:lnTo>
                  <a:pt x="174625" y="222250"/>
                </a:lnTo>
                <a:lnTo>
                  <a:pt x="174625" y="190500"/>
                </a:lnTo>
                <a:lnTo>
                  <a:pt x="47625" y="190500"/>
                </a:lnTo>
                <a:close/>
                <a:moveTo>
                  <a:pt x="63500" y="75406"/>
                </a:moveTo>
                <a:cubicBezTo>
                  <a:pt x="63500" y="82004"/>
                  <a:pt x="68808" y="87313"/>
                  <a:pt x="75406" y="87313"/>
                </a:cubicBezTo>
                <a:lnTo>
                  <a:pt x="162719" y="87313"/>
                </a:lnTo>
                <a:cubicBezTo>
                  <a:pt x="169317" y="87313"/>
                  <a:pt x="174625" y="82004"/>
                  <a:pt x="174625" y="75406"/>
                </a:cubicBezTo>
                <a:cubicBezTo>
                  <a:pt x="174625" y="68808"/>
                  <a:pt x="169317" y="63500"/>
                  <a:pt x="162719" y="63500"/>
                </a:cubicBezTo>
                <a:lnTo>
                  <a:pt x="75406" y="63500"/>
                </a:lnTo>
                <a:cubicBezTo>
                  <a:pt x="68808" y="63500"/>
                  <a:pt x="63500" y="68808"/>
                  <a:pt x="63500" y="75406"/>
                </a:cubicBezTo>
                <a:close/>
                <a:moveTo>
                  <a:pt x="75406" y="111125"/>
                </a:moveTo>
                <a:cubicBezTo>
                  <a:pt x="68808" y="111125"/>
                  <a:pt x="63500" y="116433"/>
                  <a:pt x="63500" y="123031"/>
                </a:cubicBezTo>
                <a:cubicBezTo>
                  <a:pt x="63500" y="129629"/>
                  <a:pt x="68808" y="134938"/>
                  <a:pt x="75406" y="134938"/>
                </a:cubicBezTo>
                <a:lnTo>
                  <a:pt x="162719" y="134938"/>
                </a:lnTo>
                <a:cubicBezTo>
                  <a:pt x="169317" y="134938"/>
                  <a:pt x="174625" y="129629"/>
                  <a:pt x="174625" y="123031"/>
                </a:cubicBezTo>
                <a:cubicBezTo>
                  <a:pt x="174625" y="116433"/>
                  <a:pt x="169317" y="111125"/>
                  <a:pt x="162719" y="111125"/>
                </a:cubicBezTo>
                <a:lnTo>
                  <a:pt x="75406" y="111125"/>
                </a:lnTo>
                <a:close/>
              </a:path>
            </a:pathLst>
          </a:custGeom>
          <a:solidFill>
            <a:srgbClr val="E5A044"/>
          </a:solidFill>
        </p:spPr>
      </p:sp>
      <p:sp>
        <p:nvSpPr>
          <p:cNvPr id="23" name="Text 21"/>
          <p:cNvSpPr/>
          <p:nvPr/>
        </p:nvSpPr>
        <p:spPr>
          <a:xfrm>
            <a:off x="5135880" y="4080510"/>
            <a:ext cx="1862455" cy="172085"/>
          </a:xfrm>
          <a:prstGeom prst="rect">
            <a:avLst/>
          </a:prstGeom>
          <a:noFill/>
        </p:spPr>
        <p:txBody>
          <a:bodyPr wrap="square" lIns="0" tIns="0" rIns="0" bIns="0" rtlCol="0" anchor="ctr"/>
          <a:lstStyle/>
          <a:p>
            <a:pPr algn="ctr">
              <a:lnSpc>
                <a:spcPct val="120000"/>
              </a:lnSpc>
            </a:pPr>
            <a:r>
              <a:rPr lang="en-US" sz="1165" dirty="0">
                <a:solidFill>
                  <a:srgbClr val="E0E2E6">
                    <a:alpha val="70000"/>
                  </a:srgbClr>
                </a:solidFill>
                <a:latin typeface="MiSans" pitchFamily="34" charset="-122"/>
                <a:ea typeface="MiSans" pitchFamily="34" charset="-122"/>
                <a:cs typeface="MiSans" pitchFamily="34" charset="-120"/>
              </a:rPr>
              <a:t>README</a:t>
            </a:r>
            <a:endParaRPr lang="en-US" sz="1600" dirty="0"/>
          </a:p>
        </p:txBody>
      </p:sp>
      <p:sp>
        <p:nvSpPr>
          <p:cNvPr id="24" name="Text 22"/>
          <p:cNvSpPr/>
          <p:nvPr/>
        </p:nvSpPr>
        <p:spPr>
          <a:xfrm>
            <a:off x="5135880" y="4253230"/>
            <a:ext cx="1862455" cy="172085"/>
          </a:xfrm>
          <a:prstGeom prst="rect">
            <a:avLst/>
          </a:prstGeom>
          <a:noFill/>
        </p:spPr>
        <p:txBody>
          <a:bodyPr wrap="square" lIns="0" tIns="0" rIns="0" bIns="0" rtlCol="0" anchor="ctr"/>
          <a:lstStyle/>
          <a:p>
            <a:pPr algn="ctr">
              <a:lnSpc>
                <a:spcPct val="120000"/>
              </a:lnSpc>
            </a:pPr>
            <a:r>
              <a:rPr lang="en-US" sz="1165" b="1" dirty="0">
                <a:solidFill>
                  <a:srgbClr val="E0E2E6"/>
                </a:solidFill>
                <a:latin typeface="MiSans" pitchFamily="34" charset="-122"/>
                <a:ea typeface="MiSans" pitchFamily="34" charset="-122"/>
                <a:cs typeface="MiSans" pitchFamily="34" charset="-120"/>
              </a:rPr>
              <a:t>非标准化</a:t>
            </a:r>
            <a:endParaRPr lang="en-US" sz="1600" dirty="0"/>
          </a:p>
        </p:txBody>
      </p:sp>
      <p:sp>
        <p:nvSpPr>
          <p:cNvPr id="25" name="Shape 23"/>
          <p:cNvSpPr/>
          <p:nvPr/>
        </p:nvSpPr>
        <p:spPr>
          <a:xfrm>
            <a:off x="7219950" y="3700780"/>
            <a:ext cx="2042795" cy="828040"/>
          </a:xfrm>
          <a:custGeom>
            <a:avLst/>
            <a:gdLst/>
            <a:ahLst/>
            <a:cxnLst/>
            <a:rect l="l" t="t" r="r" b="b"/>
            <a:pathLst>
              <a:path w="2042583" h="1016000">
                <a:moveTo>
                  <a:pt x="84663" y="0"/>
                </a:moveTo>
                <a:lnTo>
                  <a:pt x="1957920" y="0"/>
                </a:lnTo>
                <a:cubicBezTo>
                  <a:pt x="2004678" y="0"/>
                  <a:pt x="2042583" y="37905"/>
                  <a:pt x="2042583" y="84663"/>
                </a:cubicBezTo>
                <a:lnTo>
                  <a:pt x="2042583" y="931337"/>
                </a:lnTo>
                <a:cubicBezTo>
                  <a:pt x="2042583" y="978095"/>
                  <a:pt x="2004678" y="1016000"/>
                  <a:pt x="1957920" y="1016000"/>
                </a:cubicBezTo>
                <a:lnTo>
                  <a:pt x="84663" y="1016000"/>
                </a:lnTo>
                <a:cubicBezTo>
                  <a:pt x="37905" y="1016000"/>
                  <a:pt x="0" y="978095"/>
                  <a:pt x="0" y="931337"/>
                </a:cubicBezTo>
                <a:lnTo>
                  <a:pt x="0" y="84663"/>
                </a:lnTo>
                <a:cubicBezTo>
                  <a:pt x="0" y="37936"/>
                  <a:pt x="37936" y="0"/>
                  <a:pt x="84663" y="0"/>
                </a:cubicBezTo>
                <a:close/>
              </a:path>
            </a:pathLst>
          </a:custGeom>
          <a:solidFill>
            <a:srgbClr val="E5A044">
              <a:alpha val="10196"/>
            </a:srgbClr>
          </a:solidFill>
        </p:spPr>
      </p:sp>
      <p:sp>
        <p:nvSpPr>
          <p:cNvPr id="26" name="Shape 24"/>
          <p:cNvSpPr/>
          <p:nvPr/>
        </p:nvSpPr>
        <p:spPr>
          <a:xfrm>
            <a:off x="8100695" y="3804285"/>
            <a:ext cx="285750" cy="207010"/>
          </a:xfrm>
          <a:custGeom>
            <a:avLst/>
            <a:gdLst/>
            <a:ahLst/>
            <a:cxnLst/>
            <a:rect l="l" t="t" r="r" b="b"/>
            <a:pathLst>
              <a:path w="285750" h="254000">
                <a:moveTo>
                  <a:pt x="95250" y="47625"/>
                </a:moveTo>
                <a:cubicBezTo>
                  <a:pt x="95250" y="21332"/>
                  <a:pt x="116582" y="0"/>
                  <a:pt x="142875" y="0"/>
                </a:cubicBezTo>
                <a:cubicBezTo>
                  <a:pt x="169168" y="0"/>
                  <a:pt x="190500" y="21332"/>
                  <a:pt x="190500" y="47625"/>
                </a:cubicBezTo>
                <a:lnTo>
                  <a:pt x="190500" y="49411"/>
                </a:lnTo>
                <a:cubicBezTo>
                  <a:pt x="190500" y="57200"/>
                  <a:pt x="184200" y="63500"/>
                  <a:pt x="176411" y="63500"/>
                </a:cubicBezTo>
                <a:lnTo>
                  <a:pt x="109389" y="63500"/>
                </a:lnTo>
                <a:cubicBezTo>
                  <a:pt x="101600" y="63500"/>
                  <a:pt x="95300" y="57200"/>
                  <a:pt x="95300" y="49411"/>
                </a:cubicBezTo>
                <a:lnTo>
                  <a:pt x="95300" y="47625"/>
                </a:lnTo>
                <a:close/>
                <a:moveTo>
                  <a:pt x="266700" y="53975"/>
                </a:moveTo>
                <a:cubicBezTo>
                  <a:pt x="271959" y="60970"/>
                  <a:pt x="270520" y="70941"/>
                  <a:pt x="263525" y="76200"/>
                </a:cubicBezTo>
                <a:lnTo>
                  <a:pt x="215007" y="112564"/>
                </a:lnTo>
                <a:cubicBezTo>
                  <a:pt x="217636" y="116979"/>
                  <a:pt x="219621" y="121841"/>
                  <a:pt x="220861" y="127000"/>
                </a:cubicBezTo>
                <a:lnTo>
                  <a:pt x="269875" y="127000"/>
                </a:lnTo>
                <a:cubicBezTo>
                  <a:pt x="278656" y="127000"/>
                  <a:pt x="285750" y="134094"/>
                  <a:pt x="285750" y="142875"/>
                </a:cubicBezTo>
                <a:cubicBezTo>
                  <a:pt x="285750" y="151656"/>
                  <a:pt x="278656" y="158750"/>
                  <a:pt x="269875" y="158750"/>
                </a:cubicBezTo>
                <a:lnTo>
                  <a:pt x="222250" y="158750"/>
                </a:lnTo>
                <a:lnTo>
                  <a:pt x="222250" y="174625"/>
                </a:lnTo>
                <a:cubicBezTo>
                  <a:pt x="222250" y="175915"/>
                  <a:pt x="222200" y="177254"/>
                  <a:pt x="222151" y="178544"/>
                </a:cubicBezTo>
                <a:lnTo>
                  <a:pt x="263525" y="209550"/>
                </a:lnTo>
                <a:cubicBezTo>
                  <a:pt x="270520" y="214809"/>
                  <a:pt x="271959" y="224780"/>
                  <a:pt x="266700" y="231775"/>
                </a:cubicBezTo>
                <a:cubicBezTo>
                  <a:pt x="261441" y="238770"/>
                  <a:pt x="251470" y="240209"/>
                  <a:pt x="244475" y="234950"/>
                </a:cubicBezTo>
                <a:lnTo>
                  <a:pt x="213171" y="211485"/>
                </a:lnTo>
                <a:cubicBezTo>
                  <a:pt x="201662" y="233412"/>
                  <a:pt x="180181" y="249287"/>
                  <a:pt x="154781" y="253107"/>
                </a:cubicBezTo>
                <a:lnTo>
                  <a:pt x="154781" y="138906"/>
                </a:lnTo>
                <a:cubicBezTo>
                  <a:pt x="154781" y="132308"/>
                  <a:pt x="149473" y="127000"/>
                  <a:pt x="142875" y="127000"/>
                </a:cubicBezTo>
                <a:cubicBezTo>
                  <a:pt x="136277" y="127000"/>
                  <a:pt x="130969" y="132308"/>
                  <a:pt x="130969" y="138906"/>
                </a:cubicBezTo>
                <a:lnTo>
                  <a:pt x="130969" y="253107"/>
                </a:lnTo>
                <a:cubicBezTo>
                  <a:pt x="105569" y="249287"/>
                  <a:pt x="84088" y="233412"/>
                  <a:pt x="72579" y="211485"/>
                </a:cubicBezTo>
                <a:lnTo>
                  <a:pt x="41275" y="234950"/>
                </a:lnTo>
                <a:cubicBezTo>
                  <a:pt x="34280" y="240209"/>
                  <a:pt x="24309" y="238770"/>
                  <a:pt x="19050" y="231775"/>
                </a:cubicBezTo>
                <a:cubicBezTo>
                  <a:pt x="13791" y="224780"/>
                  <a:pt x="15230" y="214809"/>
                  <a:pt x="22225" y="209550"/>
                </a:cubicBezTo>
                <a:lnTo>
                  <a:pt x="63599" y="178544"/>
                </a:lnTo>
                <a:cubicBezTo>
                  <a:pt x="63550" y="177254"/>
                  <a:pt x="63500" y="175964"/>
                  <a:pt x="63500" y="174625"/>
                </a:cubicBezTo>
                <a:lnTo>
                  <a:pt x="63500" y="158750"/>
                </a:lnTo>
                <a:lnTo>
                  <a:pt x="15875" y="158750"/>
                </a:lnTo>
                <a:cubicBezTo>
                  <a:pt x="7094" y="158750"/>
                  <a:pt x="0" y="151656"/>
                  <a:pt x="0" y="142875"/>
                </a:cubicBezTo>
                <a:cubicBezTo>
                  <a:pt x="0" y="134094"/>
                  <a:pt x="7094" y="127000"/>
                  <a:pt x="15875" y="127000"/>
                </a:cubicBezTo>
                <a:lnTo>
                  <a:pt x="64889" y="127000"/>
                </a:lnTo>
                <a:cubicBezTo>
                  <a:pt x="66129" y="121841"/>
                  <a:pt x="68114" y="116979"/>
                  <a:pt x="70743" y="112564"/>
                </a:cubicBezTo>
                <a:lnTo>
                  <a:pt x="22225" y="76200"/>
                </a:lnTo>
                <a:cubicBezTo>
                  <a:pt x="15230" y="70941"/>
                  <a:pt x="13791" y="60970"/>
                  <a:pt x="19050" y="53975"/>
                </a:cubicBezTo>
                <a:cubicBezTo>
                  <a:pt x="24309" y="46980"/>
                  <a:pt x="34280" y="45541"/>
                  <a:pt x="41275" y="50800"/>
                </a:cubicBezTo>
                <a:lnTo>
                  <a:pt x="95250" y="91281"/>
                </a:lnTo>
                <a:cubicBezTo>
                  <a:pt x="101352" y="88751"/>
                  <a:pt x="108049" y="87313"/>
                  <a:pt x="115094" y="87313"/>
                </a:cubicBezTo>
                <a:lnTo>
                  <a:pt x="170656" y="87313"/>
                </a:lnTo>
                <a:cubicBezTo>
                  <a:pt x="177701" y="87313"/>
                  <a:pt x="184398" y="88702"/>
                  <a:pt x="190500" y="91281"/>
                </a:cubicBezTo>
                <a:lnTo>
                  <a:pt x="244475" y="50800"/>
                </a:lnTo>
                <a:cubicBezTo>
                  <a:pt x="251470" y="45541"/>
                  <a:pt x="261441" y="46980"/>
                  <a:pt x="266700" y="53975"/>
                </a:cubicBezTo>
                <a:close/>
              </a:path>
            </a:pathLst>
          </a:custGeom>
          <a:solidFill>
            <a:srgbClr val="E5A044"/>
          </a:solidFill>
        </p:spPr>
      </p:sp>
      <p:sp>
        <p:nvSpPr>
          <p:cNvPr id="27" name="Text 25"/>
          <p:cNvSpPr/>
          <p:nvPr/>
        </p:nvSpPr>
        <p:spPr>
          <a:xfrm>
            <a:off x="7310120" y="4080510"/>
            <a:ext cx="1862455" cy="172085"/>
          </a:xfrm>
          <a:prstGeom prst="rect">
            <a:avLst/>
          </a:prstGeom>
          <a:noFill/>
        </p:spPr>
        <p:txBody>
          <a:bodyPr wrap="square" lIns="0" tIns="0" rIns="0" bIns="0" rtlCol="0" anchor="ctr"/>
          <a:lstStyle/>
          <a:p>
            <a:pPr algn="ctr">
              <a:lnSpc>
                <a:spcPct val="120000"/>
              </a:lnSpc>
            </a:pPr>
            <a:r>
              <a:rPr lang="en-US" sz="1165" dirty="0">
                <a:solidFill>
                  <a:srgbClr val="E0E2E6">
                    <a:alpha val="70000"/>
                  </a:srgbClr>
                </a:solidFill>
                <a:latin typeface="MiSans" pitchFamily="34" charset="-122"/>
                <a:ea typeface="MiSans" pitchFamily="34" charset="-122"/>
                <a:cs typeface="MiSans" pitchFamily="34" charset="-120"/>
              </a:rPr>
              <a:t>复现失败</a:t>
            </a:r>
            <a:endParaRPr lang="en-US" sz="1600" dirty="0"/>
          </a:p>
        </p:txBody>
      </p:sp>
      <p:sp>
        <p:nvSpPr>
          <p:cNvPr id="28" name="Text 26"/>
          <p:cNvSpPr/>
          <p:nvPr/>
        </p:nvSpPr>
        <p:spPr>
          <a:xfrm>
            <a:off x="7310120" y="4253230"/>
            <a:ext cx="1862455" cy="172085"/>
          </a:xfrm>
          <a:prstGeom prst="rect">
            <a:avLst/>
          </a:prstGeom>
          <a:noFill/>
        </p:spPr>
        <p:txBody>
          <a:bodyPr wrap="square" lIns="0" tIns="0" rIns="0" bIns="0" rtlCol="0" anchor="ctr"/>
          <a:lstStyle/>
          <a:p>
            <a:pPr algn="ctr">
              <a:lnSpc>
                <a:spcPct val="120000"/>
              </a:lnSpc>
            </a:pPr>
            <a:r>
              <a:rPr lang="en-US" sz="1165" b="1" dirty="0">
                <a:solidFill>
                  <a:srgbClr val="E0E2E6"/>
                </a:solidFill>
                <a:latin typeface="MiSans" pitchFamily="34" charset="-122"/>
                <a:ea typeface="MiSans" pitchFamily="34" charset="-122"/>
                <a:cs typeface="MiSans" pitchFamily="34" charset="-120"/>
              </a:rPr>
              <a:t>频繁发生</a:t>
            </a:r>
            <a:endParaRPr lang="en-US" sz="1600" dirty="0"/>
          </a:p>
        </p:txBody>
      </p:sp>
      <p:sp>
        <p:nvSpPr>
          <p:cNvPr id="29" name="Shape 27"/>
          <p:cNvSpPr/>
          <p:nvPr/>
        </p:nvSpPr>
        <p:spPr>
          <a:xfrm>
            <a:off x="433705" y="5097780"/>
            <a:ext cx="9101455" cy="3520440"/>
          </a:xfrm>
          <a:custGeom>
            <a:avLst/>
            <a:gdLst/>
            <a:ahLst/>
            <a:cxnLst/>
            <a:rect l="l" t="t" r="r" b="b"/>
            <a:pathLst>
              <a:path w="9101667" h="4318000">
                <a:moveTo>
                  <a:pt x="126992" y="0"/>
                </a:moveTo>
                <a:lnTo>
                  <a:pt x="8974674" y="0"/>
                </a:lnTo>
                <a:cubicBezTo>
                  <a:pt x="9044810" y="0"/>
                  <a:pt x="9101667" y="56856"/>
                  <a:pt x="9101667" y="126992"/>
                </a:cubicBezTo>
                <a:lnTo>
                  <a:pt x="9101667" y="4191008"/>
                </a:lnTo>
                <a:cubicBezTo>
                  <a:pt x="9101667" y="4261144"/>
                  <a:pt x="9044810" y="4318000"/>
                  <a:pt x="8974674" y="4318000"/>
                </a:cubicBezTo>
                <a:lnTo>
                  <a:pt x="126992" y="4318000"/>
                </a:lnTo>
                <a:cubicBezTo>
                  <a:pt x="56856" y="4318000"/>
                  <a:pt x="0" y="4261144"/>
                  <a:pt x="0" y="4191008"/>
                </a:cubicBezTo>
                <a:lnTo>
                  <a:pt x="0" y="126992"/>
                </a:lnTo>
                <a:cubicBezTo>
                  <a:pt x="0" y="56903"/>
                  <a:pt x="56903" y="0"/>
                  <a:pt x="126992" y="0"/>
                </a:cubicBezTo>
                <a:close/>
              </a:path>
            </a:pathLst>
          </a:custGeom>
          <a:gradFill flip="none" rotWithShape="1">
            <a:gsLst>
              <a:gs pos="0">
                <a:srgbClr val="3D8F8A">
                  <a:alpha val="15000"/>
                </a:srgbClr>
              </a:gs>
              <a:gs pos="100000">
                <a:srgbClr val="000000">
                  <a:alpha val="0"/>
                </a:srgbClr>
              </a:gs>
            </a:gsLst>
            <a:lin ang="2700000" scaled="1"/>
          </a:gradFill>
          <a:ln w="25400">
            <a:solidFill>
              <a:srgbClr val="3D8F8A">
                <a:alpha val="40000"/>
              </a:srgbClr>
            </a:solidFill>
            <a:prstDash val="solid"/>
          </a:ln>
        </p:spPr>
      </p:sp>
      <p:sp>
        <p:nvSpPr>
          <p:cNvPr id="30" name="Shape 28"/>
          <p:cNvSpPr/>
          <p:nvPr/>
        </p:nvSpPr>
        <p:spPr>
          <a:xfrm>
            <a:off x="698500" y="5313680"/>
            <a:ext cx="592455" cy="483235"/>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3D8F8A"/>
          </a:solidFill>
        </p:spPr>
      </p:sp>
      <p:sp>
        <p:nvSpPr>
          <p:cNvPr id="31" name="Shape 29"/>
          <p:cNvSpPr/>
          <p:nvPr/>
        </p:nvSpPr>
        <p:spPr>
          <a:xfrm>
            <a:off x="852170" y="5451475"/>
            <a:ext cx="285750" cy="207010"/>
          </a:xfrm>
          <a:custGeom>
            <a:avLst/>
            <a:gdLst/>
            <a:ahLst/>
            <a:cxnLst/>
            <a:rect l="l" t="t" r="r" b="b"/>
            <a:pathLst>
              <a:path w="285750" h="254000">
                <a:moveTo>
                  <a:pt x="111175" y="48171"/>
                </a:moveTo>
                <a:lnTo>
                  <a:pt x="111175" y="72777"/>
                </a:lnTo>
                <a:lnTo>
                  <a:pt x="111423" y="73025"/>
                </a:lnTo>
                <a:cubicBezTo>
                  <a:pt x="114647" y="32147"/>
                  <a:pt x="148828" y="0"/>
                  <a:pt x="190550" y="0"/>
                </a:cubicBezTo>
                <a:cubicBezTo>
                  <a:pt x="200521" y="0"/>
                  <a:pt x="210096" y="1836"/>
                  <a:pt x="218877" y="5209"/>
                </a:cubicBezTo>
                <a:cubicBezTo>
                  <a:pt x="223838" y="7094"/>
                  <a:pt x="224730" y="13395"/>
                  <a:pt x="221010" y="17165"/>
                </a:cubicBezTo>
                <a:lnTo>
                  <a:pt x="177006" y="61168"/>
                </a:lnTo>
                <a:cubicBezTo>
                  <a:pt x="175518" y="62657"/>
                  <a:pt x="174675" y="64691"/>
                  <a:pt x="174675" y="66774"/>
                </a:cubicBezTo>
                <a:lnTo>
                  <a:pt x="174675" y="87313"/>
                </a:lnTo>
                <a:cubicBezTo>
                  <a:pt x="174675" y="91678"/>
                  <a:pt x="178246" y="95250"/>
                  <a:pt x="182612" y="95250"/>
                </a:cubicBezTo>
                <a:lnTo>
                  <a:pt x="203150" y="95250"/>
                </a:lnTo>
                <a:cubicBezTo>
                  <a:pt x="205234" y="95250"/>
                  <a:pt x="207268" y="94407"/>
                  <a:pt x="208756" y="92918"/>
                </a:cubicBezTo>
                <a:lnTo>
                  <a:pt x="252760" y="48915"/>
                </a:lnTo>
                <a:cubicBezTo>
                  <a:pt x="256530" y="45145"/>
                  <a:pt x="262830" y="46087"/>
                  <a:pt x="264716" y="51048"/>
                </a:cubicBezTo>
                <a:cubicBezTo>
                  <a:pt x="268089" y="59829"/>
                  <a:pt x="269925" y="69404"/>
                  <a:pt x="269925" y="79375"/>
                </a:cubicBezTo>
                <a:cubicBezTo>
                  <a:pt x="269925" y="109438"/>
                  <a:pt x="253206" y="135632"/>
                  <a:pt x="228501" y="149076"/>
                </a:cubicBezTo>
                <a:lnTo>
                  <a:pt x="268932" y="189508"/>
                </a:lnTo>
                <a:cubicBezTo>
                  <a:pt x="278209" y="198785"/>
                  <a:pt x="278209" y="213866"/>
                  <a:pt x="268932" y="223193"/>
                </a:cubicBezTo>
                <a:lnTo>
                  <a:pt x="239117" y="253008"/>
                </a:lnTo>
                <a:cubicBezTo>
                  <a:pt x="229840" y="262285"/>
                  <a:pt x="214759" y="262285"/>
                  <a:pt x="205432" y="253008"/>
                </a:cubicBezTo>
                <a:lnTo>
                  <a:pt x="142925" y="190500"/>
                </a:lnTo>
                <a:cubicBezTo>
                  <a:pt x="129332" y="176907"/>
                  <a:pt x="126256" y="156815"/>
                  <a:pt x="133747" y="140246"/>
                </a:cubicBezTo>
                <a:lnTo>
                  <a:pt x="88751" y="95250"/>
                </a:lnTo>
                <a:lnTo>
                  <a:pt x="64145" y="95250"/>
                </a:lnTo>
                <a:cubicBezTo>
                  <a:pt x="58837" y="95250"/>
                  <a:pt x="53876" y="92621"/>
                  <a:pt x="50949" y="88205"/>
                </a:cubicBezTo>
                <a:lnTo>
                  <a:pt x="11609" y="29220"/>
                </a:lnTo>
                <a:cubicBezTo>
                  <a:pt x="9525" y="26095"/>
                  <a:pt x="9922" y="21878"/>
                  <a:pt x="12601" y="19199"/>
                </a:cubicBezTo>
                <a:lnTo>
                  <a:pt x="35123" y="-3324"/>
                </a:lnTo>
                <a:cubicBezTo>
                  <a:pt x="37802" y="-6003"/>
                  <a:pt x="41970" y="-6400"/>
                  <a:pt x="45145" y="-4316"/>
                </a:cubicBezTo>
                <a:lnTo>
                  <a:pt x="104130" y="34975"/>
                </a:lnTo>
                <a:cubicBezTo>
                  <a:pt x="108545" y="37902"/>
                  <a:pt x="111175" y="42863"/>
                  <a:pt x="111175" y="48171"/>
                </a:cubicBezTo>
                <a:close/>
                <a:moveTo>
                  <a:pt x="106958" y="147141"/>
                </a:moveTo>
                <a:cubicBezTo>
                  <a:pt x="103832" y="165497"/>
                  <a:pt x="108148" y="184894"/>
                  <a:pt x="120055" y="200422"/>
                </a:cubicBezTo>
                <a:lnTo>
                  <a:pt x="72926" y="247501"/>
                </a:lnTo>
                <a:cubicBezTo>
                  <a:pt x="58986" y="261441"/>
                  <a:pt x="36364" y="261441"/>
                  <a:pt x="22423" y="247501"/>
                </a:cubicBezTo>
                <a:cubicBezTo>
                  <a:pt x="8483" y="233561"/>
                  <a:pt x="8483" y="210939"/>
                  <a:pt x="22423" y="196999"/>
                </a:cubicBezTo>
                <a:lnTo>
                  <a:pt x="89595" y="129828"/>
                </a:lnTo>
                <a:lnTo>
                  <a:pt x="106958" y="147191"/>
                </a:lnTo>
                <a:close/>
              </a:path>
            </a:pathLst>
          </a:custGeom>
          <a:solidFill>
            <a:srgbClr val="FFFFFF"/>
          </a:solidFill>
        </p:spPr>
      </p:sp>
      <p:sp>
        <p:nvSpPr>
          <p:cNvPr id="32" name="Text 30"/>
          <p:cNvSpPr/>
          <p:nvPr/>
        </p:nvSpPr>
        <p:spPr>
          <a:xfrm>
            <a:off x="1460500" y="5417185"/>
            <a:ext cx="1143000" cy="276225"/>
          </a:xfrm>
          <a:prstGeom prst="rect">
            <a:avLst/>
          </a:prstGeom>
          <a:noFill/>
        </p:spPr>
        <p:txBody>
          <a:bodyPr wrap="square" lIns="0" tIns="0" rIns="0" bIns="0" rtlCol="0" anchor="ctr"/>
          <a:lstStyle/>
          <a:p>
            <a:pP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工具作用</a:t>
            </a:r>
            <a:endParaRPr lang="en-US" sz="1600" dirty="0"/>
          </a:p>
        </p:txBody>
      </p:sp>
      <p:sp>
        <p:nvSpPr>
          <p:cNvPr id="33" name="Shape 31"/>
          <p:cNvSpPr/>
          <p:nvPr/>
        </p:nvSpPr>
        <p:spPr>
          <a:xfrm>
            <a:off x="698500" y="5969000"/>
            <a:ext cx="338455" cy="276225"/>
          </a:xfrm>
          <a:custGeom>
            <a:avLst/>
            <a:gdLst/>
            <a:ahLst/>
            <a:cxnLst/>
            <a:rect l="l" t="t" r="r" b="b"/>
            <a:pathLst>
              <a:path w="338667" h="338667">
                <a:moveTo>
                  <a:pt x="84667" y="0"/>
                </a:moveTo>
                <a:lnTo>
                  <a:pt x="254000" y="0"/>
                </a:lnTo>
                <a:cubicBezTo>
                  <a:pt x="300760" y="0"/>
                  <a:pt x="338667" y="37907"/>
                  <a:pt x="338667" y="84667"/>
                </a:cubicBezTo>
                <a:lnTo>
                  <a:pt x="338667" y="254000"/>
                </a:lnTo>
                <a:cubicBezTo>
                  <a:pt x="338667" y="300760"/>
                  <a:pt x="300760" y="338667"/>
                  <a:pt x="254000" y="338667"/>
                </a:cubicBezTo>
                <a:lnTo>
                  <a:pt x="84667" y="338667"/>
                </a:lnTo>
                <a:cubicBezTo>
                  <a:pt x="37907" y="338667"/>
                  <a:pt x="0" y="300760"/>
                  <a:pt x="0" y="254000"/>
                </a:cubicBezTo>
                <a:lnTo>
                  <a:pt x="0" y="84667"/>
                </a:lnTo>
                <a:cubicBezTo>
                  <a:pt x="0" y="37907"/>
                  <a:pt x="37907" y="0"/>
                  <a:pt x="84667" y="0"/>
                </a:cubicBezTo>
                <a:close/>
              </a:path>
            </a:pathLst>
          </a:custGeom>
          <a:solidFill>
            <a:srgbClr val="3D8F8A">
              <a:alpha val="30196"/>
            </a:srgbClr>
          </a:solidFill>
        </p:spPr>
      </p:sp>
      <p:sp>
        <p:nvSpPr>
          <p:cNvPr id="34" name="Shape 32"/>
          <p:cNvSpPr/>
          <p:nvPr/>
        </p:nvSpPr>
        <p:spPr>
          <a:xfrm>
            <a:off x="782955" y="6038215"/>
            <a:ext cx="169545" cy="138430"/>
          </a:xfrm>
          <a:custGeom>
            <a:avLst/>
            <a:gdLst/>
            <a:ahLst/>
            <a:cxnLst/>
            <a:rect l="l" t="t" r="r" b="b"/>
            <a:pathLst>
              <a:path w="169333" h="169333">
                <a:moveTo>
                  <a:pt x="137583" y="68792"/>
                </a:moveTo>
                <a:cubicBezTo>
                  <a:pt x="137583" y="83972"/>
                  <a:pt x="132655" y="97995"/>
                  <a:pt x="124354" y="109372"/>
                </a:cubicBezTo>
                <a:lnTo>
                  <a:pt x="166224" y="151276"/>
                </a:lnTo>
                <a:cubicBezTo>
                  <a:pt x="170359" y="155410"/>
                  <a:pt x="170359" y="162123"/>
                  <a:pt x="166224" y="166258"/>
                </a:cubicBezTo>
                <a:cubicBezTo>
                  <a:pt x="162090" y="170392"/>
                  <a:pt x="155377" y="170392"/>
                  <a:pt x="151242" y="166258"/>
                </a:cubicBezTo>
                <a:lnTo>
                  <a:pt x="109372" y="124354"/>
                </a:lnTo>
                <a:cubicBezTo>
                  <a:pt x="97995" y="132655"/>
                  <a:pt x="83972" y="137583"/>
                  <a:pt x="68792" y="137583"/>
                </a:cubicBezTo>
                <a:cubicBezTo>
                  <a:pt x="30791" y="137583"/>
                  <a:pt x="0" y="106792"/>
                  <a:pt x="0" y="68792"/>
                </a:cubicBezTo>
                <a:cubicBezTo>
                  <a:pt x="0" y="30791"/>
                  <a:pt x="30791" y="0"/>
                  <a:pt x="68792" y="0"/>
                </a:cubicBezTo>
                <a:cubicBezTo>
                  <a:pt x="106792" y="0"/>
                  <a:pt x="137583" y="30791"/>
                  <a:pt x="137583" y="68792"/>
                </a:cubicBezTo>
                <a:close/>
                <a:moveTo>
                  <a:pt x="68792" y="116417"/>
                </a:moveTo>
                <a:cubicBezTo>
                  <a:pt x="95077" y="116417"/>
                  <a:pt x="116417" y="95077"/>
                  <a:pt x="116417" y="68792"/>
                </a:cubicBezTo>
                <a:cubicBezTo>
                  <a:pt x="116417" y="42507"/>
                  <a:pt x="95077" y="21167"/>
                  <a:pt x="68792" y="21167"/>
                </a:cubicBezTo>
                <a:cubicBezTo>
                  <a:pt x="42507" y="21167"/>
                  <a:pt x="21167" y="42507"/>
                  <a:pt x="21167" y="68792"/>
                </a:cubicBezTo>
                <a:cubicBezTo>
                  <a:pt x="21167" y="95077"/>
                  <a:pt x="42507" y="116417"/>
                  <a:pt x="68792" y="116417"/>
                </a:cubicBezTo>
                <a:close/>
              </a:path>
            </a:pathLst>
          </a:custGeom>
          <a:solidFill>
            <a:srgbClr val="3D8F8A"/>
          </a:solidFill>
        </p:spPr>
      </p:sp>
      <p:sp>
        <p:nvSpPr>
          <p:cNvPr id="35" name="Text 33"/>
          <p:cNvSpPr/>
          <p:nvPr/>
        </p:nvSpPr>
        <p:spPr>
          <a:xfrm>
            <a:off x="1163955" y="5934710"/>
            <a:ext cx="8191500" cy="207010"/>
          </a:xfrm>
          <a:prstGeom prst="rect">
            <a:avLst/>
          </a:prstGeom>
          <a:noFill/>
        </p:spPr>
        <p:txBody>
          <a:bodyPr wrap="square" lIns="0" tIns="0" rIns="0" bIns="0" rtlCol="0" anchor="ctr"/>
          <a:lstStyle/>
          <a:p>
            <a:pPr>
              <a:lnSpc>
                <a:spcPct val="130000"/>
              </a:lnSpc>
            </a:pPr>
            <a:r>
              <a:rPr lang="en-US" sz="1335" b="1" dirty="0">
                <a:solidFill>
                  <a:srgbClr val="E0E2E6"/>
                </a:solidFill>
                <a:latin typeface="MiSans" pitchFamily="34" charset="-122"/>
                <a:ea typeface="MiSans" pitchFamily="34" charset="-122"/>
                <a:cs typeface="MiSans" pitchFamily="34" charset="-120"/>
              </a:rPr>
              <a:t>自动扫描与提取</a:t>
            </a:r>
            <a:endParaRPr lang="en-US" sz="1600" dirty="0"/>
          </a:p>
        </p:txBody>
      </p:sp>
      <p:sp>
        <p:nvSpPr>
          <p:cNvPr id="36" name="Text 34"/>
          <p:cNvSpPr/>
          <p:nvPr/>
        </p:nvSpPr>
        <p:spPr>
          <a:xfrm>
            <a:off x="1163955" y="6176645"/>
            <a:ext cx="8191500" cy="207010"/>
          </a:xfrm>
          <a:prstGeom prst="rect">
            <a:avLst/>
          </a:prstGeom>
          <a:noFill/>
        </p:spPr>
        <p:txBody>
          <a:bodyPr wrap="square" lIns="0" tIns="0" rIns="0" bIns="0" rtlCol="0" anchor="ctr"/>
          <a:lstStyle/>
          <a:p>
            <a:pPr>
              <a:lnSpc>
                <a:spcPct val="130000"/>
              </a:lnSpc>
            </a:pPr>
            <a:r>
              <a:rPr lang="en-US" sz="1335" dirty="0">
                <a:solidFill>
                  <a:srgbClr val="E0E2E6">
                    <a:alpha val="80000"/>
                  </a:srgbClr>
                </a:solidFill>
                <a:latin typeface="MiSans" pitchFamily="34" charset="-122"/>
                <a:ea typeface="MiSans" pitchFamily="34" charset="-122"/>
                <a:cs typeface="MiSans" pitchFamily="34" charset="-120"/>
              </a:rPr>
              <a:t>自动扫描仓库中的Python源码文件,</a:t>
            </a:r>
            <a:r>
              <a:rPr lang="en-US" sz="1335" b="1" dirty="0">
                <a:solidFill>
                  <a:srgbClr val="3D8F8A"/>
                </a:solidFill>
                <a:latin typeface="MiSans" pitchFamily="34" charset="-122"/>
                <a:ea typeface="MiSans" pitchFamily="34" charset="-122"/>
                <a:cs typeface="MiSans" pitchFamily="34" charset="-120"/>
              </a:rPr>
              <a:t>提取真实使用的依赖</a:t>
            </a:r>
            <a:r>
              <a:rPr lang="en-US" sz="1335" dirty="0">
                <a:solidFill>
                  <a:srgbClr val="E0E2E6">
                    <a:alpha val="80000"/>
                  </a:srgbClr>
                </a:solidFill>
                <a:latin typeface="MiSans" pitchFamily="34" charset="-122"/>
                <a:ea typeface="MiSans" pitchFamily="34" charset="-122"/>
                <a:cs typeface="MiSans" pitchFamily="34" charset="-120"/>
              </a:rPr>
              <a:t>,无需人工阅读大量代码</a:t>
            </a:r>
            <a:endParaRPr lang="en-US" sz="1600" dirty="0"/>
          </a:p>
        </p:txBody>
      </p:sp>
      <p:sp>
        <p:nvSpPr>
          <p:cNvPr id="37" name="Shape 35"/>
          <p:cNvSpPr/>
          <p:nvPr/>
        </p:nvSpPr>
        <p:spPr>
          <a:xfrm>
            <a:off x="698500" y="6521450"/>
            <a:ext cx="338455" cy="276225"/>
          </a:xfrm>
          <a:custGeom>
            <a:avLst/>
            <a:gdLst/>
            <a:ahLst/>
            <a:cxnLst/>
            <a:rect l="l" t="t" r="r" b="b"/>
            <a:pathLst>
              <a:path w="338667" h="338667">
                <a:moveTo>
                  <a:pt x="84667" y="0"/>
                </a:moveTo>
                <a:lnTo>
                  <a:pt x="254000" y="0"/>
                </a:lnTo>
                <a:cubicBezTo>
                  <a:pt x="300760" y="0"/>
                  <a:pt x="338667" y="37907"/>
                  <a:pt x="338667" y="84667"/>
                </a:cubicBezTo>
                <a:lnTo>
                  <a:pt x="338667" y="254000"/>
                </a:lnTo>
                <a:cubicBezTo>
                  <a:pt x="338667" y="300760"/>
                  <a:pt x="300760" y="338667"/>
                  <a:pt x="254000" y="338667"/>
                </a:cubicBezTo>
                <a:lnTo>
                  <a:pt x="84667" y="338667"/>
                </a:lnTo>
                <a:cubicBezTo>
                  <a:pt x="37907" y="338667"/>
                  <a:pt x="0" y="300760"/>
                  <a:pt x="0" y="254000"/>
                </a:cubicBezTo>
                <a:lnTo>
                  <a:pt x="0" y="84667"/>
                </a:lnTo>
                <a:cubicBezTo>
                  <a:pt x="0" y="37907"/>
                  <a:pt x="37907" y="0"/>
                  <a:pt x="84667" y="0"/>
                </a:cubicBezTo>
                <a:close/>
              </a:path>
            </a:pathLst>
          </a:custGeom>
          <a:solidFill>
            <a:srgbClr val="3D8F8A">
              <a:alpha val="30196"/>
            </a:srgbClr>
          </a:solidFill>
        </p:spPr>
      </p:sp>
      <p:sp>
        <p:nvSpPr>
          <p:cNvPr id="38" name="Shape 36"/>
          <p:cNvSpPr/>
          <p:nvPr/>
        </p:nvSpPr>
        <p:spPr>
          <a:xfrm>
            <a:off x="804545" y="6590665"/>
            <a:ext cx="127000" cy="138430"/>
          </a:xfrm>
          <a:custGeom>
            <a:avLst/>
            <a:gdLst/>
            <a:ahLst/>
            <a:cxnLst/>
            <a:rect l="l" t="t" r="r" b="b"/>
            <a:pathLst>
              <a:path w="127000" h="169333">
                <a:moveTo>
                  <a:pt x="82649" y="22093"/>
                </a:moveTo>
                <a:cubicBezTo>
                  <a:pt x="86089" y="17363"/>
                  <a:pt x="85030" y="10749"/>
                  <a:pt x="80301" y="7309"/>
                </a:cubicBezTo>
                <a:cubicBezTo>
                  <a:pt x="75572" y="3870"/>
                  <a:pt x="68957" y="4928"/>
                  <a:pt x="65517" y="9657"/>
                </a:cubicBezTo>
                <a:lnTo>
                  <a:pt x="30460" y="57845"/>
                </a:lnTo>
                <a:lnTo>
                  <a:pt x="18058" y="45442"/>
                </a:lnTo>
                <a:cubicBezTo>
                  <a:pt x="13924" y="41308"/>
                  <a:pt x="7210" y="41308"/>
                  <a:pt x="3076" y="45442"/>
                </a:cubicBezTo>
                <a:cubicBezTo>
                  <a:pt x="-1058" y="49576"/>
                  <a:pt x="-1058" y="56290"/>
                  <a:pt x="3076" y="60424"/>
                </a:cubicBezTo>
                <a:lnTo>
                  <a:pt x="24242" y="81591"/>
                </a:lnTo>
                <a:cubicBezTo>
                  <a:pt x="26425" y="83774"/>
                  <a:pt x="29468" y="84898"/>
                  <a:pt x="32544" y="84667"/>
                </a:cubicBezTo>
                <a:cubicBezTo>
                  <a:pt x="35620" y="84435"/>
                  <a:pt x="38464" y="82848"/>
                  <a:pt x="40283" y="80334"/>
                </a:cubicBezTo>
                <a:lnTo>
                  <a:pt x="82616" y="22126"/>
                </a:lnTo>
                <a:close/>
                <a:moveTo>
                  <a:pt x="124983" y="67072"/>
                </a:moveTo>
                <a:cubicBezTo>
                  <a:pt x="128422" y="62342"/>
                  <a:pt x="127364" y="55728"/>
                  <a:pt x="122634" y="52288"/>
                </a:cubicBezTo>
                <a:cubicBezTo>
                  <a:pt x="117905" y="48849"/>
                  <a:pt x="111290" y="49907"/>
                  <a:pt x="107851" y="54636"/>
                </a:cubicBezTo>
                <a:lnTo>
                  <a:pt x="51627" y="131928"/>
                </a:lnTo>
                <a:lnTo>
                  <a:pt x="28641" y="108942"/>
                </a:lnTo>
                <a:cubicBezTo>
                  <a:pt x="24507" y="104808"/>
                  <a:pt x="17793" y="104808"/>
                  <a:pt x="13659" y="108942"/>
                </a:cubicBezTo>
                <a:cubicBezTo>
                  <a:pt x="9525" y="113076"/>
                  <a:pt x="9525" y="119790"/>
                  <a:pt x="13659" y="123924"/>
                </a:cubicBezTo>
                <a:lnTo>
                  <a:pt x="45409" y="155674"/>
                </a:lnTo>
                <a:cubicBezTo>
                  <a:pt x="47592" y="157857"/>
                  <a:pt x="50635" y="158982"/>
                  <a:pt x="53710" y="158750"/>
                </a:cubicBezTo>
                <a:cubicBezTo>
                  <a:pt x="56786" y="158518"/>
                  <a:pt x="59630" y="156931"/>
                  <a:pt x="61449" y="154417"/>
                </a:cubicBezTo>
                <a:lnTo>
                  <a:pt x="124949" y="67105"/>
                </a:lnTo>
                <a:close/>
              </a:path>
            </a:pathLst>
          </a:custGeom>
          <a:solidFill>
            <a:srgbClr val="3D8F8A"/>
          </a:solidFill>
        </p:spPr>
      </p:sp>
      <p:sp>
        <p:nvSpPr>
          <p:cNvPr id="39" name="Text 37"/>
          <p:cNvSpPr/>
          <p:nvPr/>
        </p:nvSpPr>
        <p:spPr>
          <a:xfrm>
            <a:off x="1163955" y="6487160"/>
            <a:ext cx="8191500" cy="207010"/>
          </a:xfrm>
          <a:prstGeom prst="rect">
            <a:avLst/>
          </a:prstGeom>
          <a:noFill/>
        </p:spPr>
        <p:txBody>
          <a:bodyPr wrap="square" lIns="0" tIns="0" rIns="0" bIns="0" rtlCol="0" anchor="ctr"/>
          <a:lstStyle/>
          <a:p>
            <a:pPr>
              <a:lnSpc>
                <a:spcPct val="130000"/>
              </a:lnSpc>
            </a:pPr>
            <a:r>
              <a:rPr lang="en-US" sz="1335" b="1" dirty="0">
                <a:solidFill>
                  <a:srgbClr val="E0E2E6"/>
                </a:solidFill>
                <a:latin typeface="MiSans" pitchFamily="34" charset="-122"/>
                <a:ea typeface="MiSans" pitchFamily="34" charset="-122"/>
                <a:cs typeface="MiSans" pitchFamily="34" charset="-120"/>
              </a:rPr>
              <a:t>校验现有依赖</a:t>
            </a:r>
            <a:endParaRPr lang="en-US" sz="1600" dirty="0"/>
          </a:p>
        </p:txBody>
      </p:sp>
      <p:sp>
        <p:nvSpPr>
          <p:cNvPr id="40" name="Text 38"/>
          <p:cNvSpPr/>
          <p:nvPr/>
        </p:nvSpPr>
        <p:spPr>
          <a:xfrm>
            <a:off x="1163955" y="6728460"/>
            <a:ext cx="8191500" cy="207010"/>
          </a:xfrm>
          <a:prstGeom prst="rect">
            <a:avLst/>
          </a:prstGeom>
          <a:noFill/>
        </p:spPr>
        <p:txBody>
          <a:bodyPr wrap="square" lIns="0" tIns="0" rIns="0" bIns="0" rtlCol="0" anchor="ctr"/>
          <a:lstStyle/>
          <a:p>
            <a:pPr>
              <a:lnSpc>
                <a:spcPct val="130000"/>
              </a:lnSpc>
            </a:pPr>
            <a:r>
              <a:rPr lang="en-US" sz="1335" b="1" dirty="0">
                <a:solidFill>
                  <a:srgbClr val="3D8F8A"/>
                </a:solidFill>
                <a:latin typeface="MiSans" pitchFamily="34" charset="-122"/>
                <a:ea typeface="MiSans" pitchFamily="34" charset="-122"/>
                <a:cs typeface="MiSans" pitchFamily="34" charset="-120"/>
              </a:rPr>
              <a:t>校验现有requirements是否完整</a:t>
            </a:r>
            <a:r>
              <a:rPr lang="en-US" sz="1335" dirty="0">
                <a:solidFill>
                  <a:srgbClr val="E0E2E6">
                    <a:alpha val="80000"/>
                  </a:srgbClr>
                </a:solidFill>
                <a:latin typeface="MiSans" pitchFamily="34" charset="-122"/>
                <a:ea typeface="MiSans" pitchFamily="34" charset="-122"/>
                <a:cs typeface="MiSans" pitchFamily="34" charset="-120"/>
              </a:rPr>
              <a:t>,发现遗漏依赖和不一致问题</a:t>
            </a:r>
            <a:endParaRPr lang="en-US" sz="1600" dirty="0"/>
          </a:p>
        </p:txBody>
      </p:sp>
      <p:sp>
        <p:nvSpPr>
          <p:cNvPr id="41" name="Shape 39"/>
          <p:cNvSpPr/>
          <p:nvPr/>
        </p:nvSpPr>
        <p:spPr>
          <a:xfrm>
            <a:off x="698500" y="7073265"/>
            <a:ext cx="338455" cy="276225"/>
          </a:xfrm>
          <a:custGeom>
            <a:avLst/>
            <a:gdLst/>
            <a:ahLst/>
            <a:cxnLst/>
            <a:rect l="l" t="t" r="r" b="b"/>
            <a:pathLst>
              <a:path w="338667" h="338667">
                <a:moveTo>
                  <a:pt x="84667" y="0"/>
                </a:moveTo>
                <a:lnTo>
                  <a:pt x="254000" y="0"/>
                </a:lnTo>
                <a:cubicBezTo>
                  <a:pt x="300760" y="0"/>
                  <a:pt x="338667" y="37907"/>
                  <a:pt x="338667" y="84667"/>
                </a:cubicBezTo>
                <a:lnTo>
                  <a:pt x="338667" y="254000"/>
                </a:lnTo>
                <a:cubicBezTo>
                  <a:pt x="338667" y="300760"/>
                  <a:pt x="300760" y="338667"/>
                  <a:pt x="254000" y="338667"/>
                </a:cubicBezTo>
                <a:lnTo>
                  <a:pt x="84667" y="338667"/>
                </a:lnTo>
                <a:cubicBezTo>
                  <a:pt x="37907" y="338667"/>
                  <a:pt x="0" y="300760"/>
                  <a:pt x="0" y="254000"/>
                </a:cubicBezTo>
                <a:lnTo>
                  <a:pt x="0" y="84667"/>
                </a:lnTo>
                <a:cubicBezTo>
                  <a:pt x="0" y="37907"/>
                  <a:pt x="37907" y="0"/>
                  <a:pt x="84667" y="0"/>
                </a:cubicBezTo>
                <a:close/>
              </a:path>
            </a:pathLst>
          </a:custGeom>
          <a:solidFill>
            <a:srgbClr val="3D8F8A">
              <a:alpha val="30196"/>
            </a:srgbClr>
          </a:solidFill>
        </p:spPr>
      </p:sp>
      <p:sp>
        <p:nvSpPr>
          <p:cNvPr id="42" name="Shape 40"/>
          <p:cNvSpPr/>
          <p:nvPr/>
        </p:nvSpPr>
        <p:spPr>
          <a:xfrm>
            <a:off x="782955" y="7142480"/>
            <a:ext cx="169545" cy="138430"/>
          </a:xfrm>
          <a:custGeom>
            <a:avLst/>
            <a:gdLst/>
            <a:ahLst/>
            <a:cxnLst/>
            <a:rect l="l" t="t" r="r" b="b"/>
            <a:pathLst>
              <a:path w="169333" h="169333">
                <a:moveTo>
                  <a:pt x="131796" y="4035"/>
                </a:moveTo>
                <a:lnTo>
                  <a:pt x="102625" y="33205"/>
                </a:lnTo>
                <a:lnTo>
                  <a:pt x="136128" y="66708"/>
                </a:lnTo>
                <a:lnTo>
                  <a:pt x="165298" y="37538"/>
                </a:lnTo>
                <a:cubicBezTo>
                  <a:pt x="167878" y="34925"/>
                  <a:pt x="169333" y="31419"/>
                  <a:pt x="169333" y="27781"/>
                </a:cubicBezTo>
                <a:cubicBezTo>
                  <a:pt x="169333" y="24143"/>
                  <a:pt x="167878" y="20638"/>
                  <a:pt x="165298" y="18025"/>
                </a:cubicBezTo>
                <a:lnTo>
                  <a:pt x="151309" y="4035"/>
                </a:lnTo>
                <a:cubicBezTo>
                  <a:pt x="148696" y="1455"/>
                  <a:pt x="145190" y="0"/>
                  <a:pt x="141552" y="0"/>
                </a:cubicBezTo>
                <a:cubicBezTo>
                  <a:pt x="137914" y="0"/>
                  <a:pt x="134408" y="1455"/>
                  <a:pt x="131796" y="4035"/>
                </a:cubicBezTo>
                <a:close/>
                <a:moveTo>
                  <a:pt x="91414" y="44417"/>
                </a:moveTo>
                <a:lnTo>
                  <a:pt x="4035" y="131796"/>
                </a:lnTo>
                <a:cubicBezTo>
                  <a:pt x="1455" y="134408"/>
                  <a:pt x="0" y="137914"/>
                  <a:pt x="0" y="141552"/>
                </a:cubicBezTo>
                <a:cubicBezTo>
                  <a:pt x="0" y="145190"/>
                  <a:pt x="1455" y="148696"/>
                  <a:pt x="4035" y="151309"/>
                </a:cubicBezTo>
                <a:lnTo>
                  <a:pt x="18025" y="165298"/>
                </a:lnTo>
                <a:cubicBezTo>
                  <a:pt x="20638" y="167878"/>
                  <a:pt x="24143" y="169333"/>
                  <a:pt x="27781" y="169333"/>
                </a:cubicBezTo>
                <a:cubicBezTo>
                  <a:pt x="31419" y="169333"/>
                  <a:pt x="34925" y="167878"/>
                  <a:pt x="37538" y="165298"/>
                </a:cubicBezTo>
                <a:lnTo>
                  <a:pt x="124916" y="77920"/>
                </a:lnTo>
                <a:lnTo>
                  <a:pt x="91414" y="44417"/>
                </a:lnTo>
                <a:close/>
              </a:path>
            </a:pathLst>
          </a:custGeom>
          <a:solidFill>
            <a:srgbClr val="3D8F8A"/>
          </a:solidFill>
        </p:spPr>
      </p:sp>
      <p:sp>
        <p:nvSpPr>
          <p:cNvPr id="43" name="Text 41"/>
          <p:cNvSpPr/>
          <p:nvPr/>
        </p:nvSpPr>
        <p:spPr>
          <a:xfrm>
            <a:off x="1163955" y="7038975"/>
            <a:ext cx="8191500" cy="207010"/>
          </a:xfrm>
          <a:prstGeom prst="rect">
            <a:avLst/>
          </a:prstGeom>
          <a:noFill/>
        </p:spPr>
        <p:txBody>
          <a:bodyPr wrap="square" lIns="0" tIns="0" rIns="0" bIns="0" rtlCol="0" anchor="ctr"/>
          <a:lstStyle/>
          <a:p>
            <a:pPr>
              <a:lnSpc>
                <a:spcPct val="130000"/>
              </a:lnSpc>
            </a:pPr>
            <a:r>
              <a:rPr lang="en-US" sz="1335" b="1" dirty="0">
                <a:solidFill>
                  <a:srgbClr val="E0E2E6"/>
                </a:solidFill>
                <a:latin typeface="MiSans" pitchFamily="34" charset="-122"/>
                <a:ea typeface="MiSans" pitchFamily="34" charset="-122"/>
                <a:cs typeface="MiSans" pitchFamily="34" charset="-120"/>
              </a:rPr>
              <a:t>快速生成参考版本</a:t>
            </a:r>
            <a:endParaRPr lang="en-US" sz="1600" dirty="0"/>
          </a:p>
        </p:txBody>
      </p:sp>
      <p:sp>
        <p:nvSpPr>
          <p:cNvPr id="44" name="Text 42"/>
          <p:cNvSpPr/>
          <p:nvPr/>
        </p:nvSpPr>
        <p:spPr>
          <a:xfrm>
            <a:off x="1163955" y="7280910"/>
            <a:ext cx="8191500" cy="207010"/>
          </a:xfrm>
          <a:prstGeom prst="rect">
            <a:avLst/>
          </a:prstGeom>
          <a:noFill/>
        </p:spPr>
        <p:txBody>
          <a:bodyPr wrap="square" lIns="0" tIns="0" rIns="0" bIns="0" rtlCol="0" anchor="ctr"/>
          <a:lstStyle/>
          <a:p>
            <a:pPr>
              <a:lnSpc>
                <a:spcPct val="130000"/>
              </a:lnSpc>
            </a:pPr>
            <a:r>
              <a:rPr lang="en-US" sz="1335" dirty="0">
                <a:solidFill>
                  <a:srgbClr val="E0E2E6">
                    <a:alpha val="80000"/>
                  </a:srgbClr>
                </a:solidFill>
                <a:latin typeface="MiSans" pitchFamily="34" charset="-122"/>
                <a:ea typeface="MiSans" pitchFamily="34" charset="-122"/>
                <a:cs typeface="MiSans" pitchFamily="34" charset="-120"/>
              </a:rPr>
              <a:t>快速生成一个</a:t>
            </a:r>
            <a:r>
              <a:rPr lang="en-US" sz="1335" b="1" dirty="0">
                <a:solidFill>
                  <a:srgbClr val="3D8F8A"/>
                </a:solidFill>
                <a:latin typeface="MiSans" pitchFamily="34" charset="-122"/>
                <a:ea typeface="MiSans" pitchFamily="34" charset="-122"/>
                <a:cs typeface="MiSans" pitchFamily="34" charset="-120"/>
              </a:rPr>
              <a:t>"代码层面真实依赖"</a:t>
            </a:r>
            <a:r>
              <a:rPr lang="en-US" sz="1335" dirty="0">
                <a:solidFill>
                  <a:srgbClr val="E0E2E6">
                    <a:alpha val="80000"/>
                  </a:srgbClr>
                </a:solidFill>
                <a:latin typeface="MiSans" pitchFamily="34" charset="-122"/>
                <a:ea typeface="MiSans" pitchFamily="34" charset="-122"/>
                <a:cs typeface="MiSans" pitchFamily="34" charset="-120"/>
              </a:rPr>
              <a:t>的参考版本,作为维护依据</a:t>
            </a:r>
            <a:endParaRPr lang="en-US" sz="1600" dirty="0"/>
          </a:p>
        </p:txBody>
      </p:sp>
      <p:sp>
        <p:nvSpPr>
          <p:cNvPr id="45" name="Shape 43"/>
          <p:cNvSpPr/>
          <p:nvPr/>
        </p:nvSpPr>
        <p:spPr>
          <a:xfrm>
            <a:off x="698500" y="7625715"/>
            <a:ext cx="338455" cy="276225"/>
          </a:xfrm>
          <a:custGeom>
            <a:avLst/>
            <a:gdLst/>
            <a:ahLst/>
            <a:cxnLst/>
            <a:rect l="l" t="t" r="r" b="b"/>
            <a:pathLst>
              <a:path w="338667" h="338667">
                <a:moveTo>
                  <a:pt x="84667" y="0"/>
                </a:moveTo>
                <a:lnTo>
                  <a:pt x="254000" y="0"/>
                </a:lnTo>
                <a:cubicBezTo>
                  <a:pt x="300760" y="0"/>
                  <a:pt x="338667" y="37907"/>
                  <a:pt x="338667" y="84667"/>
                </a:cubicBezTo>
                <a:lnTo>
                  <a:pt x="338667" y="254000"/>
                </a:lnTo>
                <a:cubicBezTo>
                  <a:pt x="338667" y="300760"/>
                  <a:pt x="300760" y="338667"/>
                  <a:pt x="254000" y="338667"/>
                </a:cubicBezTo>
                <a:lnTo>
                  <a:pt x="84667" y="338667"/>
                </a:lnTo>
                <a:cubicBezTo>
                  <a:pt x="37907" y="338667"/>
                  <a:pt x="0" y="300760"/>
                  <a:pt x="0" y="254000"/>
                </a:cubicBezTo>
                <a:lnTo>
                  <a:pt x="0" y="84667"/>
                </a:lnTo>
                <a:cubicBezTo>
                  <a:pt x="0" y="37907"/>
                  <a:pt x="37907" y="0"/>
                  <a:pt x="84667" y="0"/>
                </a:cubicBezTo>
                <a:close/>
              </a:path>
            </a:pathLst>
          </a:custGeom>
          <a:solidFill>
            <a:srgbClr val="3D8F8A">
              <a:alpha val="30196"/>
            </a:srgbClr>
          </a:solidFill>
        </p:spPr>
      </p:sp>
      <p:sp>
        <p:nvSpPr>
          <p:cNvPr id="46" name="Shape 44"/>
          <p:cNvSpPr/>
          <p:nvPr/>
        </p:nvSpPr>
        <p:spPr>
          <a:xfrm>
            <a:off x="782955" y="7694930"/>
            <a:ext cx="169545" cy="138430"/>
          </a:xfrm>
          <a:custGeom>
            <a:avLst/>
            <a:gdLst/>
            <a:ahLst/>
            <a:cxnLst/>
            <a:rect l="l" t="t" r="r" b="b"/>
            <a:pathLst>
              <a:path w="169333" h="169333">
                <a:moveTo>
                  <a:pt x="84667" y="0"/>
                </a:moveTo>
                <a:cubicBezTo>
                  <a:pt x="86188" y="0"/>
                  <a:pt x="87709" y="331"/>
                  <a:pt x="89098" y="959"/>
                </a:cubicBezTo>
                <a:lnTo>
                  <a:pt x="151408" y="27384"/>
                </a:lnTo>
                <a:cubicBezTo>
                  <a:pt x="158684" y="30460"/>
                  <a:pt x="164108" y="37637"/>
                  <a:pt x="164075" y="46302"/>
                </a:cubicBezTo>
                <a:cubicBezTo>
                  <a:pt x="163909" y="79110"/>
                  <a:pt x="150416" y="139138"/>
                  <a:pt x="93431" y="166423"/>
                </a:cubicBezTo>
                <a:cubicBezTo>
                  <a:pt x="87908" y="169069"/>
                  <a:pt x="81492" y="169069"/>
                  <a:pt x="75968" y="166423"/>
                </a:cubicBezTo>
                <a:cubicBezTo>
                  <a:pt x="18951" y="139138"/>
                  <a:pt x="5490" y="79110"/>
                  <a:pt x="5325" y="46302"/>
                </a:cubicBezTo>
                <a:cubicBezTo>
                  <a:pt x="5292" y="37637"/>
                  <a:pt x="10716" y="30460"/>
                  <a:pt x="17992" y="27384"/>
                </a:cubicBezTo>
                <a:lnTo>
                  <a:pt x="80268" y="959"/>
                </a:lnTo>
                <a:cubicBezTo>
                  <a:pt x="81657" y="331"/>
                  <a:pt x="83145" y="0"/>
                  <a:pt x="84667" y="0"/>
                </a:cubicBezTo>
                <a:close/>
                <a:moveTo>
                  <a:pt x="84667" y="22093"/>
                </a:moveTo>
                <a:lnTo>
                  <a:pt x="84667" y="147141"/>
                </a:lnTo>
                <a:cubicBezTo>
                  <a:pt x="130307" y="125049"/>
                  <a:pt x="142577" y="76101"/>
                  <a:pt x="142875" y="46798"/>
                </a:cubicBezTo>
                <a:lnTo>
                  <a:pt x="84667" y="22126"/>
                </a:lnTo>
                <a:lnTo>
                  <a:pt x="84667" y="22126"/>
                </a:lnTo>
                <a:close/>
              </a:path>
            </a:pathLst>
          </a:custGeom>
          <a:solidFill>
            <a:srgbClr val="3D8F8A"/>
          </a:solidFill>
        </p:spPr>
      </p:sp>
      <p:sp>
        <p:nvSpPr>
          <p:cNvPr id="47" name="Text 45"/>
          <p:cNvSpPr/>
          <p:nvPr/>
        </p:nvSpPr>
        <p:spPr>
          <a:xfrm>
            <a:off x="1163955" y="7591425"/>
            <a:ext cx="8191500" cy="207010"/>
          </a:xfrm>
          <a:prstGeom prst="rect">
            <a:avLst/>
          </a:prstGeom>
          <a:noFill/>
        </p:spPr>
        <p:txBody>
          <a:bodyPr wrap="square" lIns="0" tIns="0" rIns="0" bIns="0" rtlCol="0" anchor="ctr"/>
          <a:lstStyle/>
          <a:p>
            <a:pPr>
              <a:lnSpc>
                <a:spcPct val="130000"/>
              </a:lnSpc>
            </a:pPr>
            <a:r>
              <a:rPr lang="en-US" sz="1335" b="1" dirty="0">
                <a:solidFill>
                  <a:srgbClr val="E0E2E6"/>
                </a:solidFill>
                <a:latin typeface="MiSans" pitchFamily="34" charset="-122"/>
                <a:ea typeface="MiSans" pitchFamily="34" charset="-122"/>
                <a:cs typeface="MiSans" pitchFamily="34" charset="-120"/>
              </a:rPr>
              <a:t>环境一致性检查</a:t>
            </a:r>
            <a:endParaRPr lang="en-US" sz="1600" dirty="0"/>
          </a:p>
        </p:txBody>
      </p:sp>
      <p:sp>
        <p:nvSpPr>
          <p:cNvPr id="48" name="Text 46"/>
          <p:cNvSpPr/>
          <p:nvPr/>
        </p:nvSpPr>
        <p:spPr>
          <a:xfrm>
            <a:off x="1163955" y="7832725"/>
            <a:ext cx="8191500" cy="207010"/>
          </a:xfrm>
          <a:prstGeom prst="rect">
            <a:avLst/>
          </a:prstGeom>
          <a:noFill/>
        </p:spPr>
        <p:txBody>
          <a:bodyPr wrap="square" lIns="0" tIns="0" rIns="0" bIns="0" rtlCol="0" anchor="ctr"/>
          <a:lstStyle/>
          <a:p>
            <a:pPr>
              <a:lnSpc>
                <a:spcPct val="130000"/>
              </a:lnSpc>
            </a:pPr>
            <a:r>
              <a:rPr lang="en-US" sz="1335" dirty="0">
                <a:solidFill>
                  <a:srgbClr val="E0E2E6">
                    <a:alpha val="80000"/>
                  </a:srgbClr>
                </a:solidFill>
                <a:latin typeface="MiSans" pitchFamily="34" charset="-122"/>
                <a:ea typeface="MiSans" pitchFamily="34" charset="-122"/>
                <a:cs typeface="MiSans" pitchFamily="34" charset="-120"/>
              </a:rPr>
              <a:t>在发布新版本或配置CI之前进行</a:t>
            </a:r>
            <a:r>
              <a:rPr lang="en-US" sz="1335" b="1" dirty="0">
                <a:solidFill>
                  <a:srgbClr val="3D8F8A"/>
                </a:solidFill>
                <a:latin typeface="MiSans" pitchFamily="34" charset="-122"/>
                <a:ea typeface="MiSans" pitchFamily="34" charset="-122"/>
                <a:cs typeface="MiSans" pitchFamily="34" charset="-120"/>
              </a:rPr>
              <a:t>环境一致性检查</a:t>
            </a:r>
            <a:endParaRPr lang="en-US" sz="1600" dirty="0"/>
          </a:p>
        </p:txBody>
      </p:sp>
      <p:sp>
        <p:nvSpPr>
          <p:cNvPr id="49" name="Shape 47"/>
          <p:cNvSpPr/>
          <p:nvPr/>
        </p:nvSpPr>
        <p:spPr>
          <a:xfrm>
            <a:off x="9757410" y="1419860"/>
            <a:ext cx="6071235" cy="4175125"/>
          </a:xfrm>
          <a:custGeom>
            <a:avLst/>
            <a:gdLst/>
            <a:ahLst/>
            <a:cxnLst/>
            <a:rect l="l" t="t" r="r" b="b"/>
            <a:pathLst>
              <a:path w="6071306" h="6790972">
                <a:moveTo>
                  <a:pt x="127012" y="0"/>
                </a:moveTo>
                <a:lnTo>
                  <a:pt x="5944294" y="0"/>
                </a:lnTo>
                <a:cubicBezTo>
                  <a:pt x="6014440" y="0"/>
                  <a:pt x="6071306" y="56865"/>
                  <a:pt x="6071306" y="127012"/>
                </a:cubicBezTo>
                <a:lnTo>
                  <a:pt x="6071306" y="6663961"/>
                </a:lnTo>
                <a:cubicBezTo>
                  <a:pt x="6071306" y="6734107"/>
                  <a:pt x="6014440" y="6790972"/>
                  <a:pt x="5944294" y="6790972"/>
                </a:cubicBezTo>
                <a:lnTo>
                  <a:pt x="127012" y="6790972"/>
                </a:lnTo>
                <a:cubicBezTo>
                  <a:pt x="56865" y="6790972"/>
                  <a:pt x="0" y="6734107"/>
                  <a:pt x="0" y="6663961"/>
                </a:cubicBezTo>
                <a:lnTo>
                  <a:pt x="0" y="127012"/>
                </a:lnTo>
                <a:cubicBezTo>
                  <a:pt x="0" y="56912"/>
                  <a:pt x="56912" y="0"/>
                  <a:pt x="127012" y="0"/>
                </a:cubicBezTo>
                <a:close/>
              </a:path>
            </a:pathLst>
          </a:custGeom>
          <a:gradFill flip="none" rotWithShape="1">
            <a:gsLst>
              <a:gs pos="0">
                <a:srgbClr val="E5A044">
                  <a:alpha val="20000"/>
                </a:srgbClr>
              </a:gs>
              <a:gs pos="100000">
                <a:srgbClr val="3D8F8A">
                  <a:alpha val="10000"/>
                </a:srgbClr>
              </a:gs>
            </a:gsLst>
            <a:lin ang="2700000" scaled="1"/>
          </a:gradFill>
          <a:ln w="8467">
            <a:solidFill>
              <a:srgbClr val="E5A044">
                <a:alpha val="40000"/>
              </a:srgbClr>
            </a:solidFill>
            <a:prstDash val="solid"/>
          </a:ln>
        </p:spPr>
      </p:sp>
      <p:sp>
        <p:nvSpPr>
          <p:cNvPr id="50" name="Shape 48"/>
          <p:cNvSpPr/>
          <p:nvPr/>
        </p:nvSpPr>
        <p:spPr>
          <a:xfrm>
            <a:off x="12602845" y="1629410"/>
            <a:ext cx="381000" cy="310515"/>
          </a:xfrm>
          <a:custGeom>
            <a:avLst/>
            <a:gdLst/>
            <a:ahLst/>
            <a:cxnLst/>
            <a:rect l="l" t="t" r="r" b="b"/>
            <a:pathLst>
              <a:path w="381000" h="381000">
                <a:moveTo>
                  <a:pt x="107379" y="0"/>
                </a:moveTo>
                <a:lnTo>
                  <a:pt x="274067" y="0"/>
                </a:lnTo>
                <a:cubicBezTo>
                  <a:pt x="293787" y="0"/>
                  <a:pt x="309860" y="16222"/>
                  <a:pt x="309116" y="35868"/>
                </a:cubicBezTo>
                <a:cubicBezTo>
                  <a:pt x="308967" y="39812"/>
                  <a:pt x="308818" y="43755"/>
                  <a:pt x="308595" y="47625"/>
                </a:cubicBezTo>
                <a:lnTo>
                  <a:pt x="345504" y="47625"/>
                </a:lnTo>
                <a:cubicBezTo>
                  <a:pt x="364927" y="47625"/>
                  <a:pt x="382042" y="63698"/>
                  <a:pt x="380554" y="84683"/>
                </a:cubicBezTo>
                <a:cubicBezTo>
                  <a:pt x="374972" y="161851"/>
                  <a:pt x="335533" y="204267"/>
                  <a:pt x="292745" y="226442"/>
                </a:cubicBezTo>
                <a:cubicBezTo>
                  <a:pt x="280988" y="232544"/>
                  <a:pt x="269007" y="237083"/>
                  <a:pt x="257621" y="240432"/>
                </a:cubicBezTo>
                <a:cubicBezTo>
                  <a:pt x="242590" y="261714"/>
                  <a:pt x="226963" y="272951"/>
                  <a:pt x="214536" y="278978"/>
                </a:cubicBezTo>
                <a:lnTo>
                  <a:pt x="214536" y="333375"/>
                </a:lnTo>
                <a:lnTo>
                  <a:pt x="262161" y="333375"/>
                </a:lnTo>
                <a:cubicBezTo>
                  <a:pt x="275332" y="333375"/>
                  <a:pt x="285973" y="344016"/>
                  <a:pt x="285973" y="357188"/>
                </a:cubicBezTo>
                <a:cubicBezTo>
                  <a:pt x="285973" y="370359"/>
                  <a:pt x="275332" y="381000"/>
                  <a:pt x="262161" y="381000"/>
                </a:cubicBezTo>
                <a:lnTo>
                  <a:pt x="119286" y="381000"/>
                </a:lnTo>
                <a:cubicBezTo>
                  <a:pt x="106114" y="381000"/>
                  <a:pt x="95473" y="370359"/>
                  <a:pt x="95473" y="357188"/>
                </a:cubicBezTo>
                <a:cubicBezTo>
                  <a:pt x="95473" y="344016"/>
                  <a:pt x="106114" y="333375"/>
                  <a:pt x="119286" y="333375"/>
                </a:cubicBezTo>
                <a:lnTo>
                  <a:pt x="166911" y="333375"/>
                </a:lnTo>
                <a:lnTo>
                  <a:pt x="166911" y="278978"/>
                </a:lnTo>
                <a:cubicBezTo>
                  <a:pt x="155004" y="273248"/>
                  <a:pt x="140196" y="262607"/>
                  <a:pt x="125760" y="243036"/>
                </a:cubicBezTo>
                <a:cubicBezTo>
                  <a:pt x="112068" y="239464"/>
                  <a:pt x="97185" y="234032"/>
                  <a:pt x="82674" y="225847"/>
                </a:cubicBezTo>
                <a:cubicBezTo>
                  <a:pt x="42416" y="203299"/>
                  <a:pt x="6102" y="160809"/>
                  <a:pt x="893" y="84534"/>
                </a:cubicBezTo>
                <a:cubicBezTo>
                  <a:pt x="-521" y="63624"/>
                  <a:pt x="16520" y="47551"/>
                  <a:pt x="35942" y="47551"/>
                </a:cubicBezTo>
                <a:lnTo>
                  <a:pt x="72851" y="47551"/>
                </a:lnTo>
                <a:cubicBezTo>
                  <a:pt x="72628" y="43681"/>
                  <a:pt x="72479" y="39812"/>
                  <a:pt x="72330" y="35793"/>
                </a:cubicBezTo>
                <a:cubicBezTo>
                  <a:pt x="71586" y="16073"/>
                  <a:pt x="87660" y="-74"/>
                  <a:pt x="107379" y="-74"/>
                </a:cubicBezTo>
                <a:close/>
                <a:moveTo>
                  <a:pt x="75530" y="83344"/>
                </a:moveTo>
                <a:lnTo>
                  <a:pt x="36537" y="83344"/>
                </a:lnTo>
                <a:cubicBezTo>
                  <a:pt x="41151" y="146372"/>
                  <a:pt x="70098" y="177924"/>
                  <a:pt x="99938" y="194667"/>
                </a:cubicBezTo>
                <a:cubicBezTo>
                  <a:pt x="89222" y="166911"/>
                  <a:pt x="80367" y="130671"/>
                  <a:pt x="75530" y="83344"/>
                </a:cubicBezTo>
                <a:close/>
                <a:moveTo>
                  <a:pt x="282773" y="191095"/>
                </a:moveTo>
                <a:cubicBezTo>
                  <a:pt x="312911" y="173385"/>
                  <a:pt x="340147" y="141908"/>
                  <a:pt x="344760" y="83344"/>
                </a:cubicBezTo>
                <a:lnTo>
                  <a:pt x="305842" y="83344"/>
                </a:lnTo>
                <a:cubicBezTo>
                  <a:pt x="301228" y="128662"/>
                  <a:pt x="292894" y="163860"/>
                  <a:pt x="282773" y="191095"/>
                </a:cubicBezTo>
                <a:close/>
              </a:path>
            </a:pathLst>
          </a:custGeom>
          <a:solidFill>
            <a:srgbClr val="E5A044"/>
          </a:solidFill>
        </p:spPr>
      </p:sp>
      <p:sp>
        <p:nvSpPr>
          <p:cNvPr id="51" name="Text 49"/>
          <p:cNvSpPr/>
          <p:nvPr/>
        </p:nvSpPr>
        <p:spPr>
          <a:xfrm>
            <a:off x="9951085" y="2043430"/>
            <a:ext cx="5683250" cy="276225"/>
          </a:xfrm>
          <a:prstGeom prst="rect">
            <a:avLst/>
          </a:prstGeom>
          <a:noFill/>
        </p:spPr>
        <p:txBody>
          <a:bodyPr wrap="square" lIns="0" tIns="0" rIns="0" bIns="0" rtlCol="0" anchor="ctr"/>
          <a:lstStyle/>
          <a:p>
            <a:pPr algn="ctr">
              <a:lnSpc>
                <a:spcPct val="110000"/>
              </a:lnSpc>
            </a:pPr>
            <a:r>
              <a:rPr lang="en-US" sz="2000" b="1" dirty="0">
                <a:solidFill>
                  <a:srgbClr val="E0E2E6"/>
                </a:solidFill>
                <a:latin typeface="阿里妈妈数黑体" pitchFamily="34" charset="-122"/>
                <a:ea typeface="阿里妈妈数黑体" pitchFamily="34" charset="-122"/>
                <a:cs typeface="阿里妈妈数黑体" pitchFamily="34" charset="-120"/>
              </a:rPr>
              <a:t>价值体现</a:t>
            </a:r>
            <a:endParaRPr lang="en-US" sz="1600" dirty="0"/>
          </a:p>
        </p:txBody>
      </p:sp>
      <p:sp>
        <p:nvSpPr>
          <p:cNvPr id="52" name="Shape 50"/>
          <p:cNvSpPr/>
          <p:nvPr/>
        </p:nvSpPr>
        <p:spPr>
          <a:xfrm>
            <a:off x="10014585" y="2594610"/>
            <a:ext cx="5556250" cy="724535"/>
          </a:xfrm>
          <a:custGeom>
            <a:avLst/>
            <a:gdLst/>
            <a:ahLst/>
            <a:cxnLst/>
            <a:rect l="l" t="t" r="r" b="b"/>
            <a:pathLst>
              <a:path w="5556250" h="889000">
                <a:moveTo>
                  <a:pt x="84668" y="0"/>
                </a:moveTo>
                <a:lnTo>
                  <a:pt x="5471582" y="0"/>
                </a:lnTo>
                <a:cubicBezTo>
                  <a:pt x="5518343" y="0"/>
                  <a:pt x="5556250" y="37907"/>
                  <a:pt x="5556250" y="84668"/>
                </a:cubicBezTo>
                <a:lnTo>
                  <a:pt x="5556250" y="804332"/>
                </a:lnTo>
                <a:cubicBezTo>
                  <a:pt x="5556250" y="851093"/>
                  <a:pt x="5518343" y="889000"/>
                  <a:pt x="5471582" y="889000"/>
                </a:cubicBezTo>
                <a:lnTo>
                  <a:pt x="84668" y="889000"/>
                </a:lnTo>
                <a:cubicBezTo>
                  <a:pt x="37907" y="889000"/>
                  <a:pt x="0" y="851093"/>
                  <a:pt x="0" y="804332"/>
                </a:cubicBezTo>
                <a:lnTo>
                  <a:pt x="0" y="84668"/>
                </a:lnTo>
                <a:cubicBezTo>
                  <a:pt x="0" y="37939"/>
                  <a:pt x="37939" y="0"/>
                  <a:pt x="84668" y="0"/>
                </a:cubicBezTo>
                <a:close/>
              </a:path>
            </a:pathLst>
          </a:custGeom>
          <a:solidFill>
            <a:srgbClr val="E5A044">
              <a:alpha val="10196"/>
            </a:srgbClr>
          </a:solidFill>
        </p:spPr>
      </p:sp>
      <p:sp>
        <p:nvSpPr>
          <p:cNvPr id="53" name="Text 51"/>
          <p:cNvSpPr/>
          <p:nvPr/>
        </p:nvSpPr>
        <p:spPr>
          <a:xfrm>
            <a:off x="10184130" y="2732405"/>
            <a:ext cx="1100455" cy="207010"/>
          </a:xfrm>
          <a:prstGeom prst="rect">
            <a:avLst/>
          </a:prstGeom>
          <a:noFill/>
        </p:spPr>
        <p:txBody>
          <a:bodyPr wrap="square" lIns="0" tIns="0" rIns="0" bIns="0" rtlCol="0" anchor="ctr"/>
          <a:lstStyle/>
          <a:p>
            <a:pPr>
              <a:lnSpc>
                <a:spcPct val="130000"/>
              </a:lnSpc>
            </a:pPr>
            <a:r>
              <a:rPr lang="en-US" sz="1335" b="1" dirty="0">
                <a:solidFill>
                  <a:srgbClr val="E0E2E6">
                    <a:alpha val="80000"/>
                  </a:srgbClr>
                </a:solidFill>
                <a:latin typeface="MiSans" pitchFamily="34" charset="-122"/>
                <a:ea typeface="MiSans" pitchFamily="34" charset="-122"/>
                <a:cs typeface="MiSans" pitchFamily="34" charset="-120"/>
              </a:rPr>
              <a:t>降低维护成本</a:t>
            </a:r>
            <a:endParaRPr lang="en-US" sz="1600" dirty="0"/>
          </a:p>
        </p:txBody>
      </p:sp>
      <p:sp>
        <p:nvSpPr>
          <p:cNvPr id="54" name="Shape 52"/>
          <p:cNvSpPr/>
          <p:nvPr/>
        </p:nvSpPr>
        <p:spPr>
          <a:xfrm>
            <a:off x="15233015" y="2767330"/>
            <a:ext cx="127000" cy="138430"/>
          </a:xfrm>
          <a:custGeom>
            <a:avLst/>
            <a:gdLst/>
            <a:ahLst/>
            <a:cxnLst/>
            <a:rect l="l" t="t" r="r" b="b"/>
            <a:pathLst>
              <a:path w="127000" h="169333">
                <a:moveTo>
                  <a:pt x="56026" y="166224"/>
                </a:moveTo>
                <a:cubicBezTo>
                  <a:pt x="60160" y="170359"/>
                  <a:pt x="66873" y="170359"/>
                  <a:pt x="71008" y="166224"/>
                </a:cubicBezTo>
                <a:lnTo>
                  <a:pt x="123924" y="113308"/>
                </a:lnTo>
                <a:cubicBezTo>
                  <a:pt x="128058" y="109174"/>
                  <a:pt x="128058" y="102460"/>
                  <a:pt x="123924" y="98326"/>
                </a:cubicBezTo>
                <a:cubicBezTo>
                  <a:pt x="119790" y="94192"/>
                  <a:pt x="113076" y="94192"/>
                  <a:pt x="108942" y="98326"/>
                </a:cubicBezTo>
                <a:lnTo>
                  <a:pt x="74083" y="133185"/>
                </a:lnTo>
                <a:lnTo>
                  <a:pt x="74083" y="10583"/>
                </a:lnTo>
                <a:cubicBezTo>
                  <a:pt x="74083" y="4729"/>
                  <a:pt x="69354" y="0"/>
                  <a:pt x="63500" y="0"/>
                </a:cubicBezTo>
                <a:cubicBezTo>
                  <a:pt x="57646" y="0"/>
                  <a:pt x="52917" y="4729"/>
                  <a:pt x="52917" y="10583"/>
                </a:cubicBezTo>
                <a:lnTo>
                  <a:pt x="52917" y="133185"/>
                </a:lnTo>
                <a:lnTo>
                  <a:pt x="18058" y="98326"/>
                </a:lnTo>
                <a:cubicBezTo>
                  <a:pt x="13924" y="94192"/>
                  <a:pt x="7210" y="94192"/>
                  <a:pt x="3076" y="98326"/>
                </a:cubicBezTo>
                <a:cubicBezTo>
                  <a:pt x="-1058" y="102460"/>
                  <a:pt x="-1058" y="109174"/>
                  <a:pt x="3076" y="113308"/>
                </a:cubicBezTo>
                <a:lnTo>
                  <a:pt x="55992" y="166224"/>
                </a:lnTo>
                <a:close/>
              </a:path>
            </a:pathLst>
          </a:custGeom>
          <a:solidFill>
            <a:srgbClr val="E5A044"/>
          </a:solidFill>
        </p:spPr>
      </p:sp>
      <p:sp>
        <p:nvSpPr>
          <p:cNvPr id="55" name="Text 53"/>
          <p:cNvSpPr/>
          <p:nvPr/>
        </p:nvSpPr>
        <p:spPr>
          <a:xfrm>
            <a:off x="10184130" y="3008630"/>
            <a:ext cx="5291455" cy="172085"/>
          </a:xfrm>
          <a:prstGeom prst="rect">
            <a:avLst/>
          </a:prstGeom>
          <a:noFill/>
        </p:spPr>
        <p:txBody>
          <a:bodyPr wrap="square" lIns="0" tIns="0" rIns="0" bIns="0" rtlCol="0" anchor="ctr"/>
          <a:lstStyle/>
          <a:p>
            <a:pPr>
              <a:lnSpc>
                <a:spcPct val="120000"/>
              </a:lnSpc>
            </a:pPr>
            <a:r>
              <a:rPr lang="en-US" sz="1165" dirty="0">
                <a:solidFill>
                  <a:srgbClr val="E0E2E6">
                    <a:alpha val="70000"/>
                  </a:srgbClr>
                </a:solidFill>
                <a:latin typeface="MiSans" pitchFamily="34" charset="-122"/>
                <a:ea typeface="MiSans" pitchFamily="34" charset="-122"/>
                <a:cs typeface="MiSans" pitchFamily="34" charset="-120"/>
              </a:rPr>
              <a:t>减少人工维护依赖文件的时间和精力投入</a:t>
            </a:r>
            <a:endParaRPr lang="en-US" sz="1600" dirty="0"/>
          </a:p>
        </p:txBody>
      </p:sp>
      <p:sp>
        <p:nvSpPr>
          <p:cNvPr id="56" name="Shape 54"/>
          <p:cNvSpPr/>
          <p:nvPr/>
        </p:nvSpPr>
        <p:spPr>
          <a:xfrm>
            <a:off x="10014585" y="3422650"/>
            <a:ext cx="5556250" cy="724535"/>
          </a:xfrm>
          <a:custGeom>
            <a:avLst/>
            <a:gdLst/>
            <a:ahLst/>
            <a:cxnLst/>
            <a:rect l="l" t="t" r="r" b="b"/>
            <a:pathLst>
              <a:path w="5556250" h="889000">
                <a:moveTo>
                  <a:pt x="84668" y="0"/>
                </a:moveTo>
                <a:lnTo>
                  <a:pt x="5471582" y="0"/>
                </a:lnTo>
                <a:cubicBezTo>
                  <a:pt x="5518343" y="0"/>
                  <a:pt x="5556250" y="37907"/>
                  <a:pt x="5556250" y="84668"/>
                </a:cubicBezTo>
                <a:lnTo>
                  <a:pt x="5556250" y="804332"/>
                </a:lnTo>
                <a:cubicBezTo>
                  <a:pt x="5556250" y="851093"/>
                  <a:pt x="5518343" y="889000"/>
                  <a:pt x="5471582" y="889000"/>
                </a:cubicBezTo>
                <a:lnTo>
                  <a:pt x="84668" y="889000"/>
                </a:lnTo>
                <a:cubicBezTo>
                  <a:pt x="37907" y="889000"/>
                  <a:pt x="0" y="851093"/>
                  <a:pt x="0" y="804332"/>
                </a:cubicBezTo>
                <a:lnTo>
                  <a:pt x="0" y="84668"/>
                </a:lnTo>
                <a:cubicBezTo>
                  <a:pt x="0" y="37939"/>
                  <a:pt x="37939" y="0"/>
                  <a:pt x="84668" y="0"/>
                </a:cubicBezTo>
                <a:close/>
              </a:path>
            </a:pathLst>
          </a:custGeom>
          <a:solidFill>
            <a:srgbClr val="3D8F8A">
              <a:alpha val="10196"/>
            </a:srgbClr>
          </a:solidFill>
        </p:spPr>
      </p:sp>
      <p:sp>
        <p:nvSpPr>
          <p:cNvPr id="57" name="Text 55"/>
          <p:cNvSpPr/>
          <p:nvPr/>
        </p:nvSpPr>
        <p:spPr>
          <a:xfrm>
            <a:off x="10184130" y="3561080"/>
            <a:ext cx="1100455" cy="207010"/>
          </a:xfrm>
          <a:prstGeom prst="rect">
            <a:avLst/>
          </a:prstGeom>
          <a:noFill/>
        </p:spPr>
        <p:txBody>
          <a:bodyPr wrap="square" lIns="0" tIns="0" rIns="0" bIns="0" rtlCol="0" anchor="ctr"/>
          <a:lstStyle/>
          <a:p>
            <a:pPr>
              <a:lnSpc>
                <a:spcPct val="130000"/>
              </a:lnSpc>
            </a:pPr>
            <a:r>
              <a:rPr lang="en-US" sz="1335" b="1" dirty="0">
                <a:solidFill>
                  <a:srgbClr val="E0E2E6">
                    <a:alpha val="80000"/>
                  </a:srgbClr>
                </a:solidFill>
                <a:latin typeface="MiSans" pitchFamily="34" charset="-122"/>
                <a:ea typeface="MiSans" pitchFamily="34" charset="-122"/>
                <a:cs typeface="MiSans" pitchFamily="34" charset="-120"/>
              </a:rPr>
              <a:t>提高可复现性</a:t>
            </a:r>
            <a:endParaRPr lang="en-US" sz="1600" dirty="0"/>
          </a:p>
        </p:txBody>
      </p:sp>
      <p:sp>
        <p:nvSpPr>
          <p:cNvPr id="58" name="Shape 56"/>
          <p:cNvSpPr/>
          <p:nvPr/>
        </p:nvSpPr>
        <p:spPr>
          <a:xfrm>
            <a:off x="15233015" y="3595370"/>
            <a:ext cx="127000" cy="138430"/>
          </a:xfrm>
          <a:custGeom>
            <a:avLst/>
            <a:gdLst/>
            <a:ahLst/>
            <a:cxnLst/>
            <a:rect l="l" t="t" r="r" b="b"/>
            <a:pathLst>
              <a:path w="127000" h="169333">
                <a:moveTo>
                  <a:pt x="70974" y="5755"/>
                </a:moveTo>
                <a:cubicBezTo>
                  <a:pt x="66840" y="1621"/>
                  <a:pt x="60127" y="1621"/>
                  <a:pt x="55992" y="5755"/>
                </a:cubicBezTo>
                <a:lnTo>
                  <a:pt x="3076" y="58671"/>
                </a:lnTo>
                <a:cubicBezTo>
                  <a:pt x="-1058" y="62805"/>
                  <a:pt x="-1058" y="69519"/>
                  <a:pt x="3076" y="73653"/>
                </a:cubicBezTo>
                <a:cubicBezTo>
                  <a:pt x="7210" y="77788"/>
                  <a:pt x="13924" y="77788"/>
                  <a:pt x="18058" y="73653"/>
                </a:cubicBezTo>
                <a:lnTo>
                  <a:pt x="52917" y="38795"/>
                </a:lnTo>
                <a:lnTo>
                  <a:pt x="52917" y="161396"/>
                </a:lnTo>
                <a:cubicBezTo>
                  <a:pt x="52917" y="167250"/>
                  <a:pt x="57646" y="171979"/>
                  <a:pt x="63500" y="171979"/>
                </a:cubicBezTo>
                <a:cubicBezTo>
                  <a:pt x="69354" y="171979"/>
                  <a:pt x="74083" y="167250"/>
                  <a:pt x="74083" y="161396"/>
                </a:cubicBezTo>
                <a:lnTo>
                  <a:pt x="74083" y="38795"/>
                </a:lnTo>
                <a:lnTo>
                  <a:pt x="108942" y="73653"/>
                </a:lnTo>
                <a:cubicBezTo>
                  <a:pt x="113076" y="77788"/>
                  <a:pt x="119790" y="77788"/>
                  <a:pt x="123924" y="73653"/>
                </a:cubicBezTo>
                <a:cubicBezTo>
                  <a:pt x="128058" y="69519"/>
                  <a:pt x="128058" y="62805"/>
                  <a:pt x="123924" y="58671"/>
                </a:cubicBezTo>
                <a:lnTo>
                  <a:pt x="71008" y="5755"/>
                </a:lnTo>
                <a:close/>
              </a:path>
            </a:pathLst>
          </a:custGeom>
          <a:solidFill>
            <a:srgbClr val="3D8F8A"/>
          </a:solidFill>
        </p:spPr>
      </p:sp>
      <p:sp>
        <p:nvSpPr>
          <p:cNvPr id="59" name="Text 57"/>
          <p:cNvSpPr/>
          <p:nvPr/>
        </p:nvSpPr>
        <p:spPr>
          <a:xfrm>
            <a:off x="10184130" y="3836670"/>
            <a:ext cx="5291455" cy="172085"/>
          </a:xfrm>
          <a:prstGeom prst="rect">
            <a:avLst/>
          </a:prstGeom>
          <a:noFill/>
        </p:spPr>
        <p:txBody>
          <a:bodyPr wrap="square" lIns="0" tIns="0" rIns="0" bIns="0" rtlCol="0" anchor="ctr"/>
          <a:lstStyle/>
          <a:p>
            <a:pPr>
              <a:lnSpc>
                <a:spcPct val="120000"/>
              </a:lnSpc>
            </a:pPr>
            <a:r>
              <a:rPr lang="en-US" sz="1165" dirty="0">
                <a:solidFill>
                  <a:srgbClr val="E0E2E6">
                    <a:alpha val="70000"/>
                  </a:srgbClr>
                </a:solidFill>
                <a:latin typeface="MiSans" pitchFamily="34" charset="-122"/>
                <a:ea typeface="MiSans" pitchFamily="34" charset="-122"/>
                <a:cs typeface="MiSans" pitchFamily="34" charset="-120"/>
              </a:rPr>
              <a:t>确保项目在不同环境中能够一致运行</a:t>
            </a:r>
            <a:endParaRPr lang="en-US" sz="1600" dirty="0"/>
          </a:p>
        </p:txBody>
      </p:sp>
      <p:sp>
        <p:nvSpPr>
          <p:cNvPr id="60" name="Shape 58"/>
          <p:cNvSpPr/>
          <p:nvPr/>
        </p:nvSpPr>
        <p:spPr>
          <a:xfrm>
            <a:off x="10014585" y="4250690"/>
            <a:ext cx="5556250" cy="724535"/>
          </a:xfrm>
          <a:custGeom>
            <a:avLst/>
            <a:gdLst/>
            <a:ahLst/>
            <a:cxnLst/>
            <a:rect l="l" t="t" r="r" b="b"/>
            <a:pathLst>
              <a:path w="5556250" h="889000">
                <a:moveTo>
                  <a:pt x="84668" y="0"/>
                </a:moveTo>
                <a:lnTo>
                  <a:pt x="5471582" y="0"/>
                </a:lnTo>
                <a:cubicBezTo>
                  <a:pt x="5518343" y="0"/>
                  <a:pt x="5556250" y="37907"/>
                  <a:pt x="5556250" y="84668"/>
                </a:cubicBezTo>
                <a:lnTo>
                  <a:pt x="5556250" y="804332"/>
                </a:lnTo>
                <a:cubicBezTo>
                  <a:pt x="5556250" y="851093"/>
                  <a:pt x="5518343" y="889000"/>
                  <a:pt x="5471582" y="889000"/>
                </a:cubicBezTo>
                <a:lnTo>
                  <a:pt x="84668" y="889000"/>
                </a:lnTo>
                <a:cubicBezTo>
                  <a:pt x="37907" y="889000"/>
                  <a:pt x="0" y="851093"/>
                  <a:pt x="0" y="804332"/>
                </a:cubicBezTo>
                <a:lnTo>
                  <a:pt x="0" y="84668"/>
                </a:lnTo>
                <a:cubicBezTo>
                  <a:pt x="0" y="37939"/>
                  <a:pt x="37939" y="0"/>
                  <a:pt x="84668" y="0"/>
                </a:cubicBezTo>
                <a:close/>
              </a:path>
            </a:pathLst>
          </a:custGeom>
          <a:solidFill>
            <a:srgbClr val="5A6472">
              <a:alpha val="10196"/>
            </a:srgbClr>
          </a:solidFill>
        </p:spPr>
      </p:sp>
      <p:sp>
        <p:nvSpPr>
          <p:cNvPr id="61" name="Text 59"/>
          <p:cNvSpPr/>
          <p:nvPr/>
        </p:nvSpPr>
        <p:spPr>
          <a:xfrm>
            <a:off x="10184130" y="4389120"/>
            <a:ext cx="1439545" cy="207010"/>
          </a:xfrm>
          <a:prstGeom prst="rect">
            <a:avLst/>
          </a:prstGeom>
          <a:noFill/>
        </p:spPr>
        <p:txBody>
          <a:bodyPr wrap="square" lIns="0" tIns="0" rIns="0" bIns="0" rtlCol="0" anchor="ctr"/>
          <a:lstStyle/>
          <a:p>
            <a:pPr>
              <a:lnSpc>
                <a:spcPct val="130000"/>
              </a:lnSpc>
            </a:pPr>
            <a:r>
              <a:rPr lang="en-US" sz="1335" b="1" dirty="0">
                <a:solidFill>
                  <a:srgbClr val="E0E2E6">
                    <a:alpha val="80000"/>
                  </a:srgbClr>
                </a:solidFill>
                <a:latin typeface="MiSans" pitchFamily="34" charset="-122"/>
                <a:ea typeface="MiSans" pitchFamily="34" charset="-122"/>
                <a:cs typeface="MiSans" pitchFamily="34" charset="-120"/>
              </a:rPr>
              <a:t>改善新贡献者体验</a:t>
            </a:r>
            <a:endParaRPr lang="en-US" sz="1600" dirty="0"/>
          </a:p>
        </p:txBody>
      </p:sp>
      <p:sp>
        <p:nvSpPr>
          <p:cNvPr id="62" name="Shape 60"/>
          <p:cNvSpPr/>
          <p:nvPr/>
        </p:nvSpPr>
        <p:spPr>
          <a:xfrm>
            <a:off x="15212060" y="4424045"/>
            <a:ext cx="169545" cy="138430"/>
          </a:xfrm>
          <a:custGeom>
            <a:avLst/>
            <a:gdLst/>
            <a:ahLst/>
            <a:cxnLst/>
            <a:rect l="l" t="t" r="r" b="b"/>
            <a:pathLst>
              <a:path w="169333" h="169333">
                <a:moveTo>
                  <a:pt x="84667" y="169333"/>
                </a:moveTo>
                <a:cubicBezTo>
                  <a:pt x="131395" y="169333"/>
                  <a:pt x="169333" y="131395"/>
                  <a:pt x="169333" y="84667"/>
                </a:cubicBezTo>
                <a:cubicBezTo>
                  <a:pt x="169333" y="37938"/>
                  <a:pt x="131395" y="0"/>
                  <a:pt x="84667" y="0"/>
                </a:cubicBezTo>
                <a:cubicBezTo>
                  <a:pt x="37938" y="0"/>
                  <a:pt x="0" y="37938"/>
                  <a:pt x="0" y="84667"/>
                </a:cubicBezTo>
                <a:cubicBezTo>
                  <a:pt x="0" y="131395"/>
                  <a:pt x="37938" y="169333"/>
                  <a:pt x="84667" y="169333"/>
                </a:cubicBezTo>
                <a:close/>
                <a:moveTo>
                  <a:pt x="54703" y="106462"/>
                </a:moveTo>
                <a:cubicBezTo>
                  <a:pt x="61449" y="115722"/>
                  <a:pt x="72364" y="121708"/>
                  <a:pt x="84667" y="121708"/>
                </a:cubicBezTo>
                <a:cubicBezTo>
                  <a:pt x="96970" y="121708"/>
                  <a:pt x="107884" y="115722"/>
                  <a:pt x="114631" y="106462"/>
                </a:cubicBezTo>
                <a:cubicBezTo>
                  <a:pt x="117210" y="102923"/>
                  <a:pt x="122171" y="102129"/>
                  <a:pt x="125710" y="104709"/>
                </a:cubicBezTo>
                <a:cubicBezTo>
                  <a:pt x="129249" y="107289"/>
                  <a:pt x="130043" y="112249"/>
                  <a:pt x="127463" y="115788"/>
                </a:cubicBezTo>
                <a:cubicBezTo>
                  <a:pt x="117839" y="128984"/>
                  <a:pt x="102261" y="137583"/>
                  <a:pt x="84667" y="137583"/>
                </a:cubicBezTo>
                <a:cubicBezTo>
                  <a:pt x="67072" y="137583"/>
                  <a:pt x="51495" y="128984"/>
                  <a:pt x="41870" y="115788"/>
                </a:cubicBezTo>
                <a:cubicBezTo>
                  <a:pt x="39291" y="112249"/>
                  <a:pt x="40084" y="107289"/>
                  <a:pt x="43623" y="104709"/>
                </a:cubicBezTo>
                <a:cubicBezTo>
                  <a:pt x="47162" y="102129"/>
                  <a:pt x="52123" y="102923"/>
                  <a:pt x="54703" y="106462"/>
                </a:cubicBezTo>
                <a:close/>
                <a:moveTo>
                  <a:pt x="47625" y="68792"/>
                </a:moveTo>
                <a:cubicBezTo>
                  <a:pt x="47625" y="62951"/>
                  <a:pt x="52367" y="58208"/>
                  <a:pt x="58208" y="58208"/>
                </a:cubicBezTo>
                <a:cubicBezTo>
                  <a:pt x="64049" y="58208"/>
                  <a:pt x="68792" y="62951"/>
                  <a:pt x="68792" y="68792"/>
                </a:cubicBezTo>
                <a:cubicBezTo>
                  <a:pt x="68792" y="74633"/>
                  <a:pt x="64049" y="79375"/>
                  <a:pt x="58208" y="79375"/>
                </a:cubicBezTo>
                <a:cubicBezTo>
                  <a:pt x="52367" y="79375"/>
                  <a:pt x="47625" y="74633"/>
                  <a:pt x="47625" y="68792"/>
                </a:cubicBezTo>
                <a:close/>
                <a:moveTo>
                  <a:pt x="111125" y="58208"/>
                </a:moveTo>
                <a:cubicBezTo>
                  <a:pt x="116966" y="58208"/>
                  <a:pt x="121708" y="62951"/>
                  <a:pt x="121708" y="68792"/>
                </a:cubicBezTo>
                <a:cubicBezTo>
                  <a:pt x="121708" y="74633"/>
                  <a:pt x="116966" y="79375"/>
                  <a:pt x="111125" y="79375"/>
                </a:cubicBezTo>
                <a:cubicBezTo>
                  <a:pt x="105284" y="79375"/>
                  <a:pt x="100542" y="74633"/>
                  <a:pt x="100542" y="68792"/>
                </a:cubicBezTo>
                <a:cubicBezTo>
                  <a:pt x="100542" y="62951"/>
                  <a:pt x="105284" y="58208"/>
                  <a:pt x="111125" y="58208"/>
                </a:cubicBezTo>
                <a:close/>
              </a:path>
            </a:pathLst>
          </a:custGeom>
          <a:solidFill>
            <a:srgbClr val="5A6472"/>
          </a:solidFill>
        </p:spPr>
      </p:sp>
      <p:sp>
        <p:nvSpPr>
          <p:cNvPr id="63" name="Text 61"/>
          <p:cNvSpPr/>
          <p:nvPr/>
        </p:nvSpPr>
        <p:spPr>
          <a:xfrm>
            <a:off x="10184130" y="4665345"/>
            <a:ext cx="5291455" cy="172085"/>
          </a:xfrm>
          <a:prstGeom prst="rect">
            <a:avLst/>
          </a:prstGeom>
          <a:noFill/>
        </p:spPr>
        <p:txBody>
          <a:bodyPr wrap="square" lIns="0" tIns="0" rIns="0" bIns="0" rtlCol="0" anchor="ctr"/>
          <a:lstStyle/>
          <a:p>
            <a:pPr>
              <a:lnSpc>
                <a:spcPct val="120000"/>
              </a:lnSpc>
            </a:pPr>
            <a:r>
              <a:rPr lang="en-US" sz="1165" dirty="0">
                <a:solidFill>
                  <a:srgbClr val="E0E2E6">
                    <a:alpha val="70000"/>
                  </a:srgbClr>
                </a:solidFill>
                <a:latin typeface="MiSans" pitchFamily="34" charset="-122"/>
                <a:ea typeface="MiSans" pitchFamily="34" charset="-122"/>
                <a:cs typeface="MiSans" pitchFamily="34" charset="-120"/>
              </a:rPr>
              <a:t>降低新贡献者的环境配置门槛,提升参与积极性</a:t>
            </a:r>
            <a:endParaRPr lang="en-US" sz="1600" dirty="0"/>
          </a:p>
        </p:txBody>
      </p:sp>
      <p:sp>
        <p:nvSpPr>
          <p:cNvPr id="64" name="Shape 62"/>
          <p:cNvSpPr/>
          <p:nvPr/>
        </p:nvSpPr>
        <p:spPr>
          <a:xfrm>
            <a:off x="9757410" y="5781675"/>
            <a:ext cx="6071235" cy="2835910"/>
          </a:xfrm>
          <a:custGeom>
            <a:avLst/>
            <a:gdLst/>
            <a:ahLst/>
            <a:cxnLst/>
            <a:rect l="l" t="t" r="r" b="b"/>
            <a:pathLst>
              <a:path w="6071306" h="1869722">
                <a:moveTo>
                  <a:pt x="126992" y="0"/>
                </a:moveTo>
                <a:lnTo>
                  <a:pt x="5944314" y="0"/>
                </a:lnTo>
                <a:cubicBezTo>
                  <a:pt x="6014450" y="0"/>
                  <a:pt x="6071306" y="56856"/>
                  <a:pt x="6071306" y="126992"/>
                </a:cubicBezTo>
                <a:lnTo>
                  <a:pt x="6071306" y="1742731"/>
                </a:lnTo>
                <a:cubicBezTo>
                  <a:pt x="6071306" y="1812866"/>
                  <a:pt x="6014450" y="1869722"/>
                  <a:pt x="5944314" y="1869722"/>
                </a:cubicBezTo>
                <a:lnTo>
                  <a:pt x="126992" y="1869722"/>
                </a:lnTo>
                <a:cubicBezTo>
                  <a:pt x="56856" y="1869722"/>
                  <a:pt x="0" y="1812866"/>
                  <a:pt x="0" y="1742731"/>
                </a:cubicBezTo>
                <a:lnTo>
                  <a:pt x="0" y="126992"/>
                </a:lnTo>
                <a:cubicBezTo>
                  <a:pt x="0" y="56903"/>
                  <a:pt x="56903" y="0"/>
                  <a:pt x="126992" y="0"/>
                </a:cubicBezTo>
                <a:close/>
              </a:path>
            </a:pathLst>
          </a:custGeom>
          <a:solidFill>
            <a:srgbClr val="3D8F8A">
              <a:alpha val="10196"/>
            </a:srgbClr>
          </a:solidFill>
          <a:ln w="8467">
            <a:solidFill>
              <a:srgbClr val="3D8F8A">
                <a:alpha val="30196"/>
              </a:srgbClr>
            </a:solidFill>
            <a:prstDash val="solid"/>
          </a:ln>
        </p:spPr>
      </p:sp>
      <p:sp>
        <p:nvSpPr>
          <p:cNvPr id="65" name="Shape 63"/>
          <p:cNvSpPr/>
          <p:nvPr/>
        </p:nvSpPr>
        <p:spPr>
          <a:xfrm>
            <a:off x="10014585" y="6026785"/>
            <a:ext cx="264795" cy="172085"/>
          </a:xfrm>
          <a:custGeom>
            <a:avLst/>
            <a:gdLst/>
            <a:ahLst/>
            <a:cxnLst/>
            <a:rect l="l" t="t" r="r" b="b"/>
            <a:pathLst>
              <a:path w="264583" h="211667">
                <a:moveTo>
                  <a:pt x="132292" y="6615"/>
                </a:moveTo>
                <a:cubicBezTo>
                  <a:pt x="156021" y="6615"/>
                  <a:pt x="175286" y="25880"/>
                  <a:pt x="175286" y="49609"/>
                </a:cubicBezTo>
                <a:cubicBezTo>
                  <a:pt x="175286" y="73339"/>
                  <a:pt x="156021" y="92604"/>
                  <a:pt x="132292" y="92604"/>
                </a:cubicBezTo>
                <a:cubicBezTo>
                  <a:pt x="108562" y="92604"/>
                  <a:pt x="89297" y="73339"/>
                  <a:pt x="89297" y="49609"/>
                </a:cubicBezTo>
                <a:cubicBezTo>
                  <a:pt x="89297" y="25880"/>
                  <a:pt x="108562" y="6615"/>
                  <a:pt x="132292" y="6615"/>
                </a:cubicBezTo>
                <a:close/>
                <a:moveTo>
                  <a:pt x="39688" y="36380"/>
                </a:moveTo>
                <a:cubicBezTo>
                  <a:pt x="56116" y="36380"/>
                  <a:pt x="69453" y="49718"/>
                  <a:pt x="69453" y="66146"/>
                </a:cubicBezTo>
                <a:cubicBezTo>
                  <a:pt x="69453" y="82574"/>
                  <a:pt x="56116" y="95911"/>
                  <a:pt x="39688" y="95911"/>
                </a:cubicBezTo>
                <a:cubicBezTo>
                  <a:pt x="23259" y="95911"/>
                  <a:pt x="9922" y="82574"/>
                  <a:pt x="9922" y="66146"/>
                </a:cubicBezTo>
                <a:cubicBezTo>
                  <a:pt x="9922" y="49718"/>
                  <a:pt x="23259" y="36380"/>
                  <a:pt x="39687" y="36380"/>
                </a:cubicBezTo>
                <a:close/>
                <a:moveTo>
                  <a:pt x="0" y="171979"/>
                </a:moveTo>
                <a:cubicBezTo>
                  <a:pt x="0" y="142751"/>
                  <a:pt x="23688" y="119063"/>
                  <a:pt x="52917" y="119063"/>
                </a:cubicBezTo>
                <a:cubicBezTo>
                  <a:pt x="58208" y="119063"/>
                  <a:pt x="63335" y="119848"/>
                  <a:pt x="68172" y="121295"/>
                </a:cubicBezTo>
                <a:cubicBezTo>
                  <a:pt x="54570" y="136508"/>
                  <a:pt x="46302" y="156600"/>
                  <a:pt x="46302" y="178594"/>
                </a:cubicBezTo>
                <a:lnTo>
                  <a:pt x="46302" y="185208"/>
                </a:lnTo>
                <a:cubicBezTo>
                  <a:pt x="46302" y="189921"/>
                  <a:pt x="47294" y="194386"/>
                  <a:pt x="49072" y="198438"/>
                </a:cubicBezTo>
                <a:lnTo>
                  <a:pt x="13229" y="198438"/>
                </a:lnTo>
                <a:cubicBezTo>
                  <a:pt x="5912" y="198438"/>
                  <a:pt x="0" y="192526"/>
                  <a:pt x="0" y="185208"/>
                </a:cubicBezTo>
                <a:lnTo>
                  <a:pt x="0" y="171979"/>
                </a:lnTo>
                <a:close/>
                <a:moveTo>
                  <a:pt x="215511" y="198438"/>
                </a:moveTo>
                <a:cubicBezTo>
                  <a:pt x="217289" y="194386"/>
                  <a:pt x="218281" y="189921"/>
                  <a:pt x="218281" y="185208"/>
                </a:cubicBezTo>
                <a:lnTo>
                  <a:pt x="218281" y="178594"/>
                </a:lnTo>
                <a:cubicBezTo>
                  <a:pt x="218281" y="156600"/>
                  <a:pt x="210013" y="136508"/>
                  <a:pt x="196412" y="121295"/>
                </a:cubicBezTo>
                <a:cubicBezTo>
                  <a:pt x="201249" y="119848"/>
                  <a:pt x="206375" y="119063"/>
                  <a:pt x="211667" y="119063"/>
                </a:cubicBezTo>
                <a:cubicBezTo>
                  <a:pt x="240895" y="119063"/>
                  <a:pt x="264583" y="142751"/>
                  <a:pt x="264583" y="171979"/>
                </a:cubicBezTo>
                <a:lnTo>
                  <a:pt x="264583" y="185208"/>
                </a:lnTo>
                <a:cubicBezTo>
                  <a:pt x="264583" y="192526"/>
                  <a:pt x="258672" y="198438"/>
                  <a:pt x="251354" y="198438"/>
                </a:cubicBezTo>
                <a:lnTo>
                  <a:pt x="215511" y="198438"/>
                </a:lnTo>
                <a:close/>
                <a:moveTo>
                  <a:pt x="195130" y="66146"/>
                </a:moveTo>
                <a:cubicBezTo>
                  <a:pt x="195130" y="49718"/>
                  <a:pt x="208468" y="36380"/>
                  <a:pt x="224896" y="36380"/>
                </a:cubicBezTo>
                <a:cubicBezTo>
                  <a:pt x="241324" y="36380"/>
                  <a:pt x="254661" y="49718"/>
                  <a:pt x="254661" y="66146"/>
                </a:cubicBezTo>
                <a:cubicBezTo>
                  <a:pt x="254661" y="82574"/>
                  <a:pt x="241324" y="95911"/>
                  <a:pt x="224896" y="95911"/>
                </a:cubicBezTo>
                <a:cubicBezTo>
                  <a:pt x="208468" y="95911"/>
                  <a:pt x="195130" y="82574"/>
                  <a:pt x="195130" y="66146"/>
                </a:cubicBezTo>
                <a:close/>
                <a:moveTo>
                  <a:pt x="66146" y="178594"/>
                </a:moveTo>
                <a:cubicBezTo>
                  <a:pt x="66146" y="142048"/>
                  <a:pt x="95746" y="112448"/>
                  <a:pt x="132292" y="112448"/>
                </a:cubicBezTo>
                <a:cubicBezTo>
                  <a:pt x="168837" y="112448"/>
                  <a:pt x="198438" y="142048"/>
                  <a:pt x="198438" y="178594"/>
                </a:cubicBezTo>
                <a:lnTo>
                  <a:pt x="198438" y="185208"/>
                </a:lnTo>
                <a:cubicBezTo>
                  <a:pt x="198438" y="192526"/>
                  <a:pt x="192526" y="198438"/>
                  <a:pt x="185208" y="198438"/>
                </a:cubicBezTo>
                <a:lnTo>
                  <a:pt x="79375" y="198438"/>
                </a:lnTo>
                <a:cubicBezTo>
                  <a:pt x="72058" y="198438"/>
                  <a:pt x="66146" y="192526"/>
                  <a:pt x="66146" y="185208"/>
                </a:cubicBezTo>
                <a:lnTo>
                  <a:pt x="66146" y="178594"/>
                </a:lnTo>
                <a:close/>
              </a:path>
            </a:pathLst>
          </a:custGeom>
          <a:solidFill>
            <a:srgbClr val="3D8F8A"/>
          </a:solidFill>
        </p:spPr>
      </p:sp>
      <p:sp>
        <p:nvSpPr>
          <p:cNvPr id="66" name="Text 64"/>
          <p:cNvSpPr/>
          <p:nvPr/>
        </p:nvSpPr>
        <p:spPr>
          <a:xfrm>
            <a:off x="10431145" y="5934710"/>
            <a:ext cx="5397500" cy="410210"/>
          </a:xfrm>
          <a:prstGeom prst="rect">
            <a:avLst/>
          </a:prstGeom>
          <a:noFill/>
        </p:spPr>
        <p:txBody>
          <a:bodyPr wrap="square" lIns="0" tIns="0" rIns="0" bIns="0" rtlCol="0" anchor="ctr"/>
          <a:lstStyle/>
          <a:p>
            <a:pPr>
              <a:lnSpc>
                <a:spcPct val="120000"/>
              </a:lnSpc>
            </a:pPr>
            <a:r>
              <a:rPr lang="en-US" sz="2000" b="1" dirty="0">
                <a:solidFill>
                  <a:srgbClr val="E0E2E6"/>
                </a:solidFill>
                <a:latin typeface="阿里妈妈数黑体" pitchFamily="34" charset="-122"/>
                <a:ea typeface="阿里妈妈数黑体" pitchFamily="34" charset="-122"/>
                <a:cs typeface="阿里妈妈数黑体" pitchFamily="34" charset="-120"/>
              </a:rPr>
              <a:t>目标用户</a:t>
            </a:r>
            <a:endParaRPr lang="en-US" sz="2000" b="1" dirty="0">
              <a:solidFill>
                <a:srgbClr val="E0E2E6"/>
              </a:solidFill>
              <a:latin typeface="阿里妈妈数黑体" pitchFamily="34" charset="-122"/>
              <a:ea typeface="阿里妈妈数黑体" pitchFamily="34" charset="-122"/>
              <a:cs typeface="阿里妈妈数黑体" pitchFamily="34" charset="-120"/>
            </a:endParaRPr>
          </a:p>
        </p:txBody>
      </p:sp>
      <p:grpSp>
        <p:nvGrpSpPr>
          <p:cNvPr id="6" name="组合 5"/>
          <p:cNvGrpSpPr/>
          <p:nvPr/>
        </p:nvGrpSpPr>
        <p:grpSpPr>
          <a:xfrm>
            <a:off x="10888980" y="6487160"/>
            <a:ext cx="3687445" cy="723900"/>
            <a:chOff x="15771" y="10034"/>
            <a:chExt cx="4282" cy="1140"/>
          </a:xfrm>
        </p:grpSpPr>
        <p:sp>
          <p:nvSpPr>
            <p:cNvPr id="67" name="Shape 65"/>
            <p:cNvSpPr/>
            <p:nvPr/>
          </p:nvSpPr>
          <p:spPr>
            <a:xfrm>
              <a:off x="15771" y="10034"/>
              <a:ext cx="4283" cy="1141"/>
            </a:xfrm>
            <a:custGeom>
              <a:avLst/>
              <a:gdLst/>
              <a:ahLst/>
              <a:cxnLst/>
              <a:rect l="l" t="t" r="r" b="b"/>
              <a:pathLst>
                <a:path w="2719917" h="889000">
                  <a:moveTo>
                    <a:pt x="84668" y="0"/>
                  </a:moveTo>
                  <a:lnTo>
                    <a:pt x="2635248" y="0"/>
                  </a:lnTo>
                  <a:cubicBezTo>
                    <a:pt x="2682009" y="0"/>
                    <a:pt x="2719917" y="37907"/>
                    <a:pt x="2719917" y="84668"/>
                  </a:cubicBezTo>
                  <a:lnTo>
                    <a:pt x="2719917" y="804332"/>
                  </a:lnTo>
                  <a:cubicBezTo>
                    <a:pt x="2719917" y="851093"/>
                    <a:pt x="2682009" y="889000"/>
                    <a:pt x="2635248" y="889000"/>
                  </a:cubicBezTo>
                  <a:lnTo>
                    <a:pt x="84668" y="889000"/>
                  </a:lnTo>
                  <a:cubicBezTo>
                    <a:pt x="37907" y="889000"/>
                    <a:pt x="0" y="851093"/>
                    <a:pt x="0" y="804332"/>
                  </a:cubicBezTo>
                  <a:lnTo>
                    <a:pt x="0" y="84668"/>
                  </a:lnTo>
                  <a:cubicBezTo>
                    <a:pt x="0" y="37939"/>
                    <a:pt x="37939" y="0"/>
                    <a:pt x="84668" y="0"/>
                  </a:cubicBezTo>
                  <a:close/>
                </a:path>
              </a:pathLst>
            </a:custGeom>
            <a:solidFill>
              <a:srgbClr val="3D8F8A">
                <a:alpha val="10196"/>
              </a:srgbClr>
            </a:solidFill>
          </p:spPr>
        </p:sp>
        <p:sp>
          <p:nvSpPr>
            <p:cNvPr id="68" name="Text 66"/>
            <p:cNvSpPr/>
            <p:nvPr/>
          </p:nvSpPr>
          <p:spPr>
            <a:xfrm>
              <a:off x="15846" y="10379"/>
              <a:ext cx="4133" cy="489"/>
            </a:xfrm>
            <a:prstGeom prst="rect">
              <a:avLst/>
            </a:prstGeom>
            <a:noFill/>
          </p:spPr>
          <p:txBody>
            <a:bodyPr wrap="square" lIns="0" tIns="0" rIns="0" bIns="0" rtlCol="0" anchor="ctr"/>
            <a:lstStyle/>
            <a:p>
              <a:pPr algn="ctr">
                <a:lnSpc>
                  <a:spcPct val="100000"/>
                </a:lnSpc>
              </a:pPr>
              <a:r>
                <a:rPr lang="zh-CN" altLang="en-US" sz="2500" b="1" dirty="0">
                  <a:solidFill>
                    <a:srgbClr val="3D8F8A"/>
                  </a:solidFill>
                  <a:latin typeface="微软雅黑" panose="020B0503020204020204" charset="-122"/>
                  <a:ea typeface="微软雅黑" panose="020B0503020204020204" charset="-122"/>
                  <a:cs typeface="阿里妈妈数黑体" pitchFamily="34" charset="-120"/>
                </a:rPr>
                <a:t>开源维护者</a:t>
              </a:r>
              <a:endParaRPr lang="zh-CN" altLang="en-US" sz="2500" b="1" dirty="0">
                <a:solidFill>
                  <a:srgbClr val="3D8F8A"/>
                </a:solidFill>
                <a:latin typeface="微软雅黑" panose="020B0503020204020204" charset="-122"/>
                <a:ea typeface="微软雅黑" panose="020B0503020204020204" charset="-122"/>
                <a:cs typeface="阿里妈妈数黑体" pitchFamily="34" charset="-120"/>
              </a:endParaRPr>
            </a:p>
          </p:txBody>
        </p:sp>
      </p:grpSp>
      <p:grpSp>
        <p:nvGrpSpPr>
          <p:cNvPr id="7" name="组合 6"/>
          <p:cNvGrpSpPr/>
          <p:nvPr/>
        </p:nvGrpSpPr>
        <p:grpSpPr>
          <a:xfrm>
            <a:off x="10953115" y="7591425"/>
            <a:ext cx="3623310" cy="723900"/>
            <a:chOff x="20247" y="10034"/>
            <a:chExt cx="4282" cy="1140"/>
          </a:xfrm>
        </p:grpSpPr>
        <p:sp>
          <p:nvSpPr>
            <p:cNvPr id="70" name="Shape 68"/>
            <p:cNvSpPr/>
            <p:nvPr/>
          </p:nvSpPr>
          <p:spPr>
            <a:xfrm>
              <a:off x="20247" y="10034"/>
              <a:ext cx="4283" cy="1141"/>
            </a:xfrm>
            <a:custGeom>
              <a:avLst/>
              <a:gdLst/>
              <a:ahLst/>
              <a:cxnLst/>
              <a:rect l="l" t="t" r="r" b="b"/>
              <a:pathLst>
                <a:path w="2719917" h="889000">
                  <a:moveTo>
                    <a:pt x="84668" y="0"/>
                  </a:moveTo>
                  <a:lnTo>
                    <a:pt x="2635248" y="0"/>
                  </a:lnTo>
                  <a:cubicBezTo>
                    <a:pt x="2682009" y="0"/>
                    <a:pt x="2719917" y="37907"/>
                    <a:pt x="2719917" y="84668"/>
                  </a:cubicBezTo>
                  <a:lnTo>
                    <a:pt x="2719917" y="804332"/>
                  </a:lnTo>
                  <a:cubicBezTo>
                    <a:pt x="2719917" y="851093"/>
                    <a:pt x="2682009" y="889000"/>
                    <a:pt x="2635248" y="889000"/>
                  </a:cubicBezTo>
                  <a:lnTo>
                    <a:pt x="84668" y="889000"/>
                  </a:lnTo>
                  <a:cubicBezTo>
                    <a:pt x="37907" y="889000"/>
                    <a:pt x="0" y="851093"/>
                    <a:pt x="0" y="804332"/>
                  </a:cubicBezTo>
                  <a:lnTo>
                    <a:pt x="0" y="84668"/>
                  </a:lnTo>
                  <a:cubicBezTo>
                    <a:pt x="0" y="37939"/>
                    <a:pt x="37939" y="0"/>
                    <a:pt x="84668" y="0"/>
                  </a:cubicBezTo>
                  <a:close/>
                </a:path>
              </a:pathLst>
            </a:custGeom>
            <a:solidFill>
              <a:srgbClr val="E5A044">
                <a:alpha val="10196"/>
              </a:srgbClr>
            </a:solidFill>
          </p:spPr>
        </p:sp>
        <p:sp>
          <p:nvSpPr>
            <p:cNvPr id="71" name="Text 69"/>
            <p:cNvSpPr/>
            <p:nvPr/>
          </p:nvSpPr>
          <p:spPr>
            <a:xfrm>
              <a:off x="20322" y="10379"/>
              <a:ext cx="4133" cy="489"/>
            </a:xfrm>
            <a:prstGeom prst="rect">
              <a:avLst/>
            </a:prstGeom>
            <a:noFill/>
          </p:spPr>
          <p:txBody>
            <a:bodyPr wrap="square" lIns="0" tIns="0" rIns="0" bIns="0" rtlCol="0" anchor="ctr"/>
            <a:lstStyle/>
            <a:p>
              <a:pPr algn="ctr">
                <a:lnSpc>
                  <a:spcPct val="100000"/>
                </a:lnSpc>
              </a:pPr>
              <a:r>
                <a:rPr lang="zh-CN" altLang="en-US" sz="2500" b="1" dirty="0">
                  <a:solidFill>
                    <a:srgbClr val="E5A044"/>
                  </a:solidFill>
                  <a:latin typeface="微软雅黑" panose="020B0503020204020204" charset="-122"/>
                  <a:ea typeface="微软雅黑" panose="020B0503020204020204" charset="-122"/>
                  <a:cs typeface="微软雅黑" panose="020B0503020204020204" charset="-122"/>
                </a:rPr>
                <a:t>海量</a:t>
              </a:r>
              <a:r>
                <a:rPr lang="en-US" altLang="zh-CN" sz="2500" b="1" dirty="0">
                  <a:solidFill>
                    <a:srgbClr val="E5A044"/>
                  </a:solidFill>
                  <a:latin typeface="微软雅黑" panose="020B0503020204020204" charset="-122"/>
                  <a:ea typeface="微软雅黑" panose="020B0503020204020204" charset="-122"/>
                  <a:cs typeface="微软雅黑" panose="020B0503020204020204" charset="-122"/>
                </a:rPr>
                <a:t>python</a:t>
              </a:r>
              <a:r>
                <a:rPr lang="zh-CN" altLang="en-US" sz="2500" b="1" dirty="0">
                  <a:solidFill>
                    <a:srgbClr val="E5A044"/>
                  </a:solidFill>
                  <a:latin typeface="微软雅黑" panose="020B0503020204020204" charset="-122"/>
                  <a:ea typeface="微软雅黑" panose="020B0503020204020204" charset="-122"/>
                  <a:cs typeface="微软雅黑" panose="020B0503020204020204" charset="-122"/>
                </a:rPr>
                <a:t>项目</a:t>
              </a:r>
              <a:endParaRPr lang="zh-CN" altLang="en-US" sz="2500" b="1" dirty="0">
                <a:solidFill>
                  <a:srgbClr val="E5A044"/>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45065" y="556331"/>
            <a:ext cx="712104" cy="44507"/>
          </a:xfrm>
          <a:custGeom>
            <a:avLst/>
            <a:gdLst/>
            <a:ahLst/>
            <a:cxnLst/>
            <a:rect l="l" t="t" r="r" b="b"/>
            <a:pathLst>
              <a:path w="712104" h="44507">
                <a:moveTo>
                  <a:pt x="0" y="0"/>
                </a:moveTo>
                <a:lnTo>
                  <a:pt x="712104" y="0"/>
                </a:lnTo>
                <a:lnTo>
                  <a:pt x="712104" y="44507"/>
                </a:lnTo>
                <a:lnTo>
                  <a:pt x="0" y="44507"/>
                </a:lnTo>
                <a:lnTo>
                  <a:pt x="0" y="0"/>
                </a:lnTo>
                <a:close/>
              </a:path>
            </a:pathLst>
          </a:custGeom>
          <a:solidFill>
            <a:srgbClr val="E5A044"/>
          </a:solidFill>
        </p:spPr>
      </p:sp>
      <p:sp>
        <p:nvSpPr>
          <p:cNvPr id="3" name="Text 1"/>
          <p:cNvSpPr/>
          <p:nvPr/>
        </p:nvSpPr>
        <p:spPr>
          <a:xfrm>
            <a:off x="1335195" y="445065"/>
            <a:ext cx="2503491" cy="267039"/>
          </a:xfrm>
          <a:prstGeom prst="rect">
            <a:avLst/>
          </a:prstGeom>
          <a:noFill/>
        </p:spPr>
        <p:txBody>
          <a:bodyPr wrap="square" lIns="0" tIns="0" rIns="0" bIns="0" rtlCol="0" anchor="ctr"/>
          <a:lstStyle/>
          <a:p>
            <a:pPr>
              <a:lnSpc>
                <a:spcPct val="130000"/>
              </a:lnSpc>
            </a:pPr>
            <a:r>
              <a:rPr lang="en-US" sz="1400" b="1" kern="0" spc="70" dirty="0">
                <a:solidFill>
                  <a:srgbClr val="E5A044"/>
                </a:solidFill>
                <a:latin typeface="MiSans" pitchFamily="34" charset="-122"/>
                <a:ea typeface="MiSans" pitchFamily="34" charset="-122"/>
                <a:cs typeface="MiSans" pitchFamily="34" charset="-120"/>
              </a:rPr>
              <a:t>APPLICATION SCENARIO 2</a:t>
            </a:r>
            <a:endParaRPr lang="en-US" sz="1600" dirty="0"/>
          </a:p>
        </p:txBody>
      </p:sp>
      <p:sp>
        <p:nvSpPr>
          <p:cNvPr id="4" name="Text 2"/>
          <p:cNvSpPr/>
          <p:nvPr/>
        </p:nvSpPr>
        <p:spPr>
          <a:xfrm>
            <a:off x="445065" y="845624"/>
            <a:ext cx="15632909" cy="534078"/>
          </a:xfrm>
          <a:prstGeom prst="rect">
            <a:avLst/>
          </a:prstGeom>
          <a:noFill/>
        </p:spPr>
        <p:txBody>
          <a:bodyPr wrap="square" lIns="0" tIns="0" rIns="0" bIns="0" rtlCol="0" anchor="ctr"/>
          <a:lstStyle/>
          <a:p>
            <a:pPr>
              <a:lnSpc>
                <a:spcPct val="80000"/>
              </a:lnSpc>
            </a:pPr>
            <a:r>
              <a:rPr lang="en-US" sz="4000" b="1" dirty="0">
                <a:solidFill>
                  <a:srgbClr val="E0E2E6"/>
                </a:solidFill>
                <a:latin typeface="阿里妈妈数黑体" pitchFamily="34" charset="-122"/>
                <a:ea typeface="阿里妈妈数黑体" pitchFamily="34" charset="-122"/>
                <a:cs typeface="阿里妈妈数黑体" pitchFamily="34" charset="-120"/>
              </a:rPr>
              <a:t>应用场景：开源项目使用者/学习者</a:t>
            </a:r>
            <a:endParaRPr lang="en-US" sz="4000" b="1" dirty="0">
              <a:solidFill>
                <a:srgbClr val="E0E2E6"/>
              </a:solidFill>
              <a:latin typeface="阿里妈妈数黑体" pitchFamily="34" charset="-122"/>
              <a:ea typeface="阿里妈妈数黑体" pitchFamily="34" charset="-122"/>
              <a:cs typeface="阿里妈妈数黑体" pitchFamily="34" charset="-120"/>
            </a:endParaRPr>
          </a:p>
        </p:txBody>
      </p:sp>
      <p:sp>
        <p:nvSpPr>
          <p:cNvPr id="8" name="Shape 6"/>
          <p:cNvSpPr/>
          <p:nvPr/>
        </p:nvSpPr>
        <p:spPr>
          <a:xfrm>
            <a:off x="445135" y="1468755"/>
            <a:ext cx="9619615" cy="3499485"/>
          </a:xfrm>
          <a:custGeom>
            <a:avLst/>
            <a:gdLst/>
            <a:ahLst/>
            <a:cxnLst/>
            <a:rect l="l" t="t" r="r" b="b"/>
            <a:pathLst>
              <a:path w="9068200" h="3838686">
                <a:moveTo>
                  <a:pt x="133509" y="0"/>
                </a:moveTo>
                <a:lnTo>
                  <a:pt x="8934690" y="0"/>
                </a:lnTo>
                <a:cubicBezTo>
                  <a:pt x="9008426" y="0"/>
                  <a:pt x="9068200" y="59774"/>
                  <a:pt x="9068200" y="133509"/>
                </a:cubicBezTo>
                <a:lnTo>
                  <a:pt x="9068200" y="3705176"/>
                </a:lnTo>
                <a:cubicBezTo>
                  <a:pt x="9068200" y="3778912"/>
                  <a:pt x="9008426" y="3838686"/>
                  <a:pt x="8934690" y="3838686"/>
                </a:cubicBezTo>
                <a:lnTo>
                  <a:pt x="133509" y="3838686"/>
                </a:lnTo>
                <a:cubicBezTo>
                  <a:pt x="59774" y="3838686"/>
                  <a:pt x="0" y="3778912"/>
                  <a:pt x="0" y="3705176"/>
                </a:cubicBezTo>
                <a:lnTo>
                  <a:pt x="0" y="133509"/>
                </a:lnTo>
                <a:cubicBezTo>
                  <a:pt x="0" y="59774"/>
                  <a:pt x="59774" y="0"/>
                  <a:pt x="133509" y="0"/>
                </a:cubicBezTo>
                <a:close/>
              </a:path>
            </a:pathLst>
          </a:custGeom>
          <a:gradFill flip="none" rotWithShape="1">
            <a:gsLst>
              <a:gs pos="0">
                <a:srgbClr val="E5A044">
                  <a:alpha val="15000"/>
                </a:srgbClr>
              </a:gs>
              <a:gs pos="100000">
                <a:srgbClr val="000000">
                  <a:alpha val="0"/>
                </a:srgbClr>
              </a:gs>
            </a:gsLst>
            <a:lin ang="2700000" scaled="1"/>
          </a:gradFill>
          <a:ln w="25400">
            <a:solidFill>
              <a:srgbClr val="E5A044">
                <a:alpha val="40000"/>
              </a:srgbClr>
            </a:solidFill>
            <a:prstDash val="solid"/>
          </a:ln>
        </p:spPr>
      </p:sp>
      <p:sp>
        <p:nvSpPr>
          <p:cNvPr id="9" name="Shape 7"/>
          <p:cNvSpPr/>
          <p:nvPr/>
        </p:nvSpPr>
        <p:spPr>
          <a:xfrm>
            <a:off x="698500" y="1722120"/>
            <a:ext cx="567690" cy="567690"/>
          </a:xfrm>
          <a:custGeom>
            <a:avLst/>
            <a:gdLst/>
            <a:ahLst/>
            <a:cxnLst/>
            <a:rect l="l" t="t" r="r" b="b"/>
            <a:pathLst>
              <a:path w="623091" h="623091">
                <a:moveTo>
                  <a:pt x="133522" y="0"/>
                </a:moveTo>
                <a:lnTo>
                  <a:pt x="489569" y="0"/>
                </a:lnTo>
                <a:cubicBezTo>
                  <a:pt x="563262" y="0"/>
                  <a:pt x="623091" y="59829"/>
                  <a:pt x="623091" y="133522"/>
                </a:cubicBezTo>
                <a:lnTo>
                  <a:pt x="623091" y="489569"/>
                </a:lnTo>
                <a:cubicBezTo>
                  <a:pt x="623091" y="563262"/>
                  <a:pt x="563262" y="623091"/>
                  <a:pt x="489569" y="623091"/>
                </a:cubicBezTo>
                <a:lnTo>
                  <a:pt x="133522" y="623091"/>
                </a:lnTo>
                <a:cubicBezTo>
                  <a:pt x="59829" y="623091"/>
                  <a:pt x="0" y="563262"/>
                  <a:pt x="0" y="489569"/>
                </a:cubicBezTo>
                <a:lnTo>
                  <a:pt x="0" y="133522"/>
                </a:lnTo>
                <a:cubicBezTo>
                  <a:pt x="0" y="59829"/>
                  <a:pt x="59829" y="0"/>
                  <a:pt x="133522" y="0"/>
                </a:cubicBezTo>
                <a:close/>
              </a:path>
            </a:pathLst>
          </a:custGeom>
          <a:solidFill>
            <a:srgbClr val="E5A044"/>
          </a:solidFill>
        </p:spPr>
      </p:sp>
      <p:sp>
        <p:nvSpPr>
          <p:cNvPr id="10" name="Shape 8"/>
          <p:cNvSpPr/>
          <p:nvPr/>
        </p:nvSpPr>
        <p:spPr>
          <a:xfrm>
            <a:off x="876300" y="1884680"/>
            <a:ext cx="212725" cy="243840"/>
          </a:xfrm>
          <a:custGeom>
            <a:avLst/>
            <a:gdLst/>
            <a:ahLst/>
            <a:cxnLst/>
            <a:rect l="l" t="t" r="r" b="b"/>
            <a:pathLst>
              <a:path w="233659" h="267039">
                <a:moveTo>
                  <a:pt x="125853" y="-6780"/>
                </a:moveTo>
                <a:cubicBezTo>
                  <a:pt x="119907" y="-7980"/>
                  <a:pt x="113805" y="-7980"/>
                  <a:pt x="107859" y="-6780"/>
                </a:cubicBezTo>
                <a:lnTo>
                  <a:pt x="10066" y="12778"/>
                </a:lnTo>
                <a:cubicBezTo>
                  <a:pt x="4225" y="13926"/>
                  <a:pt x="0" y="19089"/>
                  <a:pt x="0" y="25035"/>
                </a:cubicBezTo>
                <a:cubicBezTo>
                  <a:pt x="0" y="30407"/>
                  <a:pt x="3390" y="35101"/>
                  <a:pt x="8345" y="36822"/>
                </a:cubicBezTo>
                <a:lnTo>
                  <a:pt x="8345" y="75105"/>
                </a:lnTo>
                <a:lnTo>
                  <a:pt x="156" y="116099"/>
                </a:lnTo>
                <a:cubicBezTo>
                  <a:pt x="52" y="116569"/>
                  <a:pt x="0" y="117090"/>
                  <a:pt x="0" y="117612"/>
                </a:cubicBezTo>
                <a:cubicBezTo>
                  <a:pt x="0" y="121784"/>
                  <a:pt x="3390" y="125227"/>
                  <a:pt x="7615" y="125227"/>
                </a:cubicBezTo>
                <a:lnTo>
                  <a:pt x="25817" y="125227"/>
                </a:lnTo>
                <a:cubicBezTo>
                  <a:pt x="29990" y="125227"/>
                  <a:pt x="33432" y="121837"/>
                  <a:pt x="33432" y="117612"/>
                </a:cubicBezTo>
                <a:cubicBezTo>
                  <a:pt x="33432" y="117090"/>
                  <a:pt x="33380" y="116621"/>
                  <a:pt x="33276" y="116099"/>
                </a:cubicBezTo>
                <a:lnTo>
                  <a:pt x="25035" y="75105"/>
                </a:lnTo>
                <a:lnTo>
                  <a:pt x="25035" y="40317"/>
                </a:lnTo>
                <a:lnTo>
                  <a:pt x="50070" y="45324"/>
                </a:lnTo>
                <a:lnTo>
                  <a:pt x="50070" y="75105"/>
                </a:lnTo>
                <a:cubicBezTo>
                  <a:pt x="50070" y="111979"/>
                  <a:pt x="79955" y="141864"/>
                  <a:pt x="116830" y="141864"/>
                </a:cubicBezTo>
                <a:cubicBezTo>
                  <a:pt x="153704" y="141864"/>
                  <a:pt x="183589" y="111979"/>
                  <a:pt x="183589" y="75105"/>
                </a:cubicBezTo>
                <a:lnTo>
                  <a:pt x="183589" y="45324"/>
                </a:lnTo>
                <a:lnTo>
                  <a:pt x="223593" y="37344"/>
                </a:lnTo>
                <a:cubicBezTo>
                  <a:pt x="229434" y="36144"/>
                  <a:pt x="233659" y="30981"/>
                  <a:pt x="233659" y="25035"/>
                </a:cubicBezTo>
                <a:cubicBezTo>
                  <a:pt x="233659" y="19089"/>
                  <a:pt x="229434" y="13926"/>
                  <a:pt x="223593" y="12778"/>
                </a:cubicBezTo>
                <a:lnTo>
                  <a:pt x="125853" y="-6780"/>
                </a:lnTo>
                <a:close/>
                <a:moveTo>
                  <a:pt x="116830" y="116830"/>
                </a:moveTo>
                <a:cubicBezTo>
                  <a:pt x="93777" y="116830"/>
                  <a:pt x="75105" y="98158"/>
                  <a:pt x="75105" y="75105"/>
                </a:cubicBezTo>
                <a:lnTo>
                  <a:pt x="158554" y="75105"/>
                </a:lnTo>
                <a:cubicBezTo>
                  <a:pt x="158554" y="98158"/>
                  <a:pt x="139883" y="116830"/>
                  <a:pt x="116830" y="116830"/>
                </a:cubicBezTo>
                <a:close/>
                <a:moveTo>
                  <a:pt x="62639" y="166952"/>
                </a:moveTo>
                <a:cubicBezTo>
                  <a:pt x="30616" y="181660"/>
                  <a:pt x="8345" y="213996"/>
                  <a:pt x="8345" y="251549"/>
                </a:cubicBezTo>
                <a:cubicBezTo>
                  <a:pt x="8345" y="260102"/>
                  <a:pt x="15282" y="267039"/>
                  <a:pt x="23835" y="267039"/>
                </a:cubicBezTo>
                <a:lnTo>
                  <a:pt x="104312" y="267039"/>
                </a:lnTo>
                <a:lnTo>
                  <a:pt x="104312" y="190891"/>
                </a:lnTo>
                <a:lnTo>
                  <a:pt x="74375" y="168464"/>
                </a:lnTo>
                <a:cubicBezTo>
                  <a:pt x="70984" y="165908"/>
                  <a:pt x="66447" y="165230"/>
                  <a:pt x="62587" y="167004"/>
                </a:cubicBezTo>
                <a:close/>
                <a:moveTo>
                  <a:pt x="129347" y="267039"/>
                </a:moveTo>
                <a:lnTo>
                  <a:pt x="209824" y="267039"/>
                </a:lnTo>
                <a:cubicBezTo>
                  <a:pt x="218377" y="267039"/>
                  <a:pt x="225314" y="260102"/>
                  <a:pt x="225314" y="251549"/>
                </a:cubicBezTo>
                <a:cubicBezTo>
                  <a:pt x="225314" y="213996"/>
                  <a:pt x="203044" y="181660"/>
                  <a:pt x="171020" y="167004"/>
                </a:cubicBezTo>
                <a:cubicBezTo>
                  <a:pt x="167160" y="165230"/>
                  <a:pt x="162623" y="165908"/>
                  <a:pt x="159232" y="168464"/>
                </a:cubicBezTo>
                <a:lnTo>
                  <a:pt x="129295" y="190891"/>
                </a:lnTo>
                <a:lnTo>
                  <a:pt x="129295" y="267039"/>
                </a:lnTo>
                <a:close/>
              </a:path>
            </a:pathLst>
          </a:custGeom>
          <a:solidFill>
            <a:srgbClr val="FFFFFF"/>
          </a:solidFill>
        </p:spPr>
      </p:sp>
      <p:sp>
        <p:nvSpPr>
          <p:cNvPr id="11" name="Text 9"/>
          <p:cNvSpPr/>
          <p:nvPr/>
        </p:nvSpPr>
        <p:spPr>
          <a:xfrm>
            <a:off x="1429385" y="1844040"/>
            <a:ext cx="2438400" cy="324485"/>
          </a:xfrm>
          <a:prstGeom prst="rect">
            <a:avLst/>
          </a:prstGeom>
          <a:noFill/>
        </p:spPr>
        <p:txBody>
          <a:bodyPr wrap="square" lIns="0" tIns="0" rIns="0" bIns="0" rtlCol="0" anchor="ctr"/>
          <a:lstStyle/>
          <a:p>
            <a:pPr>
              <a:lnSpc>
                <a:spcPct val="110000"/>
              </a:lnSpc>
            </a:pPr>
            <a:r>
              <a:rPr lang="en-US" sz="2105" b="1" dirty="0">
                <a:solidFill>
                  <a:srgbClr val="E0E2E6"/>
                </a:solidFill>
                <a:latin typeface="阿里妈妈数黑体" pitchFamily="34" charset="-122"/>
                <a:ea typeface="阿里妈妈数黑体" pitchFamily="34" charset="-122"/>
                <a:cs typeface="阿里妈妈数黑体" pitchFamily="34" charset="-120"/>
              </a:rPr>
              <a:t>应用场景背景</a:t>
            </a:r>
            <a:endParaRPr lang="en-US" sz="1600" dirty="0"/>
          </a:p>
        </p:txBody>
      </p:sp>
      <p:sp>
        <p:nvSpPr>
          <p:cNvPr id="12" name="Text 10"/>
          <p:cNvSpPr/>
          <p:nvPr/>
        </p:nvSpPr>
        <p:spPr>
          <a:xfrm>
            <a:off x="698500" y="2452370"/>
            <a:ext cx="9160510" cy="791210"/>
          </a:xfrm>
          <a:prstGeom prst="rect">
            <a:avLst/>
          </a:prstGeom>
          <a:noFill/>
        </p:spPr>
        <p:txBody>
          <a:bodyPr wrap="square" lIns="0" tIns="0" rIns="0" bIns="0" rtlCol="0" anchor="ctr"/>
          <a:lstStyle/>
          <a:p>
            <a:pPr>
              <a:lnSpc>
                <a:spcPct val="140000"/>
              </a:lnSpc>
            </a:pPr>
            <a:r>
              <a:rPr lang="en-US" sz="1400" dirty="0">
                <a:solidFill>
                  <a:srgbClr val="E0E2E6">
                    <a:alpha val="80000"/>
                  </a:srgbClr>
                </a:solidFill>
                <a:latin typeface="MiSans" pitchFamily="34" charset="-122"/>
                <a:ea typeface="MiSans" pitchFamily="34" charset="-122"/>
                <a:cs typeface="MiSans" pitchFamily="34" charset="-120"/>
              </a:rPr>
              <a:t>使用者在尝试运行一个项目时,常见情况包括:</a:t>
            </a:r>
            <a:r>
              <a:rPr lang="en-US" sz="1400" b="1" dirty="0">
                <a:solidFill>
                  <a:srgbClr val="E5A044"/>
                </a:solidFill>
                <a:latin typeface="MiSans" pitchFamily="34" charset="-122"/>
                <a:ea typeface="MiSans" pitchFamily="34" charset="-122"/>
                <a:cs typeface="MiSans" pitchFamily="34" charset="-120"/>
              </a:rPr>
              <a:t>仓库多年未更新</a:t>
            </a:r>
            <a:r>
              <a:rPr lang="en-US" sz="1400" dirty="0">
                <a:solidFill>
                  <a:srgbClr val="E0E2E6">
                    <a:alpha val="80000"/>
                  </a:srgbClr>
                </a:solidFill>
                <a:latin typeface="MiSans" pitchFamily="34" charset="-122"/>
                <a:ea typeface="MiSans" pitchFamily="34" charset="-122"/>
                <a:cs typeface="MiSans" pitchFamily="34" charset="-120"/>
              </a:rPr>
              <a:t>,依赖版本已不再兼容当前Python;requirements文件缺失或严重过时;项目依赖的库在文档中未明确说明。这使得学习者、研究人员和开发者在使用开源项目时面临巨大的环境配置障碍。</a:t>
            </a:r>
            <a:endParaRPr lang="en-US" sz="1600" dirty="0"/>
          </a:p>
        </p:txBody>
      </p:sp>
      <p:grpSp>
        <p:nvGrpSpPr>
          <p:cNvPr id="72" name="组合 71"/>
          <p:cNvGrpSpPr/>
          <p:nvPr/>
        </p:nvGrpSpPr>
        <p:grpSpPr>
          <a:xfrm>
            <a:off x="698500" y="3663315"/>
            <a:ext cx="1845310" cy="972820"/>
            <a:chOff x="1100" y="5769"/>
            <a:chExt cx="2906" cy="1532"/>
          </a:xfrm>
        </p:grpSpPr>
        <p:sp>
          <p:nvSpPr>
            <p:cNvPr id="13" name="Shape 11"/>
            <p:cNvSpPr/>
            <p:nvPr/>
          </p:nvSpPr>
          <p:spPr>
            <a:xfrm>
              <a:off x="1100" y="5769"/>
              <a:ext cx="2907" cy="1533"/>
            </a:xfrm>
            <a:custGeom>
              <a:avLst/>
              <a:gdLst/>
              <a:ahLst/>
              <a:cxnLst/>
              <a:rect l="l" t="t" r="r" b="b"/>
              <a:pathLst>
                <a:path w="2025046" h="1068156">
                  <a:moveTo>
                    <a:pt x="89009" y="0"/>
                  </a:moveTo>
                  <a:lnTo>
                    <a:pt x="1936036" y="0"/>
                  </a:lnTo>
                  <a:cubicBezTo>
                    <a:pt x="1985195" y="0"/>
                    <a:pt x="2025046" y="39851"/>
                    <a:pt x="2025046" y="89009"/>
                  </a:cubicBezTo>
                  <a:lnTo>
                    <a:pt x="2025046" y="979147"/>
                  </a:lnTo>
                  <a:cubicBezTo>
                    <a:pt x="2025046" y="1028305"/>
                    <a:pt x="1985195" y="1068156"/>
                    <a:pt x="1936036" y="1068156"/>
                  </a:cubicBezTo>
                  <a:lnTo>
                    <a:pt x="89009" y="1068156"/>
                  </a:lnTo>
                  <a:cubicBezTo>
                    <a:pt x="39851" y="1068156"/>
                    <a:pt x="0" y="1028305"/>
                    <a:pt x="0" y="979147"/>
                  </a:cubicBezTo>
                  <a:lnTo>
                    <a:pt x="0" y="89009"/>
                  </a:lnTo>
                  <a:cubicBezTo>
                    <a:pt x="0" y="39884"/>
                    <a:pt x="39884" y="0"/>
                    <a:pt x="89009" y="0"/>
                  </a:cubicBezTo>
                  <a:close/>
                </a:path>
              </a:pathLst>
            </a:custGeom>
            <a:solidFill>
              <a:srgbClr val="E5A044">
                <a:alpha val="10196"/>
              </a:srgbClr>
            </a:solidFill>
          </p:spPr>
        </p:sp>
        <p:sp>
          <p:nvSpPr>
            <p:cNvPr id="14" name="Shape 12"/>
            <p:cNvSpPr/>
            <p:nvPr/>
          </p:nvSpPr>
          <p:spPr>
            <a:xfrm>
              <a:off x="2364" y="5962"/>
              <a:ext cx="384" cy="384"/>
            </a:xfrm>
            <a:custGeom>
              <a:avLst/>
              <a:gdLst/>
              <a:ahLst/>
              <a:cxnLst/>
              <a:rect l="l" t="t" r="r" b="b"/>
              <a:pathLst>
                <a:path w="267039" h="267039">
                  <a:moveTo>
                    <a:pt x="133520" y="0"/>
                  </a:moveTo>
                  <a:cubicBezTo>
                    <a:pt x="207211" y="0"/>
                    <a:pt x="267039" y="59828"/>
                    <a:pt x="267039" y="133520"/>
                  </a:cubicBezTo>
                  <a:cubicBezTo>
                    <a:pt x="267039" y="207211"/>
                    <a:pt x="207211" y="267039"/>
                    <a:pt x="133520" y="267039"/>
                  </a:cubicBezTo>
                  <a:cubicBezTo>
                    <a:pt x="59828" y="267039"/>
                    <a:pt x="0" y="207211"/>
                    <a:pt x="0" y="133520"/>
                  </a:cubicBezTo>
                  <a:cubicBezTo>
                    <a:pt x="0" y="59828"/>
                    <a:pt x="59828" y="0"/>
                    <a:pt x="133520" y="0"/>
                  </a:cubicBezTo>
                  <a:close/>
                  <a:moveTo>
                    <a:pt x="121002" y="62587"/>
                  </a:moveTo>
                  <a:lnTo>
                    <a:pt x="121002" y="133520"/>
                  </a:lnTo>
                  <a:cubicBezTo>
                    <a:pt x="121002" y="137692"/>
                    <a:pt x="123088" y="141604"/>
                    <a:pt x="126583" y="143951"/>
                  </a:cubicBezTo>
                  <a:lnTo>
                    <a:pt x="176653" y="177331"/>
                  </a:lnTo>
                  <a:cubicBezTo>
                    <a:pt x="182390" y="181190"/>
                    <a:pt x="190161" y="179625"/>
                    <a:pt x="194021" y="173836"/>
                  </a:cubicBezTo>
                  <a:cubicBezTo>
                    <a:pt x="197880" y="168047"/>
                    <a:pt x="196315" y="160328"/>
                    <a:pt x="190526" y="156468"/>
                  </a:cubicBezTo>
                  <a:lnTo>
                    <a:pt x="146037" y="126844"/>
                  </a:lnTo>
                  <a:lnTo>
                    <a:pt x="146037" y="62587"/>
                  </a:lnTo>
                  <a:cubicBezTo>
                    <a:pt x="146037" y="55651"/>
                    <a:pt x="140456" y="50070"/>
                    <a:pt x="133520" y="50070"/>
                  </a:cubicBezTo>
                  <a:cubicBezTo>
                    <a:pt x="126583" y="50070"/>
                    <a:pt x="121002" y="55651"/>
                    <a:pt x="121002" y="62587"/>
                  </a:cubicBezTo>
                  <a:close/>
                </a:path>
              </a:pathLst>
            </a:custGeom>
            <a:solidFill>
              <a:srgbClr val="E5A044"/>
            </a:solidFill>
          </p:spPr>
        </p:sp>
        <p:sp>
          <p:nvSpPr>
            <p:cNvPr id="15" name="Text 13"/>
            <p:cNvSpPr/>
            <p:nvPr/>
          </p:nvSpPr>
          <p:spPr>
            <a:xfrm>
              <a:off x="1236" y="6472"/>
              <a:ext cx="2636" cy="319"/>
            </a:xfrm>
            <a:prstGeom prst="rect">
              <a:avLst/>
            </a:prstGeom>
            <a:noFill/>
          </p:spPr>
          <p:txBody>
            <a:bodyPr wrap="square" lIns="0" tIns="0" rIns="0" bIns="0" rtlCol="0" anchor="ctr"/>
            <a:lstStyle/>
            <a:p>
              <a:pPr algn="ctr">
                <a:lnSpc>
                  <a:spcPct val="120000"/>
                </a:lnSpc>
              </a:pPr>
              <a:r>
                <a:rPr lang="en-US" sz="1225" dirty="0">
                  <a:solidFill>
                    <a:srgbClr val="E0E2E6">
                      <a:alpha val="70000"/>
                    </a:srgbClr>
                  </a:solidFill>
                  <a:latin typeface="MiSans" pitchFamily="34" charset="-122"/>
                  <a:ea typeface="MiSans" pitchFamily="34" charset="-122"/>
                  <a:cs typeface="MiSans" pitchFamily="34" charset="-120"/>
                </a:rPr>
                <a:t>老旧项目</a:t>
              </a:r>
              <a:endParaRPr lang="en-US" sz="1600" dirty="0"/>
            </a:p>
          </p:txBody>
        </p:sp>
        <p:sp>
          <p:nvSpPr>
            <p:cNvPr id="16" name="Text 14"/>
            <p:cNvSpPr/>
            <p:nvPr/>
          </p:nvSpPr>
          <p:spPr>
            <a:xfrm>
              <a:off x="1236" y="6792"/>
              <a:ext cx="2636" cy="319"/>
            </a:xfrm>
            <a:prstGeom prst="rect">
              <a:avLst/>
            </a:prstGeom>
            <a:noFill/>
          </p:spPr>
          <p:txBody>
            <a:bodyPr wrap="square" lIns="0" tIns="0" rIns="0" bIns="0" rtlCol="0" anchor="ctr"/>
            <a:lstStyle/>
            <a:p>
              <a:pPr algn="ctr">
                <a:lnSpc>
                  <a:spcPct val="120000"/>
                </a:lnSpc>
              </a:pPr>
              <a:r>
                <a:rPr lang="en-US" sz="1225" b="1" dirty="0">
                  <a:solidFill>
                    <a:srgbClr val="E0E2E6"/>
                  </a:solidFill>
                  <a:latin typeface="MiSans" pitchFamily="34" charset="-122"/>
                  <a:ea typeface="MiSans" pitchFamily="34" charset="-122"/>
                  <a:cs typeface="MiSans" pitchFamily="34" charset="-120"/>
                </a:rPr>
                <a:t>依赖过时</a:t>
              </a:r>
              <a:endParaRPr lang="en-US" sz="1600" dirty="0"/>
            </a:p>
          </p:txBody>
        </p:sp>
      </p:grpSp>
      <p:grpSp>
        <p:nvGrpSpPr>
          <p:cNvPr id="70" name="组合 69"/>
          <p:cNvGrpSpPr/>
          <p:nvPr/>
        </p:nvGrpSpPr>
        <p:grpSpPr>
          <a:xfrm>
            <a:off x="3114040" y="3663315"/>
            <a:ext cx="1845310" cy="972820"/>
            <a:chOff x="4203" y="5769"/>
            <a:chExt cx="2906" cy="1532"/>
          </a:xfrm>
        </p:grpSpPr>
        <p:sp>
          <p:nvSpPr>
            <p:cNvPr id="17" name="Shape 15"/>
            <p:cNvSpPr/>
            <p:nvPr/>
          </p:nvSpPr>
          <p:spPr>
            <a:xfrm>
              <a:off x="4203" y="5769"/>
              <a:ext cx="2907" cy="1533"/>
            </a:xfrm>
            <a:custGeom>
              <a:avLst/>
              <a:gdLst/>
              <a:ahLst/>
              <a:cxnLst/>
              <a:rect l="l" t="t" r="r" b="b"/>
              <a:pathLst>
                <a:path w="2025046" h="1068156">
                  <a:moveTo>
                    <a:pt x="89009" y="0"/>
                  </a:moveTo>
                  <a:lnTo>
                    <a:pt x="1936036" y="0"/>
                  </a:lnTo>
                  <a:cubicBezTo>
                    <a:pt x="1985195" y="0"/>
                    <a:pt x="2025046" y="39851"/>
                    <a:pt x="2025046" y="89009"/>
                  </a:cubicBezTo>
                  <a:lnTo>
                    <a:pt x="2025046" y="979147"/>
                  </a:lnTo>
                  <a:cubicBezTo>
                    <a:pt x="2025046" y="1028305"/>
                    <a:pt x="1985195" y="1068156"/>
                    <a:pt x="1936036" y="1068156"/>
                  </a:cubicBezTo>
                  <a:lnTo>
                    <a:pt x="89009" y="1068156"/>
                  </a:lnTo>
                  <a:cubicBezTo>
                    <a:pt x="39851" y="1068156"/>
                    <a:pt x="0" y="1028305"/>
                    <a:pt x="0" y="979147"/>
                  </a:cubicBezTo>
                  <a:lnTo>
                    <a:pt x="0" y="89009"/>
                  </a:lnTo>
                  <a:cubicBezTo>
                    <a:pt x="0" y="39884"/>
                    <a:pt x="39884" y="0"/>
                    <a:pt x="89009" y="0"/>
                  </a:cubicBezTo>
                  <a:close/>
                </a:path>
              </a:pathLst>
            </a:custGeom>
            <a:solidFill>
              <a:srgbClr val="E5A044">
                <a:alpha val="10196"/>
              </a:srgbClr>
            </a:solidFill>
          </p:spPr>
        </p:sp>
        <p:sp>
          <p:nvSpPr>
            <p:cNvPr id="18" name="Shape 16"/>
            <p:cNvSpPr/>
            <p:nvPr/>
          </p:nvSpPr>
          <p:spPr>
            <a:xfrm>
              <a:off x="5515" y="5962"/>
              <a:ext cx="287" cy="384"/>
            </a:xfrm>
            <a:custGeom>
              <a:avLst/>
              <a:gdLst/>
              <a:ahLst/>
              <a:cxnLst/>
              <a:rect l="l" t="t" r="r" b="b"/>
              <a:pathLst>
                <a:path w="200279" h="267039">
                  <a:moveTo>
                    <a:pt x="0" y="33380"/>
                  </a:moveTo>
                  <a:cubicBezTo>
                    <a:pt x="0" y="14969"/>
                    <a:pt x="14969" y="0"/>
                    <a:pt x="33380" y="0"/>
                  </a:cubicBezTo>
                  <a:lnTo>
                    <a:pt x="111353" y="0"/>
                  </a:lnTo>
                  <a:cubicBezTo>
                    <a:pt x="120220" y="0"/>
                    <a:pt x="128721" y="3494"/>
                    <a:pt x="134980" y="9753"/>
                  </a:cubicBezTo>
                  <a:lnTo>
                    <a:pt x="190526" y="65352"/>
                  </a:lnTo>
                  <a:cubicBezTo>
                    <a:pt x="196785" y="71610"/>
                    <a:pt x="200279" y="80112"/>
                    <a:pt x="200279" y="88978"/>
                  </a:cubicBezTo>
                  <a:lnTo>
                    <a:pt x="200279" y="233659"/>
                  </a:lnTo>
                  <a:cubicBezTo>
                    <a:pt x="200279" y="252070"/>
                    <a:pt x="185310" y="267039"/>
                    <a:pt x="166899" y="267039"/>
                  </a:cubicBezTo>
                  <a:lnTo>
                    <a:pt x="33380" y="267039"/>
                  </a:lnTo>
                  <a:cubicBezTo>
                    <a:pt x="14969" y="267039"/>
                    <a:pt x="0" y="252070"/>
                    <a:pt x="0" y="233659"/>
                  </a:cubicBezTo>
                  <a:lnTo>
                    <a:pt x="0" y="33380"/>
                  </a:lnTo>
                  <a:close/>
                  <a:moveTo>
                    <a:pt x="108485" y="30511"/>
                  </a:moveTo>
                  <a:lnTo>
                    <a:pt x="108485" y="79277"/>
                  </a:lnTo>
                  <a:cubicBezTo>
                    <a:pt x="108485" y="86214"/>
                    <a:pt x="114065" y="91795"/>
                    <a:pt x="121002" y="91795"/>
                  </a:cubicBezTo>
                  <a:lnTo>
                    <a:pt x="169768" y="91795"/>
                  </a:lnTo>
                  <a:lnTo>
                    <a:pt x="108485" y="30511"/>
                  </a:lnTo>
                  <a:close/>
                  <a:moveTo>
                    <a:pt x="85536" y="139100"/>
                  </a:moveTo>
                  <a:cubicBezTo>
                    <a:pt x="81676" y="133363"/>
                    <a:pt x="73905" y="131798"/>
                    <a:pt x="68168" y="135606"/>
                  </a:cubicBezTo>
                  <a:cubicBezTo>
                    <a:pt x="62431" y="139413"/>
                    <a:pt x="60866" y="147237"/>
                    <a:pt x="64674" y="152974"/>
                  </a:cubicBezTo>
                  <a:lnTo>
                    <a:pt x="85119" y="183589"/>
                  </a:lnTo>
                  <a:lnTo>
                    <a:pt x="64674" y="214205"/>
                  </a:lnTo>
                  <a:cubicBezTo>
                    <a:pt x="60814" y="219942"/>
                    <a:pt x="62379" y="227713"/>
                    <a:pt x="68168" y="231573"/>
                  </a:cubicBezTo>
                  <a:cubicBezTo>
                    <a:pt x="73957" y="235432"/>
                    <a:pt x="81676" y="233868"/>
                    <a:pt x="85536" y="228078"/>
                  </a:cubicBezTo>
                  <a:lnTo>
                    <a:pt x="100140" y="206173"/>
                  </a:lnTo>
                  <a:lnTo>
                    <a:pt x="114743" y="228078"/>
                  </a:lnTo>
                  <a:cubicBezTo>
                    <a:pt x="118603" y="233816"/>
                    <a:pt x="126374" y="235380"/>
                    <a:pt x="132111" y="231573"/>
                  </a:cubicBezTo>
                  <a:cubicBezTo>
                    <a:pt x="137848" y="227766"/>
                    <a:pt x="139413" y="219942"/>
                    <a:pt x="135606" y="214205"/>
                  </a:cubicBezTo>
                  <a:lnTo>
                    <a:pt x="115161" y="183589"/>
                  </a:lnTo>
                  <a:lnTo>
                    <a:pt x="135606" y="152974"/>
                  </a:lnTo>
                  <a:cubicBezTo>
                    <a:pt x="139465" y="147237"/>
                    <a:pt x="137901" y="139465"/>
                    <a:pt x="132111" y="135606"/>
                  </a:cubicBezTo>
                  <a:cubicBezTo>
                    <a:pt x="126322" y="131746"/>
                    <a:pt x="118603" y="133311"/>
                    <a:pt x="114743" y="139100"/>
                  </a:cubicBezTo>
                  <a:lnTo>
                    <a:pt x="100140" y="161006"/>
                  </a:lnTo>
                  <a:lnTo>
                    <a:pt x="85536" y="139100"/>
                  </a:lnTo>
                  <a:close/>
                </a:path>
              </a:pathLst>
            </a:custGeom>
            <a:solidFill>
              <a:srgbClr val="E5A044"/>
            </a:solidFill>
          </p:spPr>
        </p:sp>
        <p:sp>
          <p:nvSpPr>
            <p:cNvPr id="19" name="Text 17"/>
            <p:cNvSpPr/>
            <p:nvPr/>
          </p:nvSpPr>
          <p:spPr>
            <a:xfrm>
              <a:off x="4339" y="6472"/>
              <a:ext cx="2636" cy="319"/>
            </a:xfrm>
            <a:prstGeom prst="rect">
              <a:avLst/>
            </a:prstGeom>
            <a:noFill/>
          </p:spPr>
          <p:txBody>
            <a:bodyPr wrap="square" lIns="0" tIns="0" rIns="0" bIns="0" rtlCol="0" anchor="ctr"/>
            <a:lstStyle/>
            <a:p>
              <a:pPr algn="ctr">
                <a:lnSpc>
                  <a:spcPct val="120000"/>
                </a:lnSpc>
              </a:pPr>
              <a:r>
                <a:rPr lang="en-US" sz="1225" dirty="0">
                  <a:solidFill>
                    <a:srgbClr val="E0E2E6">
                      <a:alpha val="70000"/>
                    </a:srgbClr>
                  </a:solidFill>
                  <a:latin typeface="MiSans" pitchFamily="34" charset="-122"/>
                  <a:ea typeface="MiSans" pitchFamily="34" charset="-122"/>
                  <a:cs typeface="MiSans" pitchFamily="34" charset="-120"/>
                </a:rPr>
                <a:t>requirements</a:t>
              </a:r>
              <a:endParaRPr lang="en-US" sz="1600" dirty="0"/>
            </a:p>
          </p:txBody>
        </p:sp>
        <p:sp>
          <p:nvSpPr>
            <p:cNvPr id="20" name="Text 18"/>
            <p:cNvSpPr/>
            <p:nvPr/>
          </p:nvSpPr>
          <p:spPr>
            <a:xfrm>
              <a:off x="4339" y="6792"/>
              <a:ext cx="2636" cy="319"/>
            </a:xfrm>
            <a:prstGeom prst="rect">
              <a:avLst/>
            </a:prstGeom>
            <a:noFill/>
          </p:spPr>
          <p:txBody>
            <a:bodyPr wrap="square" lIns="0" tIns="0" rIns="0" bIns="0" rtlCol="0" anchor="ctr"/>
            <a:lstStyle/>
            <a:p>
              <a:pPr algn="ctr">
                <a:lnSpc>
                  <a:spcPct val="120000"/>
                </a:lnSpc>
              </a:pPr>
              <a:r>
                <a:rPr lang="en-US" sz="1225" b="1" dirty="0">
                  <a:solidFill>
                    <a:srgbClr val="E0E2E6"/>
                  </a:solidFill>
                  <a:latin typeface="MiSans" pitchFamily="34" charset="-122"/>
                  <a:ea typeface="MiSans" pitchFamily="34" charset="-122"/>
                  <a:cs typeface="MiSans" pitchFamily="34" charset="-120"/>
                </a:rPr>
                <a:t>缺失不完整</a:t>
              </a:r>
              <a:endParaRPr lang="en-US" sz="1600" dirty="0"/>
            </a:p>
          </p:txBody>
        </p:sp>
      </p:grpSp>
      <p:grpSp>
        <p:nvGrpSpPr>
          <p:cNvPr id="7" name="组合 6"/>
          <p:cNvGrpSpPr/>
          <p:nvPr/>
        </p:nvGrpSpPr>
        <p:grpSpPr>
          <a:xfrm>
            <a:off x="5577840" y="3663315"/>
            <a:ext cx="1845310" cy="972820"/>
            <a:chOff x="7305" y="5769"/>
            <a:chExt cx="2906" cy="1532"/>
          </a:xfrm>
        </p:grpSpPr>
        <p:sp>
          <p:nvSpPr>
            <p:cNvPr id="21" name="Shape 19"/>
            <p:cNvSpPr/>
            <p:nvPr/>
          </p:nvSpPr>
          <p:spPr>
            <a:xfrm>
              <a:off x="7305" y="5769"/>
              <a:ext cx="2907" cy="1533"/>
            </a:xfrm>
            <a:custGeom>
              <a:avLst/>
              <a:gdLst/>
              <a:ahLst/>
              <a:cxnLst/>
              <a:rect l="l" t="t" r="r" b="b"/>
              <a:pathLst>
                <a:path w="2025046" h="1068156">
                  <a:moveTo>
                    <a:pt x="89009" y="0"/>
                  </a:moveTo>
                  <a:lnTo>
                    <a:pt x="1936036" y="0"/>
                  </a:lnTo>
                  <a:cubicBezTo>
                    <a:pt x="1985195" y="0"/>
                    <a:pt x="2025046" y="39851"/>
                    <a:pt x="2025046" y="89009"/>
                  </a:cubicBezTo>
                  <a:lnTo>
                    <a:pt x="2025046" y="979147"/>
                  </a:lnTo>
                  <a:cubicBezTo>
                    <a:pt x="2025046" y="1028305"/>
                    <a:pt x="1985195" y="1068156"/>
                    <a:pt x="1936036" y="1068156"/>
                  </a:cubicBezTo>
                  <a:lnTo>
                    <a:pt x="89009" y="1068156"/>
                  </a:lnTo>
                  <a:cubicBezTo>
                    <a:pt x="39851" y="1068156"/>
                    <a:pt x="0" y="1028305"/>
                    <a:pt x="0" y="979147"/>
                  </a:cubicBezTo>
                  <a:lnTo>
                    <a:pt x="0" y="89009"/>
                  </a:lnTo>
                  <a:cubicBezTo>
                    <a:pt x="0" y="39884"/>
                    <a:pt x="39884" y="0"/>
                    <a:pt x="89009" y="0"/>
                  </a:cubicBezTo>
                  <a:close/>
                </a:path>
              </a:pathLst>
            </a:custGeom>
            <a:solidFill>
              <a:srgbClr val="E5A044">
                <a:alpha val="10196"/>
              </a:srgbClr>
            </a:solidFill>
          </p:spPr>
        </p:sp>
        <p:sp>
          <p:nvSpPr>
            <p:cNvPr id="22" name="Shape 20"/>
            <p:cNvSpPr/>
            <p:nvPr/>
          </p:nvSpPr>
          <p:spPr>
            <a:xfrm>
              <a:off x="8569" y="5962"/>
              <a:ext cx="384" cy="384"/>
            </a:xfrm>
            <a:custGeom>
              <a:avLst/>
              <a:gdLst/>
              <a:ahLst/>
              <a:cxnLst/>
              <a:rect l="l" t="t" r="r" b="b"/>
              <a:pathLst>
                <a:path w="267039" h="267039">
                  <a:moveTo>
                    <a:pt x="133520" y="267039"/>
                  </a:moveTo>
                  <a:cubicBezTo>
                    <a:pt x="207211" y="267039"/>
                    <a:pt x="267039" y="207211"/>
                    <a:pt x="267039" y="133520"/>
                  </a:cubicBezTo>
                  <a:cubicBezTo>
                    <a:pt x="267039" y="59828"/>
                    <a:pt x="207211" y="0"/>
                    <a:pt x="133520" y="0"/>
                  </a:cubicBezTo>
                  <a:cubicBezTo>
                    <a:pt x="59828" y="0"/>
                    <a:pt x="0" y="59828"/>
                    <a:pt x="0" y="133520"/>
                  </a:cubicBezTo>
                  <a:cubicBezTo>
                    <a:pt x="0" y="207211"/>
                    <a:pt x="59828" y="267039"/>
                    <a:pt x="133520" y="267039"/>
                  </a:cubicBezTo>
                  <a:close/>
                  <a:moveTo>
                    <a:pt x="133520" y="91795"/>
                  </a:moveTo>
                  <a:cubicBezTo>
                    <a:pt x="124288" y="91795"/>
                    <a:pt x="116830" y="99253"/>
                    <a:pt x="116830" y="108485"/>
                  </a:cubicBezTo>
                  <a:cubicBezTo>
                    <a:pt x="116830" y="115421"/>
                    <a:pt x="111249" y="121002"/>
                    <a:pt x="104312" y="121002"/>
                  </a:cubicBezTo>
                  <a:cubicBezTo>
                    <a:pt x="97375" y="121002"/>
                    <a:pt x="91795" y="115421"/>
                    <a:pt x="91795" y="108485"/>
                  </a:cubicBezTo>
                  <a:cubicBezTo>
                    <a:pt x="91795" y="85432"/>
                    <a:pt x="110467" y="66760"/>
                    <a:pt x="133520" y="66760"/>
                  </a:cubicBezTo>
                  <a:cubicBezTo>
                    <a:pt x="156572" y="66760"/>
                    <a:pt x="175244" y="85432"/>
                    <a:pt x="175244" y="108485"/>
                  </a:cubicBezTo>
                  <a:cubicBezTo>
                    <a:pt x="175244" y="133102"/>
                    <a:pt x="156468" y="143533"/>
                    <a:pt x="146037" y="147341"/>
                  </a:cubicBezTo>
                  <a:lnTo>
                    <a:pt x="146037" y="149323"/>
                  </a:lnTo>
                  <a:cubicBezTo>
                    <a:pt x="146037" y="156260"/>
                    <a:pt x="140456" y="161840"/>
                    <a:pt x="133520" y="161840"/>
                  </a:cubicBezTo>
                  <a:cubicBezTo>
                    <a:pt x="126583" y="161840"/>
                    <a:pt x="121002" y="156260"/>
                    <a:pt x="121002" y="149323"/>
                  </a:cubicBezTo>
                  <a:lnTo>
                    <a:pt x="121002" y="145098"/>
                  </a:lnTo>
                  <a:cubicBezTo>
                    <a:pt x="121002" y="134406"/>
                    <a:pt x="128721" y="126739"/>
                    <a:pt x="136701" y="124131"/>
                  </a:cubicBezTo>
                  <a:cubicBezTo>
                    <a:pt x="140039" y="123036"/>
                    <a:pt x="143586" y="121263"/>
                    <a:pt x="146193" y="118759"/>
                  </a:cubicBezTo>
                  <a:cubicBezTo>
                    <a:pt x="148436" y="116569"/>
                    <a:pt x="150209" y="113544"/>
                    <a:pt x="150209" y="108537"/>
                  </a:cubicBezTo>
                  <a:cubicBezTo>
                    <a:pt x="150209" y="99305"/>
                    <a:pt x="142751" y="91847"/>
                    <a:pt x="133520" y="91847"/>
                  </a:cubicBezTo>
                  <a:close/>
                  <a:moveTo>
                    <a:pt x="116830" y="191934"/>
                  </a:moveTo>
                  <a:cubicBezTo>
                    <a:pt x="116830" y="182723"/>
                    <a:pt x="124308" y="175244"/>
                    <a:pt x="133520" y="175244"/>
                  </a:cubicBezTo>
                  <a:cubicBezTo>
                    <a:pt x="142731" y="175244"/>
                    <a:pt x="150209" y="182723"/>
                    <a:pt x="150209" y="191934"/>
                  </a:cubicBezTo>
                  <a:cubicBezTo>
                    <a:pt x="150209" y="201146"/>
                    <a:pt x="142731" y="208624"/>
                    <a:pt x="133520" y="208624"/>
                  </a:cubicBezTo>
                  <a:cubicBezTo>
                    <a:pt x="124308" y="208624"/>
                    <a:pt x="116830" y="201146"/>
                    <a:pt x="116830" y="191934"/>
                  </a:cubicBezTo>
                  <a:close/>
                </a:path>
              </a:pathLst>
            </a:custGeom>
            <a:solidFill>
              <a:srgbClr val="E5A044"/>
            </a:solidFill>
          </p:spPr>
        </p:sp>
        <p:sp>
          <p:nvSpPr>
            <p:cNvPr id="23" name="Text 21"/>
            <p:cNvSpPr/>
            <p:nvPr/>
          </p:nvSpPr>
          <p:spPr>
            <a:xfrm>
              <a:off x="7441" y="6472"/>
              <a:ext cx="2636" cy="319"/>
            </a:xfrm>
            <a:prstGeom prst="rect">
              <a:avLst/>
            </a:prstGeom>
            <a:noFill/>
          </p:spPr>
          <p:txBody>
            <a:bodyPr wrap="square" lIns="0" tIns="0" rIns="0" bIns="0" rtlCol="0" anchor="ctr"/>
            <a:lstStyle/>
            <a:p>
              <a:pPr algn="ctr">
                <a:lnSpc>
                  <a:spcPct val="120000"/>
                </a:lnSpc>
              </a:pPr>
              <a:r>
                <a:rPr lang="en-US" sz="1225" dirty="0">
                  <a:solidFill>
                    <a:srgbClr val="E0E2E6">
                      <a:alpha val="70000"/>
                    </a:srgbClr>
                  </a:solidFill>
                  <a:latin typeface="MiSans" pitchFamily="34" charset="-122"/>
                  <a:ea typeface="MiSans" pitchFamily="34" charset="-122"/>
                  <a:cs typeface="MiSans" pitchFamily="34" charset="-120"/>
                </a:rPr>
                <a:t>依赖说明</a:t>
              </a:r>
              <a:endParaRPr lang="en-US" sz="1600" dirty="0"/>
            </a:p>
          </p:txBody>
        </p:sp>
        <p:sp>
          <p:nvSpPr>
            <p:cNvPr id="24" name="Text 22"/>
            <p:cNvSpPr/>
            <p:nvPr/>
          </p:nvSpPr>
          <p:spPr>
            <a:xfrm>
              <a:off x="7441" y="6792"/>
              <a:ext cx="2636" cy="319"/>
            </a:xfrm>
            <a:prstGeom prst="rect">
              <a:avLst/>
            </a:prstGeom>
            <a:noFill/>
          </p:spPr>
          <p:txBody>
            <a:bodyPr wrap="square" lIns="0" tIns="0" rIns="0" bIns="0" rtlCol="0" anchor="ctr"/>
            <a:lstStyle/>
            <a:p>
              <a:pPr algn="ctr">
                <a:lnSpc>
                  <a:spcPct val="120000"/>
                </a:lnSpc>
              </a:pPr>
              <a:r>
                <a:rPr lang="en-US" sz="1225" b="1" dirty="0">
                  <a:solidFill>
                    <a:srgbClr val="E0E2E6"/>
                  </a:solidFill>
                  <a:latin typeface="MiSans" pitchFamily="34" charset="-122"/>
                  <a:ea typeface="MiSans" pitchFamily="34" charset="-122"/>
                  <a:cs typeface="MiSans" pitchFamily="34" charset="-120"/>
                </a:rPr>
                <a:t>模糊不清</a:t>
              </a:r>
              <a:endParaRPr lang="en-US" sz="1600" dirty="0"/>
            </a:p>
          </p:txBody>
        </p:sp>
      </p:grpSp>
      <p:grpSp>
        <p:nvGrpSpPr>
          <p:cNvPr id="6" name="组合 5"/>
          <p:cNvGrpSpPr/>
          <p:nvPr/>
        </p:nvGrpSpPr>
        <p:grpSpPr>
          <a:xfrm>
            <a:off x="8013065" y="3663315"/>
            <a:ext cx="1845310" cy="972820"/>
            <a:chOff x="10408" y="5769"/>
            <a:chExt cx="2906" cy="1532"/>
          </a:xfrm>
        </p:grpSpPr>
        <p:sp>
          <p:nvSpPr>
            <p:cNvPr id="25" name="Shape 23"/>
            <p:cNvSpPr/>
            <p:nvPr/>
          </p:nvSpPr>
          <p:spPr>
            <a:xfrm>
              <a:off x="10408" y="5769"/>
              <a:ext cx="2907" cy="1533"/>
            </a:xfrm>
            <a:custGeom>
              <a:avLst/>
              <a:gdLst/>
              <a:ahLst/>
              <a:cxnLst/>
              <a:rect l="l" t="t" r="r" b="b"/>
              <a:pathLst>
                <a:path w="2025046" h="1068156">
                  <a:moveTo>
                    <a:pt x="89009" y="0"/>
                  </a:moveTo>
                  <a:lnTo>
                    <a:pt x="1936036" y="0"/>
                  </a:lnTo>
                  <a:cubicBezTo>
                    <a:pt x="1985195" y="0"/>
                    <a:pt x="2025046" y="39851"/>
                    <a:pt x="2025046" y="89009"/>
                  </a:cubicBezTo>
                  <a:lnTo>
                    <a:pt x="2025046" y="979147"/>
                  </a:lnTo>
                  <a:cubicBezTo>
                    <a:pt x="2025046" y="1028305"/>
                    <a:pt x="1985195" y="1068156"/>
                    <a:pt x="1936036" y="1068156"/>
                  </a:cubicBezTo>
                  <a:lnTo>
                    <a:pt x="89009" y="1068156"/>
                  </a:lnTo>
                  <a:cubicBezTo>
                    <a:pt x="39851" y="1068156"/>
                    <a:pt x="0" y="1028305"/>
                    <a:pt x="0" y="979147"/>
                  </a:cubicBezTo>
                  <a:lnTo>
                    <a:pt x="0" y="89009"/>
                  </a:lnTo>
                  <a:cubicBezTo>
                    <a:pt x="0" y="39884"/>
                    <a:pt x="39884" y="0"/>
                    <a:pt x="89009" y="0"/>
                  </a:cubicBezTo>
                  <a:close/>
                </a:path>
              </a:pathLst>
            </a:custGeom>
            <a:solidFill>
              <a:srgbClr val="E5A044">
                <a:alpha val="10196"/>
              </a:srgbClr>
            </a:solidFill>
          </p:spPr>
        </p:sp>
        <p:sp>
          <p:nvSpPr>
            <p:cNvPr id="26" name="Shape 24"/>
            <p:cNvSpPr/>
            <p:nvPr/>
          </p:nvSpPr>
          <p:spPr>
            <a:xfrm>
              <a:off x="11671" y="5962"/>
              <a:ext cx="384" cy="384"/>
            </a:xfrm>
            <a:custGeom>
              <a:avLst/>
              <a:gdLst/>
              <a:ahLst/>
              <a:cxnLst/>
              <a:rect l="l" t="t" r="r" b="b"/>
              <a:pathLst>
                <a:path w="267039" h="267039">
                  <a:moveTo>
                    <a:pt x="133520" y="267039"/>
                  </a:moveTo>
                  <a:cubicBezTo>
                    <a:pt x="207211" y="267039"/>
                    <a:pt x="267039" y="207211"/>
                    <a:pt x="267039" y="133520"/>
                  </a:cubicBezTo>
                  <a:cubicBezTo>
                    <a:pt x="267039" y="59828"/>
                    <a:pt x="207211" y="0"/>
                    <a:pt x="133520" y="0"/>
                  </a:cubicBezTo>
                  <a:cubicBezTo>
                    <a:pt x="59828" y="0"/>
                    <a:pt x="0" y="59828"/>
                    <a:pt x="0" y="133520"/>
                  </a:cubicBezTo>
                  <a:cubicBezTo>
                    <a:pt x="0" y="207211"/>
                    <a:pt x="59828" y="267039"/>
                    <a:pt x="133520" y="267039"/>
                  </a:cubicBezTo>
                  <a:close/>
                  <a:moveTo>
                    <a:pt x="87101" y="87101"/>
                  </a:moveTo>
                  <a:cubicBezTo>
                    <a:pt x="92003" y="82198"/>
                    <a:pt x="99931" y="82198"/>
                    <a:pt x="104782" y="87101"/>
                  </a:cubicBezTo>
                  <a:lnTo>
                    <a:pt x="133467" y="115786"/>
                  </a:lnTo>
                  <a:lnTo>
                    <a:pt x="162153" y="87101"/>
                  </a:lnTo>
                  <a:cubicBezTo>
                    <a:pt x="167056" y="82198"/>
                    <a:pt x="174984" y="82198"/>
                    <a:pt x="179834" y="87101"/>
                  </a:cubicBezTo>
                  <a:cubicBezTo>
                    <a:pt x="184685" y="92003"/>
                    <a:pt x="184737" y="99931"/>
                    <a:pt x="179834" y="104782"/>
                  </a:cubicBezTo>
                  <a:lnTo>
                    <a:pt x="151148" y="133467"/>
                  </a:lnTo>
                  <a:lnTo>
                    <a:pt x="179834" y="162153"/>
                  </a:lnTo>
                  <a:cubicBezTo>
                    <a:pt x="184737" y="167056"/>
                    <a:pt x="184737" y="174984"/>
                    <a:pt x="179834" y="179834"/>
                  </a:cubicBezTo>
                  <a:cubicBezTo>
                    <a:pt x="174931" y="184685"/>
                    <a:pt x="167004" y="184737"/>
                    <a:pt x="162153" y="179834"/>
                  </a:cubicBezTo>
                  <a:lnTo>
                    <a:pt x="133467" y="151148"/>
                  </a:lnTo>
                  <a:lnTo>
                    <a:pt x="104782" y="179834"/>
                  </a:lnTo>
                  <a:cubicBezTo>
                    <a:pt x="99879" y="184737"/>
                    <a:pt x="91951" y="184737"/>
                    <a:pt x="87101" y="179834"/>
                  </a:cubicBezTo>
                  <a:cubicBezTo>
                    <a:pt x="82250" y="174931"/>
                    <a:pt x="82198" y="167004"/>
                    <a:pt x="87101" y="162153"/>
                  </a:cubicBezTo>
                  <a:lnTo>
                    <a:pt x="115786" y="133467"/>
                  </a:lnTo>
                  <a:lnTo>
                    <a:pt x="87101" y="104782"/>
                  </a:lnTo>
                  <a:cubicBezTo>
                    <a:pt x="82198" y="99879"/>
                    <a:pt x="82198" y="91951"/>
                    <a:pt x="87101" y="87101"/>
                  </a:cubicBezTo>
                  <a:close/>
                </a:path>
              </a:pathLst>
            </a:custGeom>
            <a:solidFill>
              <a:srgbClr val="E5A044"/>
            </a:solidFill>
          </p:spPr>
        </p:sp>
        <p:sp>
          <p:nvSpPr>
            <p:cNvPr id="27" name="Text 25"/>
            <p:cNvSpPr/>
            <p:nvPr/>
          </p:nvSpPr>
          <p:spPr>
            <a:xfrm>
              <a:off x="10544" y="6472"/>
              <a:ext cx="2636" cy="319"/>
            </a:xfrm>
            <a:prstGeom prst="rect">
              <a:avLst/>
            </a:prstGeom>
            <a:noFill/>
          </p:spPr>
          <p:txBody>
            <a:bodyPr wrap="square" lIns="0" tIns="0" rIns="0" bIns="0" rtlCol="0" anchor="ctr"/>
            <a:lstStyle/>
            <a:p>
              <a:pPr algn="ctr">
                <a:lnSpc>
                  <a:spcPct val="120000"/>
                </a:lnSpc>
              </a:pPr>
              <a:r>
                <a:rPr lang="en-US" sz="1225" dirty="0">
                  <a:solidFill>
                    <a:srgbClr val="E0E2E6">
                      <a:alpha val="70000"/>
                    </a:srgbClr>
                  </a:solidFill>
                  <a:latin typeface="MiSans" pitchFamily="34" charset="-122"/>
                  <a:ea typeface="MiSans" pitchFamily="34" charset="-122"/>
                  <a:cs typeface="MiSans" pitchFamily="34" charset="-120"/>
                </a:rPr>
                <a:t>复现尝试</a:t>
              </a:r>
              <a:endParaRPr lang="en-US" sz="1600" dirty="0"/>
            </a:p>
          </p:txBody>
        </p:sp>
        <p:sp>
          <p:nvSpPr>
            <p:cNvPr id="28" name="Text 26"/>
            <p:cNvSpPr/>
            <p:nvPr/>
          </p:nvSpPr>
          <p:spPr>
            <a:xfrm>
              <a:off x="10544" y="6792"/>
              <a:ext cx="2636" cy="319"/>
            </a:xfrm>
            <a:prstGeom prst="rect">
              <a:avLst/>
            </a:prstGeom>
            <a:noFill/>
          </p:spPr>
          <p:txBody>
            <a:bodyPr wrap="square" lIns="0" tIns="0" rIns="0" bIns="0" rtlCol="0" anchor="ctr"/>
            <a:lstStyle/>
            <a:p>
              <a:pPr algn="ctr">
                <a:lnSpc>
                  <a:spcPct val="120000"/>
                </a:lnSpc>
              </a:pPr>
              <a:r>
                <a:rPr lang="en-US" sz="1225" b="1" dirty="0">
                  <a:solidFill>
                    <a:srgbClr val="E0E2E6"/>
                  </a:solidFill>
                  <a:latin typeface="MiSans" pitchFamily="34" charset="-122"/>
                  <a:ea typeface="MiSans" pitchFamily="34" charset="-122"/>
                  <a:cs typeface="MiSans" pitchFamily="34" charset="-120"/>
                </a:rPr>
                <a:t>频繁失败</a:t>
              </a:r>
              <a:endParaRPr lang="en-US" sz="1600" dirty="0"/>
            </a:p>
          </p:txBody>
        </p:sp>
      </p:grpSp>
      <p:sp>
        <p:nvSpPr>
          <p:cNvPr id="29" name="Shape 27"/>
          <p:cNvSpPr/>
          <p:nvPr/>
        </p:nvSpPr>
        <p:spPr>
          <a:xfrm>
            <a:off x="445135" y="5153025"/>
            <a:ext cx="9602470" cy="3499485"/>
          </a:xfrm>
          <a:custGeom>
            <a:avLst/>
            <a:gdLst/>
            <a:ahLst/>
            <a:cxnLst/>
            <a:rect l="l" t="t" r="r" b="b"/>
            <a:pathLst>
              <a:path w="9068200" h="3838686">
                <a:moveTo>
                  <a:pt x="133509" y="0"/>
                </a:moveTo>
                <a:lnTo>
                  <a:pt x="8934690" y="0"/>
                </a:lnTo>
                <a:cubicBezTo>
                  <a:pt x="9008426" y="0"/>
                  <a:pt x="9068200" y="59774"/>
                  <a:pt x="9068200" y="133509"/>
                </a:cubicBezTo>
                <a:lnTo>
                  <a:pt x="9068200" y="3705176"/>
                </a:lnTo>
                <a:cubicBezTo>
                  <a:pt x="9068200" y="3778912"/>
                  <a:pt x="9008426" y="3838686"/>
                  <a:pt x="8934690" y="3838686"/>
                </a:cubicBezTo>
                <a:lnTo>
                  <a:pt x="133509" y="3838686"/>
                </a:lnTo>
                <a:cubicBezTo>
                  <a:pt x="59774" y="3838686"/>
                  <a:pt x="0" y="3778912"/>
                  <a:pt x="0" y="3705176"/>
                </a:cubicBezTo>
                <a:lnTo>
                  <a:pt x="0" y="133509"/>
                </a:lnTo>
                <a:cubicBezTo>
                  <a:pt x="0" y="59774"/>
                  <a:pt x="59774" y="0"/>
                  <a:pt x="133509" y="0"/>
                </a:cubicBezTo>
                <a:close/>
              </a:path>
            </a:pathLst>
          </a:custGeom>
          <a:gradFill flip="none" rotWithShape="1">
            <a:gsLst>
              <a:gs pos="0">
                <a:srgbClr val="3D8F8A">
                  <a:alpha val="15000"/>
                </a:srgbClr>
              </a:gs>
              <a:gs pos="100000">
                <a:srgbClr val="000000">
                  <a:alpha val="0"/>
                </a:srgbClr>
              </a:gs>
            </a:gsLst>
            <a:lin ang="2700000" scaled="1"/>
          </a:gradFill>
          <a:ln w="25400">
            <a:solidFill>
              <a:srgbClr val="3D8F8A">
                <a:alpha val="40000"/>
              </a:srgbClr>
            </a:solidFill>
            <a:prstDash val="solid"/>
          </a:ln>
        </p:spPr>
      </p:sp>
      <p:sp>
        <p:nvSpPr>
          <p:cNvPr id="30" name="Shape 28"/>
          <p:cNvSpPr/>
          <p:nvPr/>
        </p:nvSpPr>
        <p:spPr>
          <a:xfrm>
            <a:off x="698500" y="5406390"/>
            <a:ext cx="567690" cy="567690"/>
          </a:xfrm>
          <a:custGeom>
            <a:avLst/>
            <a:gdLst/>
            <a:ahLst/>
            <a:cxnLst/>
            <a:rect l="l" t="t" r="r" b="b"/>
            <a:pathLst>
              <a:path w="623091" h="623091">
                <a:moveTo>
                  <a:pt x="133522" y="0"/>
                </a:moveTo>
                <a:lnTo>
                  <a:pt x="489569" y="0"/>
                </a:lnTo>
                <a:cubicBezTo>
                  <a:pt x="563262" y="0"/>
                  <a:pt x="623091" y="59829"/>
                  <a:pt x="623091" y="133522"/>
                </a:cubicBezTo>
                <a:lnTo>
                  <a:pt x="623091" y="489569"/>
                </a:lnTo>
                <a:cubicBezTo>
                  <a:pt x="623091" y="563262"/>
                  <a:pt x="563262" y="623091"/>
                  <a:pt x="489569" y="623091"/>
                </a:cubicBezTo>
                <a:lnTo>
                  <a:pt x="133522" y="623091"/>
                </a:lnTo>
                <a:cubicBezTo>
                  <a:pt x="59829" y="623091"/>
                  <a:pt x="0" y="563262"/>
                  <a:pt x="0" y="489569"/>
                </a:cubicBezTo>
                <a:lnTo>
                  <a:pt x="0" y="133522"/>
                </a:lnTo>
                <a:cubicBezTo>
                  <a:pt x="0" y="59829"/>
                  <a:pt x="59829" y="0"/>
                  <a:pt x="133522" y="0"/>
                </a:cubicBezTo>
                <a:close/>
              </a:path>
            </a:pathLst>
          </a:custGeom>
          <a:solidFill>
            <a:srgbClr val="3D8F8A"/>
          </a:solidFill>
        </p:spPr>
      </p:sp>
      <p:sp>
        <p:nvSpPr>
          <p:cNvPr id="31" name="Shape 29"/>
          <p:cNvSpPr/>
          <p:nvPr/>
        </p:nvSpPr>
        <p:spPr>
          <a:xfrm>
            <a:off x="861695" y="5568950"/>
            <a:ext cx="243840" cy="243840"/>
          </a:xfrm>
          <a:custGeom>
            <a:avLst/>
            <a:gdLst/>
            <a:ahLst/>
            <a:cxnLst/>
            <a:rect l="l" t="t" r="r" b="b"/>
            <a:pathLst>
              <a:path w="267039" h="267039">
                <a:moveTo>
                  <a:pt x="207842" y="6363"/>
                </a:moveTo>
                <a:lnTo>
                  <a:pt x="161840" y="52365"/>
                </a:lnTo>
                <a:lnTo>
                  <a:pt x="214674" y="105199"/>
                </a:lnTo>
                <a:lnTo>
                  <a:pt x="260676" y="59197"/>
                </a:lnTo>
                <a:cubicBezTo>
                  <a:pt x="264744" y="55077"/>
                  <a:pt x="267039" y="49548"/>
                  <a:pt x="267039" y="43811"/>
                </a:cubicBezTo>
                <a:cubicBezTo>
                  <a:pt x="267039" y="38074"/>
                  <a:pt x="264744" y="32545"/>
                  <a:pt x="260676" y="28425"/>
                </a:cubicBezTo>
                <a:lnTo>
                  <a:pt x="238614" y="6363"/>
                </a:lnTo>
                <a:cubicBezTo>
                  <a:pt x="234494" y="2295"/>
                  <a:pt x="228965" y="0"/>
                  <a:pt x="223228" y="0"/>
                </a:cubicBezTo>
                <a:cubicBezTo>
                  <a:pt x="217491" y="0"/>
                  <a:pt x="211962" y="2295"/>
                  <a:pt x="207842" y="6363"/>
                </a:cubicBezTo>
                <a:close/>
                <a:moveTo>
                  <a:pt x="144159" y="70046"/>
                </a:moveTo>
                <a:lnTo>
                  <a:pt x="6363" y="207842"/>
                </a:lnTo>
                <a:cubicBezTo>
                  <a:pt x="2295" y="211962"/>
                  <a:pt x="0" y="217491"/>
                  <a:pt x="0" y="223228"/>
                </a:cubicBezTo>
                <a:cubicBezTo>
                  <a:pt x="0" y="228965"/>
                  <a:pt x="2295" y="234494"/>
                  <a:pt x="6363" y="238614"/>
                </a:cubicBezTo>
                <a:lnTo>
                  <a:pt x="28425" y="260676"/>
                </a:lnTo>
                <a:cubicBezTo>
                  <a:pt x="32545" y="264744"/>
                  <a:pt x="38074" y="267039"/>
                  <a:pt x="43811" y="267039"/>
                </a:cubicBezTo>
                <a:cubicBezTo>
                  <a:pt x="49548" y="267039"/>
                  <a:pt x="55077" y="264744"/>
                  <a:pt x="59197" y="260676"/>
                </a:cubicBezTo>
                <a:lnTo>
                  <a:pt x="196993" y="122880"/>
                </a:lnTo>
                <a:lnTo>
                  <a:pt x="144159" y="70046"/>
                </a:lnTo>
                <a:close/>
              </a:path>
            </a:pathLst>
          </a:custGeom>
          <a:solidFill>
            <a:srgbClr val="FFFFFF"/>
          </a:solidFill>
        </p:spPr>
      </p:sp>
      <p:sp>
        <p:nvSpPr>
          <p:cNvPr id="32" name="Text 30"/>
          <p:cNvSpPr/>
          <p:nvPr/>
        </p:nvSpPr>
        <p:spPr>
          <a:xfrm>
            <a:off x="1429385" y="5528945"/>
            <a:ext cx="1095375" cy="324485"/>
          </a:xfrm>
          <a:prstGeom prst="rect">
            <a:avLst/>
          </a:prstGeom>
          <a:noFill/>
        </p:spPr>
        <p:txBody>
          <a:bodyPr wrap="square" lIns="0" tIns="0" rIns="0" bIns="0" rtlCol="0" anchor="ctr"/>
          <a:lstStyle/>
          <a:p>
            <a:pPr>
              <a:lnSpc>
                <a:spcPct val="110000"/>
              </a:lnSpc>
            </a:pPr>
            <a:r>
              <a:rPr lang="en-US" sz="2105" b="1" dirty="0">
                <a:solidFill>
                  <a:srgbClr val="E0E2E6"/>
                </a:solidFill>
                <a:latin typeface="阿里妈妈数黑体" pitchFamily="34" charset="-122"/>
                <a:ea typeface="阿里妈妈数黑体" pitchFamily="34" charset="-122"/>
                <a:cs typeface="阿里妈妈数黑体" pitchFamily="34" charset="-120"/>
              </a:rPr>
              <a:t>工具作用</a:t>
            </a:r>
            <a:endParaRPr lang="en-US" sz="1600" dirty="0"/>
          </a:p>
        </p:txBody>
      </p:sp>
      <p:sp>
        <p:nvSpPr>
          <p:cNvPr id="33" name="Shape 31"/>
          <p:cNvSpPr/>
          <p:nvPr/>
        </p:nvSpPr>
        <p:spPr>
          <a:xfrm>
            <a:off x="698500" y="6177915"/>
            <a:ext cx="324485" cy="324485"/>
          </a:xfrm>
          <a:custGeom>
            <a:avLst/>
            <a:gdLst/>
            <a:ahLst/>
            <a:cxnLst/>
            <a:rect l="l" t="t" r="r" b="b"/>
            <a:pathLst>
              <a:path w="356052" h="356052">
                <a:moveTo>
                  <a:pt x="89013" y="0"/>
                </a:moveTo>
                <a:lnTo>
                  <a:pt x="267039" y="0"/>
                </a:lnTo>
                <a:cubicBezTo>
                  <a:pt x="316167" y="0"/>
                  <a:pt x="356052" y="39885"/>
                  <a:pt x="356052" y="89013"/>
                </a:cubicBezTo>
                <a:lnTo>
                  <a:pt x="356052" y="267039"/>
                </a:lnTo>
                <a:cubicBezTo>
                  <a:pt x="356052" y="316167"/>
                  <a:pt x="316167" y="356052"/>
                  <a:pt x="267039" y="356052"/>
                </a:cubicBezTo>
                <a:lnTo>
                  <a:pt x="89013" y="356052"/>
                </a:lnTo>
                <a:cubicBezTo>
                  <a:pt x="39885" y="356052"/>
                  <a:pt x="0" y="316167"/>
                  <a:pt x="0" y="267039"/>
                </a:cubicBezTo>
                <a:lnTo>
                  <a:pt x="0" y="89013"/>
                </a:lnTo>
                <a:cubicBezTo>
                  <a:pt x="0" y="39885"/>
                  <a:pt x="39885" y="0"/>
                  <a:pt x="89013" y="0"/>
                </a:cubicBezTo>
                <a:close/>
              </a:path>
            </a:pathLst>
          </a:custGeom>
          <a:solidFill>
            <a:srgbClr val="3D8F8A">
              <a:alpha val="30196"/>
            </a:srgbClr>
          </a:solidFill>
        </p:spPr>
      </p:sp>
      <p:sp>
        <p:nvSpPr>
          <p:cNvPr id="34" name="Shape 32"/>
          <p:cNvSpPr/>
          <p:nvPr/>
        </p:nvSpPr>
        <p:spPr>
          <a:xfrm>
            <a:off x="790575" y="6258560"/>
            <a:ext cx="141605" cy="161925"/>
          </a:xfrm>
          <a:custGeom>
            <a:avLst/>
            <a:gdLst/>
            <a:ahLst/>
            <a:cxnLst/>
            <a:rect l="l" t="t" r="r" b="b"/>
            <a:pathLst>
              <a:path w="155773" h="178026">
                <a:moveTo>
                  <a:pt x="26878" y="869"/>
                </a:moveTo>
                <a:cubicBezTo>
                  <a:pt x="29694" y="-556"/>
                  <a:pt x="33102" y="-243"/>
                  <a:pt x="35605" y="1669"/>
                </a:cubicBezTo>
                <a:lnTo>
                  <a:pt x="146871" y="85084"/>
                </a:lnTo>
                <a:cubicBezTo>
                  <a:pt x="149757" y="87240"/>
                  <a:pt x="150905" y="90995"/>
                  <a:pt x="149792" y="94402"/>
                </a:cubicBezTo>
                <a:cubicBezTo>
                  <a:pt x="148680" y="97810"/>
                  <a:pt x="145481" y="100105"/>
                  <a:pt x="141864" y="100105"/>
                </a:cubicBezTo>
                <a:lnTo>
                  <a:pt x="88909" y="100105"/>
                </a:lnTo>
                <a:lnTo>
                  <a:pt x="119820" y="161892"/>
                </a:lnTo>
                <a:cubicBezTo>
                  <a:pt x="122567" y="167386"/>
                  <a:pt x="120341" y="174062"/>
                  <a:pt x="114848" y="176809"/>
                </a:cubicBezTo>
                <a:cubicBezTo>
                  <a:pt x="109354" y="179556"/>
                  <a:pt x="102678" y="177331"/>
                  <a:pt x="99931" y="171837"/>
                </a:cubicBezTo>
                <a:lnTo>
                  <a:pt x="69020" y="110049"/>
                </a:lnTo>
                <a:lnTo>
                  <a:pt x="37274" y="152400"/>
                </a:lnTo>
                <a:cubicBezTo>
                  <a:pt x="35118" y="155286"/>
                  <a:pt x="31363" y="156433"/>
                  <a:pt x="27956" y="155321"/>
                </a:cubicBezTo>
                <a:cubicBezTo>
                  <a:pt x="24548" y="154208"/>
                  <a:pt x="22253" y="151009"/>
                  <a:pt x="22253" y="147428"/>
                </a:cubicBezTo>
                <a:lnTo>
                  <a:pt x="22253" y="8345"/>
                </a:lnTo>
                <a:cubicBezTo>
                  <a:pt x="22253" y="5181"/>
                  <a:pt x="24027" y="2295"/>
                  <a:pt x="26878" y="869"/>
                </a:cubicBezTo>
                <a:close/>
              </a:path>
            </a:pathLst>
          </a:custGeom>
          <a:solidFill>
            <a:srgbClr val="3D8F8A"/>
          </a:solidFill>
        </p:spPr>
      </p:sp>
      <p:sp>
        <p:nvSpPr>
          <p:cNvPr id="35" name="Text 33"/>
          <p:cNvSpPr/>
          <p:nvPr/>
        </p:nvSpPr>
        <p:spPr>
          <a:xfrm>
            <a:off x="1144905" y="6137275"/>
            <a:ext cx="7395210" cy="243840"/>
          </a:xfrm>
          <a:prstGeom prst="rect">
            <a:avLst/>
          </a:prstGeom>
          <a:noFill/>
        </p:spPr>
        <p:txBody>
          <a:bodyPr wrap="square" lIns="0" tIns="0" rIns="0" bIns="0" rtlCol="0" anchor="ctr"/>
          <a:lstStyle/>
          <a:p>
            <a:pPr>
              <a:lnSpc>
                <a:spcPct val="130000"/>
              </a:lnSpc>
            </a:pPr>
            <a:r>
              <a:rPr lang="en-US" sz="1400" b="1" dirty="0">
                <a:solidFill>
                  <a:srgbClr val="E0E2E6"/>
                </a:solidFill>
                <a:latin typeface="MiSans" pitchFamily="34" charset="-122"/>
                <a:ea typeface="MiSans" pitchFamily="34" charset="-122"/>
                <a:cs typeface="MiSans" pitchFamily="34" charset="-120"/>
              </a:rPr>
              <a:t>一键生成依赖列表</a:t>
            </a:r>
            <a:endParaRPr lang="en-US" sz="1600" dirty="0"/>
          </a:p>
        </p:txBody>
      </p:sp>
      <p:sp>
        <p:nvSpPr>
          <p:cNvPr id="36" name="Text 34"/>
          <p:cNvSpPr/>
          <p:nvPr/>
        </p:nvSpPr>
        <p:spPr>
          <a:xfrm>
            <a:off x="1144905" y="6421120"/>
            <a:ext cx="7395210" cy="243840"/>
          </a:xfrm>
          <a:prstGeom prst="rect">
            <a:avLst/>
          </a:prstGeom>
          <a:noFill/>
        </p:spPr>
        <p:txBody>
          <a:bodyPr wrap="square" lIns="0" tIns="0" rIns="0" bIns="0" rtlCol="0" anchor="ctr"/>
          <a:lstStyle/>
          <a:p>
            <a:pPr>
              <a:lnSpc>
                <a:spcPct val="130000"/>
              </a:lnSpc>
            </a:pPr>
            <a:r>
              <a:rPr lang="en-US" sz="1400" dirty="0">
                <a:solidFill>
                  <a:srgbClr val="E0E2E6">
                    <a:alpha val="80000"/>
                  </a:srgbClr>
                </a:solidFill>
                <a:latin typeface="MiSans" pitchFamily="34" charset="-122"/>
                <a:ea typeface="MiSans" pitchFamily="34" charset="-122"/>
                <a:cs typeface="MiSans" pitchFamily="34" charset="-120"/>
              </a:rPr>
              <a:t>使用者</a:t>
            </a:r>
            <a:r>
              <a:rPr lang="en-US" sz="1400" b="1" dirty="0">
                <a:solidFill>
                  <a:srgbClr val="3D8F8A"/>
                </a:solidFill>
                <a:latin typeface="MiSans" pitchFamily="34" charset="-122"/>
                <a:ea typeface="MiSans" pitchFamily="34" charset="-122"/>
                <a:cs typeface="MiSans" pitchFamily="34" charset="-120"/>
              </a:rPr>
              <a:t>无需阅读大量源码</a:t>
            </a:r>
            <a:r>
              <a:rPr lang="en-US" sz="1400" dirty="0">
                <a:solidFill>
                  <a:srgbClr val="E0E2E6">
                    <a:alpha val="80000"/>
                  </a:srgbClr>
                </a:solidFill>
                <a:latin typeface="MiSans" pitchFamily="34" charset="-122"/>
                <a:ea typeface="MiSans" pitchFamily="34" charset="-122"/>
                <a:cs typeface="MiSans" pitchFamily="34" charset="-120"/>
              </a:rPr>
              <a:t>,通过插件一键生成当前仓库的依赖列表</a:t>
            </a:r>
            <a:endParaRPr lang="en-US" sz="1600" dirty="0"/>
          </a:p>
        </p:txBody>
      </p:sp>
      <p:sp>
        <p:nvSpPr>
          <p:cNvPr id="37" name="Shape 35"/>
          <p:cNvSpPr/>
          <p:nvPr/>
        </p:nvSpPr>
        <p:spPr>
          <a:xfrm>
            <a:off x="698500" y="6826885"/>
            <a:ext cx="324485" cy="324485"/>
          </a:xfrm>
          <a:custGeom>
            <a:avLst/>
            <a:gdLst/>
            <a:ahLst/>
            <a:cxnLst/>
            <a:rect l="l" t="t" r="r" b="b"/>
            <a:pathLst>
              <a:path w="356052" h="356052">
                <a:moveTo>
                  <a:pt x="89013" y="0"/>
                </a:moveTo>
                <a:lnTo>
                  <a:pt x="267039" y="0"/>
                </a:lnTo>
                <a:cubicBezTo>
                  <a:pt x="316167" y="0"/>
                  <a:pt x="356052" y="39885"/>
                  <a:pt x="356052" y="89013"/>
                </a:cubicBezTo>
                <a:lnTo>
                  <a:pt x="356052" y="267039"/>
                </a:lnTo>
                <a:cubicBezTo>
                  <a:pt x="356052" y="316167"/>
                  <a:pt x="316167" y="356052"/>
                  <a:pt x="267039" y="356052"/>
                </a:cubicBezTo>
                <a:lnTo>
                  <a:pt x="89013" y="356052"/>
                </a:lnTo>
                <a:cubicBezTo>
                  <a:pt x="39885" y="356052"/>
                  <a:pt x="0" y="316167"/>
                  <a:pt x="0" y="267039"/>
                </a:cubicBezTo>
                <a:lnTo>
                  <a:pt x="0" y="89013"/>
                </a:lnTo>
                <a:cubicBezTo>
                  <a:pt x="0" y="39885"/>
                  <a:pt x="39885" y="0"/>
                  <a:pt x="89013" y="0"/>
                </a:cubicBezTo>
                <a:close/>
              </a:path>
            </a:pathLst>
          </a:custGeom>
          <a:solidFill>
            <a:srgbClr val="3D8F8A">
              <a:alpha val="30196"/>
            </a:srgbClr>
          </a:solidFill>
        </p:spPr>
      </p:sp>
      <p:sp>
        <p:nvSpPr>
          <p:cNvPr id="38" name="Shape 36"/>
          <p:cNvSpPr/>
          <p:nvPr/>
        </p:nvSpPr>
        <p:spPr>
          <a:xfrm>
            <a:off x="780415" y="6908165"/>
            <a:ext cx="161925" cy="161925"/>
          </a:xfrm>
          <a:custGeom>
            <a:avLst/>
            <a:gdLst/>
            <a:ahLst/>
            <a:cxnLst/>
            <a:rect l="l" t="t" r="r" b="b"/>
            <a:pathLst>
              <a:path w="178026" h="178026">
                <a:moveTo>
                  <a:pt x="89013" y="178026"/>
                </a:moveTo>
                <a:cubicBezTo>
                  <a:pt x="138141" y="178026"/>
                  <a:pt x="178026" y="138141"/>
                  <a:pt x="178026" y="89013"/>
                </a:cubicBezTo>
                <a:cubicBezTo>
                  <a:pt x="178026" y="39885"/>
                  <a:pt x="138141" y="0"/>
                  <a:pt x="89013" y="0"/>
                </a:cubicBezTo>
                <a:cubicBezTo>
                  <a:pt x="39885" y="0"/>
                  <a:pt x="0" y="39885"/>
                  <a:pt x="0" y="89013"/>
                </a:cubicBezTo>
                <a:cubicBezTo>
                  <a:pt x="0" y="138141"/>
                  <a:pt x="39885" y="178026"/>
                  <a:pt x="89013" y="178026"/>
                </a:cubicBezTo>
                <a:close/>
                <a:moveTo>
                  <a:pt x="80668" y="119611"/>
                </a:moveTo>
                <a:lnTo>
                  <a:pt x="80668" y="97358"/>
                </a:lnTo>
                <a:lnTo>
                  <a:pt x="58415" y="97358"/>
                </a:lnTo>
                <a:cubicBezTo>
                  <a:pt x="53790" y="97358"/>
                  <a:pt x="50070" y="93638"/>
                  <a:pt x="50070" y="89013"/>
                </a:cubicBezTo>
                <a:cubicBezTo>
                  <a:pt x="50070" y="84389"/>
                  <a:pt x="53790" y="80668"/>
                  <a:pt x="58415" y="80668"/>
                </a:cubicBezTo>
                <a:lnTo>
                  <a:pt x="80668" y="80668"/>
                </a:lnTo>
                <a:lnTo>
                  <a:pt x="80668" y="58415"/>
                </a:lnTo>
                <a:cubicBezTo>
                  <a:pt x="80668" y="53790"/>
                  <a:pt x="84389" y="50070"/>
                  <a:pt x="89013" y="50070"/>
                </a:cubicBezTo>
                <a:cubicBezTo>
                  <a:pt x="93638" y="50070"/>
                  <a:pt x="97358" y="53790"/>
                  <a:pt x="97358" y="58415"/>
                </a:cubicBezTo>
                <a:lnTo>
                  <a:pt x="97358" y="80668"/>
                </a:lnTo>
                <a:lnTo>
                  <a:pt x="119611" y="80668"/>
                </a:lnTo>
                <a:cubicBezTo>
                  <a:pt x="124236" y="80668"/>
                  <a:pt x="127956" y="84389"/>
                  <a:pt x="127956" y="89013"/>
                </a:cubicBezTo>
                <a:cubicBezTo>
                  <a:pt x="127956" y="93638"/>
                  <a:pt x="124236" y="97358"/>
                  <a:pt x="119611" y="97358"/>
                </a:cubicBezTo>
                <a:lnTo>
                  <a:pt x="97358" y="97358"/>
                </a:lnTo>
                <a:lnTo>
                  <a:pt x="97358" y="119611"/>
                </a:lnTo>
                <a:cubicBezTo>
                  <a:pt x="97358" y="124236"/>
                  <a:pt x="93638" y="127956"/>
                  <a:pt x="89013" y="127956"/>
                </a:cubicBezTo>
                <a:cubicBezTo>
                  <a:pt x="84389" y="127956"/>
                  <a:pt x="80668" y="124236"/>
                  <a:pt x="80668" y="119611"/>
                </a:cubicBezTo>
                <a:close/>
              </a:path>
            </a:pathLst>
          </a:custGeom>
          <a:solidFill>
            <a:srgbClr val="3D8F8A"/>
          </a:solidFill>
        </p:spPr>
      </p:sp>
      <p:sp>
        <p:nvSpPr>
          <p:cNvPr id="39" name="Text 37"/>
          <p:cNvSpPr/>
          <p:nvPr/>
        </p:nvSpPr>
        <p:spPr>
          <a:xfrm>
            <a:off x="1144905" y="6786245"/>
            <a:ext cx="7395210" cy="243840"/>
          </a:xfrm>
          <a:prstGeom prst="rect">
            <a:avLst/>
          </a:prstGeom>
          <a:noFill/>
        </p:spPr>
        <p:txBody>
          <a:bodyPr wrap="square" lIns="0" tIns="0" rIns="0" bIns="0" rtlCol="0" anchor="ctr"/>
          <a:lstStyle/>
          <a:p>
            <a:pPr>
              <a:lnSpc>
                <a:spcPct val="130000"/>
              </a:lnSpc>
            </a:pPr>
            <a:r>
              <a:rPr lang="en-US" sz="1400" b="1" dirty="0">
                <a:solidFill>
                  <a:srgbClr val="E0E2E6"/>
                </a:solidFill>
                <a:latin typeface="MiSans" pitchFamily="34" charset="-122"/>
                <a:ea typeface="MiSans" pitchFamily="34" charset="-122"/>
                <a:cs typeface="MiSans" pitchFamily="34" charset="-120"/>
              </a:rPr>
              <a:t>补充与重构</a:t>
            </a:r>
            <a:endParaRPr lang="en-US" sz="1600" dirty="0"/>
          </a:p>
        </p:txBody>
      </p:sp>
      <p:sp>
        <p:nvSpPr>
          <p:cNvPr id="40" name="Text 38"/>
          <p:cNvSpPr/>
          <p:nvPr/>
        </p:nvSpPr>
        <p:spPr>
          <a:xfrm>
            <a:off x="1144905" y="7070090"/>
            <a:ext cx="7395210" cy="243840"/>
          </a:xfrm>
          <a:prstGeom prst="rect">
            <a:avLst/>
          </a:prstGeom>
          <a:noFill/>
        </p:spPr>
        <p:txBody>
          <a:bodyPr wrap="square" lIns="0" tIns="0" rIns="0" bIns="0" rtlCol="0" anchor="ctr"/>
          <a:lstStyle/>
          <a:p>
            <a:pPr>
              <a:lnSpc>
                <a:spcPct val="130000"/>
              </a:lnSpc>
            </a:pPr>
            <a:r>
              <a:rPr lang="en-US" sz="1400" dirty="0">
                <a:solidFill>
                  <a:srgbClr val="E0E2E6">
                    <a:alpha val="80000"/>
                  </a:srgbClr>
                </a:solidFill>
                <a:latin typeface="MiSans" pitchFamily="34" charset="-122"/>
                <a:ea typeface="MiSans" pitchFamily="34" charset="-122"/>
                <a:cs typeface="MiSans" pitchFamily="34" charset="-120"/>
              </a:rPr>
              <a:t>可作为</a:t>
            </a:r>
            <a:r>
              <a:rPr lang="en-US" sz="1400" b="1" dirty="0">
                <a:solidFill>
                  <a:srgbClr val="3D8F8A"/>
                </a:solidFill>
                <a:latin typeface="MiSans" pitchFamily="34" charset="-122"/>
                <a:ea typeface="MiSans" pitchFamily="34" charset="-122"/>
                <a:cs typeface="MiSans" pitchFamily="34" charset="-120"/>
              </a:rPr>
              <a:t>原始requirements的补充</a:t>
            </a:r>
            <a:r>
              <a:rPr lang="en-US" sz="1400" dirty="0">
                <a:solidFill>
                  <a:srgbClr val="E0E2E6">
                    <a:alpha val="80000"/>
                  </a:srgbClr>
                </a:solidFill>
                <a:latin typeface="MiSans" pitchFamily="34" charset="-122"/>
                <a:ea typeface="MiSans" pitchFamily="34" charset="-122"/>
                <a:cs typeface="MiSans" pitchFamily="34" charset="-120"/>
              </a:rPr>
              <a:t>,或重新构建运行环境的起点</a:t>
            </a:r>
            <a:endParaRPr lang="en-US" sz="1600" dirty="0"/>
          </a:p>
        </p:txBody>
      </p:sp>
      <p:sp>
        <p:nvSpPr>
          <p:cNvPr id="41" name="Shape 39"/>
          <p:cNvSpPr/>
          <p:nvPr/>
        </p:nvSpPr>
        <p:spPr>
          <a:xfrm>
            <a:off x="698500" y="7475855"/>
            <a:ext cx="324485" cy="324485"/>
          </a:xfrm>
          <a:custGeom>
            <a:avLst/>
            <a:gdLst/>
            <a:ahLst/>
            <a:cxnLst/>
            <a:rect l="l" t="t" r="r" b="b"/>
            <a:pathLst>
              <a:path w="356052" h="356052">
                <a:moveTo>
                  <a:pt x="89013" y="0"/>
                </a:moveTo>
                <a:lnTo>
                  <a:pt x="267039" y="0"/>
                </a:lnTo>
                <a:cubicBezTo>
                  <a:pt x="316167" y="0"/>
                  <a:pt x="356052" y="39885"/>
                  <a:pt x="356052" y="89013"/>
                </a:cubicBezTo>
                <a:lnTo>
                  <a:pt x="356052" y="267039"/>
                </a:lnTo>
                <a:cubicBezTo>
                  <a:pt x="356052" y="316167"/>
                  <a:pt x="316167" y="356052"/>
                  <a:pt x="267039" y="356052"/>
                </a:cubicBezTo>
                <a:lnTo>
                  <a:pt x="89013" y="356052"/>
                </a:lnTo>
                <a:cubicBezTo>
                  <a:pt x="39885" y="356052"/>
                  <a:pt x="0" y="316167"/>
                  <a:pt x="0" y="267039"/>
                </a:cubicBezTo>
                <a:lnTo>
                  <a:pt x="0" y="89013"/>
                </a:lnTo>
                <a:cubicBezTo>
                  <a:pt x="0" y="39885"/>
                  <a:pt x="39885" y="0"/>
                  <a:pt x="89013" y="0"/>
                </a:cubicBezTo>
                <a:close/>
              </a:path>
            </a:pathLst>
          </a:custGeom>
          <a:solidFill>
            <a:srgbClr val="3D8F8A">
              <a:alpha val="30196"/>
            </a:srgbClr>
          </a:solidFill>
        </p:spPr>
      </p:sp>
      <p:sp>
        <p:nvSpPr>
          <p:cNvPr id="42" name="Shape 40"/>
          <p:cNvSpPr/>
          <p:nvPr/>
        </p:nvSpPr>
        <p:spPr>
          <a:xfrm>
            <a:off x="780415" y="7557135"/>
            <a:ext cx="161925" cy="161925"/>
          </a:xfrm>
          <a:custGeom>
            <a:avLst/>
            <a:gdLst/>
            <a:ahLst/>
            <a:cxnLst/>
            <a:rect l="l" t="t" r="r" b="b"/>
            <a:pathLst>
              <a:path w="178026" h="178026">
                <a:moveTo>
                  <a:pt x="44507" y="111266"/>
                </a:moveTo>
                <a:lnTo>
                  <a:pt x="8519" y="111266"/>
                </a:lnTo>
                <a:cubicBezTo>
                  <a:pt x="-139" y="111266"/>
                  <a:pt x="-5459" y="101843"/>
                  <a:pt x="-1008" y="94402"/>
                </a:cubicBezTo>
                <a:lnTo>
                  <a:pt x="17385" y="63735"/>
                </a:lnTo>
                <a:cubicBezTo>
                  <a:pt x="20410" y="58693"/>
                  <a:pt x="25835" y="55633"/>
                  <a:pt x="31711" y="55633"/>
                </a:cubicBezTo>
                <a:lnTo>
                  <a:pt x="64743" y="55633"/>
                </a:lnTo>
                <a:cubicBezTo>
                  <a:pt x="91204" y="10814"/>
                  <a:pt x="130668" y="8554"/>
                  <a:pt x="157059" y="12413"/>
                </a:cubicBezTo>
                <a:cubicBezTo>
                  <a:pt x="161510" y="13074"/>
                  <a:pt x="164987" y="16551"/>
                  <a:pt x="165613" y="20967"/>
                </a:cubicBezTo>
                <a:cubicBezTo>
                  <a:pt x="169472" y="47358"/>
                  <a:pt x="167212" y="86822"/>
                  <a:pt x="122393" y="113283"/>
                </a:cubicBezTo>
                <a:lnTo>
                  <a:pt x="122393" y="146315"/>
                </a:lnTo>
                <a:cubicBezTo>
                  <a:pt x="122393" y="152191"/>
                  <a:pt x="119333" y="157616"/>
                  <a:pt x="114291" y="160641"/>
                </a:cubicBezTo>
                <a:lnTo>
                  <a:pt x="83624" y="179034"/>
                </a:lnTo>
                <a:cubicBezTo>
                  <a:pt x="76217" y="183485"/>
                  <a:pt x="66760" y="178130"/>
                  <a:pt x="66760" y="169507"/>
                </a:cubicBezTo>
                <a:lnTo>
                  <a:pt x="66760" y="133520"/>
                </a:lnTo>
                <a:cubicBezTo>
                  <a:pt x="66760" y="121245"/>
                  <a:pt x="56781" y="111266"/>
                  <a:pt x="44507" y="111266"/>
                </a:cubicBezTo>
                <a:lnTo>
                  <a:pt x="44472" y="111266"/>
                </a:lnTo>
                <a:close/>
                <a:moveTo>
                  <a:pt x="139083" y="55633"/>
                </a:moveTo>
                <a:cubicBezTo>
                  <a:pt x="139083" y="46422"/>
                  <a:pt x="131604" y="38943"/>
                  <a:pt x="122393" y="38943"/>
                </a:cubicBezTo>
                <a:cubicBezTo>
                  <a:pt x="113181" y="38943"/>
                  <a:pt x="105703" y="46422"/>
                  <a:pt x="105703" y="55633"/>
                </a:cubicBezTo>
                <a:cubicBezTo>
                  <a:pt x="105703" y="64845"/>
                  <a:pt x="113181" y="72323"/>
                  <a:pt x="122393" y="72323"/>
                </a:cubicBezTo>
                <a:cubicBezTo>
                  <a:pt x="131604" y="72323"/>
                  <a:pt x="139083" y="64845"/>
                  <a:pt x="139083" y="55633"/>
                </a:cubicBezTo>
                <a:close/>
              </a:path>
            </a:pathLst>
          </a:custGeom>
          <a:solidFill>
            <a:srgbClr val="3D8F8A"/>
          </a:solidFill>
        </p:spPr>
      </p:sp>
      <p:sp>
        <p:nvSpPr>
          <p:cNvPr id="43" name="Text 41"/>
          <p:cNvSpPr/>
          <p:nvPr/>
        </p:nvSpPr>
        <p:spPr>
          <a:xfrm>
            <a:off x="1144905" y="7435850"/>
            <a:ext cx="7395210" cy="243840"/>
          </a:xfrm>
          <a:prstGeom prst="rect">
            <a:avLst/>
          </a:prstGeom>
          <a:noFill/>
        </p:spPr>
        <p:txBody>
          <a:bodyPr wrap="square" lIns="0" tIns="0" rIns="0" bIns="0" rtlCol="0" anchor="ctr"/>
          <a:lstStyle/>
          <a:p>
            <a:pPr>
              <a:lnSpc>
                <a:spcPct val="130000"/>
              </a:lnSpc>
            </a:pPr>
            <a:r>
              <a:rPr lang="en-US" sz="1400" b="1" dirty="0">
                <a:solidFill>
                  <a:srgbClr val="E0E2E6"/>
                </a:solidFill>
                <a:latin typeface="MiSans" pitchFamily="34" charset="-122"/>
                <a:ea typeface="MiSans" pitchFamily="34" charset="-122"/>
                <a:cs typeface="MiSans" pitchFamily="34" charset="-120"/>
              </a:rPr>
              <a:t>现代化环境建议</a:t>
            </a:r>
            <a:endParaRPr lang="en-US" sz="1600" dirty="0"/>
          </a:p>
        </p:txBody>
      </p:sp>
      <p:sp>
        <p:nvSpPr>
          <p:cNvPr id="44" name="Text 42"/>
          <p:cNvSpPr/>
          <p:nvPr/>
        </p:nvSpPr>
        <p:spPr>
          <a:xfrm>
            <a:off x="1144905" y="7719060"/>
            <a:ext cx="7395210" cy="243840"/>
          </a:xfrm>
          <a:prstGeom prst="rect">
            <a:avLst/>
          </a:prstGeom>
          <a:noFill/>
        </p:spPr>
        <p:txBody>
          <a:bodyPr wrap="square" lIns="0" tIns="0" rIns="0" bIns="0" rtlCol="0" anchor="ctr"/>
          <a:lstStyle/>
          <a:p>
            <a:pPr>
              <a:lnSpc>
                <a:spcPct val="130000"/>
              </a:lnSpc>
            </a:pPr>
            <a:r>
              <a:rPr lang="en-US" sz="1400" dirty="0">
                <a:solidFill>
                  <a:srgbClr val="E0E2E6">
                    <a:alpha val="80000"/>
                  </a:srgbClr>
                </a:solidFill>
                <a:latin typeface="MiSans" pitchFamily="34" charset="-122"/>
                <a:ea typeface="MiSans" pitchFamily="34" charset="-122"/>
                <a:cs typeface="MiSans" pitchFamily="34" charset="-120"/>
              </a:rPr>
              <a:t>结合</a:t>
            </a:r>
            <a:r>
              <a:rPr lang="en-US" sz="1400" b="1" dirty="0">
                <a:solidFill>
                  <a:srgbClr val="3D8F8A"/>
                </a:solidFill>
                <a:latin typeface="MiSans" pitchFamily="34" charset="-122"/>
                <a:ea typeface="MiSans" pitchFamily="34" charset="-122"/>
                <a:cs typeface="MiSans" pitchFamily="34" charset="-120"/>
              </a:rPr>
              <a:t>社区主流环境配置</a:t>
            </a:r>
            <a:r>
              <a:rPr lang="en-US" sz="1400" dirty="0">
                <a:solidFill>
                  <a:srgbClr val="E0E2E6">
                    <a:alpha val="80000"/>
                  </a:srgbClr>
                </a:solidFill>
                <a:latin typeface="MiSans" pitchFamily="34" charset="-122"/>
                <a:ea typeface="MiSans" pitchFamily="34" charset="-122"/>
                <a:cs typeface="MiSans" pitchFamily="34" charset="-120"/>
              </a:rPr>
              <a:t>和兼容性知识库,生成更"现代、可运行"的环境配置建议</a:t>
            </a:r>
            <a:endParaRPr lang="en-US" sz="1600" dirty="0"/>
          </a:p>
        </p:txBody>
      </p:sp>
      <p:sp>
        <p:nvSpPr>
          <p:cNvPr id="45" name="Shape 43"/>
          <p:cNvSpPr/>
          <p:nvPr/>
        </p:nvSpPr>
        <p:spPr>
          <a:xfrm>
            <a:off x="10300970" y="1468755"/>
            <a:ext cx="5514975" cy="5240655"/>
          </a:xfrm>
          <a:custGeom>
            <a:avLst/>
            <a:gdLst/>
            <a:ahLst/>
            <a:cxnLst/>
            <a:rect l="l" t="t" r="r" b="b"/>
            <a:pathLst>
              <a:path w="6049175" h="5748757">
                <a:moveTo>
                  <a:pt x="133544" y="0"/>
                </a:moveTo>
                <a:lnTo>
                  <a:pt x="5915632" y="0"/>
                </a:lnTo>
                <a:cubicBezTo>
                  <a:pt x="5989386" y="0"/>
                  <a:pt x="6049175" y="59790"/>
                  <a:pt x="6049175" y="133544"/>
                </a:cubicBezTo>
                <a:lnTo>
                  <a:pt x="6049175" y="5615213"/>
                </a:lnTo>
                <a:cubicBezTo>
                  <a:pt x="6049175" y="5688967"/>
                  <a:pt x="5989386" y="5748757"/>
                  <a:pt x="5915632" y="5748757"/>
                </a:cubicBezTo>
                <a:lnTo>
                  <a:pt x="133544" y="5748757"/>
                </a:lnTo>
                <a:cubicBezTo>
                  <a:pt x="59790" y="5748757"/>
                  <a:pt x="0" y="5688967"/>
                  <a:pt x="0" y="5615213"/>
                </a:cubicBezTo>
                <a:lnTo>
                  <a:pt x="0" y="133544"/>
                </a:lnTo>
                <a:cubicBezTo>
                  <a:pt x="0" y="59839"/>
                  <a:pt x="59839" y="0"/>
                  <a:pt x="133544" y="0"/>
                </a:cubicBezTo>
                <a:close/>
              </a:path>
            </a:pathLst>
          </a:custGeom>
          <a:gradFill flip="none" rotWithShape="1">
            <a:gsLst>
              <a:gs pos="0">
                <a:srgbClr val="3D8F8A">
                  <a:alpha val="20000"/>
                </a:srgbClr>
              </a:gs>
              <a:gs pos="100000">
                <a:srgbClr val="E5A044">
                  <a:alpha val="10000"/>
                </a:srgbClr>
              </a:gs>
            </a:gsLst>
            <a:lin ang="2700000" scaled="1"/>
          </a:gradFill>
          <a:ln w="8467">
            <a:solidFill>
              <a:srgbClr val="3D8F8A">
                <a:alpha val="40000"/>
              </a:srgbClr>
            </a:solidFill>
            <a:prstDash val="solid"/>
          </a:ln>
        </p:spPr>
      </p:sp>
      <p:sp>
        <p:nvSpPr>
          <p:cNvPr id="46" name="Shape 44"/>
          <p:cNvSpPr/>
          <p:nvPr/>
        </p:nvSpPr>
        <p:spPr>
          <a:xfrm>
            <a:off x="12854305" y="1715135"/>
            <a:ext cx="410845" cy="365125"/>
          </a:xfrm>
          <a:custGeom>
            <a:avLst/>
            <a:gdLst/>
            <a:ahLst/>
            <a:cxnLst/>
            <a:rect l="l" t="t" r="r" b="b"/>
            <a:pathLst>
              <a:path w="450628" h="400559">
                <a:moveTo>
                  <a:pt x="242134" y="-14786"/>
                </a:moveTo>
                <a:cubicBezTo>
                  <a:pt x="238927" y="-21045"/>
                  <a:pt x="232433" y="-25035"/>
                  <a:pt x="225392" y="-25035"/>
                </a:cubicBezTo>
                <a:cubicBezTo>
                  <a:pt x="218351" y="-25035"/>
                  <a:pt x="211858" y="-21045"/>
                  <a:pt x="208650" y="-14786"/>
                </a:cubicBezTo>
                <a:lnTo>
                  <a:pt x="151070" y="98027"/>
                </a:lnTo>
                <a:lnTo>
                  <a:pt x="25974" y="117899"/>
                </a:lnTo>
                <a:cubicBezTo>
                  <a:pt x="19011" y="118994"/>
                  <a:pt x="13222" y="123923"/>
                  <a:pt x="11031" y="130651"/>
                </a:cubicBezTo>
                <a:cubicBezTo>
                  <a:pt x="8840" y="137379"/>
                  <a:pt x="10640" y="144733"/>
                  <a:pt x="15569" y="149740"/>
                </a:cubicBezTo>
                <a:lnTo>
                  <a:pt x="105068" y="239318"/>
                </a:lnTo>
                <a:lnTo>
                  <a:pt x="85353" y="364414"/>
                </a:lnTo>
                <a:cubicBezTo>
                  <a:pt x="84258" y="371377"/>
                  <a:pt x="87153" y="378418"/>
                  <a:pt x="92864" y="382565"/>
                </a:cubicBezTo>
                <a:cubicBezTo>
                  <a:pt x="98575" y="386711"/>
                  <a:pt x="106085" y="387337"/>
                  <a:pt x="112422" y="384129"/>
                </a:cubicBezTo>
                <a:lnTo>
                  <a:pt x="225392" y="326706"/>
                </a:lnTo>
                <a:lnTo>
                  <a:pt x="338284" y="384129"/>
                </a:lnTo>
                <a:cubicBezTo>
                  <a:pt x="344543" y="387337"/>
                  <a:pt x="352132" y="386711"/>
                  <a:pt x="357843" y="382565"/>
                </a:cubicBezTo>
                <a:cubicBezTo>
                  <a:pt x="363554" y="378418"/>
                  <a:pt x="366448" y="371455"/>
                  <a:pt x="365353" y="364414"/>
                </a:cubicBezTo>
                <a:lnTo>
                  <a:pt x="345560" y="239318"/>
                </a:lnTo>
                <a:lnTo>
                  <a:pt x="435060" y="149740"/>
                </a:lnTo>
                <a:cubicBezTo>
                  <a:pt x="440067" y="144733"/>
                  <a:pt x="441788" y="137379"/>
                  <a:pt x="439597" y="130651"/>
                </a:cubicBezTo>
                <a:cubicBezTo>
                  <a:pt x="437407" y="123923"/>
                  <a:pt x="431696" y="118994"/>
                  <a:pt x="424655" y="117899"/>
                </a:cubicBezTo>
                <a:lnTo>
                  <a:pt x="299637" y="98027"/>
                </a:lnTo>
                <a:lnTo>
                  <a:pt x="242134" y="-14786"/>
                </a:lnTo>
                <a:close/>
              </a:path>
            </a:pathLst>
          </a:custGeom>
          <a:solidFill>
            <a:srgbClr val="E5A044"/>
          </a:solidFill>
        </p:spPr>
      </p:sp>
      <p:sp>
        <p:nvSpPr>
          <p:cNvPr id="47" name="Text 45"/>
          <p:cNvSpPr/>
          <p:nvPr/>
        </p:nvSpPr>
        <p:spPr>
          <a:xfrm>
            <a:off x="10487660" y="2202180"/>
            <a:ext cx="5142865" cy="324485"/>
          </a:xfrm>
          <a:prstGeom prst="rect">
            <a:avLst/>
          </a:prstGeom>
          <a:noFill/>
        </p:spPr>
        <p:txBody>
          <a:bodyPr wrap="square" lIns="0" tIns="0" rIns="0" bIns="0" rtlCol="0" anchor="ctr"/>
          <a:lstStyle/>
          <a:p>
            <a:pPr algn="ctr">
              <a:lnSpc>
                <a:spcPct val="110000"/>
              </a:lnSpc>
            </a:pPr>
            <a:r>
              <a:rPr lang="en-US" sz="2105" b="1" dirty="0">
                <a:solidFill>
                  <a:srgbClr val="E0E2E6"/>
                </a:solidFill>
                <a:latin typeface="阿里妈妈数黑体" pitchFamily="34" charset="-122"/>
                <a:ea typeface="阿里妈妈数黑体" pitchFamily="34" charset="-122"/>
                <a:cs typeface="阿里妈妈数黑体" pitchFamily="34" charset="-120"/>
              </a:rPr>
              <a:t>价值体现</a:t>
            </a:r>
            <a:endParaRPr lang="en-US" sz="1600" dirty="0"/>
          </a:p>
        </p:txBody>
      </p:sp>
      <p:sp>
        <p:nvSpPr>
          <p:cNvPr id="48" name="Shape 46"/>
          <p:cNvSpPr/>
          <p:nvPr/>
        </p:nvSpPr>
        <p:spPr>
          <a:xfrm>
            <a:off x="10547985" y="2689860"/>
            <a:ext cx="5021580" cy="852170"/>
          </a:xfrm>
          <a:custGeom>
            <a:avLst/>
            <a:gdLst/>
            <a:ahLst/>
            <a:cxnLst/>
            <a:rect l="l" t="t" r="r" b="b"/>
            <a:pathLst>
              <a:path w="5507680" h="934637">
                <a:moveTo>
                  <a:pt x="89015" y="0"/>
                </a:moveTo>
                <a:lnTo>
                  <a:pt x="5418665" y="0"/>
                </a:lnTo>
                <a:cubicBezTo>
                  <a:pt x="5467826" y="0"/>
                  <a:pt x="5507680" y="39853"/>
                  <a:pt x="5507680" y="89015"/>
                </a:cubicBezTo>
                <a:lnTo>
                  <a:pt x="5507680" y="845622"/>
                </a:lnTo>
                <a:cubicBezTo>
                  <a:pt x="5507680" y="894783"/>
                  <a:pt x="5467826" y="934637"/>
                  <a:pt x="5418665" y="934637"/>
                </a:cubicBezTo>
                <a:lnTo>
                  <a:pt x="89015" y="934637"/>
                </a:lnTo>
                <a:cubicBezTo>
                  <a:pt x="39853" y="934637"/>
                  <a:pt x="0" y="894783"/>
                  <a:pt x="0" y="845622"/>
                </a:cubicBezTo>
                <a:lnTo>
                  <a:pt x="0" y="89015"/>
                </a:lnTo>
                <a:cubicBezTo>
                  <a:pt x="0" y="39853"/>
                  <a:pt x="39853" y="0"/>
                  <a:pt x="89015" y="0"/>
                </a:cubicBezTo>
                <a:close/>
              </a:path>
            </a:pathLst>
          </a:custGeom>
          <a:solidFill>
            <a:srgbClr val="3D8F8A">
              <a:alpha val="10196"/>
            </a:srgbClr>
          </a:solidFill>
        </p:spPr>
      </p:sp>
      <p:sp>
        <p:nvSpPr>
          <p:cNvPr id="49" name="Text 47"/>
          <p:cNvSpPr/>
          <p:nvPr/>
        </p:nvSpPr>
        <p:spPr>
          <a:xfrm>
            <a:off x="10710545" y="2851785"/>
            <a:ext cx="2207260" cy="243840"/>
          </a:xfrm>
          <a:prstGeom prst="rect">
            <a:avLst/>
          </a:prstGeom>
          <a:noFill/>
        </p:spPr>
        <p:txBody>
          <a:bodyPr wrap="square" lIns="0" tIns="0" rIns="0" bIns="0" rtlCol="0" anchor="ctr"/>
          <a:lstStyle/>
          <a:p>
            <a:pPr>
              <a:lnSpc>
                <a:spcPct val="130000"/>
              </a:lnSpc>
            </a:pPr>
            <a:r>
              <a:rPr lang="en-US" sz="1400" b="1" dirty="0">
                <a:solidFill>
                  <a:srgbClr val="E0E2E6">
                    <a:alpha val="80000"/>
                  </a:srgbClr>
                </a:solidFill>
                <a:latin typeface="MiSans" pitchFamily="34" charset="-122"/>
                <a:ea typeface="MiSans" pitchFamily="34" charset="-122"/>
                <a:cs typeface="MiSans" pitchFamily="34" charset="-120"/>
              </a:rPr>
              <a:t>降低复现门槛</a:t>
            </a:r>
            <a:endParaRPr lang="en-US" sz="1600" dirty="0"/>
          </a:p>
        </p:txBody>
      </p:sp>
      <p:sp>
        <p:nvSpPr>
          <p:cNvPr id="50" name="Shape 48"/>
          <p:cNvSpPr/>
          <p:nvPr/>
        </p:nvSpPr>
        <p:spPr>
          <a:xfrm>
            <a:off x="15246985" y="2892425"/>
            <a:ext cx="121285" cy="161925"/>
          </a:xfrm>
          <a:custGeom>
            <a:avLst/>
            <a:gdLst/>
            <a:ahLst/>
            <a:cxnLst/>
            <a:rect l="l" t="t" r="r" b="b"/>
            <a:pathLst>
              <a:path w="133520" h="178026">
                <a:moveTo>
                  <a:pt x="58902" y="174758"/>
                </a:moveTo>
                <a:cubicBezTo>
                  <a:pt x="63248" y="179104"/>
                  <a:pt x="70306" y="179104"/>
                  <a:pt x="74653" y="174758"/>
                </a:cubicBezTo>
                <a:lnTo>
                  <a:pt x="130286" y="119124"/>
                </a:lnTo>
                <a:cubicBezTo>
                  <a:pt x="134632" y="114778"/>
                  <a:pt x="134632" y="107720"/>
                  <a:pt x="130286" y="103373"/>
                </a:cubicBezTo>
                <a:cubicBezTo>
                  <a:pt x="125939" y="99027"/>
                  <a:pt x="118881" y="99027"/>
                  <a:pt x="114535" y="103373"/>
                </a:cubicBezTo>
                <a:lnTo>
                  <a:pt x="77886" y="140022"/>
                </a:lnTo>
                <a:lnTo>
                  <a:pt x="77886" y="11127"/>
                </a:lnTo>
                <a:cubicBezTo>
                  <a:pt x="77886" y="4972"/>
                  <a:pt x="72914" y="0"/>
                  <a:pt x="66760" y="0"/>
                </a:cubicBezTo>
                <a:cubicBezTo>
                  <a:pt x="60605" y="0"/>
                  <a:pt x="55633" y="4972"/>
                  <a:pt x="55633" y="11127"/>
                </a:cubicBezTo>
                <a:lnTo>
                  <a:pt x="55633" y="140022"/>
                </a:lnTo>
                <a:lnTo>
                  <a:pt x="18985" y="103373"/>
                </a:lnTo>
                <a:cubicBezTo>
                  <a:pt x="14638" y="99027"/>
                  <a:pt x="7580" y="99027"/>
                  <a:pt x="3234" y="103373"/>
                </a:cubicBezTo>
                <a:cubicBezTo>
                  <a:pt x="-1113" y="107720"/>
                  <a:pt x="-1113" y="114778"/>
                  <a:pt x="3234" y="119124"/>
                </a:cubicBezTo>
                <a:lnTo>
                  <a:pt x="58867" y="174758"/>
                </a:lnTo>
                <a:close/>
              </a:path>
            </a:pathLst>
          </a:custGeom>
          <a:solidFill>
            <a:srgbClr val="3D8F8A"/>
          </a:solidFill>
        </p:spPr>
      </p:sp>
      <p:sp>
        <p:nvSpPr>
          <p:cNvPr id="51" name="Text 49"/>
          <p:cNvSpPr/>
          <p:nvPr/>
        </p:nvSpPr>
        <p:spPr>
          <a:xfrm>
            <a:off x="10710545" y="3176270"/>
            <a:ext cx="4767580" cy="202565"/>
          </a:xfrm>
          <a:prstGeom prst="rect">
            <a:avLst/>
          </a:prstGeom>
          <a:noFill/>
        </p:spPr>
        <p:txBody>
          <a:bodyPr wrap="square" lIns="0" tIns="0" rIns="0" bIns="0" rtlCol="0" anchor="ctr"/>
          <a:lstStyle/>
          <a:p>
            <a:pPr>
              <a:lnSpc>
                <a:spcPct val="120000"/>
              </a:lnSpc>
            </a:pPr>
            <a:r>
              <a:rPr lang="en-US" sz="1225" dirty="0">
                <a:solidFill>
                  <a:srgbClr val="E0E2E6">
                    <a:alpha val="70000"/>
                  </a:srgbClr>
                </a:solidFill>
                <a:latin typeface="MiSans" pitchFamily="34" charset="-122"/>
                <a:ea typeface="MiSans" pitchFamily="34" charset="-122"/>
                <a:cs typeface="MiSans" pitchFamily="34" charset="-120"/>
              </a:rPr>
              <a:t>无需深入理解代码结构,即可快速搭建运行环境</a:t>
            </a:r>
            <a:endParaRPr lang="en-US" sz="1600" dirty="0"/>
          </a:p>
        </p:txBody>
      </p:sp>
      <p:sp>
        <p:nvSpPr>
          <p:cNvPr id="52" name="Shape 50"/>
          <p:cNvSpPr/>
          <p:nvPr/>
        </p:nvSpPr>
        <p:spPr>
          <a:xfrm>
            <a:off x="10547985" y="3663315"/>
            <a:ext cx="5021580" cy="852170"/>
          </a:xfrm>
          <a:custGeom>
            <a:avLst/>
            <a:gdLst/>
            <a:ahLst/>
            <a:cxnLst/>
            <a:rect l="l" t="t" r="r" b="b"/>
            <a:pathLst>
              <a:path w="5507680" h="934637">
                <a:moveTo>
                  <a:pt x="89015" y="0"/>
                </a:moveTo>
                <a:lnTo>
                  <a:pt x="5418665" y="0"/>
                </a:lnTo>
                <a:cubicBezTo>
                  <a:pt x="5467826" y="0"/>
                  <a:pt x="5507680" y="39853"/>
                  <a:pt x="5507680" y="89015"/>
                </a:cubicBezTo>
                <a:lnTo>
                  <a:pt x="5507680" y="845622"/>
                </a:lnTo>
                <a:cubicBezTo>
                  <a:pt x="5507680" y="894783"/>
                  <a:pt x="5467826" y="934637"/>
                  <a:pt x="5418665" y="934637"/>
                </a:cubicBezTo>
                <a:lnTo>
                  <a:pt x="89015" y="934637"/>
                </a:lnTo>
                <a:cubicBezTo>
                  <a:pt x="39853" y="934637"/>
                  <a:pt x="0" y="894783"/>
                  <a:pt x="0" y="845622"/>
                </a:cubicBezTo>
                <a:lnTo>
                  <a:pt x="0" y="89015"/>
                </a:lnTo>
                <a:cubicBezTo>
                  <a:pt x="0" y="39853"/>
                  <a:pt x="39853" y="0"/>
                  <a:pt x="89015" y="0"/>
                </a:cubicBezTo>
                <a:close/>
              </a:path>
            </a:pathLst>
          </a:custGeom>
          <a:solidFill>
            <a:srgbClr val="E5A044">
              <a:alpha val="10196"/>
            </a:srgbClr>
          </a:solidFill>
        </p:spPr>
      </p:sp>
      <p:sp>
        <p:nvSpPr>
          <p:cNvPr id="53" name="Text 51"/>
          <p:cNvSpPr/>
          <p:nvPr/>
        </p:nvSpPr>
        <p:spPr>
          <a:xfrm>
            <a:off x="10710545" y="3825240"/>
            <a:ext cx="2496185" cy="243840"/>
          </a:xfrm>
          <a:prstGeom prst="rect">
            <a:avLst/>
          </a:prstGeom>
          <a:noFill/>
        </p:spPr>
        <p:txBody>
          <a:bodyPr wrap="square" lIns="0" tIns="0" rIns="0" bIns="0" rtlCol="0" anchor="ctr"/>
          <a:lstStyle/>
          <a:p>
            <a:pPr>
              <a:lnSpc>
                <a:spcPct val="130000"/>
              </a:lnSpc>
            </a:pPr>
            <a:r>
              <a:rPr lang="en-US" sz="1400" b="1" dirty="0">
                <a:solidFill>
                  <a:srgbClr val="E0E2E6">
                    <a:alpha val="80000"/>
                  </a:srgbClr>
                </a:solidFill>
                <a:latin typeface="MiSans" pitchFamily="34" charset="-122"/>
                <a:ea typeface="MiSans" pitchFamily="34" charset="-122"/>
                <a:cs typeface="MiSans" pitchFamily="34" charset="-120"/>
              </a:rPr>
              <a:t>提升可再利用性</a:t>
            </a:r>
            <a:endParaRPr lang="en-US" sz="1600" dirty="0"/>
          </a:p>
        </p:txBody>
      </p:sp>
      <p:sp>
        <p:nvSpPr>
          <p:cNvPr id="54" name="Shape 52"/>
          <p:cNvSpPr/>
          <p:nvPr/>
        </p:nvSpPr>
        <p:spPr>
          <a:xfrm>
            <a:off x="15246985" y="3865880"/>
            <a:ext cx="121285" cy="161925"/>
          </a:xfrm>
          <a:custGeom>
            <a:avLst/>
            <a:gdLst/>
            <a:ahLst/>
            <a:cxnLst/>
            <a:rect l="l" t="t" r="r" b="b"/>
            <a:pathLst>
              <a:path w="133520" h="178026">
                <a:moveTo>
                  <a:pt x="74618" y="6050"/>
                </a:moveTo>
                <a:cubicBezTo>
                  <a:pt x="70272" y="1704"/>
                  <a:pt x="63213" y="1704"/>
                  <a:pt x="58867" y="6050"/>
                </a:cubicBezTo>
                <a:lnTo>
                  <a:pt x="3234" y="61683"/>
                </a:lnTo>
                <a:cubicBezTo>
                  <a:pt x="-1113" y="66030"/>
                  <a:pt x="-1113" y="73088"/>
                  <a:pt x="3234" y="77434"/>
                </a:cubicBezTo>
                <a:cubicBezTo>
                  <a:pt x="7580" y="81781"/>
                  <a:pt x="14638" y="81781"/>
                  <a:pt x="18985" y="77434"/>
                </a:cubicBezTo>
                <a:lnTo>
                  <a:pt x="55633" y="40786"/>
                </a:lnTo>
                <a:lnTo>
                  <a:pt x="55633" y="169681"/>
                </a:lnTo>
                <a:cubicBezTo>
                  <a:pt x="55633" y="175835"/>
                  <a:pt x="60605" y="180808"/>
                  <a:pt x="66760" y="180808"/>
                </a:cubicBezTo>
                <a:cubicBezTo>
                  <a:pt x="72914" y="180808"/>
                  <a:pt x="77886" y="175835"/>
                  <a:pt x="77886" y="169681"/>
                </a:cubicBezTo>
                <a:lnTo>
                  <a:pt x="77886" y="40786"/>
                </a:lnTo>
                <a:lnTo>
                  <a:pt x="114535" y="77434"/>
                </a:lnTo>
                <a:cubicBezTo>
                  <a:pt x="118881" y="81781"/>
                  <a:pt x="125939" y="81781"/>
                  <a:pt x="130286" y="77434"/>
                </a:cubicBezTo>
                <a:cubicBezTo>
                  <a:pt x="134632" y="73088"/>
                  <a:pt x="134632" y="66030"/>
                  <a:pt x="130286" y="61683"/>
                </a:cubicBezTo>
                <a:lnTo>
                  <a:pt x="74653" y="6050"/>
                </a:lnTo>
                <a:close/>
              </a:path>
            </a:pathLst>
          </a:custGeom>
          <a:solidFill>
            <a:srgbClr val="E5A044"/>
          </a:solidFill>
        </p:spPr>
      </p:sp>
      <p:sp>
        <p:nvSpPr>
          <p:cNvPr id="55" name="Text 53"/>
          <p:cNvSpPr/>
          <p:nvPr/>
        </p:nvSpPr>
        <p:spPr>
          <a:xfrm>
            <a:off x="10710545" y="4150360"/>
            <a:ext cx="4767580" cy="202565"/>
          </a:xfrm>
          <a:prstGeom prst="rect">
            <a:avLst/>
          </a:prstGeom>
          <a:noFill/>
        </p:spPr>
        <p:txBody>
          <a:bodyPr wrap="square" lIns="0" tIns="0" rIns="0" bIns="0" rtlCol="0" anchor="ctr"/>
          <a:lstStyle/>
          <a:p>
            <a:pPr>
              <a:lnSpc>
                <a:spcPct val="120000"/>
              </a:lnSpc>
            </a:pPr>
            <a:r>
              <a:rPr lang="en-US" sz="1225" dirty="0">
                <a:solidFill>
                  <a:srgbClr val="E0E2E6">
                    <a:alpha val="70000"/>
                  </a:srgbClr>
                </a:solidFill>
                <a:latin typeface="MiSans" pitchFamily="34" charset="-122"/>
                <a:ea typeface="MiSans" pitchFamily="34" charset="-122"/>
                <a:cs typeface="MiSans" pitchFamily="34" charset="-120"/>
              </a:rPr>
              <a:t>让老旧项目重新焕发生机,延长项目生命周期</a:t>
            </a:r>
            <a:endParaRPr lang="en-US" sz="1600" dirty="0"/>
          </a:p>
        </p:txBody>
      </p:sp>
      <p:sp>
        <p:nvSpPr>
          <p:cNvPr id="56" name="Shape 54"/>
          <p:cNvSpPr/>
          <p:nvPr/>
        </p:nvSpPr>
        <p:spPr>
          <a:xfrm>
            <a:off x="10547985" y="4637405"/>
            <a:ext cx="5021580" cy="852170"/>
          </a:xfrm>
          <a:custGeom>
            <a:avLst/>
            <a:gdLst/>
            <a:ahLst/>
            <a:cxnLst/>
            <a:rect l="l" t="t" r="r" b="b"/>
            <a:pathLst>
              <a:path w="5507680" h="934637">
                <a:moveTo>
                  <a:pt x="89015" y="0"/>
                </a:moveTo>
                <a:lnTo>
                  <a:pt x="5418665" y="0"/>
                </a:lnTo>
                <a:cubicBezTo>
                  <a:pt x="5467826" y="0"/>
                  <a:pt x="5507680" y="39853"/>
                  <a:pt x="5507680" y="89015"/>
                </a:cubicBezTo>
                <a:lnTo>
                  <a:pt x="5507680" y="845622"/>
                </a:lnTo>
                <a:cubicBezTo>
                  <a:pt x="5507680" y="894783"/>
                  <a:pt x="5467826" y="934637"/>
                  <a:pt x="5418665" y="934637"/>
                </a:cubicBezTo>
                <a:lnTo>
                  <a:pt x="89015" y="934637"/>
                </a:lnTo>
                <a:cubicBezTo>
                  <a:pt x="39853" y="934637"/>
                  <a:pt x="0" y="894783"/>
                  <a:pt x="0" y="845622"/>
                </a:cubicBezTo>
                <a:lnTo>
                  <a:pt x="0" y="89015"/>
                </a:lnTo>
                <a:cubicBezTo>
                  <a:pt x="0" y="39853"/>
                  <a:pt x="39853" y="0"/>
                  <a:pt x="89015" y="0"/>
                </a:cubicBezTo>
                <a:close/>
              </a:path>
            </a:pathLst>
          </a:custGeom>
          <a:solidFill>
            <a:srgbClr val="5A6472">
              <a:alpha val="10196"/>
            </a:srgbClr>
          </a:solidFill>
        </p:spPr>
      </p:sp>
      <p:sp>
        <p:nvSpPr>
          <p:cNvPr id="57" name="Text 55"/>
          <p:cNvSpPr/>
          <p:nvPr/>
        </p:nvSpPr>
        <p:spPr>
          <a:xfrm>
            <a:off x="10710545" y="4799330"/>
            <a:ext cx="2496820" cy="243840"/>
          </a:xfrm>
          <a:prstGeom prst="rect">
            <a:avLst/>
          </a:prstGeom>
          <a:noFill/>
        </p:spPr>
        <p:txBody>
          <a:bodyPr wrap="square" lIns="0" tIns="0" rIns="0" bIns="0" rtlCol="0" anchor="ctr"/>
          <a:lstStyle/>
          <a:p>
            <a:pPr>
              <a:lnSpc>
                <a:spcPct val="130000"/>
              </a:lnSpc>
            </a:pPr>
            <a:r>
              <a:rPr lang="en-US" sz="1400" b="1" dirty="0">
                <a:solidFill>
                  <a:srgbClr val="E0E2E6">
                    <a:alpha val="80000"/>
                  </a:srgbClr>
                </a:solidFill>
                <a:latin typeface="MiSans" pitchFamily="34" charset="-122"/>
                <a:ea typeface="MiSans" pitchFamily="34" charset="-122"/>
                <a:cs typeface="MiSans" pitchFamily="34" charset="-120"/>
              </a:rPr>
              <a:t>教学研究友好</a:t>
            </a:r>
            <a:endParaRPr lang="en-US" sz="1600" dirty="0"/>
          </a:p>
        </p:txBody>
      </p:sp>
      <p:sp>
        <p:nvSpPr>
          <p:cNvPr id="58" name="Shape 56"/>
          <p:cNvSpPr/>
          <p:nvPr/>
        </p:nvSpPr>
        <p:spPr>
          <a:xfrm>
            <a:off x="15215870" y="4839970"/>
            <a:ext cx="182245" cy="161925"/>
          </a:xfrm>
          <a:custGeom>
            <a:avLst/>
            <a:gdLst/>
            <a:ahLst/>
            <a:cxnLst/>
            <a:rect l="l" t="t" r="r" b="b"/>
            <a:pathLst>
              <a:path w="200279" h="178026">
                <a:moveTo>
                  <a:pt x="16690" y="68081"/>
                </a:moveTo>
                <a:lnTo>
                  <a:pt x="89430" y="98019"/>
                </a:lnTo>
                <a:cubicBezTo>
                  <a:pt x="92838" y="99409"/>
                  <a:pt x="96454" y="100140"/>
                  <a:pt x="100140" y="100140"/>
                </a:cubicBezTo>
                <a:cubicBezTo>
                  <a:pt x="103825" y="100140"/>
                  <a:pt x="107441" y="99409"/>
                  <a:pt x="110849" y="98019"/>
                </a:cubicBezTo>
                <a:lnTo>
                  <a:pt x="195133" y="63317"/>
                </a:lnTo>
                <a:cubicBezTo>
                  <a:pt x="198263" y="62031"/>
                  <a:pt x="200279" y="59006"/>
                  <a:pt x="200279" y="55633"/>
                </a:cubicBezTo>
                <a:cubicBezTo>
                  <a:pt x="200279" y="52260"/>
                  <a:pt x="198263" y="49235"/>
                  <a:pt x="195133" y="47949"/>
                </a:cubicBezTo>
                <a:lnTo>
                  <a:pt x="110849" y="13248"/>
                </a:lnTo>
                <a:cubicBezTo>
                  <a:pt x="107441" y="11857"/>
                  <a:pt x="103825" y="11127"/>
                  <a:pt x="100140" y="11127"/>
                </a:cubicBezTo>
                <a:cubicBezTo>
                  <a:pt x="96454" y="11127"/>
                  <a:pt x="92838" y="11857"/>
                  <a:pt x="89430" y="13248"/>
                </a:cubicBezTo>
                <a:lnTo>
                  <a:pt x="5146" y="47949"/>
                </a:lnTo>
                <a:cubicBezTo>
                  <a:pt x="2017" y="49235"/>
                  <a:pt x="0" y="52260"/>
                  <a:pt x="0" y="55633"/>
                </a:cubicBezTo>
                <a:lnTo>
                  <a:pt x="0" y="158554"/>
                </a:lnTo>
                <a:cubicBezTo>
                  <a:pt x="0" y="163179"/>
                  <a:pt x="3720" y="166899"/>
                  <a:pt x="8345" y="166899"/>
                </a:cubicBezTo>
                <a:cubicBezTo>
                  <a:pt x="12969" y="166899"/>
                  <a:pt x="16690" y="163179"/>
                  <a:pt x="16690" y="158554"/>
                </a:cubicBezTo>
                <a:lnTo>
                  <a:pt x="16690" y="68081"/>
                </a:lnTo>
                <a:close/>
                <a:moveTo>
                  <a:pt x="33380" y="93012"/>
                </a:moveTo>
                <a:lnTo>
                  <a:pt x="33380" y="133520"/>
                </a:lnTo>
                <a:cubicBezTo>
                  <a:pt x="33380" y="151948"/>
                  <a:pt x="63283" y="166899"/>
                  <a:pt x="100140" y="166899"/>
                </a:cubicBezTo>
                <a:cubicBezTo>
                  <a:pt x="136997" y="166899"/>
                  <a:pt x="166899" y="151948"/>
                  <a:pt x="166899" y="133520"/>
                </a:cubicBezTo>
                <a:lnTo>
                  <a:pt x="166899" y="92977"/>
                </a:lnTo>
                <a:lnTo>
                  <a:pt x="117212" y="113457"/>
                </a:lnTo>
                <a:cubicBezTo>
                  <a:pt x="111788" y="115682"/>
                  <a:pt x="106016" y="116830"/>
                  <a:pt x="100140" y="116830"/>
                </a:cubicBezTo>
                <a:cubicBezTo>
                  <a:pt x="94263" y="116830"/>
                  <a:pt x="88491" y="115682"/>
                  <a:pt x="83067" y="113457"/>
                </a:cubicBezTo>
                <a:lnTo>
                  <a:pt x="33380" y="92977"/>
                </a:lnTo>
                <a:close/>
              </a:path>
            </a:pathLst>
          </a:custGeom>
          <a:solidFill>
            <a:srgbClr val="5A6472"/>
          </a:solidFill>
        </p:spPr>
      </p:sp>
      <p:sp>
        <p:nvSpPr>
          <p:cNvPr id="59" name="Text 57"/>
          <p:cNvSpPr/>
          <p:nvPr/>
        </p:nvSpPr>
        <p:spPr>
          <a:xfrm>
            <a:off x="10710545" y="5123815"/>
            <a:ext cx="4767580" cy="202565"/>
          </a:xfrm>
          <a:prstGeom prst="rect">
            <a:avLst/>
          </a:prstGeom>
          <a:noFill/>
        </p:spPr>
        <p:txBody>
          <a:bodyPr wrap="square" lIns="0" tIns="0" rIns="0" bIns="0" rtlCol="0" anchor="ctr"/>
          <a:lstStyle/>
          <a:p>
            <a:pPr>
              <a:lnSpc>
                <a:spcPct val="120000"/>
              </a:lnSpc>
            </a:pPr>
            <a:r>
              <a:rPr lang="en-US" sz="1225" dirty="0">
                <a:solidFill>
                  <a:srgbClr val="E0E2E6">
                    <a:alpha val="70000"/>
                  </a:srgbClr>
                </a:solidFill>
                <a:latin typeface="MiSans" pitchFamily="34" charset="-122"/>
                <a:ea typeface="MiSans" pitchFamily="34" charset="-122"/>
                <a:cs typeface="MiSans" pitchFamily="34" charset="-120"/>
              </a:rPr>
              <a:t>对教学、课程作业、研究复现尤其友好</a:t>
            </a:r>
            <a:endParaRPr lang="en-US" sz="1600" dirty="0"/>
          </a:p>
        </p:txBody>
      </p:sp>
      <p:sp>
        <p:nvSpPr>
          <p:cNvPr id="60" name="Shape 58"/>
          <p:cNvSpPr/>
          <p:nvPr/>
        </p:nvSpPr>
        <p:spPr>
          <a:xfrm>
            <a:off x="10300970" y="6876415"/>
            <a:ext cx="5514975" cy="1792605"/>
          </a:xfrm>
          <a:custGeom>
            <a:avLst/>
            <a:gdLst/>
            <a:ahLst/>
            <a:cxnLst/>
            <a:rect l="l" t="t" r="r" b="b"/>
            <a:pathLst>
              <a:path w="6049175" h="1965704">
                <a:moveTo>
                  <a:pt x="133511" y="0"/>
                </a:moveTo>
                <a:lnTo>
                  <a:pt x="5915665" y="0"/>
                </a:lnTo>
                <a:cubicBezTo>
                  <a:pt x="5989401" y="0"/>
                  <a:pt x="6049175" y="59775"/>
                  <a:pt x="6049175" y="133511"/>
                </a:cubicBezTo>
                <a:lnTo>
                  <a:pt x="6049175" y="1832193"/>
                </a:lnTo>
                <a:cubicBezTo>
                  <a:pt x="6049175" y="1905929"/>
                  <a:pt x="5989401" y="1965704"/>
                  <a:pt x="5915665" y="1965704"/>
                </a:cubicBezTo>
                <a:lnTo>
                  <a:pt x="133511" y="1965704"/>
                </a:lnTo>
                <a:cubicBezTo>
                  <a:pt x="59775" y="1965704"/>
                  <a:pt x="0" y="1905929"/>
                  <a:pt x="0" y="1832193"/>
                </a:cubicBezTo>
                <a:lnTo>
                  <a:pt x="0" y="133511"/>
                </a:lnTo>
                <a:cubicBezTo>
                  <a:pt x="0" y="59824"/>
                  <a:pt x="59824" y="0"/>
                  <a:pt x="133511" y="0"/>
                </a:cubicBezTo>
                <a:close/>
              </a:path>
            </a:pathLst>
          </a:custGeom>
          <a:solidFill>
            <a:srgbClr val="E5A044">
              <a:alpha val="10196"/>
            </a:srgbClr>
          </a:solidFill>
          <a:ln w="8467">
            <a:solidFill>
              <a:srgbClr val="E5A044">
                <a:alpha val="30196"/>
              </a:srgbClr>
            </a:solidFill>
            <a:prstDash val="solid"/>
          </a:ln>
        </p:spPr>
        <p:txBody>
          <a:bodyPr/>
          <a:p>
            <a:endParaRPr lang="zh-CN" altLang="en-US"/>
          </a:p>
        </p:txBody>
      </p:sp>
      <p:sp>
        <p:nvSpPr>
          <p:cNvPr id="61" name="Shape 59"/>
          <p:cNvSpPr/>
          <p:nvPr/>
        </p:nvSpPr>
        <p:spPr>
          <a:xfrm>
            <a:off x="10547985" y="7164070"/>
            <a:ext cx="253365" cy="202565"/>
          </a:xfrm>
          <a:custGeom>
            <a:avLst/>
            <a:gdLst/>
            <a:ahLst/>
            <a:cxnLst/>
            <a:rect l="l" t="t" r="r" b="b"/>
            <a:pathLst>
              <a:path w="278166" h="222533">
                <a:moveTo>
                  <a:pt x="139083" y="6954"/>
                </a:moveTo>
                <a:cubicBezTo>
                  <a:pt x="164030" y="6954"/>
                  <a:pt x="184285" y="27208"/>
                  <a:pt x="184285" y="52156"/>
                </a:cubicBezTo>
                <a:cubicBezTo>
                  <a:pt x="184285" y="77104"/>
                  <a:pt x="164030" y="97358"/>
                  <a:pt x="139083" y="97358"/>
                </a:cubicBezTo>
                <a:cubicBezTo>
                  <a:pt x="114135" y="97358"/>
                  <a:pt x="93881" y="77104"/>
                  <a:pt x="93881" y="52156"/>
                </a:cubicBezTo>
                <a:cubicBezTo>
                  <a:pt x="93881" y="27208"/>
                  <a:pt x="114135" y="6954"/>
                  <a:pt x="139083" y="6954"/>
                </a:cubicBezTo>
                <a:close/>
                <a:moveTo>
                  <a:pt x="41725" y="38248"/>
                </a:moveTo>
                <a:cubicBezTo>
                  <a:pt x="58996" y="38248"/>
                  <a:pt x="73018" y="52270"/>
                  <a:pt x="73018" y="69541"/>
                </a:cubicBezTo>
                <a:cubicBezTo>
                  <a:pt x="73018" y="86813"/>
                  <a:pt x="58996" y="100835"/>
                  <a:pt x="41725" y="100835"/>
                </a:cubicBezTo>
                <a:cubicBezTo>
                  <a:pt x="24453" y="100835"/>
                  <a:pt x="10431" y="86813"/>
                  <a:pt x="10431" y="69541"/>
                </a:cubicBezTo>
                <a:cubicBezTo>
                  <a:pt x="10431" y="52270"/>
                  <a:pt x="24453" y="38248"/>
                  <a:pt x="41725" y="38248"/>
                </a:cubicBezTo>
                <a:close/>
                <a:moveTo>
                  <a:pt x="0" y="180808"/>
                </a:moveTo>
                <a:cubicBezTo>
                  <a:pt x="0" y="150079"/>
                  <a:pt x="24905" y="125175"/>
                  <a:pt x="55633" y="125175"/>
                </a:cubicBezTo>
                <a:cubicBezTo>
                  <a:pt x="61196" y="125175"/>
                  <a:pt x="66586" y="126000"/>
                  <a:pt x="71671" y="127522"/>
                </a:cubicBezTo>
                <a:cubicBezTo>
                  <a:pt x="57372" y="143516"/>
                  <a:pt x="48679" y="164639"/>
                  <a:pt x="48679" y="187762"/>
                </a:cubicBezTo>
                <a:lnTo>
                  <a:pt x="48679" y="194716"/>
                </a:lnTo>
                <a:cubicBezTo>
                  <a:pt x="48679" y="199671"/>
                  <a:pt x="49722" y="204365"/>
                  <a:pt x="51591" y="208624"/>
                </a:cubicBezTo>
                <a:lnTo>
                  <a:pt x="13908" y="208624"/>
                </a:lnTo>
                <a:cubicBezTo>
                  <a:pt x="6215" y="208624"/>
                  <a:pt x="0" y="202409"/>
                  <a:pt x="0" y="194716"/>
                </a:cubicBezTo>
                <a:lnTo>
                  <a:pt x="0" y="180808"/>
                </a:lnTo>
                <a:close/>
                <a:moveTo>
                  <a:pt x="226575" y="208624"/>
                </a:moveTo>
                <a:cubicBezTo>
                  <a:pt x="228444" y="204365"/>
                  <a:pt x="229487" y="199671"/>
                  <a:pt x="229487" y="194716"/>
                </a:cubicBezTo>
                <a:lnTo>
                  <a:pt x="229487" y="187762"/>
                </a:lnTo>
                <a:cubicBezTo>
                  <a:pt x="229487" y="164639"/>
                  <a:pt x="220794" y="143516"/>
                  <a:pt x="206495" y="127522"/>
                </a:cubicBezTo>
                <a:cubicBezTo>
                  <a:pt x="211580" y="126000"/>
                  <a:pt x="216969" y="125175"/>
                  <a:pt x="222533" y="125175"/>
                </a:cubicBezTo>
                <a:cubicBezTo>
                  <a:pt x="253261" y="125175"/>
                  <a:pt x="278166" y="150079"/>
                  <a:pt x="278166" y="180808"/>
                </a:cubicBezTo>
                <a:lnTo>
                  <a:pt x="278166" y="194716"/>
                </a:lnTo>
                <a:cubicBezTo>
                  <a:pt x="278166" y="202409"/>
                  <a:pt x="271950" y="208624"/>
                  <a:pt x="264257" y="208624"/>
                </a:cubicBezTo>
                <a:lnTo>
                  <a:pt x="226575" y="208624"/>
                </a:lnTo>
                <a:close/>
                <a:moveTo>
                  <a:pt x="205147" y="69541"/>
                </a:moveTo>
                <a:cubicBezTo>
                  <a:pt x="205147" y="52270"/>
                  <a:pt x="219169" y="38248"/>
                  <a:pt x="236441" y="38248"/>
                </a:cubicBezTo>
                <a:cubicBezTo>
                  <a:pt x="253712" y="38248"/>
                  <a:pt x="267734" y="52270"/>
                  <a:pt x="267734" y="69541"/>
                </a:cubicBezTo>
                <a:cubicBezTo>
                  <a:pt x="267734" y="86813"/>
                  <a:pt x="253712" y="100835"/>
                  <a:pt x="236441" y="100835"/>
                </a:cubicBezTo>
                <a:cubicBezTo>
                  <a:pt x="219169" y="100835"/>
                  <a:pt x="205147" y="86813"/>
                  <a:pt x="205147" y="69541"/>
                </a:cubicBezTo>
                <a:close/>
                <a:moveTo>
                  <a:pt x="69541" y="187762"/>
                </a:moveTo>
                <a:cubicBezTo>
                  <a:pt x="69541" y="149340"/>
                  <a:pt x="100661" y="118220"/>
                  <a:pt x="139083" y="118220"/>
                </a:cubicBezTo>
                <a:cubicBezTo>
                  <a:pt x="177504" y="118220"/>
                  <a:pt x="208624" y="149340"/>
                  <a:pt x="208624" y="187762"/>
                </a:cubicBezTo>
                <a:lnTo>
                  <a:pt x="208624" y="194716"/>
                </a:lnTo>
                <a:cubicBezTo>
                  <a:pt x="208624" y="202409"/>
                  <a:pt x="202409" y="208624"/>
                  <a:pt x="194716" y="208624"/>
                </a:cubicBezTo>
                <a:lnTo>
                  <a:pt x="83450" y="208624"/>
                </a:lnTo>
                <a:cubicBezTo>
                  <a:pt x="75757" y="208624"/>
                  <a:pt x="69541" y="202409"/>
                  <a:pt x="69541" y="194716"/>
                </a:cubicBezTo>
                <a:lnTo>
                  <a:pt x="69541" y="187762"/>
                </a:lnTo>
                <a:close/>
              </a:path>
            </a:pathLst>
          </a:custGeom>
          <a:solidFill>
            <a:srgbClr val="E5A044"/>
          </a:solidFill>
        </p:spPr>
      </p:sp>
      <p:sp>
        <p:nvSpPr>
          <p:cNvPr id="62" name="Text 60"/>
          <p:cNvSpPr/>
          <p:nvPr/>
        </p:nvSpPr>
        <p:spPr>
          <a:xfrm>
            <a:off x="10946765" y="7123430"/>
            <a:ext cx="4869180" cy="284480"/>
          </a:xfrm>
          <a:prstGeom prst="rect">
            <a:avLst/>
          </a:prstGeom>
          <a:noFill/>
        </p:spPr>
        <p:txBody>
          <a:bodyPr wrap="square" lIns="0" tIns="0" rIns="0" bIns="0" rtlCol="0" anchor="ctr"/>
          <a:lstStyle/>
          <a:p>
            <a:pPr>
              <a:lnSpc>
                <a:spcPct val="120000"/>
              </a:lnSpc>
            </a:pPr>
            <a:r>
              <a:rPr lang="en-US" sz="1750" b="1" dirty="0">
                <a:solidFill>
                  <a:srgbClr val="E0E2E6"/>
                </a:solidFill>
                <a:latin typeface="阿里妈妈数黑体" pitchFamily="34" charset="-122"/>
                <a:ea typeface="阿里妈妈数黑体" pitchFamily="34" charset="-122"/>
                <a:cs typeface="阿里妈妈数黑体" pitchFamily="34" charset="-120"/>
              </a:rPr>
              <a:t>目标用户</a:t>
            </a:r>
            <a:endParaRPr lang="en-US" sz="1600" dirty="0"/>
          </a:p>
        </p:txBody>
      </p:sp>
      <p:sp>
        <p:nvSpPr>
          <p:cNvPr id="66" name="Shape 64"/>
          <p:cNvSpPr/>
          <p:nvPr/>
        </p:nvSpPr>
        <p:spPr>
          <a:xfrm>
            <a:off x="13120370" y="7569835"/>
            <a:ext cx="2454910" cy="852170"/>
          </a:xfrm>
          <a:custGeom>
            <a:avLst/>
            <a:gdLst/>
            <a:ahLst/>
            <a:cxnLst/>
            <a:rect l="l" t="t" r="r" b="b"/>
            <a:pathLst>
              <a:path w="2692643" h="934637">
                <a:moveTo>
                  <a:pt x="89015" y="0"/>
                </a:moveTo>
                <a:lnTo>
                  <a:pt x="2603629" y="0"/>
                </a:lnTo>
                <a:cubicBezTo>
                  <a:pt x="2652790" y="0"/>
                  <a:pt x="2692643" y="39853"/>
                  <a:pt x="2692643" y="89015"/>
                </a:cubicBezTo>
                <a:lnTo>
                  <a:pt x="2692643" y="845622"/>
                </a:lnTo>
                <a:cubicBezTo>
                  <a:pt x="2692643" y="894783"/>
                  <a:pt x="2652790" y="934637"/>
                  <a:pt x="2603629" y="934637"/>
                </a:cubicBezTo>
                <a:lnTo>
                  <a:pt x="89015" y="934637"/>
                </a:lnTo>
                <a:cubicBezTo>
                  <a:pt x="39853" y="934637"/>
                  <a:pt x="0" y="894783"/>
                  <a:pt x="0" y="845622"/>
                </a:cubicBezTo>
                <a:lnTo>
                  <a:pt x="0" y="89015"/>
                </a:lnTo>
                <a:cubicBezTo>
                  <a:pt x="0" y="39853"/>
                  <a:pt x="39853" y="0"/>
                  <a:pt x="89015" y="0"/>
                </a:cubicBezTo>
                <a:close/>
              </a:path>
            </a:pathLst>
          </a:custGeom>
          <a:solidFill>
            <a:srgbClr val="3D8F8A">
              <a:alpha val="10196"/>
            </a:srgbClr>
          </a:solidFill>
        </p:spPr>
      </p:sp>
      <p:sp>
        <p:nvSpPr>
          <p:cNvPr id="67" name="Text 65"/>
          <p:cNvSpPr/>
          <p:nvPr/>
        </p:nvSpPr>
        <p:spPr>
          <a:xfrm>
            <a:off x="13166090" y="7814310"/>
            <a:ext cx="2363470" cy="365125"/>
          </a:xfrm>
          <a:prstGeom prst="rect">
            <a:avLst/>
          </a:prstGeom>
          <a:noFill/>
        </p:spPr>
        <p:txBody>
          <a:bodyPr wrap="square" lIns="0" tIns="0" rIns="0" bIns="0" rtlCol="0" anchor="ctr"/>
          <a:lstStyle/>
          <a:p>
            <a:pPr algn="ctr">
              <a:lnSpc>
                <a:spcPct val="100000"/>
              </a:lnSpc>
            </a:pPr>
            <a:r>
              <a:rPr lang="zh-CN" altLang="en-US" sz="2630" b="1" dirty="0">
                <a:solidFill>
                  <a:srgbClr val="3D8F8A"/>
                </a:solidFill>
                <a:latin typeface="微软雅黑" panose="020B0503020204020204" charset="-122"/>
                <a:ea typeface="微软雅黑" panose="020B0503020204020204" charset="-122"/>
                <a:cs typeface="微软雅黑" panose="020B0503020204020204" charset="-122"/>
                <a:sym typeface="+mn-ea"/>
              </a:rPr>
              <a:t>科</a:t>
            </a:r>
            <a:r>
              <a:rPr lang="en-US" sz="2630" b="1" dirty="0">
                <a:solidFill>
                  <a:srgbClr val="3D8F8A"/>
                </a:solidFill>
                <a:latin typeface="微软雅黑" panose="020B0503020204020204" charset="-122"/>
                <a:ea typeface="微软雅黑" panose="020B0503020204020204" charset="-122"/>
                <a:cs typeface="微软雅黑" panose="020B0503020204020204" charset="-122"/>
                <a:sym typeface="+mn-ea"/>
              </a:rPr>
              <a:t>研人员&amp;学</a:t>
            </a:r>
            <a:r>
              <a:rPr lang="zh-CN" altLang="en-US" sz="2630" b="1" dirty="0">
                <a:solidFill>
                  <a:srgbClr val="3D8F8A"/>
                </a:solidFill>
                <a:latin typeface="微软雅黑" panose="020B0503020204020204" charset="-122"/>
                <a:ea typeface="微软雅黑" panose="020B0503020204020204" charset="-122"/>
                <a:cs typeface="微软雅黑" panose="020B0503020204020204" charset="-122"/>
                <a:sym typeface="+mn-ea"/>
              </a:rPr>
              <a:t>生</a:t>
            </a:r>
            <a:endParaRPr lang="zh-CN" altLang="en-US" sz="2630" b="1" dirty="0">
              <a:solidFill>
                <a:srgbClr val="3D8F8A"/>
              </a:solidFill>
              <a:latin typeface="微软雅黑" panose="020B0503020204020204" charset="-122"/>
              <a:ea typeface="微软雅黑" panose="020B0503020204020204" charset="-122"/>
              <a:cs typeface="微软雅黑" panose="020B0503020204020204" charset="-122"/>
              <a:sym typeface="+mn-ea"/>
            </a:endParaRPr>
          </a:p>
        </p:txBody>
      </p:sp>
      <p:sp>
        <p:nvSpPr>
          <p:cNvPr id="74" name="Shape 68"/>
          <p:cNvSpPr/>
          <p:nvPr/>
        </p:nvSpPr>
        <p:spPr>
          <a:xfrm>
            <a:off x="10487660" y="7569835"/>
            <a:ext cx="2455200" cy="853200"/>
          </a:xfrm>
          <a:custGeom>
            <a:avLst/>
            <a:gdLst/>
            <a:ahLst/>
            <a:cxnLst/>
            <a:rect l="l" t="t" r="r" b="b"/>
            <a:pathLst>
              <a:path w="2719917" h="889000">
                <a:moveTo>
                  <a:pt x="84668" y="0"/>
                </a:moveTo>
                <a:lnTo>
                  <a:pt x="2635248" y="0"/>
                </a:lnTo>
                <a:cubicBezTo>
                  <a:pt x="2682009" y="0"/>
                  <a:pt x="2719917" y="37907"/>
                  <a:pt x="2719917" y="84668"/>
                </a:cubicBezTo>
                <a:lnTo>
                  <a:pt x="2719917" y="804332"/>
                </a:lnTo>
                <a:cubicBezTo>
                  <a:pt x="2719917" y="851093"/>
                  <a:pt x="2682009" y="889000"/>
                  <a:pt x="2635248" y="889000"/>
                </a:cubicBezTo>
                <a:lnTo>
                  <a:pt x="84668" y="889000"/>
                </a:lnTo>
                <a:cubicBezTo>
                  <a:pt x="37907" y="889000"/>
                  <a:pt x="0" y="851093"/>
                  <a:pt x="0" y="804332"/>
                </a:cubicBezTo>
                <a:lnTo>
                  <a:pt x="0" y="84668"/>
                </a:lnTo>
                <a:cubicBezTo>
                  <a:pt x="0" y="37939"/>
                  <a:pt x="37939" y="0"/>
                  <a:pt x="84668" y="0"/>
                </a:cubicBezTo>
                <a:close/>
              </a:path>
            </a:pathLst>
          </a:custGeom>
          <a:solidFill>
            <a:srgbClr val="E5A044">
              <a:alpha val="10196"/>
            </a:srgbClr>
          </a:solidFill>
        </p:spPr>
        <p:txBody>
          <a:bodyPr/>
          <a:p>
            <a:endParaRPr lang="zh-CN" altLang="en-US"/>
          </a:p>
        </p:txBody>
      </p:sp>
      <p:sp>
        <p:nvSpPr>
          <p:cNvPr id="64" name="Text 62"/>
          <p:cNvSpPr/>
          <p:nvPr/>
        </p:nvSpPr>
        <p:spPr>
          <a:xfrm>
            <a:off x="10490835" y="7814310"/>
            <a:ext cx="2363470" cy="365125"/>
          </a:xfrm>
          <a:prstGeom prst="rect">
            <a:avLst/>
          </a:prstGeom>
          <a:noFill/>
        </p:spPr>
        <p:txBody>
          <a:bodyPr wrap="square" lIns="0" tIns="0" rIns="0" bIns="0" rtlCol="0" anchor="ctr"/>
          <a:lstStyle/>
          <a:p>
            <a:pPr algn="ctr">
              <a:lnSpc>
                <a:spcPct val="100000"/>
              </a:lnSpc>
            </a:pPr>
            <a:r>
              <a:rPr lang="zh-CN" altLang="en-US" sz="2630" b="1" dirty="0">
                <a:solidFill>
                  <a:srgbClr val="E5A044"/>
                </a:solidFill>
                <a:latin typeface="微软雅黑" panose="020B0503020204020204" charset="-122"/>
                <a:ea typeface="微软雅黑" panose="020B0503020204020204" charset="-122"/>
                <a:cs typeface="阿里妈妈数黑体" pitchFamily="34" charset="-120"/>
              </a:rPr>
              <a:t>开源使用者</a:t>
            </a:r>
            <a:endParaRPr lang="zh-CN" altLang="en-US" sz="2630" b="1" dirty="0">
              <a:solidFill>
                <a:srgbClr val="E5A044"/>
              </a:solidFill>
              <a:latin typeface="微软雅黑" panose="020B0503020204020204" charset="-122"/>
              <a:ea typeface="微软雅黑" panose="020B0503020204020204" charset="-122"/>
              <a:cs typeface="阿里妈妈数黑体" pitchFamily="34" charset="-120"/>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423333" y="529167"/>
            <a:ext cx="677333" cy="42333"/>
          </a:xfrm>
          <a:custGeom>
            <a:avLst/>
            <a:gdLst/>
            <a:ahLst/>
            <a:cxnLst/>
            <a:rect l="l" t="t" r="r" b="b"/>
            <a:pathLst>
              <a:path w="677333" h="42333">
                <a:moveTo>
                  <a:pt x="0" y="0"/>
                </a:moveTo>
                <a:lnTo>
                  <a:pt x="677333" y="0"/>
                </a:lnTo>
                <a:lnTo>
                  <a:pt x="677333" y="42333"/>
                </a:lnTo>
                <a:lnTo>
                  <a:pt x="0" y="42333"/>
                </a:lnTo>
                <a:lnTo>
                  <a:pt x="0" y="0"/>
                </a:lnTo>
                <a:close/>
              </a:path>
            </a:pathLst>
          </a:custGeom>
          <a:solidFill>
            <a:srgbClr val="E5A044"/>
          </a:solidFill>
        </p:spPr>
      </p:sp>
      <p:sp>
        <p:nvSpPr>
          <p:cNvPr id="3" name="Text 1"/>
          <p:cNvSpPr/>
          <p:nvPr/>
        </p:nvSpPr>
        <p:spPr>
          <a:xfrm>
            <a:off x="1270000" y="423333"/>
            <a:ext cx="1714500" cy="254000"/>
          </a:xfrm>
          <a:prstGeom prst="rect">
            <a:avLst/>
          </a:prstGeom>
          <a:noFill/>
        </p:spPr>
        <p:txBody>
          <a:bodyPr wrap="square" lIns="0" tIns="0" rIns="0" bIns="0" rtlCol="0" anchor="ctr"/>
          <a:lstStyle/>
          <a:p>
            <a:pPr>
              <a:lnSpc>
                <a:spcPct val="130000"/>
              </a:lnSpc>
            </a:pPr>
            <a:r>
              <a:rPr lang="en-US" sz="1335" b="1" kern="0" spc="67" dirty="0">
                <a:solidFill>
                  <a:srgbClr val="E5A044"/>
                </a:solidFill>
                <a:latin typeface="MiSans" pitchFamily="34" charset="-122"/>
                <a:ea typeface="MiSans" pitchFamily="34" charset="-122"/>
                <a:cs typeface="MiSans" pitchFamily="34" charset="-120"/>
              </a:rPr>
              <a:t>FUTURE OUTLOOK</a:t>
            </a:r>
            <a:endParaRPr lang="en-US" sz="1600" dirty="0"/>
          </a:p>
        </p:txBody>
      </p:sp>
      <p:sp>
        <p:nvSpPr>
          <p:cNvPr id="4" name="Text 2"/>
          <p:cNvSpPr/>
          <p:nvPr/>
        </p:nvSpPr>
        <p:spPr>
          <a:xfrm>
            <a:off x="423333" y="804333"/>
            <a:ext cx="15663333" cy="508000"/>
          </a:xfrm>
          <a:prstGeom prst="rect">
            <a:avLst/>
          </a:prstGeom>
          <a:noFill/>
        </p:spPr>
        <p:txBody>
          <a:bodyPr wrap="square" lIns="0" tIns="0" rIns="0" bIns="0" rtlCol="0" anchor="ctr"/>
          <a:lstStyle/>
          <a:p>
            <a:pPr>
              <a:lnSpc>
                <a:spcPct val="80000"/>
              </a:lnSpc>
            </a:pPr>
            <a:r>
              <a:rPr lang="en-US" sz="4000" b="1" dirty="0">
                <a:solidFill>
                  <a:srgbClr val="E0E2E6"/>
                </a:solidFill>
                <a:latin typeface="阿里妈妈数黑体" pitchFamily="34" charset="-122"/>
                <a:ea typeface="阿里妈妈数黑体" pitchFamily="34" charset="-122"/>
                <a:cs typeface="阿里妈妈数黑体" pitchFamily="34" charset="-120"/>
              </a:rPr>
              <a:t>未来展望与推广路径</a:t>
            </a:r>
            <a:endParaRPr lang="en-US" sz="1600" dirty="0"/>
          </a:p>
        </p:txBody>
      </p:sp>
      <p:grpSp>
        <p:nvGrpSpPr>
          <p:cNvPr id="69" name="组合 68"/>
          <p:cNvGrpSpPr/>
          <p:nvPr/>
        </p:nvGrpSpPr>
        <p:grpSpPr>
          <a:xfrm>
            <a:off x="444500" y="1426845"/>
            <a:ext cx="7576820" cy="3060000"/>
            <a:chOff x="700" y="3133"/>
            <a:chExt cx="11932" cy="5932"/>
          </a:xfrm>
        </p:grpSpPr>
        <p:sp>
          <p:nvSpPr>
            <p:cNvPr id="8" name="Shape 6"/>
            <p:cNvSpPr/>
            <p:nvPr/>
          </p:nvSpPr>
          <p:spPr>
            <a:xfrm>
              <a:off x="700" y="3133"/>
              <a:ext cx="11933" cy="5933"/>
            </a:xfrm>
            <a:custGeom>
              <a:avLst/>
              <a:gdLst/>
              <a:ahLst/>
              <a:cxnLst/>
              <a:rect l="l" t="t" r="r" b="b"/>
              <a:pathLst>
                <a:path w="7577667" h="3767667">
                  <a:moveTo>
                    <a:pt x="42333" y="0"/>
                  </a:moveTo>
                  <a:lnTo>
                    <a:pt x="7450659" y="0"/>
                  </a:lnTo>
                  <a:cubicBezTo>
                    <a:pt x="7520803" y="0"/>
                    <a:pt x="7577667" y="56863"/>
                    <a:pt x="7577667" y="127008"/>
                  </a:cubicBezTo>
                  <a:lnTo>
                    <a:pt x="7577667" y="3640659"/>
                  </a:lnTo>
                  <a:cubicBezTo>
                    <a:pt x="7577667" y="3710803"/>
                    <a:pt x="7520803" y="3767667"/>
                    <a:pt x="7450659" y="3767667"/>
                  </a:cubicBezTo>
                  <a:lnTo>
                    <a:pt x="42333" y="3767667"/>
                  </a:lnTo>
                  <a:cubicBezTo>
                    <a:pt x="18953" y="3767667"/>
                    <a:pt x="0" y="3748713"/>
                    <a:pt x="0" y="3725333"/>
                  </a:cubicBezTo>
                  <a:lnTo>
                    <a:pt x="0" y="42333"/>
                  </a:lnTo>
                  <a:cubicBezTo>
                    <a:pt x="0" y="18953"/>
                    <a:pt x="18953" y="0"/>
                    <a:pt x="42333" y="0"/>
                  </a:cubicBezTo>
                  <a:close/>
                </a:path>
              </a:pathLst>
            </a:custGeom>
            <a:gradFill flip="none" rotWithShape="1">
              <a:gsLst>
                <a:gs pos="0">
                  <a:srgbClr val="3D8F8A">
                    <a:alpha val="15000"/>
                  </a:srgbClr>
                </a:gs>
                <a:gs pos="100000">
                  <a:srgbClr val="000000">
                    <a:alpha val="0"/>
                  </a:srgbClr>
                </a:gs>
              </a:gsLst>
              <a:lin ang="2700000" scaled="1"/>
            </a:gradFill>
          </p:spPr>
        </p:sp>
        <p:sp>
          <p:nvSpPr>
            <p:cNvPr id="9" name="Shape 7"/>
            <p:cNvSpPr/>
            <p:nvPr/>
          </p:nvSpPr>
          <p:spPr>
            <a:xfrm>
              <a:off x="700" y="3133"/>
              <a:ext cx="67" cy="5933"/>
            </a:xfrm>
            <a:custGeom>
              <a:avLst/>
              <a:gdLst/>
              <a:ahLst/>
              <a:cxnLst/>
              <a:rect l="l" t="t" r="r" b="b"/>
              <a:pathLst>
                <a:path w="42333" h="3767667">
                  <a:moveTo>
                    <a:pt x="42333" y="0"/>
                  </a:moveTo>
                  <a:lnTo>
                    <a:pt x="42333" y="0"/>
                  </a:lnTo>
                  <a:lnTo>
                    <a:pt x="42333" y="3767667"/>
                  </a:lnTo>
                  <a:lnTo>
                    <a:pt x="42333" y="3767667"/>
                  </a:lnTo>
                  <a:cubicBezTo>
                    <a:pt x="18953" y="3767667"/>
                    <a:pt x="0" y="3748713"/>
                    <a:pt x="0" y="3725333"/>
                  </a:cubicBezTo>
                  <a:lnTo>
                    <a:pt x="0" y="42333"/>
                  </a:lnTo>
                  <a:cubicBezTo>
                    <a:pt x="0" y="18953"/>
                    <a:pt x="18953" y="0"/>
                    <a:pt x="42333" y="0"/>
                  </a:cubicBezTo>
                  <a:close/>
                </a:path>
              </a:pathLst>
            </a:custGeom>
            <a:solidFill>
              <a:srgbClr val="3D8F8A"/>
            </a:solidFill>
          </p:spPr>
        </p:sp>
        <p:sp>
          <p:nvSpPr>
            <p:cNvPr id="10" name="Shape 8"/>
            <p:cNvSpPr/>
            <p:nvPr/>
          </p:nvSpPr>
          <p:spPr>
            <a:xfrm>
              <a:off x="1133" y="3533"/>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3D8F8A"/>
            </a:solidFill>
          </p:spPr>
        </p:sp>
        <p:sp>
          <p:nvSpPr>
            <p:cNvPr id="11" name="Shape 9"/>
            <p:cNvSpPr/>
            <p:nvPr/>
          </p:nvSpPr>
          <p:spPr>
            <a:xfrm>
              <a:off x="1400" y="3800"/>
              <a:ext cx="400" cy="400"/>
            </a:xfrm>
            <a:custGeom>
              <a:avLst/>
              <a:gdLst/>
              <a:ahLst/>
              <a:cxnLst/>
              <a:rect l="l" t="t" r="r" b="b"/>
              <a:pathLst>
                <a:path w="254000" h="254000">
                  <a:moveTo>
                    <a:pt x="32693" y="113357"/>
                  </a:moveTo>
                  <a:cubicBezTo>
                    <a:pt x="39291" y="67221"/>
                    <a:pt x="79028" y="31750"/>
                    <a:pt x="127000" y="31750"/>
                  </a:cubicBezTo>
                  <a:cubicBezTo>
                    <a:pt x="153293" y="31750"/>
                    <a:pt x="177105" y="42416"/>
                    <a:pt x="194370" y="59630"/>
                  </a:cubicBezTo>
                  <a:cubicBezTo>
                    <a:pt x="194469" y="59730"/>
                    <a:pt x="194568" y="59829"/>
                    <a:pt x="194667" y="59928"/>
                  </a:cubicBezTo>
                  <a:lnTo>
                    <a:pt x="198438" y="63500"/>
                  </a:lnTo>
                  <a:lnTo>
                    <a:pt x="174675" y="63500"/>
                  </a:lnTo>
                  <a:cubicBezTo>
                    <a:pt x="165894" y="63500"/>
                    <a:pt x="158800" y="70594"/>
                    <a:pt x="158800" y="79375"/>
                  </a:cubicBezTo>
                  <a:cubicBezTo>
                    <a:pt x="158800" y="88156"/>
                    <a:pt x="165894" y="95250"/>
                    <a:pt x="174675" y="95250"/>
                  </a:cubicBezTo>
                  <a:lnTo>
                    <a:pt x="238175" y="95250"/>
                  </a:lnTo>
                  <a:cubicBezTo>
                    <a:pt x="246955" y="95250"/>
                    <a:pt x="254050" y="88156"/>
                    <a:pt x="254050" y="79375"/>
                  </a:cubicBezTo>
                  <a:lnTo>
                    <a:pt x="254050" y="15875"/>
                  </a:lnTo>
                  <a:cubicBezTo>
                    <a:pt x="254050" y="7094"/>
                    <a:pt x="246955" y="0"/>
                    <a:pt x="238175" y="0"/>
                  </a:cubicBezTo>
                  <a:cubicBezTo>
                    <a:pt x="229394" y="0"/>
                    <a:pt x="222300" y="7094"/>
                    <a:pt x="222300" y="15875"/>
                  </a:cubicBezTo>
                  <a:lnTo>
                    <a:pt x="222300" y="42366"/>
                  </a:lnTo>
                  <a:lnTo>
                    <a:pt x="216694" y="37058"/>
                  </a:lnTo>
                  <a:cubicBezTo>
                    <a:pt x="193725" y="14188"/>
                    <a:pt x="161975" y="0"/>
                    <a:pt x="127000" y="0"/>
                  </a:cubicBezTo>
                  <a:cubicBezTo>
                    <a:pt x="63004" y="0"/>
                    <a:pt x="10071" y="47327"/>
                    <a:pt x="1290" y="108893"/>
                  </a:cubicBezTo>
                  <a:cubicBezTo>
                    <a:pt x="50" y="117574"/>
                    <a:pt x="6052" y="125611"/>
                    <a:pt x="14734" y="126851"/>
                  </a:cubicBezTo>
                  <a:cubicBezTo>
                    <a:pt x="23416" y="128091"/>
                    <a:pt x="31452" y="122039"/>
                    <a:pt x="32693" y="113407"/>
                  </a:cubicBezTo>
                  <a:close/>
                  <a:moveTo>
                    <a:pt x="252710" y="145107"/>
                  </a:moveTo>
                  <a:cubicBezTo>
                    <a:pt x="253950" y="136426"/>
                    <a:pt x="247898" y="128389"/>
                    <a:pt x="239266" y="127149"/>
                  </a:cubicBezTo>
                  <a:cubicBezTo>
                    <a:pt x="230634" y="125909"/>
                    <a:pt x="222548" y="131961"/>
                    <a:pt x="221307" y="140593"/>
                  </a:cubicBezTo>
                  <a:cubicBezTo>
                    <a:pt x="214709" y="186730"/>
                    <a:pt x="174972" y="222200"/>
                    <a:pt x="127000" y="222200"/>
                  </a:cubicBezTo>
                  <a:cubicBezTo>
                    <a:pt x="100707" y="222200"/>
                    <a:pt x="76895" y="211534"/>
                    <a:pt x="59630" y="194320"/>
                  </a:cubicBezTo>
                  <a:cubicBezTo>
                    <a:pt x="59531" y="194221"/>
                    <a:pt x="59432" y="194121"/>
                    <a:pt x="59333" y="194022"/>
                  </a:cubicBezTo>
                  <a:lnTo>
                    <a:pt x="55562" y="190450"/>
                  </a:lnTo>
                  <a:lnTo>
                    <a:pt x="79325" y="190450"/>
                  </a:lnTo>
                  <a:cubicBezTo>
                    <a:pt x="88106" y="190450"/>
                    <a:pt x="95200" y="183356"/>
                    <a:pt x="95200" y="174575"/>
                  </a:cubicBezTo>
                  <a:cubicBezTo>
                    <a:pt x="95200" y="165795"/>
                    <a:pt x="88106" y="158700"/>
                    <a:pt x="79325" y="158700"/>
                  </a:cubicBezTo>
                  <a:lnTo>
                    <a:pt x="15875" y="158750"/>
                  </a:lnTo>
                  <a:cubicBezTo>
                    <a:pt x="11658" y="158750"/>
                    <a:pt x="7590" y="160437"/>
                    <a:pt x="4614" y="163463"/>
                  </a:cubicBezTo>
                  <a:cubicBezTo>
                    <a:pt x="1637" y="166489"/>
                    <a:pt x="-50" y="170507"/>
                    <a:pt x="0" y="174774"/>
                  </a:cubicBezTo>
                  <a:lnTo>
                    <a:pt x="496" y="237778"/>
                  </a:lnTo>
                  <a:cubicBezTo>
                    <a:pt x="546" y="246559"/>
                    <a:pt x="7739" y="253603"/>
                    <a:pt x="16520" y="253504"/>
                  </a:cubicBezTo>
                  <a:cubicBezTo>
                    <a:pt x="25301" y="253405"/>
                    <a:pt x="32345" y="246261"/>
                    <a:pt x="32246" y="237480"/>
                  </a:cubicBezTo>
                  <a:lnTo>
                    <a:pt x="32048" y="211931"/>
                  </a:lnTo>
                  <a:lnTo>
                    <a:pt x="37356" y="216942"/>
                  </a:lnTo>
                  <a:cubicBezTo>
                    <a:pt x="60325" y="239812"/>
                    <a:pt x="92025" y="254000"/>
                    <a:pt x="127000" y="254000"/>
                  </a:cubicBezTo>
                  <a:cubicBezTo>
                    <a:pt x="190996" y="254000"/>
                    <a:pt x="243929" y="206673"/>
                    <a:pt x="252710" y="145107"/>
                  </a:cubicBezTo>
                  <a:close/>
                </a:path>
              </a:pathLst>
            </a:custGeom>
            <a:solidFill>
              <a:srgbClr val="FFFFFF"/>
            </a:solidFill>
          </p:spPr>
        </p:sp>
        <p:sp>
          <p:nvSpPr>
            <p:cNvPr id="12" name="Text 10"/>
            <p:cNvSpPr/>
            <p:nvPr/>
          </p:nvSpPr>
          <p:spPr>
            <a:xfrm>
              <a:off x="2333" y="3767"/>
              <a:ext cx="4633" cy="467"/>
            </a:xfrm>
            <a:prstGeom prst="rect">
              <a:avLst/>
            </a:prstGeom>
            <a:noFill/>
          </p:spPr>
          <p:txBody>
            <a:bodyPr wrap="square" lIns="0" tIns="0" rIns="0" bIns="0" rtlCol="0" anchor="ctr"/>
            <a:lstStyle/>
            <a:p>
              <a:pP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Docker化与一键复现能力增强</a:t>
              </a:r>
              <a:endParaRPr lang="en-US" sz="1600" dirty="0"/>
            </a:p>
          </p:txBody>
        </p:sp>
        <p:sp>
          <p:nvSpPr>
            <p:cNvPr id="13" name="Text 11"/>
            <p:cNvSpPr/>
            <p:nvPr/>
          </p:nvSpPr>
          <p:spPr>
            <a:xfrm>
              <a:off x="1133" y="4733"/>
              <a:ext cx="11233" cy="3000"/>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在现有依赖分析与requirements.txt自动生成的基础上,</a:t>
              </a:r>
              <a:r>
                <a:rPr lang="en-US" sz="1335" b="1" dirty="0">
                  <a:solidFill>
                    <a:srgbClr val="3D8F8A"/>
                  </a:solidFill>
                  <a:latin typeface="MiSans" pitchFamily="34" charset="-122"/>
                  <a:ea typeface="MiSans" pitchFamily="34" charset="-122"/>
                  <a:cs typeface="MiSans" pitchFamily="34" charset="-120"/>
                </a:rPr>
                <a:t>结合主流基础镜像,自动构建可复现的Dockerfile</a:t>
              </a:r>
              <a:r>
                <a:rPr lang="en-US" sz="1335" dirty="0">
                  <a:solidFill>
                    <a:srgbClr val="E0E2E6">
                      <a:alpha val="80000"/>
                    </a:srgbClr>
                  </a:solidFill>
                  <a:latin typeface="MiSans" pitchFamily="34" charset="-122"/>
                  <a:ea typeface="MiSans" pitchFamily="34" charset="-122"/>
                  <a:cs typeface="MiSans" pitchFamily="34" charset="-120"/>
                </a:rPr>
                <a:t>。通过容器化方式,降低环境差异带来的复现失败风险,实现从"依赖推断"到"可运行环境"的完整闭环,为科研复现、工程部署和教学实验提供更可靠的支持。</a:t>
              </a:r>
              <a:endParaRPr lang="en-US" sz="1600" dirty="0"/>
            </a:p>
          </p:txBody>
        </p:sp>
        <p:sp>
          <p:nvSpPr>
            <p:cNvPr id="14" name="Shape 12"/>
            <p:cNvSpPr/>
            <p:nvPr/>
          </p:nvSpPr>
          <p:spPr>
            <a:xfrm>
              <a:off x="1133" y="7930"/>
              <a:ext cx="11100" cy="733"/>
            </a:xfrm>
            <a:custGeom>
              <a:avLst/>
              <a:gdLst/>
              <a:ahLst/>
              <a:cxnLst/>
              <a:rect l="l" t="t" r="r" b="b"/>
              <a:pathLst>
                <a:path w="7048500" h="465667">
                  <a:moveTo>
                    <a:pt x="84668" y="0"/>
                  </a:moveTo>
                  <a:lnTo>
                    <a:pt x="6963832" y="0"/>
                  </a:lnTo>
                  <a:cubicBezTo>
                    <a:pt x="7010593" y="0"/>
                    <a:pt x="7048500" y="37907"/>
                    <a:pt x="7048500" y="84668"/>
                  </a:cubicBezTo>
                  <a:lnTo>
                    <a:pt x="7048500" y="380999"/>
                  </a:lnTo>
                  <a:cubicBezTo>
                    <a:pt x="7048500" y="427760"/>
                    <a:pt x="7010593" y="465667"/>
                    <a:pt x="6963832" y="465667"/>
                  </a:cubicBezTo>
                  <a:lnTo>
                    <a:pt x="84668" y="465667"/>
                  </a:lnTo>
                  <a:cubicBezTo>
                    <a:pt x="37907" y="465667"/>
                    <a:pt x="0" y="427760"/>
                    <a:pt x="0" y="380999"/>
                  </a:cubicBezTo>
                  <a:lnTo>
                    <a:pt x="0" y="84668"/>
                  </a:lnTo>
                  <a:cubicBezTo>
                    <a:pt x="0" y="37907"/>
                    <a:pt x="37907" y="0"/>
                    <a:pt x="84668" y="0"/>
                  </a:cubicBezTo>
                  <a:close/>
                </a:path>
              </a:pathLst>
            </a:custGeom>
            <a:solidFill>
              <a:srgbClr val="3D8F8A">
                <a:alpha val="10196"/>
              </a:srgbClr>
            </a:solidFill>
          </p:spPr>
        </p:sp>
        <p:sp>
          <p:nvSpPr>
            <p:cNvPr id="15" name="Shape 13"/>
            <p:cNvSpPr/>
            <p:nvPr/>
          </p:nvSpPr>
          <p:spPr>
            <a:xfrm>
              <a:off x="1367" y="8180"/>
              <a:ext cx="233" cy="233"/>
            </a:xfrm>
            <a:custGeom>
              <a:avLst/>
              <a:gdLst/>
              <a:ahLst/>
              <a:cxnLst/>
              <a:rect l="l" t="t" r="r" b="b"/>
              <a:pathLst>
                <a:path w="148167" h="148167">
                  <a:moveTo>
                    <a:pt x="19071" y="66125"/>
                  </a:moveTo>
                  <a:cubicBezTo>
                    <a:pt x="22920" y="39212"/>
                    <a:pt x="46100" y="18521"/>
                    <a:pt x="74083" y="18521"/>
                  </a:cubicBezTo>
                  <a:cubicBezTo>
                    <a:pt x="89421" y="18521"/>
                    <a:pt x="103312" y="24743"/>
                    <a:pt x="113382" y="34784"/>
                  </a:cubicBezTo>
                  <a:cubicBezTo>
                    <a:pt x="113440" y="34842"/>
                    <a:pt x="113498" y="34900"/>
                    <a:pt x="113556" y="34958"/>
                  </a:cubicBezTo>
                  <a:lnTo>
                    <a:pt x="115755" y="37042"/>
                  </a:lnTo>
                  <a:lnTo>
                    <a:pt x="101894" y="37042"/>
                  </a:lnTo>
                  <a:cubicBezTo>
                    <a:pt x="96771" y="37042"/>
                    <a:pt x="92633" y="41180"/>
                    <a:pt x="92633" y="46302"/>
                  </a:cubicBezTo>
                  <a:cubicBezTo>
                    <a:pt x="92633" y="51424"/>
                    <a:pt x="96771" y="55562"/>
                    <a:pt x="101894" y="55562"/>
                  </a:cubicBezTo>
                  <a:lnTo>
                    <a:pt x="138935" y="55562"/>
                  </a:lnTo>
                  <a:cubicBezTo>
                    <a:pt x="144057" y="55562"/>
                    <a:pt x="148196" y="51424"/>
                    <a:pt x="148196" y="46302"/>
                  </a:cubicBezTo>
                  <a:lnTo>
                    <a:pt x="148196" y="9260"/>
                  </a:lnTo>
                  <a:cubicBezTo>
                    <a:pt x="148196" y="4138"/>
                    <a:pt x="144057" y="0"/>
                    <a:pt x="138935" y="0"/>
                  </a:cubicBezTo>
                  <a:cubicBezTo>
                    <a:pt x="133813" y="0"/>
                    <a:pt x="129675" y="4138"/>
                    <a:pt x="129675" y="9260"/>
                  </a:cubicBezTo>
                  <a:lnTo>
                    <a:pt x="129675" y="24714"/>
                  </a:lnTo>
                  <a:lnTo>
                    <a:pt x="126405" y="21617"/>
                  </a:lnTo>
                  <a:cubicBezTo>
                    <a:pt x="113006" y="8276"/>
                    <a:pt x="94485" y="0"/>
                    <a:pt x="74083" y="0"/>
                  </a:cubicBezTo>
                  <a:cubicBezTo>
                    <a:pt x="36752" y="0"/>
                    <a:pt x="5875" y="27608"/>
                    <a:pt x="752" y="63521"/>
                  </a:cubicBezTo>
                  <a:cubicBezTo>
                    <a:pt x="29" y="68585"/>
                    <a:pt x="3531" y="73273"/>
                    <a:pt x="8595" y="73997"/>
                  </a:cubicBezTo>
                  <a:cubicBezTo>
                    <a:pt x="13659" y="74720"/>
                    <a:pt x="18347" y="71189"/>
                    <a:pt x="19071" y="66154"/>
                  </a:cubicBezTo>
                  <a:close/>
                  <a:moveTo>
                    <a:pt x="147414" y="84646"/>
                  </a:moveTo>
                  <a:cubicBezTo>
                    <a:pt x="148138" y="79582"/>
                    <a:pt x="144607" y="74894"/>
                    <a:pt x="139572" y="74170"/>
                  </a:cubicBezTo>
                  <a:cubicBezTo>
                    <a:pt x="134536" y="73447"/>
                    <a:pt x="129819" y="76977"/>
                    <a:pt x="129096" y="82013"/>
                  </a:cubicBezTo>
                  <a:cubicBezTo>
                    <a:pt x="125247" y="108926"/>
                    <a:pt x="102067" y="129617"/>
                    <a:pt x="74083" y="129617"/>
                  </a:cubicBezTo>
                  <a:cubicBezTo>
                    <a:pt x="58746" y="129617"/>
                    <a:pt x="44855" y="123395"/>
                    <a:pt x="34784" y="113353"/>
                  </a:cubicBezTo>
                  <a:cubicBezTo>
                    <a:pt x="34727" y="113295"/>
                    <a:pt x="34669" y="113238"/>
                    <a:pt x="34611" y="113180"/>
                  </a:cubicBezTo>
                  <a:lnTo>
                    <a:pt x="32411" y="111096"/>
                  </a:lnTo>
                  <a:lnTo>
                    <a:pt x="46273" y="111096"/>
                  </a:lnTo>
                  <a:cubicBezTo>
                    <a:pt x="51395" y="111096"/>
                    <a:pt x="55534" y="106958"/>
                    <a:pt x="55534" y="101836"/>
                  </a:cubicBezTo>
                  <a:cubicBezTo>
                    <a:pt x="55534" y="96713"/>
                    <a:pt x="51395" y="92575"/>
                    <a:pt x="46273" y="92575"/>
                  </a:cubicBezTo>
                  <a:lnTo>
                    <a:pt x="9260" y="92604"/>
                  </a:lnTo>
                  <a:cubicBezTo>
                    <a:pt x="6801" y="92604"/>
                    <a:pt x="4428" y="93588"/>
                    <a:pt x="2691" y="95353"/>
                  </a:cubicBezTo>
                  <a:cubicBezTo>
                    <a:pt x="955" y="97119"/>
                    <a:pt x="-29" y="99463"/>
                    <a:pt x="0" y="101951"/>
                  </a:cubicBezTo>
                  <a:lnTo>
                    <a:pt x="289" y="138704"/>
                  </a:lnTo>
                  <a:cubicBezTo>
                    <a:pt x="318" y="143826"/>
                    <a:pt x="4514" y="147935"/>
                    <a:pt x="9637" y="147877"/>
                  </a:cubicBezTo>
                  <a:cubicBezTo>
                    <a:pt x="14759" y="147819"/>
                    <a:pt x="18868" y="143652"/>
                    <a:pt x="18810" y="138530"/>
                  </a:cubicBezTo>
                  <a:lnTo>
                    <a:pt x="18694" y="123627"/>
                  </a:lnTo>
                  <a:lnTo>
                    <a:pt x="21791" y="126549"/>
                  </a:lnTo>
                  <a:cubicBezTo>
                    <a:pt x="35190" y="139890"/>
                    <a:pt x="53681" y="148167"/>
                    <a:pt x="74083" y="148167"/>
                  </a:cubicBezTo>
                  <a:cubicBezTo>
                    <a:pt x="111414" y="148167"/>
                    <a:pt x="142292" y="120559"/>
                    <a:pt x="147414" y="84646"/>
                  </a:cubicBezTo>
                  <a:close/>
                </a:path>
              </a:pathLst>
            </a:custGeom>
            <a:solidFill>
              <a:srgbClr val="3D8F8A"/>
            </a:solidFill>
          </p:spPr>
        </p:sp>
        <p:sp>
          <p:nvSpPr>
            <p:cNvPr id="16" name="Text 14"/>
            <p:cNvSpPr/>
            <p:nvPr/>
          </p:nvSpPr>
          <p:spPr>
            <a:xfrm>
              <a:off x="1758" y="8130"/>
              <a:ext cx="3183" cy="333"/>
            </a:xfrm>
            <a:prstGeom prst="rect">
              <a:avLst/>
            </a:prstGeom>
            <a:noFill/>
          </p:spPr>
          <p:txBody>
            <a:bodyPr wrap="square" lIns="0" tIns="0" rIns="0" bIns="0" rtlCol="0" anchor="ctr"/>
            <a:lstStyle/>
            <a:p>
              <a:pPr>
                <a:lnSpc>
                  <a:spcPct val="120000"/>
                </a:lnSpc>
              </a:pPr>
              <a:r>
                <a:rPr lang="en-US" sz="1165" dirty="0">
                  <a:solidFill>
                    <a:srgbClr val="3D8F8A"/>
                  </a:solidFill>
                  <a:latin typeface="MiSans" pitchFamily="34" charset="-122"/>
                  <a:ea typeface="MiSans" pitchFamily="34" charset="-122"/>
                  <a:cs typeface="MiSans" pitchFamily="34" charset="-120"/>
                </a:rPr>
                <a:t>目标:</a:t>
              </a:r>
              <a:r>
                <a:rPr lang="en-US" sz="1165" dirty="0">
                  <a:solidFill>
                    <a:srgbClr val="3D8F8A"/>
                  </a:solidFill>
                  <a:latin typeface="MiSans" pitchFamily="34" charset="-122"/>
                  <a:ea typeface="MiSans" pitchFamily="34" charset="-122"/>
                  <a:cs typeface="MiSans" pitchFamily="34" charset="-120"/>
                  <a:sym typeface="+mn-ea"/>
                </a:rPr>
                <a:t>提升</a:t>
              </a:r>
              <a:r>
                <a:rPr lang="en-US" sz="1165" dirty="0">
                  <a:solidFill>
                    <a:srgbClr val="3D8F8A"/>
                  </a:solidFill>
                  <a:latin typeface="MiSans" pitchFamily="34" charset="-122"/>
                  <a:ea typeface="MiSans" pitchFamily="34" charset="-122"/>
                  <a:cs typeface="MiSans" pitchFamily="34" charset="-120"/>
                </a:rPr>
                <a:t>复现成功率</a:t>
              </a:r>
              <a:endParaRPr lang="en-US" sz="1600" dirty="0"/>
            </a:p>
          </p:txBody>
        </p:sp>
      </p:grpSp>
      <p:grpSp>
        <p:nvGrpSpPr>
          <p:cNvPr id="72" name="组合 71"/>
          <p:cNvGrpSpPr/>
          <p:nvPr/>
        </p:nvGrpSpPr>
        <p:grpSpPr>
          <a:xfrm>
            <a:off x="423545" y="4589145"/>
            <a:ext cx="7576820" cy="3060000"/>
            <a:chOff x="700" y="9330"/>
            <a:chExt cx="11932" cy="5932"/>
          </a:xfrm>
        </p:grpSpPr>
        <p:sp>
          <p:nvSpPr>
            <p:cNvPr id="17" name="Shape 15"/>
            <p:cNvSpPr/>
            <p:nvPr/>
          </p:nvSpPr>
          <p:spPr>
            <a:xfrm>
              <a:off x="700" y="9330"/>
              <a:ext cx="11933" cy="5933"/>
            </a:xfrm>
            <a:custGeom>
              <a:avLst/>
              <a:gdLst/>
              <a:ahLst/>
              <a:cxnLst/>
              <a:rect l="l" t="t" r="r" b="b"/>
              <a:pathLst>
                <a:path w="7577667" h="3767667">
                  <a:moveTo>
                    <a:pt x="42333" y="0"/>
                  </a:moveTo>
                  <a:lnTo>
                    <a:pt x="7450659" y="0"/>
                  </a:lnTo>
                  <a:cubicBezTo>
                    <a:pt x="7520803" y="0"/>
                    <a:pt x="7577667" y="56863"/>
                    <a:pt x="7577667" y="127008"/>
                  </a:cubicBezTo>
                  <a:lnTo>
                    <a:pt x="7577667" y="3640659"/>
                  </a:lnTo>
                  <a:cubicBezTo>
                    <a:pt x="7577667" y="3710803"/>
                    <a:pt x="7520803" y="3767667"/>
                    <a:pt x="7450659" y="3767667"/>
                  </a:cubicBezTo>
                  <a:lnTo>
                    <a:pt x="42333" y="3767667"/>
                  </a:lnTo>
                  <a:cubicBezTo>
                    <a:pt x="18953" y="3767667"/>
                    <a:pt x="0" y="3748713"/>
                    <a:pt x="0" y="3725333"/>
                  </a:cubicBezTo>
                  <a:lnTo>
                    <a:pt x="0" y="42333"/>
                  </a:lnTo>
                  <a:cubicBezTo>
                    <a:pt x="0" y="18953"/>
                    <a:pt x="18953" y="0"/>
                    <a:pt x="42333" y="0"/>
                  </a:cubicBezTo>
                  <a:close/>
                </a:path>
              </a:pathLst>
            </a:custGeom>
            <a:gradFill flip="none" rotWithShape="1">
              <a:gsLst>
                <a:gs pos="0">
                  <a:srgbClr val="E5A044">
                    <a:alpha val="15000"/>
                  </a:srgbClr>
                </a:gs>
                <a:gs pos="100000">
                  <a:srgbClr val="000000">
                    <a:alpha val="0"/>
                  </a:srgbClr>
                </a:gs>
              </a:gsLst>
              <a:lin ang="2700000" scaled="1"/>
            </a:gradFill>
          </p:spPr>
        </p:sp>
        <p:sp>
          <p:nvSpPr>
            <p:cNvPr id="18" name="Shape 16"/>
            <p:cNvSpPr/>
            <p:nvPr/>
          </p:nvSpPr>
          <p:spPr>
            <a:xfrm>
              <a:off x="700" y="9330"/>
              <a:ext cx="67" cy="5933"/>
            </a:xfrm>
            <a:custGeom>
              <a:avLst/>
              <a:gdLst/>
              <a:ahLst/>
              <a:cxnLst/>
              <a:rect l="l" t="t" r="r" b="b"/>
              <a:pathLst>
                <a:path w="42333" h="3767667">
                  <a:moveTo>
                    <a:pt x="42333" y="0"/>
                  </a:moveTo>
                  <a:lnTo>
                    <a:pt x="42333" y="0"/>
                  </a:lnTo>
                  <a:lnTo>
                    <a:pt x="42333" y="3767667"/>
                  </a:lnTo>
                  <a:lnTo>
                    <a:pt x="42333" y="3767667"/>
                  </a:lnTo>
                  <a:cubicBezTo>
                    <a:pt x="18953" y="3767667"/>
                    <a:pt x="0" y="3748713"/>
                    <a:pt x="0" y="3725333"/>
                  </a:cubicBezTo>
                  <a:lnTo>
                    <a:pt x="0" y="42333"/>
                  </a:lnTo>
                  <a:cubicBezTo>
                    <a:pt x="0" y="18953"/>
                    <a:pt x="18953" y="0"/>
                    <a:pt x="42333" y="0"/>
                  </a:cubicBezTo>
                  <a:close/>
                </a:path>
              </a:pathLst>
            </a:custGeom>
            <a:solidFill>
              <a:srgbClr val="E5A044"/>
            </a:solidFill>
          </p:spPr>
        </p:sp>
        <p:sp>
          <p:nvSpPr>
            <p:cNvPr id="19" name="Shape 17"/>
            <p:cNvSpPr/>
            <p:nvPr/>
          </p:nvSpPr>
          <p:spPr>
            <a:xfrm>
              <a:off x="1133" y="9730"/>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E5A044"/>
            </a:solidFill>
          </p:spPr>
        </p:sp>
        <p:sp>
          <p:nvSpPr>
            <p:cNvPr id="20" name="Shape 18"/>
            <p:cNvSpPr/>
            <p:nvPr/>
          </p:nvSpPr>
          <p:spPr>
            <a:xfrm>
              <a:off x="1375" y="9997"/>
              <a:ext cx="450" cy="400"/>
            </a:xfrm>
            <a:custGeom>
              <a:avLst/>
              <a:gdLst/>
              <a:ahLst/>
              <a:cxnLst/>
              <a:rect l="l" t="t" r="r" b="b"/>
              <a:pathLst>
                <a:path w="285750" h="254000">
                  <a:moveTo>
                    <a:pt x="178991" y="595"/>
                  </a:moveTo>
                  <a:cubicBezTo>
                    <a:pt x="170557" y="-1836"/>
                    <a:pt x="161776" y="3076"/>
                    <a:pt x="159345" y="11509"/>
                  </a:cubicBezTo>
                  <a:lnTo>
                    <a:pt x="95845" y="233759"/>
                  </a:lnTo>
                  <a:cubicBezTo>
                    <a:pt x="93414" y="242193"/>
                    <a:pt x="98326" y="250974"/>
                    <a:pt x="106759" y="253405"/>
                  </a:cubicBezTo>
                  <a:cubicBezTo>
                    <a:pt x="115193" y="255836"/>
                    <a:pt x="123974" y="250924"/>
                    <a:pt x="126405" y="242491"/>
                  </a:cubicBezTo>
                  <a:lnTo>
                    <a:pt x="189905" y="20241"/>
                  </a:lnTo>
                  <a:cubicBezTo>
                    <a:pt x="192336" y="11807"/>
                    <a:pt x="187424" y="3026"/>
                    <a:pt x="178991" y="595"/>
                  </a:cubicBezTo>
                  <a:close/>
                  <a:moveTo>
                    <a:pt x="211038" y="68114"/>
                  </a:moveTo>
                  <a:cubicBezTo>
                    <a:pt x="204837" y="74315"/>
                    <a:pt x="204837" y="84386"/>
                    <a:pt x="211038" y="90587"/>
                  </a:cubicBezTo>
                  <a:lnTo>
                    <a:pt x="247452" y="127000"/>
                  </a:lnTo>
                  <a:lnTo>
                    <a:pt x="211038" y="163413"/>
                  </a:lnTo>
                  <a:cubicBezTo>
                    <a:pt x="204837" y="169614"/>
                    <a:pt x="204837" y="179685"/>
                    <a:pt x="211038" y="185886"/>
                  </a:cubicBezTo>
                  <a:cubicBezTo>
                    <a:pt x="217239" y="192087"/>
                    <a:pt x="227310" y="192087"/>
                    <a:pt x="233511" y="185886"/>
                  </a:cubicBezTo>
                  <a:lnTo>
                    <a:pt x="281136" y="138261"/>
                  </a:lnTo>
                  <a:cubicBezTo>
                    <a:pt x="287338" y="132060"/>
                    <a:pt x="287338" y="121989"/>
                    <a:pt x="281136" y="115788"/>
                  </a:cubicBezTo>
                  <a:lnTo>
                    <a:pt x="233511" y="68163"/>
                  </a:lnTo>
                  <a:cubicBezTo>
                    <a:pt x="227310" y="61962"/>
                    <a:pt x="217239" y="61962"/>
                    <a:pt x="211038" y="68163"/>
                  </a:cubicBezTo>
                  <a:close/>
                  <a:moveTo>
                    <a:pt x="74761" y="68114"/>
                  </a:moveTo>
                  <a:cubicBezTo>
                    <a:pt x="68560" y="61912"/>
                    <a:pt x="58489" y="61912"/>
                    <a:pt x="52288" y="68114"/>
                  </a:cubicBezTo>
                  <a:lnTo>
                    <a:pt x="4663" y="115739"/>
                  </a:lnTo>
                  <a:cubicBezTo>
                    <a:pt x="-1538" y="121940"/>
                    <a:pt x="-1538" y="132011"/>
                    <a:pt x="4663" y="138212"/>
                  </a:cubicBezTo>
                  <a:lnTo>
                    <a:pt x="52288" y="185837"/>
                  </a:lnTo>
                  <a:cubicBezTo>
                    <a:pt x="58489" y="192038"/>
                    <a:pt x="68560" y="192038"/>
                    <a:pt x="74761" y="185837"/>
                  </a:cubicBezTo>
                  <a:cubicBezTo>
                    <a:pt x="80962" y="179636"/>
                    <a:pt x="80962" y="169565"/>
                    <a:pt x="74761" y="163364"/>
                  </a:cubicBezTo>
                  <a:lnTo>
                    <a:pt x="38348" y="127000"/>
                  </a:lnTo>
                  <a:lnTo>
                    <a:pt x="74712" y="90587"/>
                  </a:lnTo>
                  <a:cubicBezTo>
                    <a:pt x="80913" y="84386"/>
                    <a:pt x="80913" y="74315"/>
                    <a:pt x="74712" y="68114"/>
                  </a:cubicBezTo>
                  <a:close/>
                </a:path>
              </a:pathLst>
            </a:custGeom>
            <a:solidFill>
              <a:srgbClr val="FFFFFF"/>
            </a:solidFill>
          </p:spPr>
        </p:sp>
        <p:sp>
          <p:nvSpPr>
            <p:cNvPr id="21" name="Text 19"/>
            <p:cNvSpPr/>
            <p:nvPr/>
          </p:nvSpPr>
          <p:spPr>
            <a:xfrm>
              <a:off x="2333" y="9963"/>
              <a:ext cx="3167" cy="467"/>
            </a:xfrm>
            <a:prstGeom prst="rect">
              <a:avLst/>
            </a:prstGeom>
            <a:noFill/>
          </p:spPr>
          <p:txBody>
            <a:bodyPr wrap="square" lIns="0" tIns="0" rIns="0" bIns="0" rtlCol="0" anchor="ctr"/>
            <a:lstStyle/>
            <a:p>
              <a:pP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多语言项目扩展支持</a:t>
              </a:r>
              <a:endParaRPr lang="en-US" sz="1600" dirty="0"/>
            </a:p>
          </p:txBody>
        </p:sp>
        <p:sp>
          <p:nvSpPr>
            <p:cNvPr id="22" name="Text 20"/>
            <p:cNvSpPr/>
            <p:nvPr/>
          </p:nvSpPr>
          <p:spPr>
            <a:xfrm>
              <a:off x="1133" y="10930"/>
              <a:ext cx="11233" cy="278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当前版本聚焦Python项目,未来可逐步扩展至</a:t>
              </a:r>
              <a:r>
                <a:rPr lang="en-US" sz="1335" b="1" dirty="0">
                  <a:solidFill>
                    <a:srgbClr val="E5A044"/>
                  </a:solidFill>
                  <a:latin typeface="MiSans" pitchFamily="34" charset="-122"/>
                  <a:ea typeface="MiSans" pitchFamily="34" charset="-122"/>
                  <a:cs typeface="MiSans" pitchFamily="34" charset="-120"/>
                </a:rPr>
                <a:t>多语言与多技术栈的混合仓库场景</a:t>
              </a:r>
              <a:r>
                <a:rPr lang="en-US" sz="1335" dirty="0">
                  <a:solidFill>
                    <a:srgbClr val="E0E2E6">
                      <a:alpha val="80000"/>
                    </a:srgbClr>
                  </a:solidFill>
                  <a:latin typeface="MiSans" pitchFamily="34" charset="-122"/>
                  <a:ea typeface="MiSans" pitchFamily="34" charset="-122"/>
                  <a:cs typeface="MiSans" pitchFamily="34" charset="-120"/>
                </a:rPr>
                <a:t>,包括但不限于JavaScript/TypeScript、Java、Go、Rust等。通过为不同语言引入专门的依赖解析器与兼容性规则库,逐步构建跨语言的依赖分析与环境建模能力。</a:t>
              </a:r>
              <a:endParaRPr lang="en-US" sz="1600" dirty="0"/>
            </a:p>
          </p:txBody>
        </p:sp>
        <p:sp>
          <p:nvSpPr>
            <p:cNvPr id="23" name="Shape 21"/>
            <p:cNvSpPr/>
            <p:nvPr/>
          </p:nvSpPr>
          <p:spPr>
            <a:xfrm>
              <a:off x="1133" y="13916"/>
              <a:ext cx="2683" cy="950"/>
            </a:xfrm>
            <a:custGeom>
              <a:avLst/>
              <a:gdLst/>
              <a:ahLst/>
              <a:cxnLst/>
              <a:rect l="l" t="t" r="r" b="b"/>
              <a:pathLst>
                <a:path w="1703917" h="603250">
                  <a:moveTo>
                    <a:pt x="42336" y="0"/>
                  </a:moveTo>
                  <a:lnTo>
                    <a:pt x="1661581" y="0"/>
                  </a:lnTo>
                  <a:cubicBezTo>
                    <a:pt x="1684962" y="0"/>
                    <a:pt x="1703917" y="18955"/>
                    <a:pt x="1703917" y="42336"/>
                  </a:cubicBezTo>
                  <a:lnTo>
                    <a:pt x="1703917" y="560914"/>
                  </a:lnTo>
                  <a:cubicBezTo>
                    <a:pt x="1703917" y="584295"/>
                    <a:pt x="1684962" y="603250"/>
                    <a:pt x="1661581" y="603250"/>
                  </a:cubicBezTo>
                  <a:lnTo>
                    <a:pt x="42336" y="603250"/>
                  </a:lnTo>
                  <a:cubicBezTo>
                    <a:pt x="18955" y="603250"/>
                    <a:pt x="0" y="584295"/>
                    <a:pt x="0" y="560914"/>
                  </a:cubicBezTo>
                  <a:lnTo>
                    <a:pt x="0" y="42336"/>
                  </a:lnTo>
                  <a:cubicBezTo>
                    <a:pt x="0" y="18970"/>
                    <a:pt x="18970" y="0"/>
                    <a:pt x="42336" y="0"/>
                  </a:cubicBezTo>
                  <a:close/>
                </a:path>
              </a:pathLst>
            </a:custGeom>
            <a:solidFill>
              <a:srgbClr val="E5A044">
                <a:alpha val="10196"/>
              </a:srgbClr>
            </a:solidFill>
          </p:spPr>
        </p:sp>
        <p:sp>
          <p:nvSpPr>
            <p:cNvPr id="24" name="Shape 22"/>
            <p:cNvSpPr/>
            <p:nvPr/>
          </p:nvSpPr>
          <p:spPr>
            <a:xfrm>
              <a:off x="2325" y="14049"/>
              <a:ext cx="292" cy="333"/>
            </a:xfrm>
            <a:custGeom>
              <a:avLst/>
              <a:gdLst/>
              <a:ahLst/>
              <a:cxnLst/>
              <a:rect l="l" t="t" r="r" b="b"/>
              <a:pathLst>
                <a:path w="185208" h="211667">
                  <a:moveTo>
                    <a:pt x="185208" y="39688"/>
                  </a:moveTo>
                  <a:cubicBezTo>
                    <a:pt x="185208" y="25094"/>
                    <a:pt x="173343" y="13229"/>
                    <a:pt x="158750" y="13229"/>
                  </a:cubicBezTo>
                  <a:lnTo>
                    <a:pt x="26458" y="13229"/>
                  </a:lnTo>
                  <a:cubicBezTo>
                    <a:pt x="11865" y="13229"/>
                    <a:pt x="0" y="25094"/>
                    <a:pt x="0" y="39688"/>
                  </a:cubicBezTo>
                  <a:lnTo>
                    <a:pt x="0" y="171979"/>
                  </a:lnTo>
                  <a:cubicBezTo>
                    <a:pt x="0" y="186573"/>
                    <a:pt x="11865" y="198438"/>
                    <a:pt x="26458" y="198438"/>
                  </a:cubicBezTo>
                  <a:lnTo>
                    <a:pt x="158750" y="198438"/>
                  </a:lnTo>
                  <a:cubicBezTo>
                    <a:pt x="173343" y="198438"/>
                    <a:pt x="185208" y="186573"/>
                    <a:pt x="185208" y="171979"/>
                  </a:cubicBezTo>
                  <a:lnTo>
                    <a:pt x="185208" y="39688"/>
                  </a:lnTo>
                  <a:close/>
                  <a:moveTo>
                    <a:pt x="74786" y="183927"/>
                  </a:moveTo>
                  <a:cubicBezTo>
                    <a:pt x="60854" y="183927"/>
                    <a:pt x="52793" y="176733"/>
                    <a:pt x="48659" y="168010"/>
                  </a:cubicBezTo>
                  <a:lnTo>
                    <a:pt x="62839" y="159453"/>
                  </a:lnTo>
                  <a:cubicBezTo>
                    <a:pt x="65567" y="164290"/>
                    <a:pt x="68048" y="168382"/>
                    <a:pt x="74042" y="168382"/>
                  </a:cubicBezTo>
                  <a:cubicBezTo>
                    <a:pt x="79747" y="168382"/>
                    <a:pt x="83385" y="166150"/>
                    <a:pt x="83385" y="157427"/>
                  </a:cubicBezTo>
                  <a:lnTo>
                    <a:pt x="83385" y="98268"/>
                  </a:lnTo>
                  <a:lnTo>
                    <a:pt x="100790" y="98268"/>
                  </a:lnTo>
                  <a:lnTo>
                    <a:pt x="100790" y="157675"/>
                  </a:lnTo>
                  <a:cubicBezTo>
                    <a:pt x="100790" y="175700"/>
                    <a:pt x="90206" y="183927"/>
                    <a:pt x="74786" y="183927"/>
                  </a:cubicBezTo>
                  <a:close/>
                  <a:moveTo>
                    <a:pt x="110257" y="166150"/>
                  </a:moveTo>
                  <a:lnTo>
                    <a:pt x="124437" y="157965"/>
                  </a:lnTo>
                  <a:cubicBezTo>
                    <a:pt x="128158" y="164042"/>
                    <a:pt x="133036" y="168548"/>
                    <a:pt x="141593" y="168548"/>
                  </a:cubicBezTo>
                  <a:cubicBezTo>
                    <a:pt x="148787" y="168548"/>
                    <a:pt x="153417" y="164951"/>
                    <a:pt x="153417" y="159949"/>
                  </a:cubicBezTo>
                  <a:cubicBezTo>
                    <a:pt x="153417" y="153996"/>
                    <a:pt x="148704" y="151887"/>
                    <a:pt x="140725" y="148373"/>
                  </a:cubicBezTo>
                  <a:lnTo>
                    <a:pt x="136384" y="146513"/>
                  </a:lnTo>
                  <a:cubicBezTo>
                    <a:pt x="123817" y="141180"/>
                    <a:pt x="115507" y="134441"/>
                    <a:pt x="115507" y="120261"/>
                  </a:cubicBezTo>
                  <a:cubicBezTo>
                    <a:pt x="115507" y="107198"/>
                    <a:pt x="125470" y="97276"/>
                    <a:pt x="140973" y="97276"/>
                  </a:cubicBezTo>
                  <a:cubicBezTo>
                    <a:pt x="152053" y="97276"/>
                    <a:pt x="159990" y="101120"/>
                    <a:pt x="165695" y="111208"/>
                  </a:cubicBezTo>
                  <a:lnTo>
                    <a:pt x="152135" y="119889"/>
                  </a:lnTo>
                  <a:cubicBezTo>
                    <a:pt x="149159" y="114556"/>
                    <a:pt x="145934" y="112448"/>
                    <a:pt x="140932" y="112448"/>
                  </a:cubicBezTo>
                  <a:cubicBezTo>
                    <a:pt x="135847" y="112448"/>
                    <a:pt x="132622" y="115673"/>
                    <a:pt x="132622" y="119889"/>
                  </a:cubicBezTo>
                  <a:cubicBezTo>
                    <a:pt x="132622" y="125098"/>
                    <a:pt x="135847" y="127207"/>
                    <a:pt x="143330" y="130473"/>
                  </a:cubicBezTo>
                  <a:lnTo>
                    <a:pt x="147671" y="132333"/>
                  </a:lnTo>
                  <a:cubicBezTo>
                    <a:pt x="162471" y="138658"/>
                    <a:pt x="170780" y="145149"/>
                    <a:pt x="170780" y="159701"/>
                  </a:cubicBezTo>
                  <a:cubicBezTo>
                    <a:pt x="170780" y="175328"/>
                    <a:pt x="158461" y="183927"/>
                    <a:pt x="141965" y="183927"/>
                  </a:cubicBezTo>
                  <a:cubicBezTo>
                    <a:pt x="125801" y="183927"/>
                    <a:pt x="115342" y="176237"/>
                    <a:pt x="110257" y="166150"/>
                  </a:cubicBezTo>
                  <a:close/>
                </a:path>
              </a:pathLst>
            </a:custGeom>
            <a:solidFill>
              <a:srgbClr val="E5A044"/>
            </a:solidFill>
          </p:spPr>
        </p:sp>
        <p:sp>
          <p:nvSpPr>
            <p:cNvPr id="25" name="Text 23"/>
            <p:cNvSpPr/>
            <p:nvPr/>
          </p:nvSpPr>
          <p:spPr>
            <a:xfrm>
              <a:off x="1217" y="14460"/>
              <a:ext cx="2517" cy="267"/>
            </a:xfrm>
            <a:prstGeom prst="rect">
              <a:avLst/>
            </a:prstGeom>
            <a:noFill/>
          </p:spPr>
          <p:txBody>
            <a:bodyPr wrap="square" lIns="0" tIns="0" rIns="0" bIns="0" rtlCol="0" anchor="ctr"/>
            <a:lstStyle/>
            <a:p>
              <a:pPr algn="ctr">
                <a:lnSpc>
                  <a:spcPct val="110000"/>
                </a:lnSpc>
              </a:pPr>
              <a:r>
                <a:rPr lang="en-US" sz="1000" dirty="0">
                  <a:solidFill>
                    <a:srgbClr val="E0E2E6">
                      <a:alpha val="70000"/>
                    </a:srgbClr>
                  </a:solidFill>
                  <a:latin typeface="MiSans" pitchFamily="34" charset="-122"/>
                  <a:ea typeface="MiSans" pitchFamily="34" charset="-122"/>
                  <a:cs typeface="MiSans" pitchFamily="34" charset="-120"/>
                </a:rPr>
                <a:t>JavaScript</a:t>
              </a:r>
              <a:endParaRPr lang="en-US" sz="1600" dirty="0"/>
            </a:p>
          </p:txBody>
        </p:sp>
        <p:sp>
          <p:nvSpPr>
            <p:cNvPr id="26" name="Shape 24"/>
            <p:cNvSpPr/>
            <p:nvPr/>
          </p:nvSpPr>
          <p:spPr>
            <a:xfrm>
              <a:off x="3942" y="13916"/>
              <a:ext cx="2683" cy="950"/>
            </a:xfrm>
            <a:custGeom>
              <a:avLst/>
              <a:gdLst/>
              <a:ahLst/>
              <a:cxnLst/>
              <a:rect l="l" t="t" r="r" b="b"/>
              <a:pathLst>
                <a:path w="1703917" h="603250">
                  <a:moveTo>
                    <a:pt x="42336" y="0"/>
                  </a:moveTo>
                  <a:lnTo>
                    <a:pt x="1661581" y="0"/>
                  </a:lnTo>
                  <a:cubicBezTo>
                    <a:pt x="1684962" y="0"/>
                    <a:pt x="1703917" y="18955"/>
                    <a:pt x="1703917" y="42336"/>
                  </a:cubicBezTo>
                  <a:lnTo>
                    <a:pt x="1703917" y="560914"/>
                  </a:lnTo>
                  <a:cubicBezTo>
                    <a:pt x="1703917" y="584295"/>
                    <a:pt x="1684962" y="603250"/>
                    <a:pt x="1661581" y="603250"/>
                  </a:cubicBezTo>
                  <a:lnTo>
                    <a:pt x="42336" y="603250"/>
                  </a:lnTo>
                  <a:cubicBezTo>
                    <a:pt x="18955" y="603250"/>
                    <a:pt x="0" y="584295"/>
                    <a:pt x="0" y="560914"/>
                  </a:cubicBezTo>
                  <a:lnTo>
                    <a:pt x="0" y="42336"/>
                  </a:lnTo>
                  <a:cubicBezTo>
                    <a:pt x="0" y="18970"/>
                    <a:pt x="18970" y="0"/>
                    <a:pt x="42336" y="0"/>
                  </a:cubicBezTo>
                  <a:close/>
                </a:path>
              </a:pathLst>
            </a:custGeom>
            <a:solidFill>
              <a:srgbClr val="E5A044">
                <a:alpha val="10196"/>
              </a:srgbClr>
            </a:solidFill>
          </p:spPr>
        </p:sp>
        <p:sp>
          <p:nvSpPr>
            <p:cNvPr id="27" name="Shape 25"/>
            <p:cNvSpPr/>
            <p:nvPr/>
          </p:nvSpPr>
          <p:spPr>
            <a:xfrm>
              <a:off x="5154" y="14049"/>
              <a:ext cx="250" cy="333"/>
            </a:xfrm>
            <a:custGeom>
              <a:avLst/>
              <a:gdLst/>
              <a:ahLst/>
              <a:cxnLst/>
              <a:rect l="l" t="t" r="r" b="b"/>
              <a:pathLst>
                <a:path w="158750" h="211667">
                  <a:moveTo>
                    <a:pt x="114846" y="129356"/>
                  </a:moveTo>
                  <a:cubicBezTo>
                    <a:pt x="118897" y="126587"/>
                    <a:pt x="124520" y="124189"/>
                    <a:pt x="124520" y="124189"/>
                  </a:cubicBezTo>
                  <a:cubicBezTo>
                    <a:pt x="124520" y="124189"/>
                    <a:pt x="108521" y="127083"/>
                    <a:pt x="92604" y="128406"/>
                  </a:cubicBezTo>
                  <a:cubicBezTo>
                    <a:pt x="73132" y="130018"/>
                    <a:pt x="52214" y="130349"/>
                    <a:pt x="41713" y="128943"/>
                  </a:cubicBezTo>
                  <a:cubicBezTo>
                    <a:pt x="16867" y="125636"/>
                    <a:pt x="55356" y="116499"/>
                    <a:pt x="55356" y="116499"/>
                  </a:cubicBezTo>
                  <a:cubicBezTo>
                    <a:pt x="55356" y="116499"/>
                    <a:pt x="40432" y="115507"/>
                    <a:pt x="22035" y="124354"/>
                  </a:cubicBezTo>
                  <a:cubicBezTo>
                    <a:pt x="331" y="134855"/>
                    <a:pt x="75778" y="139650"/>
                    <a:pt x="114846" y="129356"/>
                  </a:cubicBezTo>
                  <a:close/>
                  <a:moveTo>
                    <a:pt x="79540" y="116086"/>
                  </a:moveTo>
                  <a:cubicBezTo>
                    <a:pt x="71686" y="98433"/>
                    <a:pt x="45186" y="82930"/>
                    <a:pt x="79540" y="55811"/>
                  </a:cubicBezTo>
                  <a:cubicBezTo>
                    <a:pt x="122411" y="21993"/>
                    <a:pt x="100418" y="0"/>
                    <a:pt x="100418" y="0"/>
                  </a:cubicBezTo>
                  <a:cubicBezTo>
                    <a:pt x="109306" y="34933"/>
                    <a:pt x="69164" y="45517"/>
                    <a:pt x="54653" y="67221"/>
                  </a:cubicBezTo>
                  <a:cubicBezTo>
                    <a:pt x="44772" y="82062"/>
                    <a:pt x="59490" y="97979"/>
                    <a:pt x="79540" y="116086"/>
                  </a:cubicBezTo>
                  <a:close/>
                  <a:moveTo>
                    <a:pt x="126917" y="43243"/>
                  </a:moveTo>
                  <a:cubicBezTo>
                    <a:pt x="126959" y="43243"/>
                    <a:pt x="54488" y="61350"/>
                    <a:pt x="89090" y="101203"/>
                  </a:cubicBezTo>
                  <a:cubicBezTo>
                    <a:pt x="99301" y="112944"/>
                    <a:pt x="86403" y="123527"/>
                    <a:pt x="86403" y="123527"/>
                  </a:cubicBezTo>
                  <a:cubicBezTo>
                    <a:pt x="86403" y="123527"/>
                    <a:pt x="112324" y="110133"/>
                    <a:pt x="100418" y="93390"/>
                  </a:cubicBezTo>
                  <a:cubicBezTo>
                    <a:pt x="89297" y="77763"/>
                    <a:pt x="80781" y="69991"/>
                    <a:pt x="126917" y="43243"/>
                  </a:cubicBezTo>
                  <a:close/>
                  <a:moveTo>
                    <a:pt x="124396" y="155071"/>
                  </a:moveTo>
                  <a:cubicBezTo>
                    <a:pt x="124189" y="155484"/>
                    <a:pt x="123899" y="155815"/>
                    <a:pt x="123569" y="156146"/>
                  </a:cubicBezTo>
                  <a:cubicBezTo>
                    <a:pt x="176609" y="142214"/>
                    <a:pt x="157096" y="106991"/>
                    <a:pt x="131754" y="115921"/>
                  </a:cubicBezTo>
                  <a:cubicBezTo>
                    <a:pt x="130390" y="116417"/>
                    <a:pt x="129191" y="117326"/>
                    <a:pt x="128364" y="118525"/>
                  </a:cubicBezTo>
                  <a:cubicBezTo>
                    <a:pt x="129853" y="117988"/>
                    <a:pt x="131382" y="117574"/>
                    <a:pt x="132912" y="117285"/>
                  </a:cubicBezTo>
                  <a:cubicBezTo>
                    <a:pt x="145728" y="114598"/>
                    <a:pt x="164124" y="134441"/>
                    <a:pt x="124396" y="155071"/>
                  </a:cubicBezTo>
                  <a:close/>
                  <a:moveTo>
                    <a:pt x="143867" y="180826"/>
                  </a:moveTo>
                  <a:cubicBezTo>
                    <a:pt x="143867" y="180826"/>
                    <a:pt x="149862" y="185746"/>
                    <a:pt x="137294" y="189590"/>
                  </a:cubicBezTo>
                  <a:cubicBezTo>
                    <a:pt x="113357" y="196825"/>
                    <a:pt x="37744" y="199016"/>
                    <a:pt x="16743" y="189880"/>
                  </a:cubicBezTo>
                  <a:cubicBezTo>
                    <a:pt x="9178" y="186614"/>
                    <a:pt x="23358" y="182025"/>
                    <a:pt x="27823" y="181074"/>
                  </a:cubicBezTo>
                  <a:cubicBezTo>
                    <a:pt x="32453" y="180082"/>
                    <a:pt x="35140" y="180247"/>
                    <a:pt x="35140" y="180247"/>
                  </a:cubicBezTo>
                  <a:cubicBezTo>
                    <a:pt x="26748" y="174336"/>
                    <a:pt x="-19141" y="191864"/>
                    <a:pt x="11824" y="196867"/>
                  </a:cubicBezTo>
                  <a:cubicBezTo>
                    <a:pt x="96242" y="210592"/>
                    <a:pt x="165778" y="190707"/>
                    <a:pt x="143867" y="180826"/>
                  </a:cubicBezTo>
                  <a:close/>
                  <a:moveTo>
                    <a:pt x="51470" y="163711"/>
                  </a:moveTo>
                  <a:cubicBezTo>
                    <a:pt x="18934" y="172806"/>
                    <a:pt x="71272" y="191575"/>
                    <a:pt x="112696" y="173840"/>
                  </a:cubicBezTo>
                  <a:cubicBezTo>
                    <a:pt x="108645" y="172269"/>
                    <a:pt x="104758" y="170367"/>
                    <a:pt x="101038" y="168134"/>
                  </a:cubicBezTo>
                  <a:cubicBezTo>
                    <a:pt x="82558" y="171648"/>
                    <a:pt x="74001" y="171896"/>
                    <a:pt x="57216" y="169995"/>
                  </a:cubicBezTo>
                  <a:cubicBezTo>
                    <a:pt x="43367" y="168424"/>
                    <a:pt x="51470" y="163711"/>
                    <a:pt x="51470" y="163711"/>
                  </a:cubicBezTo>
                  <a:close/>
                  <a:moveTo>
                    <a:pt x="125801" y="203895"/>
                  </a:moveTo>
                  <a:cubicBezTo>
                    <a:pt x="93266" y="210013"/>
                    <a:pt x="53123" y="209310"/>
                    <a:pt x="29352" y="205383"/>
                  </a:cubicBezTo>
                  <a:cubicBezTo>
                    <a:pt x="29352" y="205341"/>
                    <a:pt x="34230" y="209393"/>
                    <a:pt x="59283" y="211005"/>
                  </a:cubicBezTo>
                  <a:cubicBezTo>
                    <a:pt x="97400" y="213444"/>
                    <a:pt x="155939" y="209641"/>
                    <a:pt x="157303" y="191616"/>
                  </a:cubicBezTo>
                  <a:cubicBezTo>
                    <a:pt x="157303" y="191616"/>
                    <a:pt x="154657" y="198438"/>
                    <a:pt x="125801" y="203895"/>
                  </a:cubicBezTo>
                  <a:close/>
                  <a:moveTo>
                    <a:pt x="107776" y="145934"/>
                  </a:moveTo>
                  <a:cubicBezTo>
                    <a:pt x="83302" y="150647"/>
                    <a:pt x="69122" y="150523"/>
                    <a:pt x="51222" y="148663"/>
                  </a:cubicBezTo>
                  <a:cubicBezTo>
                    <a:pt x="37372" y="147216"/>
                    <a:pt x="46426" y="140519"/>
                    <a:pt x="46426" y="140519"/>
                  </a:cubicBezTo>
                  <a:cubicBezTo>
                    <a:pt x="10542" y="152425"/>
                    <a:pt x="66353" y="165902"/>
                    <a:pt x="116499" y="151226"/>
                  </a:cubicBezTo>
                  <a:cubicBezTo>
                    <a:pt x="113275" y="150068"/>
                    <a:pt x="110298" y="148291"/>
                    <a:pt x="107776" y="145934"/>
                  </a:cubicBezTo>
                  <a:close/>
                </a:path>
              </a:pathLst>
            </a:custGeom>
            <a:solidFill>
              <a:srgbClr val="E5A044"/>
            </a:solidFill>
          </p:spPr>
        </p:sp>
        <p:sp>
          <p:nvSpPr>
            <p:cNvPr id="28" name="Text 26"/>
            <p:cNvSpPr/>
            <p:nvPr/>
          </p:nvSpPr>
          <p:spPr>
            <a:xfrm>
              <a:off x="4025" y="14460"/>
              <a:ext cx="2517" cy="267"/>
            </a:xfrm>
            <a:prstGeom prst="rect">
              <a:avLst/>
            </a:prstGeom>
            <a:noFill/>
          </p:spPr>
          <p:txBody>
            <a:bodyPr wrap="square" lIns="0" tIns="0" rIns="0" bIns="0" rtlCol="0" anchor="ctr"/>
            <a:lstStyle/>
            <a:p>
              <a:pPr algn="ctr">
                <a:lnSpc>
                  <a:spcPct val="110000"/>
                </a:lnSpc>
              </a:pPr>
              <a:r>
                <a:rPr lang="en-US" sz="1000" dirty="0">
                  <a:solidFill>
                    <a:srgbClr val="E0E2E6">
                      <a:alpha val="70000"/>
                    </a:srgbClr>
                  </a:solidFill>
                  <a:latin typeface="MiSans" pitchFamily="34" charset="-122"/>
                  <a:ea typeface="MiSans" pitchFamily="34" charset="-122"/>
                  <a:cs typeface="MiSans" pitchFamily="34" charset="-120"/>
                </a:rPr>
                <a:t>Java</a:t>
              </a:r>
              <a:endParaRPr lang="en-US" sz="1600" dirty="0"/>
            </a:p>
          </p:txBody>
        </p:sp>
        <p:sp>
          <p:nvSpPr>
            <p:cNvPr id="29" name="Shape 27"/>
            <p:cNvSpPr/>
            <p:nvPr/>
          </p:nvSpPr>
          <p:spPr>
            <a:xfrm>
              <a:off x="6750" y="13916"/>
              <a:ext cx="2683" cy="950"/>
            </a:xfrm>
            <a:custGeom>
              <a:avLst/>
              <a:gdLst/>
              <a:ahLst/>
              <a:cxnLst/>
              <a:rect l="l" t="t" r="r" b="b"/>
              <a:pathLst>
                <a:path w="1703917" h="603250">
                  <a:moveTo>
                    <a:pt x="42336" y="0"/>
                  </a:moveTo>
                  <a:lnTo>
                    <a:pt x="1661581" y="0"/>
                  </a:lnTo>
                  <a:cubicBezTo>
                    <a:pt x="1684962" y="0"/>
                    <a:pt x="1703917" y="18955"/>
                    <a:pt x="1703917" y="42336"/>
                  </a:cubicBezTo>
                  <a:lnTo>
                    <a:pt x="1703917" y="560914"/>
                  </a:lnTo>
                  <a:cubicBezTo>
                    <a:pt x="1703917" y="584295"/>
                    <a:pt x="1684962" y="603250"/>
                    <a:pt x="1661581" y="603250"/>
                  </a:cubicBezTo>
                  <a:lnTo>
                    <a:pt x="42336" y="603250"/>
                  </a:lnTo>
                  <a:cubicBezTo>
                    <a:pt x="18955" y="603250"/>
                    <a:pt x="0" y="584295"/>
                    <a:pt x="0" y="560914"/>
                  </a:cubicBezTo>
                  <a:lnTo>
                    <a:pt x="0" y="42336"/>
                  </a:lnTo>
                  <a:cubicBezTo>
                    <a:pt x="0" y="18970"/>
                    <a:pt x="18970" y="0"/>
                    <a:pt x="42336" y="0"/>
                  </a:cubicBezTo>
                  <a:close/>
                </a:path>
              </a:pathLst>
            </a:custGeom>
            <a:solidFill>
              <a:srgbClr val="E5A044">
                <a:alpha val="10196"/>
              </a:srgbClr>
            </a:solidFill>
          </p:spPr>
        </p:sp>
        <p:sp>
          <p:nvSpPr>
            <p:cNvPr id="30" name="Shape 28"/>
            <p:cNvSpPr/>
            <p:nvPr/>
          </p:nvSpPr>
          <p:spPr>
            <a:xfrm>
              <a:off x="7900" y="14049"/>
              <a:ext cx="375" cy="333"/>
            </a:xfrm>
            <a:custGeom>
              <a:avLst/>
              <a:gdLst/>
              <a:ahLst/>
              <a:cxnLst/>
              <a:rect l="l" t="t" r="r" b="b"/>
              <a:pathLst>
                <a:path w="238125" h="211667">
                  <a:moveTo>
                    <a:pt x="149159" y="496"/>
                  </a:moveTo>
                  <a:cubicBezTo>
                    <a:pt x="142131" y="-1530"/>
                    <a:pt x="134813" y="2563"/>
                    <a:pt x="132788" y="9591"/>
                  </a:cubicBezTo>
                  <a:lnTo>
                    <a:pt x="79871" y="194799"/>
                  </a:lnTo>
                  <a:cubicBezTo>
                    <a:pt x="77845" y="201827"/>
                    <a:pt x="81938" y="209145"/>
                    <a:pt x="88966" y="211171"/>
                  </a:cubicBezTo>
                  <a:cubicBezTo>
                    <a:pt x="95994" y="213196"/>
                    <a:pt x="103312" y="209104"/>
                    <a:pt x="105337" y="202076"/>
                  </a:cubicBezTo>
                  <a:lnTo>
                    <a:pt x="158254" y="16867"/>
                  </a:lnTo>
                  <a:cubicBezTo>
                    <a:pt x="160280" y="9839"/>
                    <a:pt x="156187" y="2522"/>
                    <a:pt x="149159" y="496"/>
                  </a:cubicBezTo>
                  <a:close/>
                  <a:moveTo>
                    <a:pt x="175865" y="56761"/>
                  </a:moveTo>
                  <a:cubicBezTo>
                    <a:pt x="170698" y="61929"/>
                    <a:pt x="170698" y="70321"/>
                    <a:pt x="175865" y="75489"/>
                  </a:cubicBezTo>
                  <a:lnTo>
                    <a:pt x="206210" y="105833"/>
                  </a:lnTo>
                  <a:lnTo>
                    <a:pt x="175865" y="136178"/>
                  </a:lnTo>
                  <a:cubicBezTo>
                    <a:pt x="170698" y="141345"/>
                    <a:pt x="170698" y="149738"/>
                    <a:pt x="175865" y="154905"/>
                  </a:cubicBezTo>
                  <a:cubicBezTo>
                    <a:pt x="181033" y="160073"/>
                    <a:pt x="189425" y="160073"/>
                    <a:pt x="194593" y="154905"/>
                  </a:cubicBezTo>
                  <a:lnTo>
                    <a:pt x="234280" y="115218"/>
                  </a:lnTo>
                  <a:cubicBezTo>
                    <a:pt x="239448" y="110050"/>
                    <a:pt x="239448" y="101658"/>
                    <a:pt x="234280" y="96490"/>
                  </a:cubicBezTo>
                  <a:lnTo>
                    <a:pt x="194593" y="56803"/>
                  </a:lnTo>
                  <a:cubicBezTo>
                    <a:pt x="189425" y="51635"/>
                    <a:pt x="181033" y="51635"/>
                    <a:pt x="175865" y="56803"/>
                  </a:cubicBezTo>
                  <a:close/>
                  <a:moveTo>
                    <a:pt x="62301" y="56761"/>
                  </a:moveTo>
                  <a:cubicBezTo>
                    <a:pt x="57133" y="51594"/>
                    <a:pt x="48741" y="51594"/>
                    <a:pt x="43574" y="56761"/>
                  </a:cubicBezTo>
                  <a:lnTo>
                    <a:pt x="3886" y="96449"/>
                  </a:lnTo>
                  <a:cubicBezTo>
                    <a:pt x="-1282" y="101617"/>
                    <a:pt x="-1282" y="110009"/>
                    <a:pt x="3886" y="115176"/>
                  </a:cubicBezTo>
                  <a:lnTo>
                    <a:pt x="43574" y="154864"/>
                  </a:lnTo>
                  <a:cubicBezTo>
                    <a:pt x="48741" y="160032"/>
                    <a:pt x="57133" y="160032"/>
                    <a:pt x="62301" y="154864"/>
                  </a:cubicBezTo>
                  <a:cubicBezTo>
                    <a:pt x="67469" y="149696"/>
                    <a:pt x="67469" y="141304"/>
                    <a:pt x="62301" y="136136"/>
                  </a:cubicBezTo>
                  <a:lnTo>
                    <a:pt x="31957" y="105833"/>
                  </a:lnTo>
                  <a:lnTo>
                    <a:pt x="62260" y="75489"/>
                  </a:lnTo>
                  <a:cubicBezTo>
                    <a:pt x="67427" y="70321"/>
                    <a:pt x="67427" y="61929"/>
                    <a:pt x="62260" y="56761"/>
                  </a:cubicBezTo>
                  <a:close/>
                </a:path>
              </a:pathLst>
            </a:custGeom>
            <a:solidFill>
              <a:srgbClr val="E5A044"/>
            </a:solidFill>
          </p:spPr>
        </p:sp>
        <p:sp>
          <p:nvSpPr>
            <p:cNvPr id="31" name="Text 29"/>
            <p:cNvSpPr/>
            <p:nvPr/>
          </p:nvSpPr>
          <p:spPr>
            <a:xfrm>
              <a:off x="6833" y="14460"/>
              <a:ext cx="2517" cy="267"/>
            </a:xfrm>
            <a:prstGeom prst="rect">
              <a:avLst/>
            </a:prstGeom>
            <a:noFill/>
          </p:spPr>
          <p:txBody>
            <a:bodyPr wrap="square" lIns="0" tIns="0" rIns="0" bIns="0" rtlCol="0" anchor="ctr"/>
            <a:lstStyle/>
            <a:p>
              <a:pPr algn="ctr">
                <a:lnSpc>
                  <a:spcPct val="110000"/>
                </a:lnSpc>
              </a:pPr>
              <a:r>
                <a:rPr lang="en-US" sz="1000" dirty="0">
                  <a:solidFill>
                    <a:srgbClr val="E0E2E6">
                      <a:alpha val="70000"/>
                    </a:srgbClr>
                  </a:solidFill>
                  <a:latin typeface="MiSans" pitchFamily="34" charset="-122"/>
                  <a:ea typeface="MiSans" pitchFamily="34" charset="-122"/>
                  <a:cs typeface="MiSans" pitchFamily="34" charset="-120"/>
                </a:rPr>
                <a:t>Go</a:t>
              </a:r>
              <a:endParaRPr lang="en-US" sz="1600" dirty="0"/>
            </a:p>
          </p:txBody>
        </p:sp>
        <p:sp>
          <p:nvSpPr>
            <p:cNvPr id="32" name="Shape 30"/>
            <p:cNvSpPr/>
            <p:nvPr/>
          </p:nvSpPr>
          <p:spPr>
            <a:xfrm>
              <a:off x="9558" y="13916"/>
              <a:ext cx="2683" cy="950"/>
            </a:xfrm>
            <a:custGeom>
              <a:avLst/>
              <a:gdLst/>
              <a:ahLst/>
              <a:cxnLst/>
              <a:rect l="l" t="t" r="r" b="b"/>
              <a:pathLst>
                <a:path w="1703917" h="603250">
                  <a:moveTo>
                    <a:pt x="42336" y="0"/>
                  </a:moveTo>
                  <a:lnTo>
                    <a:pt x="1661581" y="0"/>
                  </a:lnTo>
                  <a:cubicBezTo>
                    <a:pt x="1684962" y="0"/>
                    <a:pt x="1703917" y="18955"/>
                    <a:pt x="1703917" y="42336"/>
                  </a:cubicBezTo>
                  <a:lnTo>
                    <a:pt x="1703917" y="560914"/>
                  </a:lnTo>
                  <a:cubicBezTo>
                    <a:pt x="1703917" y="584295"/>
                    <a:pt x="1684962" y="603250"/>
                    <a:pt x="1661581" y="603250"/>
                  </a:cubicBezTo>
                  <a:lnTo>
                    <a:pt x="42336" y="603250"/>
                  </a:lnTo>
                  <a:cubicBezTo>
                    <a:pt x="18955" y="603250"/>
                    <a:pt x="0" y="584295"/>
                    <a:pt x="0" y="560914"/>
                  </a:cubicBezTo>
                  <a:lnTo>
                    <a:pt x="0" y="42336"/>
                  </a:lnTo>
                  <a:cubicBezTo>
                    <a:pt x="0" y="18970"/>
                    <a:pt x="18970" y="0"/>
                    <a:pt x="42336" y="0"/>
                  </a:cubicBezTo>
                  <a:close/>
                </a:path>
              </a:pathLst>
            </a:custGeom>
            <a:solidFill>
              <a:srgbClr val="E5A044">
                <a:alpha val="10196"/>
              </a:srgbClr>
            </a:solidFill>
          </p:spPr>
        </p:sp>
        <p:sp>
          <p:nvSpPr>
            <p:cNvPr id="33" name="Shape 31"/>
            <p:cNvSpPr/>
            <p:nvPr/>
          </p:nvSpPr>
          <p:spPr>
            <a:xfrm>
              <a:off x="10729" y="14049"/>
              <a:ext cx="333" cy="333"/>
            </a:xfrm>
            <a:custGeom>
              <a:avLst/>
              <a:gdLst/>
              <a:ahLst/>
              <a:cxnLst/>
              <a:rect l="l" t="t" r="r" b="b"/>
              <a:pathLst>
                <a:path w="211667" h="211667">
                  <a:moveTo>
                    <a:pt x="80657" y="3927"/>
                  </a:moveTo>
                  <a:cubicBezTo>
                    <a:pt x="81897" y="-2191"/>
                    <a:pt x="87313" y="-6615"/>
                    <a:pt x="93596" y="-6615"/>
                  </a:cubicBezTo>
                  <a:lnTo>
                    <a:pt x="118318" y="-6615"/>
                  </a:lnTo>
                  <a:cubicBezTo>
                    <a:pt x="124602" y="-6615"/>
                    <a:pt x="130018" y="-2191"/>
                    <a:pt x="131258" y="3927"/>
                  </a:cubicBezTo>
                  <a:lnTo>
                    <a:pt x="137253" y="32866"/>
                  </a:lnTo>
                  <a:cubicBezTo>
                    <a:pt x="143082" y="35347"/>
                    <a:pt x="148539" y="38530"/>
                    <a:pt x="153500" y="42292"/>
                  </a:cubicBezTo>
                  <a:lnTo>
                    <a:pt x="181529" y="32990"/>
                  </a:lnTo>
                  <a:cubicBezTo>
                    <a:pt x="187482" y="31006"/>
                    <a:pt x="194014" y="33486"/>
                    <a:pt x="197156" y="38943"/>
                  </a:cubicBezTo>
                  <a:lnTo>
                    <a:pt x="209517" y="60358"/>
                  </a:lnTo>
                  <a:cubicBezTo>
                    <a:pt x="212659" y="65815"/>
                    <a:pt x="211543" y="72678"/>
                    <a:pt x="206830" y="76853"/>
                  </a:cubicBezTo>
                  <a:lnTo>
                    <a:pt x="184795" y="96449"/>
                  </a:lnTo>
                  <a:cubicBezTo>
                    <a:pt x="185167" y="99508"/>
                    <a:pt x="185332" y="102650"/>
                    <a:pt x="185332" y="105833"/>
                  </a:cubicBezTo>
                  <a:cubicBezTo>
                    <a:pt x="185332" y="109017"/>
                    <a:pt x="185126" y="112159"/>
                    <a:pt x="184795" y="115218"/>
                  </a:cubicBezTo>
                  <a:lnTo>
                    <a:pt x="206871" y="134855"/>
                  </a:lnTo>
                  <a:cubicBezTo>
                    <a:pt x="211584" y="139030"/>
                    <a:pt x="212659" y="145934"/>
                    <a:pt x="209558" y="151350"/>
                  </a:cubicBezTo>
                  <a:lnTo>
                    <a:pt x="197197" y="172765"/>
                  </a:lnTo>
                  <a:cubicBezTo>
                    <a:pt x="194055" y="178180"/>
                    <a:pt x="187523" y="180702"/>
                    <a:pt x="181570" y="178718"/>
                  </a:cubicBezTo>
                  <a:lnTo>
                    <a:pt x="153541" y="169416"/>
                  </a:lnTo>
                  <a:cubicBezTo>
                    <a:pt x="148539" y="173178"/>
                    <a:pt x="143082" y="176320"/>
                    <a:pt x="137294" y="178842"/>
                  </a:cubicBezTo>
                  <a:lnTo>
                    <a:pt x="131341" y="207739"/>
                  </a:lnTo>
                  <a:cubicBezTo>
                    <a:pt x="130059" y="213899"/>
                    <a:pt x="124644" y="218281"/>
                    <a:pt x="118401" y="218281"/>
                  </a:cubicBezTo>
                  <a:lnTo>
                    <a:pt x="93679" y="218281"/>
                  </a:lnTo>
                  <a:cubicBezTo>
                    <a:pt x="87395" y="218281"/>
                    <a:pt x="81979" y="213858"/>
                    <a:pt x="80739" y="207739"/>
                  </a:cubicBezTo>
                  <a:lnTo>
                    <a:pt x="74786" y="178842"/>
                  </a:lnTo>
                  <a:cubicBezTo>
                    <a:pt x="68957" y="176361"/>
                    <a:pt x="63541" y="173178"/>
                    <a:pt x="58539" y="169416"/>
                  </a:cubicBezTo>
                  <a:lnTo>
                    <a:pt x="30386" y="178718"/>
                  </a:lnTo>
                  <a:cubicBezTo>
                    <a:pt x="24433" y="180702"/>
                    <a:pt x="17901" y="178222"/>
                    <a:pt x="14759" y="172765"/>
                  </a:cubicBezTo>
                  <a:lnTo>
                    <a:pt x="2398" y="151350"/>
                  </a:lnTo>
                  <a:cubicBezTo>
                    <a:pt x="-744" y="145893"/>
                    <a:pt x="372" y="139030"/>
                    <a:pt x="5085" y="134855"/>
                  </a:cubicBezTo>
                  <a:lnTo>
                    <a:pt x="27161" y="115218"/>
                  </a:lnTo>
                  <a:cubicBezTo>
                    <a:pt x="26789" y="112159"/>
                    <a:pt x="26624" y="109017"/>
                    <a:pt x="26624" y="105833"/>
                  </a:cubicBezTo>
                  <a:cubicBezTo>
                    <a:pt x="26624" y="102650"/>
                    <a:pt x="26830" y="99508"/>
                    <a:pt x="27161" y="96449"/>
                  </a:cubicBezTo>
                  <a:lnTo>
                    <a:pt x="5085" y="76812"/>
                  </a:lnTo>
                  <a:cubicBezTo>
                    <a:pt x="372" y="72636"/>
                    <a:pt x="-703" y="65732"/>
                    <a:pt x="2398" y="60317"/>
                  </a:cubicBezTo>
                  <a:lnTo>
                    <a:pt x="14759" y="38902"/>
                  </a:lnTo>
                  <a:cubicBezTo>
                    <a:pt x="17901" y="33445"/>
                    <a:pt x="24433" y="30965"/>
                    <a:pt x="30386" y="32949"/>
                  </a:cubicBezTo>
                  <a:lnTo>
                    <a:pt x="58415" y="42251"/>
                  </a:lnTo>
                  <a:cubicBezTo>
                    <a:pt x="63417" y="38489"/>
                    <a:pt x="68874" y="35347"/>
                    <a:pt x="74662" y="32825"/>
                  </a:cubicBezTo>
                  <a:lnTo>
                    <a:pt x="80657" y="3927"/>
                  </a:lnTo>
                  <a:close/>
                  <a:moveTo>
                    <a:pt x="105957" y="138906"/>
                  </a:moveTo>
                  <a:cubicBezTo>
                    <a:pt x="117773" y="138862"/>
                    <a:pt x="128668" y="132517"/>
                    <a:pt x="134537" y="122262"/>
                  </a:cubicBezTo>
                  <a:cubicBezTo>
                    <a:pt x="140407" y="112007"/>
                    <a:pt x="140360" y="99400"/>
                    <a:pt x="134413" y="89189"/>
                  </a:cubicBezTo>
                  <a:cubicBezTo>
                    <a:pt x="128467" y="78979"/>
                    <a:pt x="117525" y="72716"/>
                    <a:pt x="105709" y="72760"/>
                  </a:cubicBezTo>
                  <a:cubicBezTo>
                    <a:pt x="93893" y="72805"/>
                    <a:pt x="82999" y="79149"/>
                    <a:pt x="77129" y="89404"/>
                  </a:cubicBezTo>
                  <a:cubicBezTo>
                    <a:pt x="71260" y="99659"/>
                    <a:pt x="71307" y="112267"/>
                    <a:pt x="77253" y="122477"/>
                  </a:cubicBezTo>
                  <a:cubicBezTo>
                    <a:pt x="83200" y="132688"/>
                    <a:pt x="94142" y="138951"/>
                    <a:pt x="105957" y="138906"/>
                  </a:cubicBezTo>
                  <a:close/>
                </a:path>
              </a:pathLst>
            </a:custGeom>
            <a:solidFill>
              <a:srgbClr val="E5A044"/>
            </a:solidFill>
          </p:spPr>
        </p:sp>
        <p:sp>
          <p:nvSpPr>
            <p:cNvPr id="34" name="Text 32"/>
            <p:cNvSpPr/>
            <p:nvPr/>
          </p:nvSpPr>
          <p:spPr>
            <a:xfrm>
              <a:off x="9642" y="14460"/>
              <a:ext cx="2517" cy="267"/>
            </a:xfrm>
            <a:prstGeom prst="rect">
              <a:avLst/>
            </a:prstGeom>
            <a:noFill/>
          </p:spPr>
          <p:txBody>
            <a:bodyPr wrap="square" lIns="0" tIns="0" rIns="0" bIns="0" rtlCol="0" anchor="ctr"/>
            <a:lstStyle/>
            <a:p>
              <a:pPr algn="ctr">
                <a:lnSpc>
                  <a:spcPct val="110000"/>
                </a:lnSpc>
              </a:pPr>
              <a:r>
                <a:rPr lang="en-US" sz="1000" dirty="0">
                  <a:solidFill>
                    <a:srgbClr val="E0E2E6">
                      <a:alpha val="70000"/>
                    </a:srgbClr>
                  </a:solidFill>
                  <a:latin typeface="MiSans" pitchFamily="34" charset="-122"/>
                  <a:ea typeface="MiSans" pitchFamily="34" charset="-122"/>
                  <a:cs typeface="MiSans" pitchFamily="34" charset="-120"/>
                </a:rPr>
                <a:t>Rust</a:t>
              </a:r>
              <a:endParaRPr lang="en-US" sz="1600" dirty="0"/>
            </a:p>
          </p:txBody>
        </p:sp>
      </p:grpSp>
      <p:grpSp>
        <p:nvGrpSpPr>
          <p:cNvPr id="70" name="组合 69"/>
          <p:cNvGrpSpPr/>
          <p:nvPr/>
        </p:nvGrpSpPr>
        <p:grpSpPr>
          <a:xfrm>
            <a:off x="8244840" y="1427480"/>
            <a:ext cx="7577455" cy="3060516"/>
            <a:chOff x="13000" y="3133"/>
            <a:chExt cx="11933" cy="5933"/>
          </a:xfrm>
        </p:grpSpPr>
        <p:sp>
          <p:nvSpPr>
            <p:cNvPr id="35" name="Shape 33"/>
            <p:cNvSpPr/>
            <p:nvPr/>
          </p:nvSpPr>
          <p:spPr>
            <a:xfrm>
              <a:off x="13000" y="3133"/>
              <a:ext cx="11933" cy="5933"/>
            </a:xfrm>
            <a:custGeom>
              <a:avLst/>
              <a:gdLst/>
              <a:ahLst/>
              <a:cxnLst/>
              <a:rect l="l" t="t" r="r" b="b"/>
              <a:pathLst>
                <a:path w="7577667" h="3767667">
                  <a:moveTo>
                    <a:pt x="42333" y="0"/>
                  </a:moveTo>
                  <a:lnTo>
                    <a:pt x="7450659" y="0"/>
                  </a:lnTo>
                  <a:cubicBezTo>
                    <a:pt x="7520803" y="0"/>
                    <a:pt x="7577667" y="56863"/>
                    <a:pt x="7577667" y="127008"/>
                  </a:cubicBezTo>
                  <a:lnTo>
                    <a:pt x="7577667" y="3640659"/>
                  </a:lnTo>
                  <a:cubicBezTo>
                    <a:pt x="7577667" y="3710803"/>
                    <a:pt x="7520803" y="3767667"/>
                    <a:pt x="7450659" y="3767667"/>
                  </a:cubicBezTo>
                  <a:lnTo>
                    <a:pt x="42333" y="3767667"/>
                  </a:lnTo>
                  <a:cubicBezTo>
                    <a:pt x="18953" y="3767667"/>
                    <a:pt x="0" y="3748713"/>
                    <a:pt x="0" y="3725333"/>
                  </a:cubicBezTo>
                  <a:lnTo>
                    <a:pt x="0" y="42333"/>
                  </a:lnTo>
                  <a:cubicBezTo>
                    <a:pt x="0" y="18953"/>
                    <a:pt x="18953" y="0"/>
                    <a:pt x="42333" y="0"/>
                  </a:cubicBezTo>
                  <a:close/>
                </a:path>
              </a:pathLst>
            </a:custGeom>
            <a:gradFill flip="none" rotWithShape="1">
              <a:gsLst>
                <a:gs pos="0">
                  <a:srgbClr val="5A6472">
                    <a:alpha val="15000"/>
                  </a:srgbClr>
                </a:gs>
                <a:gs pos="100000">
                  <a:srgbClr val="000000">
                    <a:alpha val="0"/>
                  </a:srgbClr>
                </a:gs>
              </a:gsLst>
              <a:lin ang="2700000" scaled="1"/>
            </a:gradFill>
          </p:spPr>
        </p:sp>
        <p:sp>
          <p:nvSpPr>
            <p:cNvPr id="36" name="Shape 34"/>
            <p:cNvSpPr/>
            <p:nvPr/>
          </p:nvSpPr>
          <p:spPr>
            <a:xfrm>
              <a:off x="13000" y="3133"/>
              <a:ext cx="67" cy="5933"/>
            </a:xfrm>
            <a:custGeom>
              <a:avLst/>
              <a:gdLst/>
              <a:ahLst/>
              <a:cxnLst/>
              <a:rect l="l" t="t" r="r" b="b"/>
              <a:pathLst>
                <a:path w="42333" h="3767667">
                  <a:moveTo>
                    <a:pt x="42333" y="0"/>
                  </a:moveTo>
                  <a:lnTo>
                    <a:pt x="42333" y="0"/>
                  </a:lnTo>
                  <a:lnTo>
                    <a:pt x="42333" y="3767667"/>
                  </a:lnTo>
                  <a:lnTo>
                    <a:pt x="42333" y="3767667"/>
                  </a:lnTo>
                  <a:cubicBezTo>
                    <a:pt x="18953" y="3767667"/>
                    <a:pt x="0" y="3748713"/>
                    <a:pt x="0" y="3725333"/>
                  </a:cubicBezTo>
                  <a:lnTo>
                    <a:pt x="0" y="42333"/>
                  </a:lnTo>
                  <a:cubicBezTo>
                    <a:pt x="0" y="18953"/>
                    <a:pt x="18953" y="0"/>
                    <a:pt x="42333" y="0"/>
                  </a:cubicBezTo>
                  <a:close/>
                </a:path>
              </a:pathLst>
            </a:custGeom>
            <a:solidFill>
              <a:srgbClr val="5A6472"/>
            </a:solidFill>
          </p:spPr>
        </p:sp>
        <p:sp>
          <p:nvSpPr>
            <p:cNvPr id="37" name="Shape 35"/>
            <p:cNvSpPr/>
            <p:nvPr/>
          </p:nvSpPr>
          <p:spPr>
            <a:xfrm>
              <a:off x="13433" y="3533"/>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5A6472"/>
            </a:solidFill>
          </p:spPr>
        </p:sp>
        <p:sp>
          <p:nvSpPr>
            <p:cNvPr id="38" name="Shape 36"/>
            <p:cNvSpPr/>
            <p:nvPr/>
          </p:nvSpPr>
          <p:spPr>
            <a:xfrm>
              <a:off x="13700" y="3800"/>
              <a:ext cx="400" cy="400"/>
            </a:xfrm>
            <a:custGeom>
              <a:avLst/>
              <a:gdLst/>
              <a:ahLst/>
              <a:cxnLst/>
              <a:rect l="l" t="t" r="r" b="b"/>
              <a:pathLst>
                <a:path w="254000" h="254000">
                  <a:moveTo>
                    <a:pt x="31750" y="31750"/>
                  </a:moveTo>
                  <a:cubicBezTo>
                    <a:pt x="31750" y="22969"/>
                    <a:pt x="24656" y="15875"/>
                    <a:pt x="15875" y="15875"/>
                  </a:cubicBezTo>
                  <a:cubicBezTo>
                    <a:pt x="7094" y="15875"/>
                    <a:pt x="0" y="22969"/>
                    <a:pt x="0" y="31750"/>
                  </a:cubicBezTo>
                  <a:lnTo>
                    <a:pt x="0" y="198438"/>
                  </a:lnTo>
                  <a:cubicBezTo>
                    <a:pt x="0" y="220365"/>
                    <a:pt x="17760" y="238125"/>
                    <a:pt x="39688" y="238125"/>
                  </a:cubicBezTo>
                  <a:lnTo>
                    <a:pt x="238125" y="238125"/>
                  </a:lnTo>
                  <a:cubicBezTo>
                    <a:pt x="246906" y="238125"/>
                    <a:pt x="254000" y="231031"/>
                    <a:pt x="254000" y="222250"/>
                  </a:cubicBezTo>
                  <a:cubicBezTo>
                    <a:pt x="254000" y="213469"/>
                    <a:pt x="246906" y="206375"/>
                    <a:pt x="238125" y="206375"/>
                  </a:cubicBezTo>
                  <a:lnTo>
                    <a:pt x="39688" y="206375"/>
                  </a:lnTo>
                  <a:cubicBezTo>
                    <a:pt x="35322" y="206375"/>
                    <a:pt x="31750" y="202803"/>
                    <a:pt x="31750" y="198438"/>
                  </a:cubicBezTo>
                  <a:lnTo>
                    <a:pt x="31750" y="31750"/>
                  </a:lnTo>
                  <a:close/>
                  <a:moveTo>
                    <a:pt x="233462" y="74712"/>
                  </a:moveTo>
                  <a:cubicBezTo>
                    <a:pt x="239663" y="68511"/>
                    <a:pt x="239663" y="58440"/>
                    <a:pt x="233462" y="52239"/>
                  </a:cubicBezTo>
                  <a:cubicBezTo>
                    <a:pt x="227261" y="46037"/>
                    <a:pt x="217190" y="46037"/>
                    <a:pt x="210989" y="52239"/>
                  </a:cubicBezTo>
                  <a:lnTo>
                    <a:pt x="158750" y="104527"/>
                  </a:lnTo>
                  <a:lnTo>
                    <a:pt x="130274" y="76101"/>
                  </a:lnTo>
                  <a:cubicBezTo>
                    <a:pt x="124073" y="69900"/>
                    <a:pt x="114002" y="69900"/>
                    <a:pt x="107801" y="76101"/>
                  </a:cubicBezTo>
                  <a:lnTo>
                    <a:pt x="60176" y="123726"/>
                  </a:lnTo>
                  <a:cubicBezTo>
                    <a:pt x="53975" y="129927"/>
                    <a:pt x="53975" y="139998"/>
                    <a:pt x="60176" y="146199"/>
                  </a:cubicBezTo>
                  <a:cubicBezTo>
                    <a:pt x="66377" y="152400"/>
                    <a:pt x="76448" y="152400"/>
                    <a:pt x="82649" y="146199"/>
                  </a:cubicBezTo>
                  <a:lnTo>
                    <a:pt x="119063" y="109786"/>
                  </a:lnTo>
                  <a:lnTo>
                    <a:pt x="147538" y="138261"/>
                  </a:lnTo>
                  <a:cubicBezTo>
                    <a:pt x="153739" y="144463"/>
                    <a:pt x="163810" y="144463"/>
                    <a:pt x="170011" y="138261"/>
                  </a:cubicBezTo>
                  <a:lnTo>
                    <a:pt x="233511" y="74761"/>
                  </a:lnTo>
                  <a:close/>
                </a:path>
              </a:pathLst>
            </a:custGeom>
            <a:solidFill>
              <a:srgbClr val="FFFFFF"/>
            </a:solidFill>
          </p:spPr>
        </p:sp>
        <p:sp>
          <p:nvSpPr>
            <p:cNvPr id="39" name="Text 37"/>
            <p:cNvSpPr/>
            <p:nvPr/>
          </p:nvSpPr>
          <p:spPr>
            <a:xfrm>
              <a:off x="14633" y="3767"/>
              <a:ext cx="4500" cy="467"/>
            </a:xfrm>
            <a:prstGeom prst="rect">
              <a:avLst/>
            </a:prstGeom>
            <a:noFill/>
          </p:spPr>
          <p:txBody>
            <a:bodyPr wrap="square" lIns="0" tIns="0" rIns="0" bIns="0" rtlCol="0" anchor="ctr"/>
            <a:lstStyle/>
            <a:p>
              <a:pP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依赖兼容性与准确度持续提升</a:t>
              </a:r>
              <a:endParaRPr lang="en-US" sz="1600" dirty="0"/>
            </a:p>
          </p:txBody>
        </p:sp>
        <p:sp>
          <p:nvSpPr>
            <p:cNvPr id="40" name="Text 38"/>
            <p:cNvSpPr/>
            <p:nvPr/>
          </p:nvSpPr>
          <p:spPr>
            <a:xfrm>
              <a:off x="13433" y="4733"/>
              <a:ext cx="11233" cy="26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未来将重点提升</a:t>
              </a:r>
              <a:r>
                <a:rPr lang="en-US" sz="1335" b="1" dirty="0">
                  <a:solidFill>
                    <a:srgbClr val="5A6472"/>
                  </a:solidFill>
                  <a:latin typeface="MiSans" pitchFamily="34" charset="-122"/>
                  <a:ea typeface="MiSans" pitchFamily="34" charset="-122"/>
                  <a:cs typeface="MiSans" pitchFamily="34" charset="-120"/>
                </a:rPr>
                <a:t>依赖兼容性推断的准确性与可信度</a:t>
              </a:r>
              <a:r>
                <a:rPr lang="en-US" sz="1335" dirty="0">
                  <a:solidFill>
                    <a:srgbClr val="E0E2E6">
                      <a:alpha val="80000"/>
                    </a:srgbClr>
                  </a:solidFill>
                  <a:latin typeface="MiSans" pitchFamily="34" charset="-122"/>
                  <a:ea typeface="MiSans" pitchFamily="34" charset="-122"/>
                  <a:cs typeface="MiSans" pitchFamily="34" charset="-120"/>
                </a:rPr>
                <a:t>,包括引入更多真实运行环境信号(如CI成功矩阵、历史构建日志)、构建更完整的包版本兼容性知识库、结合统计规律与智能推断,减少误报与漏报。最终目标是让自动生成的环境配置不仅"看起来合理",而且在实际安装与运行中具备更高的成功率。</a:t>
              </a:r>
              <a:endParaRPr lang="en-US" sz="1600" dirty="0"/>
            </a:p>
          </p:txBody>
        </p:sp>
        <p:sp>
          <p:nvSpPr>
            <p:cNvPr id="41" name="Shape 39"/>
            <p:cNvSpPr/>
            <p:nvPr/>
          </p:nvSpPr>
          <p:spPr>
            <a:xfrm>
              <a:off x="13433" y="7597"/>
              <a:ext cx="3617" cy="1067"/>
            </a:xfrm>
            <a:custGeom>
              <a:avLst/>
              <a:gdLst/>
              <a:ahLst/>
              <a:cxnLst/>
              <a:rect l="l" t="t" r="r" b="b"/>
              <a:pathLst>
                <a:path w="2296583" h="677333">
                  <a:moveTo>
                    <a:pt x="42333" y="0"/>
                  </a:moveTo>
                  <a:lnTo>
                    <a:pt x="2254250" y="0"/>
                  </a:lnTo>
                  <a:cubicBezTo>
                    <a:pt x="2277630" y="0"/>
                    <a:pt x="2296583" y="18953"/>
                    <a:pt x="2296583" y="42333"/>
                  </a:cubicBezTo>
                  <a:lnTo>
                    <a:pt x="2296583" y="635000"/>
                  </a:lnTo>
                  <a:cubicBezTo>
                    <a:pt x="2296583" y="658380"/>
                    <a:pt x="2277630" y="677333"/>
                    <a:pt x="2254250" y="677333"/>
                  </a:cubicBezTo>
                  <a:lnTo>
                    <a:pt x="42333" y="677333"/>
                  </a:lnTo>
                  <a:cubicBezTo>
                    <a:pt x="18953" y="677333"/>
                    <a:pt x="0" y="658380"/>
                    <a:pt x="0" y="635000"/>
                  </a:cubicBezTo>
                  <a:lnTo>
                    <a:pt x="0" y="42333"/>
                  </a:lnTo>
                  <a:cubicBezTo>
                    <a:pt x="0" y="18953"/>
                    <a:pt x="18953" y="0"/>
                    <a:pt x="42333" y="0"/>
                  </a:cubicBezTo>
                  <a:close/>
                </a:path>
              </a:pathLst>
            </a:custGeom>
            <a:solidFill>
              <a:srgbClr val="5A6472">
                <a:alpha val="10196"/>
              </a:srgbClr>
            </a:solidFill>
          </p:spPr>
        </p:sp>
        <p:sp>
          <p:nvSpPr>
            <p:cNvPr id="42" name="Text 40"/>
            <p:cNvSpPr/>
            <p:nvPr/>
          </p:nvSpPr>
          <p:spPr>
            <a:xfrm>
              <a:off x="13517" y="7945"/>
              <a:ext cx="3500" cy="467"/>
            </a:xfrm>
            <a:prstGeom prst="rect">
              <a:avLst/>
            </a:prstGeom>
            <a:noFill/>
          </p:spPr>
          <p:txBody>
            <a:bodyPr wrap="square" lIns="0" tIns="0" rIns="0" bIns="0" rtlCol="0" anchor="ctr"/>
            <a:lstStyle/>
            <a:p>
              <a:pPr algn="ctr">
                <a:lnSpc>
                  <a:spcPct val="130000"/>
                </a:lnSpc>
              </a:pPr>
              <a:r>
                <a:rPr lang="zh-CN" altLang="en-US" sz="1500" b="1" dirty="0">
                  <a:solidFill>
                    <a:srgbClr val="5A6472"/>
                  </a:solidFill>
                  <a:latin typeface="微软雅黑" panose="020B0503020204020204" charset="-122"/>
                  <a:ea typeface="微软雅黑" panose="020B0503020204020204" charset="-122"/>
                  <a:cs typeface="MiSans" pitchFamily="34" charset="-120"/>
                </a:rPr>
                <a:t>提升</a:t>
              </a:r>
              <a:r>
                <a:rPr lang="zh-CN" altLang="en-US" sz="1500" b="1" dirty="0">
                  <a:solidFill>
                    <a:srgbClr val="5A6472"/>
                  </a:solidFill>
                  <a:latin typeface="微软雅黑" panose="020B0503020204020204" charset="-122"/>
                  <a:ea typeface="微软雅黑" panose="020B0503020204020204" charset="-122"/>
                  <a:cs typeface="MiSans" pitchFamily="34" charset="-120"/>
                </a:rPr>
                <a:t>准确率</a:t>
              </a:r>
              <a:endParaRPr lang="zh-CN" altLang="en-US" sz="1500" b="1" dirty="0">
                <a:solidFill>
                  <a:srgbClr val="5A6472"/>
                </a:solidFill>
                <a:latin typeface="微软雅黑" panose="020B0503020204020204" charset="-122"/>
                <a:ea typeface="微软雅黑" panose="020B0503020204020204" charset="-122"/>
                <a:cs typeface="MiSans" pitchFamily="34" charset="-120"/>
              </a:endParaRPr>
            </a:p>
          </p:txBody>
        </p:sp>
        <p:sp>
          <p:nvSpPr>
            <p:cNvPr id="44" name="Shape 42"/>
            <p:cNvSpPr/>
            <p:nvPr/>
          </p:nvSpPr>
          <p:spPr>
            <a:xfrm>
              <a:off x="17178" y="7597"/>
              <a:ext cx="3617" cy="1067"/>
            </a:xfrm>
            <a:custGeom>
              <a:avLst/>
              <a:gdLst/>
              <a:ahLst/>
              <a:cxnLst/>
              <a:rect l="l" t="t" r="r" b="b"/>
              <a:pathLst>
                <a:path w="2296583" h="677333">
                  <a:moveTo>
                    <a:pt x="42333" y="0"/>
                  </a:moveTo>
                  <a:lnTo>
                    <a:pt x="2254250" y="0"/>
                  </a:lnTo>
                  <a:cubicBezTo>
                    <a:pt x="2277630" y="0"/>
                    <a:pt x="2296583" y="18953"/>
                    <a:pt x="2296583" y="42333"/>
                  </a:cubicBezTo>
                  <a:lnTo>
                    <a:pt x="2296583" y="635000"/>
                  </a:lnTo>
                  <a:cubicBezTo>
                    <a:pt x="2296583" y="658380"/>
                    <a:pt x="2277630" y="677333"/>
                    <a:pt x="2254250" y="677333"/>
                  </a:cubicBezTo>
                  <a:lnTo>
                    <a:pt x="42333" y="677333"/>
                  </a:lnTo>
                  <a:cubicBezTo>
                    <a:pt x="18953" y="677333"/>
                    <a:pt x="0" y="658380"/>
                    <a:pt x="0" y="635000"/>
                  </a:cubicBezTo>
                  <a:lnTo>
                    <a:pt x="0" y="42333"/>
                  </a:lnTo>
                  <a:cubicBezTo>
                    <a:pt x="0" y="18953"/>
                    <a:pt x="18953" y="0"/>
                    <a:pt x="42333" y="0"/>
                  </a:cubicBezTo>
                  <a:close/>
                </a:path>
              </a:pathLst>
            </a:custGeom>
            <a:solidFill>
              <a:srgbClr val="5A6472">
                <a:alpha val="10196"/>
              </a:srgbClr>
            </a:solidFill>
          </p:spPr>
        </p:sp>
        <p:sp>
          <p:nvSpPr>
            <p:cNvPr id="45" name="Text 43"/>
            <p:cNvSpPr/>
            <p:nvPr/>
          </p:nvSpPr>
          <p:spPr>
            <a:xfrm>
              <a:off x="17236" y="7929"/>
              <a:ext cx="3500" cy="467"/>
            </a:xfrm>
            <a:prstGeom prst="rect">
              <a:avLst/>
            </a:prstGeom>
            <a:noFill/>
          </p:spPr>
          <p:txBody>
            <a:bodyPr wrap="square" lIns="0" tIns="0" rIns="0" bIns="0" rtlCol="0" anchor="ctr"/>
            <a:lstStyle/>
            <a:p>
              <a:pPr algn="ctr">
                <a:lnSpc>
                  <a:spcPct val="130000"/>
                </a:lnSpc>
              </a:pPr>
              <a:r>
                <a:rPr lang="zh-CN" altLang="en-US" sz="1500" b="1" dirty="0">
                  <a:solidFill>
                    <a:srgbClr val="5A6472"/>
                  </a:solidFill>
                  <a:latin typeface="微软雅黑" panose="020B0503020204020204" charset="-122"/>
                  <a:ea typeface="微软雅黑" panose="020B0503020204020204" charset="-122"/>
                  <a:cs typeface="MiSans" pitchFamily="34" charset="-120"/>
                </a:rPr>
                <a:t>降低</a:t>
              </a:r>
              <a:r>
                <a:rPr lang="zh-CN" altLang="en-US" sz="1500" b="1" dirty="0">
                  <a:solidFill>
                    <a:srgbClr val="5A6472"/>
                  </a:solidFill>
                  <a:latin typeface="微软雅黑" panose="020B0503020204020204" charset="-122"/>
                  <a:ea typeface="微软雅黑" panose="020B0503020204020204" charset="-122"/>
                  <a:cs typeface="MiSans" pitchFamily="34" charset="-120"/>
                </a:rPr>
                <a:t>误报率</a:t>
              </a:r>
              <a:endParaRPr lang="zh-CN" altLang="en-US" sz="1500" b="1" dirty="0">
                <a:solidFill>
                  <a:srgbClr val="5A6472"/>
                </a:solidFill>
                <a:latin typeface="微软雅黑" panose="020B0503020204020204" charset="-122"/>
                <a:ea typeface="微软雅黑" panose="020B0503020204020204" charset="-122"/>
                <a:cs typeface="MiSans" pitchFamily="34" charset="-120"/>
              </a:endParaRPr>
            </a:p>
          </p:txBody>
        </p:sp>
        <p:sp>
          <p:nvSpPr>
            <p:cNvPr id="47" name="Shape 45"/>
            <p:cNvSpPr/>
            <p:nvPr/>
          </p:nvSpPr>
          <p:spPr>
            <a:xfrm>
              <a:off x="20922" y="7597"/>
              <a:ext cx="3617" cy="1067"/>
            </a:xfrm>
            <a:custGeom>
              <a:avLst/>
              <a:gdLst/>
              <a:ahLst/>
              <a:cxnLst/>
              <a:rect l="l" t="t" r="r" b="b"/>
              <a:pathLst>
                <a:path w="2296583" h="677333">
                  <a:moveTo>
                    <a:pt x="42333" y="0"/>
                  </a:moveTo>
                  <a:lnTo>
                    <a:pt x="2254250" y="0"/>
                  </a:lnTo>
                  <a:cubicBezTo>
                    <a:pt x="2277630" y="0"/>
                    <a:pt x="2296583" y="18953"/>
                    <a:pt x="2296583" y="42333"/>
                  </a:cubicBezTo>
                  <a:lnTo>
                    <a:pt x="2296583" y="635000"/>
                  </a:lnTo>
                  <a:cubicBezTo>
                    <a:pt x="2296583" y="658380"/>
                    <a:pt x="2277630" y="677333"/>
                    <a:pt x="2254250" y="677333"/>
                  </a:cubicBezTo>
                  <a:lnTo>
                    <a:pt x="42333" y="677333"/>
                  </a:lnTo>
                  <a:cubicBezTo>
                    <a:pt x="18953" y="677333"/>
                    <a:pt x="0" y="658380"/>
                    <a:pt x="0" y="635000"/>
                  </a:cubicBezTo>
                  <a:lnTo>
                    <a:pt x="0" y="42333"/>
                  </a:lnTo>
                  <a:cubicBezTo>
                    <a:pt x="0" y="18953"/>
                    <a:pt x="18953" y="0"/>
                    <a:pt x="42333" y="0"/>
                  </a:cubicBezTo>
                  <a:close/>
                </a:path>
              </a:pathLst>
            </a:custGeom>
            <a:solidFill>
              <a:srgbClr val="5A6472">
                <a:alpha val="10196"/>
              </a:srgbClr>
            </a:solidFill>
          </p:spPr>
        </p:sp>
        <p:sp>
          <p:nvSpPr>
            <p:cNvPr id="48" name="Text 46"/>
            <p:cNvSpPr/>
            <p:nvPr/>
          </p:nvSpPr>
          <p:spPr>
            <a:xfrm>
              <a:off x="21006" y="7945"/>
              <a:ext cx="3500" cy="467"/>
            </a:xfrm>
            <a:prstGeom prst="rect">
              <a:avLst/>
            </a:prstGeom>
            <a:noFill/>
          </p:spPr>
          <p:txBody>
            <a:bodyPr wrap="square" lIns="0" tIns="0" rIns="0" bIns="0" rtlCol="0" anchor="ctr"/>
            <a:lstStyle/>
            <a:p>
              <a:pPr algn="ctr">
                <a:lnSpc>
                  <a:spcPct val="130000"/>
                </a:lnSpc>
              </a:pPr>
              <a:r>
                <a:rPr lang="zh-CN" altLang="en-US" sz="1500" b="1" dirty="0">
                  <a:solidFill>
                    <a:srgbClr val="5A6472"/>
                  </a:solidFill>
                  <a:latin typeface="微软雅黑" panose="020B0503020204020204" charset="-122"/>
                  <a:ea typeface="微软雅黑" panose="020B0503020204020204" charset="-122"/>
                  <a:cs typeface="MiSans" pitchFamily="34" charset="-120"/>
                </a:rPr>
                <a:t>提高安装</a:t>
              </a:r>
              <a:r>
                <a:rPr lang="zh-CN" altLang="en-US" sz="1500" b="1" dirty="0">
                  <a:solidFill>
                    <a:srgbClr val="5A6472"/>
                  </a:solidFill>
                  <a:latin typeface="微软雅黑" panose="020B0503020204020204" charset="-122"/>
                  <a:ea typeface="微软雅黑" panose="020B0503020204020204" charset="-122"/>
                  <a:cs typeface="MiSans" pitchFamily="34" charset="-120"/>
                </a:rPr>
                <a:t>成功率</a:t>
              </a:r>
              <a:endParaRPr lang="zh-CN" altLang="en-US" sz="1500" b="1" dirty="0">
                <a:solidFill>
                  <a:srgbClr val="5A6472"/>
                </a:solidFill>
                <a:latin typeface="微软雅黑" panose="020B0503020204020204" charset="-122"/>
                <a:ea typeface="微软雅黑" panose="020B0503020204020204" charset="-122"/>
                <a:cs typeface="MiSans" pitchFamily="34" charset="-120"/>
              </a:endParaRPr>
            </a:p>
          </p:txBody>
        </p:sp>
      </p:grpSp>
      <p:grpSp>
        <p:nvGrpSpPr>
          <p:cNvPr id="71" name="组合 70"/>
          <p:cNvGrpSpPr/>
          <p:nvPr/>
        </p:nvGrpSpPr>
        <p:grpSpPr>
          <a:xfrm>
            <a:off x="8244840" y="4589145"/>
            <a:ext cx="7576820" cy="3060000"/>
            <a:chOff x="13000" y="9330"/>
            <a:chExt cx="11932" cy="5932"/>
          </a:xfrm>
        </p:grpSpPr>
        <p:sp>
          <p:nvSpPr>
            <p:cNvPr id="50" name="Shape 48"/>
            <p:cNvSpPr/>
            <p:nvPr/>
          </p:nvSpPr>
          <p:spPr>
            <a:xfrm>
              <a:off x="13000" y="9330"/>
              <a:ext cx="11933" cy="5933"/>
            </a:xfrm>
            <a:custGeom>
              <a:avLst/>
              <a:gdLst/>
              <a:ahLst/>
              <a:cxnLst/>
              <a:rect l="l" t="t" r="r" b="b"/>
              <a:pathLst>
                <a:path w="7577667" h="3767667">
                  <a:moveTo>
                    <a:pt x="42333" y="0"/>
                  </a:moveTo>
                  <a:lnTo>
                    <a:pt x="7450659" y="0"/>
                  </a:lnTo>
                  <a:cubicBezTo>
                    <a:pt x="7520803" y="0"/>
                    <a:pt x="7577667" y="56863"/>
                    <a:pt x="7577667" y="127008"/>
                  </a:cubicBezTo>
                  <a:lnTo>
                    <a:pt x="7577667" y="3640659"/>
                  </a:lnTo>
                  <a:cubicBezTo>
                    <a:pt x="7577667" y="3710803"/>
                    <a:pt x="7520803" y="3767667"/>
                    <a:pt x="7450659" y="3767667"/>
                  </a:cubicBezTo>
                  <a:lnTo>
                    <a:pt x="42333" y="3767667"/>
                  </a:lnTo>
                  <a:cubicBezTo>
                    <a:pt x="18953" y="3767667"/>
                    <a:pt x="0" y="3748713"/>
                    <a:pt x="0" y="3725333"/>
                  </a:cubicBezTo>
                  <a:lnTo>
                    <a:pt x="0" y="42333"/>
                  </a:lnTo>
                  <a:cubicBezTo>
                    <a:pt x="0" y="18953"/>
                    <a:pt x="18953" y="0"/>
                    <a:pt x="42333" y="0"/>
                  </a:cubicBezTo>
                  <a:close/>
                </a:path>
              </a:pathLst>
            </a:custGeom>
            <a:gradFill flip="none" rotWithShape="1">
              <a:gsLst>
                <a:gs pos="0">
                  <a:srgbClr val="3D8F8A">
                    <a:alpha val="15000"/>
                  </a:srgbClr>
                </a:gs>
                <a:gs pos="100000">
                  <a:srgbClr val="000000">
                    <a:alpha val="0"/>
                  </a:srgbClr>
                </a:gs>
              </a:gsLst>
              <a:lin ang="2700000" scaled="1"/>
            </a:gradFill>
          </p:spPr>
        </p:sp>
        <p:sp>
          <p:nvSpPr>
            <p:cNvPr id="51" name="Shape 49"/>
            <p:cNvSpPr/>
            <p:nvPr/>
          </p:nvSpPr>
          <p:spPr>
            <a:xfrm>
              <a:off x="13000" y="9330"/>
              <a:ext cx="67" cy="5933"/>
            </a:xfrm>
            <a:custGeom>
              <a:avLst/>
              <a:gdLst/>
              <a:ahLst/>
              <a:cxnLst/>
              <a:rect l="l" t="t" r="r" b="b"/>
              <a:pathLst>
                <a:path w="42333" h="3767667">
                  <a:moveTo>
                    <a:pt x="42333" y="0"/>
                  </a:moveTo>
                  <a:lnTo>
                    <a:pt x="42333" y="0"/>
                  </a:lnTo>
                  <a:lnTo>
                    <a:pt x="42333" y="3767667"/>
                  </a:lnTo>
                  <a:lnTo>
                    <a:pt x="42333" y="3767667"/>
                  </a:lnTo>
                  <a:cubicBezTo>
                    <a:pt x="18953" y="3767667"/>
                    <a:pt x="0" y="3748713"/>
                    <a:pt x="0" y="3725333"/>
                  </a:cubicBezTo>
                  <a:lnTo>
                    <a:pt x="0" y="42333"/>
                  </a:lnTo>
                  <a:cubicBezTo>
                    <a:pt x="0" y="18953"/>
                    <a:pt x="18953" y="0"/>
                    <a:pt x="42333" y="0"/>
                  </a:cubicBezTo>
                  <a:close/>
                </a:path>
              </a:pathLst>
            </a:custGeom>
            <a:solidFill>
              <a:srgbClr val="3D8F8A"/>
            </a:solidFill>
          </p:spPr>
        </p:sp>
        <p:sp>
          <p:nvSpPr>
            <p:cNvPr id="52" name="Shape 50"/>
            <p:cNvSpPr/>
            <p:nvPr/>
          </p:nvSpPr>
          <p:spPr>
            <a:xfrm>
              <a:off x="13433" y="9730"/>
              <a:ext cx="933" cy="933"/>
            </a:xfrm>
            <a:custGeom>
              <a:avLst/>
              <a:gdLst/>
              <a:ahLst/>
              <a:cxnLst/>
              <a:rect l="l" t="t" r="r" b="b"/>
              <a:pathLst>
                <a:path w="592667" h="592667">
                  <a:moveTo>
                    <a:pt x="127003" y="0"/>
                  </a:moveTo>
                  <a:lnTo>
                    <a:pt x="465664" y="0"/>
                  </a:lnTo>
                  <a:cubicBezTo>
                    <a:pt x="535759" y="0"/>
                    <a:pt x="592667" y="56908"/>
                    <a:pt x="592667" y="127003"/>
                  </a:cubicBezTo>
                  <a:lnTo>
                    <a:pt x="592667" y="465664"/>
                  </a:lnTo>
                  <a:cubicBezTo>
                    <a:pt x="592667" y="535759"/>
                    <a:pt x="535759" y="592667"/>
                    <a:pt x="465664" y="592667"/>
                  </a:cubicBezTo>
                  <a:lnTo>
                    <a:pt x="127003" y="592667"/>
                  </a:lnTo>
                  <a:cubicBezTo>
                    <a:pt x="56908" y="592667"/>
                    <a:pt x="0" y="535759"/>
                    <a:pt x="0" y="465664"/>
                  </a:cubicBezTo>
                  <a:lnTo>
                    <a:pt x="0" y="127003"/>
                  </a:lnTo>
                  <a:cubicBezTo>
                    <a:pt x="0" y="56908"/>
                    <a:pt x="56908" y="0"/>
                    <a:pt x="127003" y="0"/>
                  </a:cubicBezTo>
                  <a:close/>
                </a:path>
              </a:pathLst>
            </a:custGeom>
            <a:solidFill>
              <a:srgbClr val="3D8F8A"/>
            </a:solidFill>
          </p:spPr>
        </p:sp>
        <p:sp>
          <p:nvSpPr>
            <p:cNvPr id="53" name="Shape 51"/>
            <p:cNvSpPr/>
            <p:nvPr/>
          </p:nvSpPr>
          <p:spPr>
            <a:xfrm>
              <a:off x="13700" y="9997"/>
              <a:ext cx="400" cy="400"/>
            </a:xfrm>
            <a:custGeom>
              <a:avLst/>
              <a:gdLst/>
              <a:ahLst/>
              <a:cxnLst/>
              <a:rect l="l" t="t" r="r" b="b"/>
              <a:pathLst>
                <a:path w="254000" h="254000">
                  <a:moveTo>
                    <a:pt x="174575" y="138906"/>
                  </a:moveTo>
                  <a:lnTo>
                    <a:pt x="79871" y="138906"/>
                  </a:lnTo>
                  <a:cubicBezTo>
                    <a:pt x="81310" y="170904"/>
                    <a:pt x="88404" y="200372"/>
                    <a:pt x="98475" y="221952"/>
                  </a:cubicBezTo>
                  <a:cubicBezTo>
                    <a:pt x="104130" y="234107"/>
                    <a:pt x="110232" y="242689"/>
                    <a:pt x="115888" y="247948"/>
                  </a:cubicBezTo>
                  <a:cubicBezTo>
                    <a:pt x="121444" y="253157"/>
                    <a:pt x="125264" y="254000"/>
                    <a:pt x="127248" y="254000"/>
                  </a:cubicBezTo>
                  <a:cubicBezTo>
                    <a:pt x="129232" y="254000"/>
                    <a:pt x="133052" y="253157"/>
                    <a:pt x="138609" y="247948"/>
                  </a:cubicBezTo>
                  <a:cubicBezTo>
                    <a:pt x="144264" y="242689"/>
                    <a:pt x="150366" y="234057"/>
                    <a:pt x="156021" y="221952"/>
                  </a:cubicBezTo>
                  <a:cubicBezTo>
                    <a:pt x="166092" y="200372"/>
                    <a:pt x="173186" y="170904"/>
                    <a:pt x="174625" y="138906"/>
                  </a:cubicBezTo>
                  <a:close/>
                  <a:moveTo>
                    <a:pt x="79821" y="115094"/>
                  </a:moveTo>
                  <a:lnTo>
                    <a:pt x="174526" y="115094"/>
                  </a:lnTo>
                  <a:cubicBezTo>
                    <a:pt x="173137" y="83096"/>
                    <a:pt x="166043" y="53628"/>
                    <a:pt x="155972" y="32048"/>
                  </a:cubicBezTo>
                  <a:cubicBezTo>
                    <a:pt x="150316" y="19943"/>
                    <a:pt x="144214" y="11311"/>
                    <a:pt x="138559" y="6052"/>
                  </a:cubicBezTo>
                  <a:cubicBezTo>
                    <a:pt x="133003" y="843"/>
                    <a:pt x="129183" y="0"/>
                    <a:pt x="127198" y="0"/>
                  </a:cubicBezTo>
                  <a:cubicBezTo>
                    <a:pt x="125214" y="0"/>
                    <a:pt x="121394" y="843"/>
                    <a:pt x="115838" y="6052"/>
                  </a:cubicBezTo>
                  <a:cubicBezTo>
                    <a:pt x="110182" y="11311"/>
                    <a:pt x="104080" y="19943"/>
                    <a:pt x="98425" y="32048"/>
                  </a:cubicBezTo>
                  <a:cubicBezTo>
                    <a:pt x="88354" y="53628"/>
                    <a:pt x="81260" y="83096"/>
                    <a:pt x="79821" y="115094"/>
                  </a:cubicBezTo>
                  <a:close/>
                  <a:moveTo>
                    <a:pt x="56009" y="115094"/>
                  </a:moveTo>
                  <a:cubicBezTo>
                    <a:pt x="57745" y="72628"/>
                    <a:pt x="68709" y="33189"/>
                    <a:pt x="84733" y="7293"/>
                  </a:cubicBezTo>
                  <a:cubicBezTo>
                    <a:pt x="39043" y="23465"/>
                    <a:pt x="5407" y="65088"/>
                    <a:pt x="744" y="115094"/>
                  </a:cubicBezTo>
                  <a:lnTo>
                    <a:pt x="56009" y="115094"/>
                  </a:lnTo>
                  <a:close/>
                  <a:moveTo>
                    <a:pt x="744" y="138906"/>
                  </a:moveTo>
                  <a:cubicBezTo>
                    <a:pt x="5407" y="188913"/>
                    <a:pt x="39043" y="230535"/>
                    <a:pt x="84733" y="246707"/>
                  </a:cubicBezTo>
                  <a:cubicBezTo>
                    <a:pt x="68709" y="220811"/>
                    <a:pt x="57745" y="181372"/>
                    <a:pt x="56009" y="138906"/>
                  </a:cubicBezTo>
                  <a:lnTo>
                    <a:pt x="744" y="138906"/>
                  </a:lnTo>
                  <a:close/>
                  <a:moveTo>
                    <a:pt x="198388" y="138906"/>
                  </a:moveTo>
                  <a:cubicBezTo>
                    <a:pt x="196652" y="181372"/>
                    <a:pt x="185688" y="220811"/>
                    <a:pt x="169664" y="246707"/>
                  </a:cubicBezTo>
                  <a:cubicBezTo>
                    <a:pt x="215354" y="230485"/>
                    <a:pt x="248989" y="188913"/>
                    <a:pt x="253653" y="138906"/>
                  </a:cubicBezTo>
                  <a:lnTo>
                    <a:pt x="198388" y="138906"/>
                  </a:lnTo>
                  <a:close/>
                  <a:moveTo>
                    <a:pt x="253653" y="115094"/>
                  </a:moveTo>
                  <a:cubicBezTo>
                    <a:pt x="248989" y="65088"/>
                    <a:pt x="215354" y="23465"/>
                    <a:pt x="169664" y="7293"/>
                  </a:cubicBezTo>
                  <a:cubicBezTo>
                    <a:pt x="185688" y="33189"/>
                    <a:pt x="196652" y="72628"/>
                    <a:pt x="198388" y="115094"/>
                  </a:cubicBezTo>
                  <a:lnTo>
                    <a:pt x="253653" y="115094"/>
                  </a:lnTo>
                  <a:close/>
                </a:path>
              </a:pathLst>
            </a:custGeom>
            <a:solidFill>
              <a:srgbClr val="FFFFFF"/>
            </a:solidFill>
          </p:spPr>
        </p:sp>
        <p:sp>
          <p:nvSpPr>
            <p:cNvPr id="54" name="Text 52"/>
            <p:cNvSpPr/>
            <p:nvPr/>
          </p:nvSpPr>
          <p:spPr>
            <a:xfrm>
              <a:off x="14633" y="9963"/>
              <a:ext cx="4500" cy="467"/>
            </a:xfrm>
            <a:prstGeom prst="rect">
              <a:avLst/>
            </a:prstGeom>
            <a:noFill/>
          </p:spPr>
          <p:txBody>
            <a:bodyPr wrap="square" lIns="0" tIns="0" rIns="0" bIns="0" rtlCol="0" anchor="ctr"/>
            <a:lstStyle/>
            <a:p>
              <a:pP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多仓库与生态级分析能力拓展</a:t>
              </a:r>
              <a:endParaRPr lang="en-US" sz="1600" dirty="0"/>
            </a:p>
          </p:txBody>
        </p:sp>
        <p:sp>
          <p:nvSpPr>
            <p:cNvPr id="55" name="Text 53"/>
            <p:cNvSpPr/>
            <p:nvPr/>
          </p:nvSpPr>
          <p:spPr>
            <a:xfrm>
              <a:off x="13433" y="10930"/>
              <a:ext cx="11233" cy="2783"/>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从"单仓库分析工具"演进为</a:t>
              </a:r>
              <a:r>
                <a:rPr lang="en-US" sz="1335" b="1" dirty="0">
                  <a:solidFill>
                    <a:srgbClr val="3D8F8A"/>
                  </a:solidFill>
                  <a:latin typeface="MiSans" pitchFamily="34" charset="-122"/>
                  <a:ea typeface="MiSans" pitchFamily="34" charset="-122"/>
                  <a:cs typeface="MiSans" pitchFamily="34" charset="-120"/>
                </a:rPr>
                <a:t>面向开源生态的跨平台、多仓库环境分析与治理工具</a:t>
              </a:r>
              <a:r>
                <a:rPr lang="en-US" sz="1335" dirty="0">
                  <a:solidFill>
                    <a:srgbClr val="E0E2E6">
                      <a:alpha val="80000"/>
                    </a:srgbClr>
                  </a:solidFill>
                  <a:latin typeface="MiSans" pitchFamily="34" charset="-122"/>
                  <a:ea typeface="MiSans" pitchFamily="34" charset="-122"/>
                  <a:cs typeface="MiSans" pitchFamily="34" charset="-120"/>
                </a:rPr>
                <a:t>。扩展对更多代码托管与模型分发平台的支持,如Gitea、GitLab、Hugging Face等,实现对不同仓库结构、API规范的适配,构建开源生态级的依赖治理解决方案。</a:t>
              </a:r>
              <a:endParaRPr lang="en-US" sz="1600" dirty="0"/>
            </a:p>
          </p:txBody>
        </p:sp>
        <p:sp>
          <p:nvSpPr>
            <p:cNvPr id="56" name="Shape 54"/>
            <p:cNvSpPr/>
            <p:nvPr/>
          </p:nvSpPr>
          <p:spPr>
            <a:xfrm>
              <a:off x="13433" y="13916"/>
              <a:ext cx="3617" cy="950"/>
            </a:xfrm>
            <a:custGeom>
              <a:avLst/>
              <a:gdLst/>
              <a:ahLst/>
              <a:cxnLst/>
              <a:rect l="l" t="t" r="r" b="b"/>
              <a:pathLst>
                <a:path w="2296583" h="603250">
                  <a:moveTo>
                    <a:pt x="42336" y="0"/>
                  </a:moveTo>
                  <a:lnTo>
                    <a:pt x="2254247" y="0"/>
                  </a:lnTo>
                  <a:cubicBezTo>
                    <a:pt x="2277629" y="0"/>
                    <a:pt x="2296583" y="18955"/>
                    <a:pt x="2296583" y="42336"/>
                  </a:cubicBezTo>
                  <a:lnTo>
                    <a:pt x="2296583" y="560914"/>
                  </a:lnTo>
                  <a:cubicBezTo>
                    <a:pt x="2296583" y="584295"/>
                    <a:pt x="2277629" y="603250"/>
                    <a:pt x="2254247" y="603250"/>
                  </a:cubicBezTo>
                  <a:lnTo>
                    <a:pt x="42336" y="603250"/>
                  </a:lnTo>
                  <a:cubicBezTo>
                    <a:pt x="18955" y="603250"/>
                    <a:pt x="0" y="584295"/>
                    <a:pt x="0" y="560914"/>
                  </a:cubicBezTo>
                  <a:lnTo>
                    <a:pt x="0" y="42336"/>
                  </a:lnTo>
                  <a:cubicBezTo>
                    <a:pt x="0" y="18970"/>
                    <a:pt x="18970" y="0"/>
                    <a:pt x="42336" y="0"/>
                  </a:cubicBezTo>
                  <a:close/>
                </a:path>
              </a:pathLst>
            </a:custGeom>
            <a:solidFill>
              <a:srgbClr val="3D8F8A">
                <a:alpha val="10196"/>
              </a:srgbClr>
            </a:solidFill>
          </p:spPr>
        </p:sp>
        <p:sp>
          <p:nvSpPr>
            <p:cNvPr id="57" name="Shape 55"/>
            <p:cNvSpPr/>
            <p:nvPr/>
          </p:nvSpPr>
          <p:spPr>
            <a:xfrm>
              <a:off x="15072" y="14049"/>
              <a:ext cx="333" cy="333"/>
            </a:xfrm>
            <a:custGeom>
              <a:avLst/>
              <a:gdLst/>
              <a:ahLst/>
              <a:cxnLst/>
              <a:rect l="l" t="t" r="r" b="b"/>
              <a:pathLst>
                <a:path w="211667" h="211667">
                  <a:moveTo>
                    <a:pt x="71892" y="164290"/>
                  </a:moveTo>
                  <a:cubicBezTo>
                    <a:pt x="71892" y="165117"/>
                    <a:pt x="70941" y="165778"/>
                    <a:pt x="69743" y="165778"/>
                  </a:cubicBezTo>
                  <a:cubicBezTo>
                    <a:pt x="68378" y="165902"/>
                    <a:pt x="67427" y="165241"/>
                    <a:pt x="67427" y="164290"/>
                  </a:cubicBezTo>
                  <a:cubicBezTo>
                    <a:pt x="67427" y="163463"/>
                    <a:pt x="68378" y="162801"/>
                    <a:pt x="69577" y="162801"/>
                  </a:cubicBezTo>
                  <a:cubicBezTo>
                    <a:pt x="70817" y="162677"/>
                    <a:pt x="71892" y="163339"/>
                    <a:pt x="71892" y="164290"/>
                  </a:cubicBezTo>
                  <a:close/>
                  <a:moveTo>
                    <a:pt x="59035" y="162429"/>
                  </a:moveTo>
                  <a:cubicBezTo>
                    <a:pt x="58746" y="163256"/>
                    <a:pt x="59573" y="164207"/>
                    <a:pt x="60813" y="164455"/>
                  </a:cubicBezTo>
                  <a:cubicBezTo>
                    <a:pt x="61888" y="164868"/>
                    <a:pt x="63128" y="164455"/>
                    <a:pt x="63376" y="163628"/>
                  </a:cubicBezTo>
                  <a:cubicBezTo>
                    <a:pt x="63624" y="162801"/>
                    <a:pt x="62839" y="161851"/>
                    <a:pt x="61598" y="161479"/>
                  </a:cubicBezTo>
                  <a:cubicBezTo>
                    <a:pt x="60523" y="161189"/>
                    <a:pt x="59325" y="161603"/>
                    <a:pt x="59035" y="162429"/>
                  </a:cubicBezTo>
                  <a:close/>
                  <a:moveTo>
                    <a:pt x="77308" y="161727"/>
                  </a:moveTo>
                  <a:cubicBezTo>
                    <a:pt x="76109" y="162016"/>
                    <a:pt x="75282" y="162801"/>
                    <a:pt x="75406" y="163752"/>
                  </a:cubicBezTo>
                  <a:cubicBezTo>
                    <a:pt x="75530" y="164579"/>
                    <a:pt x="76605" y="165117"/>
                    <a:pt x="77845" y="164827"/>
                  </a:cubicBezTo>
                  <a:cubicBezTo>
                    <a:pt x="79044" y="164538"/>
                    <a:pt x="79871" y="163752"/>
                    <a:pt x="79747" y="162925"/>
                  </a:cubicBezTo>
                  <a:cubicBezTo>
                    <a:pt x="79623" y="162140"/>
                    <a:pt x="78507" y="161603"/>
                    <a:pt x="77308" y="161727"/>
                  </a:cubicBezTo>
                  <a:close/>
                  <a:moveTo>
                    <a:pt x="104510" y="3307"/>
                  </a:moveTo>
                  <a:cubicBezTo>
                    <a:pt x="47170" y="3307"/>
                    <a:pt x="3307" y="46840"/>
                    <a:pt x="3307" y="104180"/>
                  </a:cubicBezTo>
                  <a:cubicBezTo>
                    <a:pt x="3307" y="150027"/>
                    <a:pt x="32163" y="189260"/>
                    <a:pt x="73381" y="203068"/>
                  </a:cubicBezTo>
                  <a:cubicBezTo>
                    <a:pt x="78672" y="204019"/>
                    <a:pt x="80533" y="200753"/>
                    <a:pt x="80533" y="198065"/>
                  </a:cubicBezTo>
                  <a:cubicBezTo>
                    <a:pt x="80533" y="195502"/>
                    <a:pt x="80409" y="181364"/>
                    <a:pt x="80409" y="172682"/>
                  </a:cubicBezTo>
                  <a:cubicBezTo>
                    <a:pt x="80409" y="172682"/>
                    <a:pt x="51470" y="178883"/>
                    <a:pt x="45393" y="160362"/>
                  </a:cubicBezTo>
                  <a:cubicBezTo>
                    <a:pt x="45393" y="160362"/>
                    <a:pt x="40680" y="148332"/>
                    <a:pt x="33900" y="145231"/>
                  </a:cubicBezTo>
                  <a:cubicBezTo>
                    <a:pt x="33900" y="145231"/>
                    <a:pt x="24433" y="138741"/>
                    <a:pt x="34561" y="138865"/>
                  </a:cubicBezTo>
                  <a:cubicBezTo>
                    <a:pt x="34561" y="138865"/>
                    <a:pt x="44855" y="139692"/>
                    <a:pt x="50519" y="149531"/>
                  </a:cubicBezTo>
                  <a:cubicBezTo>
                    <a:pt x="59573" y="165489"/>
                    <a:pt x="74745" y="160900"/>
                    <a:pt x="80657" y="158171"/>
                  </a:cubicBezTo>
                  <a:cubicBezTo>
                    <a:pt x="81607" y="151557"/>
                    <a:pt x="84295" y="146968"/>
                    <a:pt x="87271" y="144239"/>
                  </a:cubicBezTo>
                  <a:cubicBezTo>
                    <a:pt x="64161" y="141676"/>
                    <a:pt x="40845" y="138327"/>
                    <a:pt x="40845" y="98557"/>
                  </a:cubicBezTo>
                  <a:cubicBezTo>
                    <a:pt x="40845" y="87188"/>
                    <a:pt x="43987" y="81483"/>
                    <a:pt x="50602" y="74207"/>
                  </a:cubicBezTo>
                  <a:cubicBezTo>
                    <a:pt x="49527" y="71520"/>
                    <a:pt x="46013" y="60441"/>
                    <a:pt x="51676" y="46137"/>
                  </a:cubicBezTo>
                  <a:cubicBezTo>
                    <a:pt x="60317" y="43450"/>
                    <a:pt x="80202" y="57299"/>
                    <a:pt x="80202" y="57299"/>
                  </a:cubicBezTo>
                  <a:cubicBezTo>
                    <a:pt x="88470" y="54984"/>
                    <a:pt x="97358" y="53785"/>
                    <a:pt x="106164" y="53785"/>
                  </a:cubicBezTo>
                  <a:cubicBezTo>
                    <a:pt x="114970" y="53785"/>
                    <a:pt x="123858" y="54984"/>
                    <a:pt x="132126" y="57299"/>
                  </a:cubicBezTo>
                  <a:cubicBezTo>
                    <a:pt x="132126" y="57299"/>
                    <a:pt x="152011" y="43408"/>
                    <a:pt x="160652" y="46137"/>
                  </a:cubicBezTo>
                  <a:cubicBezTo>
                    <a:pt x="166315" y="60482"/>
                    <a:pt x="162801" y="71520"/>
                    <a:pt x="161727" y="74207"/>
                  </a:cubicBezTo>
                  <a:cubicBezTo>
                    <a:pt x="168341" y="81525"/>
                    <a:pt x="172393" y="87230"/>
                    <a:pt x="172393" y="98557"/>
                  </a:cubicBezTo>
                  <a:cubicBezTo>
                    <a:pt x="172393" y="138451"/>
                    <a:pt x="148043" y="141635"/>
                    <a:pt x="124933" y="144239"/>
                  </a:cubicBezTo>
                  <a:cubicBezTo>
                    <a:pt x="128736" y="147505"/>
                    <a:pt x="131961" y="153706"/>
                    <a:pt x="131961" y="163422"/>
                  </a:cubicBezTo>
                  <a:cubicBezTo>
                    <a:pt x="131961" y="177354"/>
                    <a:pt x="131837" y="194593"/>
                    <a:pt x="131837" y="197983"/>
                  </a:cubicBezTo>
                  <a:cubicBezTo>
                    <a:pt x="131837" y="200670"/>
                    <a:pt x="133739" y="203936"/>
                    <a:pt x="138989" y="202985"/>
                  </a:cubicBezTo>
                  <a:cubicBezTo>
                    <a:pt x="180330" y="189260"/>
                    <a:pt x="208359" y="150027"/>
                    <a:pt x="208359" y="104180"/>
                  </a:cubicBezTo>
                  <a:cubicBezTo>
                    <a:pt x="208359" y="46840"/>
                    <a:pt x="161851" y="3307"/>
                    <a:pt x="104510" y="3307"/>
                  </a:cubicBezTo>
                  <a:close/>
                  <a:moveTo>
                    <a:pt x="43491" y="145893"/>
                  </a:moveTo>
                  <a:cubicBezTo>
                    <a:pt x="42953" y="146306"/>
                    <a:pt x="43077" y="147257"/>
                    <a:pt x="43780" y="148043"/>
                  </a:cubicBezTo>
                  <a:cubicBezTo>
                    <a:pt x="44442" y="148704"/>
                    <a:pt x="45393" y="148993"/>
                    <a:pt x="45930" y="148456"/>
                  </a:cubicBezTo>
                  <a:cubicBezTo>
                    <a:pt x="46467" y="148043"/>
                    <a:pt x="46343" y="147092"/>
                    <a:pt x="45641" y="146306"/>
                  </a:cubicBezTo>
                  <a:cubicBezTo>
                    <a:pt x="44979" y="145645"/>
                    <a:pt x="44028" y="145355"/>
                    <a:pt x="43491" y="145893"/>
                  </a:cubicBezTo>
                  <a:close/>
                  <a:moveTo>
                    <a:pt x="39026" y="142544"/>
                  </a:moveTo>
                  <a:cubicBezTo>
                    <a:pt x="38737" y="143082"/>
                    <a:pt x="39150" y="143743"/>
                    <a:pt x="39977" y="144157"/>
                  </a:cubicBezTo>
                  <a:cubicBezTo>
                    <a:pt x="40638" y="144570"/>
                    <a:pt x="41465" y="144446"/>
                    <a:pt x="41755" y="143867"/>
                  </a:cubicBezTo>
                  <a:cubicBezTo>
                    <a:pt x="42044" y="143330"/>
                    <a:pt x="41631" y="142668"/>
                    <a:pt x="40804" y="142255"/>
                  </a:cubicBezTo>
                  <a:cubicBezTo>
                    <a:pt x="39977" y="142007"/>
                    <a:pt x="39315" y="142131"/>
                    <a:pt x="39026" y="142544"/>
                  </a:cubicBezTo>
                  <a:close/>
                  <a:moveTo>
                    <a:pt x="52421" y="157262"/>
                  </a:moveTo>
                  <a:cubicBezTo>
                    <a:pt x="51759" y="157799"/>
                    <a:pt x="52007" y="159039"/>
                    <a:pt x="52958" y="159825"/>
                  </a:cubicBezTo>
                  <a:cubicBezTo>
                    <a:pt x="53909" y="160776"/>
                    <a:pt x="55108" y="160900"/>
                    <a:pt x="55645" y="160238"/>
                  </a:cubicBezTo>
                  <a:cubicBezTo>
                    <a:pt x="56183" y="159701"/>
                    <a:pt x="55935" y="158461"/>
                    <a:pt x="55108" y="157675"/>
                  </a:cubicBezTo>
                  <a:cubicBezTo>
                    <a:pt x="54198" y="156724"/>
                    <a:pt x="52958" y="156600"/>
                    <a:pt x="52421" y="157262"/>
                  </a:cubicBezTo>
                  <a:close/>
                  <a:moveTo>
                    <a:pt x="47708" y="151185"/>
                  </a:moveTo>
                  <a:cubicBezTo>
                    <a:pt x="47046" y="151598"/>
                    <a:pt x="47046" y="152673"/>
                    <a:pt x="47708" y="153624"/>
                  </a:cubicBezTo>
                  <a:cubicBezTo>
                    <a:pt x="48369" y="154575"/>
                    <a:pt x="49485" y="154988"/>
                    <a:pt x="50023" y="154575"/>
                  </a:cubicBezTo>
                  <a:cubicBezTo>
                    <a:pt x="50684" y="154037"/>
                    <a:pt x="50684" y="152962"/>
                    <a:pt x="50023" y="152011"/>
                  </a:cubicBezTo>
                  <a:cubicBezTo>
                    <a:pt x="49444" y="151061"/>
                    <a:pt x="48369" y="150647"/>
                    <a:pt x="47708" y="151185"/>
                  </a:cubicBezTo>
                  <a:close/>
                </a:path>
              </a:pathLst>
            </a:custGeom>
            <a:solidFill>
              <a:srgbClr val="3D8F8A"/>
            </a:solidFill>
          </p:spPr>
        </p:sp>
        <p:sp>
          <p:nvSpPr>
            <p:cNvPr id="58" name="Text 56"/>
            <p:cNvSpPr/>
            <p:nvPr/>
          </p:nvSpPr>
          <p:spPr>
            <a:xfrm>
              <a:off x="13517" y="14460"/>
              <a:ext cx="3450" cy="267"/>
            </a:xfrm>
            <a:prstGeom prst="rect">
              <a:avLst/>
            </a:prstGeom>
            <a:noFill/>
          </p:spPr>
          <p:txBody>
            <a:bodyPr wrap="square" lIns="0" tIns="0" rIns="0" bIns="0" rtlCol="0" anchor="ctr"/>
            <a:lstStyle/>
            <a:p>
              <a:pPr algn="ctr">
                <a:lnSpc>
                  <a:spcPct val="110000"/>
                </a:lnSpc>
              </a:pPr>
              <a:r>
                <a:rPr lang="en-US" sz="1000" dirty="0">
                  <a:solidFill>
                    <a:srgbClr val="E0E2E6">
                      <a:alpha val="70000"/>
                    </a:srgbClr>
                  </a:solidFill>
                  <a:latin typeface="MiSans" pitchFamily="34" charset="-122"/>
                  <a:ea typeface="MiSans" pitchFamily="34" charset="-122"/>
                  <a:cs typeface="MiSans" pitchFamily="34" charset="-120"/>
                </a:rPr>
                <a:t>GitHub</a:t>
              </a:r>
              <a:endParaRPr lang="en-US" sz="1600" dirty="0"/>
            </a:p>
          </p:txBody>
        </p:sp>
        <p:sp>
          <p:nvSpPr>
            <p:cNvPr id="59" name="Shape 57"/>
            <p:cNvSpPr/>
            <p:nvPr/>
          </p:nvSpPr>
          <p:spPr>
            <a:xfrm>
              <a:off x="17178" y="13916"/>
              <a:ext cx="3617" cy="950"/>
            </a:xfrm>
            <a:custGeom>
              <a:avLst/>
              <a:gdLst/>
              <a:ahLst/>
              <a:cxnLst/>
              <a:rect l="l" t="t" r="r" b="b"/>
              <a:pathLst>
                <a:path w="2296583" h="603250">
                  <a:moveTo>
                    <a:pt x="42336" y="0"/>
                  </a:moveTo>
                  <a:lnTo>
                    <a:pt x="2254247" y="0"/>
                  </a:lnTo>
                  <a:cubicBezTo>
                    <a:pt x="2277629" y="0"/>
                    <a:pt x="2296583" y="18955"/>
                    <a:pt x="2296583" y="42336"/>
                  </a:cubicBezTo>
                  <a:lnTo>
                    <a:pt x="2296583" y="560914"/>
                  </a:lnTo>
                  <a:cubicBezTo>
                    <a:pt x="2296583" y="584295"/>
                    <a:pt x="2277629" y="603250"/>
                    <a:pt x="2254247" y="603250"/>
                  </a:cubicBezTo>
                  <a:lnTo>
                    <a:pt x="42336" y="603250"/>
                  </a:lnTo>
                  <a:cubicBezTo>
                    <a:pt x="18955" y="603250"/>
                    <a:pt x="0" y="584295"/>
                    <a:pt x="0" y="560914"/>
                  </a:cubicBezTo>
                  <a:lnTo>
                    <a:pt x="0" y="42336"/>
                  </a:lnTo>
                  <a:cubicBezTo>
                    <a:pt x="0" y="18970"/>
                    <a:pt x="18970" y="0"/>
                    <a:pt x="42336" y="0"/>
                  </a:cubicBezTo>
                  <a:close/>
                </a:path>
              </a:pathLst>
            </a:custGeom>
            <a:solidFill>
              <a:srgbClr val="3D8F8A">
                <a:alpha val="10196"/>
              </a:srgbClr>
            </a:solidFill>
          </p:spPr>
        </p:sp>
        <p:sp>
          <p:nvSpPr>
            <p:cNvPr id="60" name="Shape 58"/>
            <p:cNvSpPr/>
            <p:nvPr/>
          </p:nvSpPr>
          <p:spPr>
            <a:xfrm>
              <a:off x="18838" y="14049"/>
              <a:ext cx="292" cy="333"/>
            </a:xfrm>
            <a:custGeom>
              <a:avLst/>
              <a:gdLst/>
              <a:ahLst/>
              <a:cxnLst/>
              <a:rect l="l" t="t" r="r" b="b"/>
              <a:pathLst>
                <a:path w="185208" h="211667">
                  <a:moveTo>
                    <a:pt x="33073" y="42995"/>
                  </a:moveTo>
                  <a:cubicBezTo>
                    <a:pt x="38549" y="42995"/>
                    <a:pt x="42995" y="38549"/>
                    <a:pt x="42995" y="33073"/>
                  </a:cubicBezTo>
                  <a:cubicBezTo>
                    <a:pt x="42995" y="27597"/>
                    <a:pt x="38549" y="23151"/>
                    <a:pt x="33073" y="23151"/>
                  </a:cubicBezTo>
                  <a:cubicBezTo>
                    <a:pt x="27597" y="23151"/>
                    <a:pt x="23151" y="27597"/>
                    <a:pt x="23151" y="33073"/>
                  </a:cubicBezTo>
                  <a:cubicBezTo>
                    <a:pt x="23151" y="38549"/>
                    <a:pt x="27597" y="42995"/>
                    <a:pt x="33073" y="42995"/>
                  </a:cubicBezTo>
                  <a:close/>
                  <a:moveTo>
                    <a:pt x="66146" y="33073"/>
                  </a:moveTo>
                  <a:cubicBezTo>
                    <a:pt x="66146" y="46633"/>
                    <a:pt x="58002" y="58291"/>
                    <a:pt x="46302" y="63376"/>
                  </a:cubicBezTo>
                  <a:lnTo>
                    <a:pt x="46302" y="92604"/>
                  </a:lnTo>
                  <a:lnTo>
                    <a:pt x="119063" y="92604"/>
                  </a:lnTo>
                  <a:cubicBezTo>
                    <a:pt x="130018" y="92604"/>
                    <a:pt x="138906" y="83716"/>
                    <a:pt x="138906" y="72760"/>
                  </a:cubicBezTo>
                  <a:lnTo>
                    <a:pt x="138906" y="63376"/>
                  </a:lnTo>
                  <a:cubicBezTo>
                    <a:pt x="127207" y="58291"/>
                    <a:pt x="119063" y="46633"/>
                    <a:pt x="119063" y="33073"/>
                  </a:cubicBezTo>
                  <a:cubicBezTo>
                    <a:pt x="119063" y="14800"/>
                    <a:pt x="133863" y="0"/>
                    <a:pt x="152135" y="0"/>
                  </a:cubicBezTo>
                  <a:cubicBezTo>
                    <a:pt x="170408" y="0"/>
                    <a:pt x="185208" y="14800"/>
                    <a:pt x="185208" y="33073"/>
                  </a:cubicBezTo>
                  <a:cubicBezTo>
                    <a:pt x="185208" y="46633"/>
                    <a:pt x="177064" y="58291"/>
                    <a:pt x="165365" y="63376"/>
                  </a:cubicBezTo>
                  <a:lnTo>
                    <a:pt x="165365" y="72760"/>
                  </a:lnTo>
                  <a:cubicBezTo>
                    <a:pt x="165365" y="98351"/>
                    <a:pt x="144653" y="119063"/>
                    <a:pt x="119063" y="119063"/>
                  </a:cubicBezTo>
                  <a:lnTo>
                    <a:pt x="46302" y="119063"/>
                  </a:lnTo>
                  <a:lnTo>
                    <a:pt x="46302" y="148291"/>
                  </a:lnTo>
                  <a:cubicBezTo>
                    <a:pt x="58002" y="153376"/>
                    <a:pt x="66146" y="165034"/>
                    <a:pt x="66146" y="178594"/>
                  </a:cubicBezTo>
                  <a:cubicBezTo>
                    <a:pt x="66146" y="196867"/>
                    <a:pt x="51346" y="211667"/>
                    <a:pt x="33073" y="211667"/>
                  </a:cubicBezTo>
                  <a:cubicBezTo>
                    <a:pt x="14800" y="211667"/>
                    <a:pt x="0" y="196867"/>
                    <a:pt x="0" y="178594"/>
                  </a:cubicBezTo>
                  <a:cubicBezTo>
                    <a:pt x="0" y="165034"/>
                    <a:pt x="8144" y="153376"/>
                    <a:pt x="19844" y="148291"/>
                  </a:cubicBezTo>
                  <a:lnTo>
                    <a:pt x="19844" y="63417"/>
                  </a:lnTo>
                  <a:cubicBezTo>
                    <a:pt x="8144" y="58291"/>
                    <a:pt x="0" y="46633"/>
                    <a:pt x="0" y="33073"/>
                  </a:cubicBezTo>
                  <a:cubicBezTo>
                    <a:pt x="0" y="14800"/>
                    <a:pt x="14800" y="0"/>
                    <a:pt x="33073" y="0"/>
                  </a:cubicBezTo>
                  <a:cubicBezTo>
                    <a:pt x="51346" y="0"/>
                    <a:pt x="66146" y="14800"/>
                    <a:pt x="66146" y="33073"/>
                  </a:cubicBezTo>
                  <a:close/>
                  <a:moveTo>
                    <a:pt x="162057" y="33073"/>
                  </a:moveTo>
                  <a:cubicBezTo>
                    <a:pt x="162057" y="27597"/>
                    <a:pt x="157611" y="23151"/>
                    <a:pt x="152135" y="23151"/>
                  </a:cubicBezTo>
                  <a:cubicBezTo>
                    <a:pt x="146659" y="23151"/>
                    <a:pt x="142214" y="27597"/>
                    <a:pt x="142214" y="33073"/>
                  </a:cubicBezTo>
                  <a:cubicBezTo>
                    <a:pt x="142214" y="38549"/>
                    <a:pt x="146659" y="42995"/>
                    <a:pt x="152135" y="42995"/>
                  </a:cubicBezTo>
                  <a:cubicBezTo>
                    <a:pt x="157611" y="42995"/>
                    <a:pt x="162057" y="38549"/>
                    <a:pt x="162057" y="33073"/>
                  </a:cubicBezTo>
                  <a:close/>
                  <a:moveTo>
                    <a:pt x="33073" y="188516"/>
                  </a:moveTo>
                  <a:cubicBezTo>
                    <a:pt x="38549" y="188516"/>
                    <a:pt x="42995" y="184070"/>
                    <a:pt x="42995" y="178594"/>
                  </a:cubicBezTo>
                  <a:cubicBezTo>
                    <a:pt x="42995" y="173118"/>
                    <a:pt x="38549" y="168672"/>
                    <a:pt x="33073" y="168672"/>
                  </a:cubicBezTo>
                  <a:cubicBezTo>
                    <a:pt x="27597" y="168672"/>
                    <a:pt x="23151" y="173118"/>
                    <a:pt x="23151" y="178594"/>
                  </a:cubicBezTo>
                  <a:cubicBezTo>
                    <a:pt x="23151" y="184070"/>
                    <a:pt x="27597" y="188516"/>
                    <a:pt x="33073" y="188516"/>
                  </a:cubicBezTo>
                  <a:close/>
                </a:path>
              </a:pathLst>
            </a:custGeom>
            <a:solidFill>
              <a:srgbClr val="3D8F8A"/>
            </a:solidFill>
          </p:spPr>
        </p:sp>
        <p:sp>
          <p:nvSpPr>
            <p:cNvPr id="61" name="Text 59"/>
            <p:cNvSpPr/>
            <p:nvPr/>
          </p:nvSpPr>
          <p:spPr>
            <a:xfrm>
              <a:off x="17261" y="14460"/>
              <a:ext cx="3450" cy="267"/>
            </a:xfrm>
            <a:prstGeom prst="rect">
              <a:avLst/>
            </a:prstGeom>
            <a:noFill/>
          </p:spPr>
          <p:txBody>
            <a:bodyPr wrap="square" lIns="0" tIns="0" rIns="0" bIns="0" rtlCol="0" anchor="ctr"/>
            <a:lstStyle/>
            <a:p>
              <a:pPr algn="ctr">
                <a:lnSpc>
                  <a:spcPct val="110000"/>
                </a:lnSpc>
              </a:pPr>
              <a:r>
                <a:rPr lang="en-US" sz="1000" dirty="0">
                  <a:solidFill>
                    <a:srgbClr val="E0E2E6">
                      <a:alpha val="70000"/>
                    </a:srgbClr>
                  </a:solidFill>
                  <a:latin typeface="MiSans" pitchFamily="34" charset="-122"/>
                  <a:ea typeface="MiSans" pitchFamily="34" charset="-122"/>
                  <a:cs typeface="MiSans" pitchFamily="34" charset="-120"/>
                </a:rPr>
                <a:t>GitLab</a:t>
              </a:r>
              <a:endParaRPr lang="en-US" sz="1600" dirty="0"/>
            </a:p>
          </p:txBody>
        </p:sp>
        <p:sp>
          <p:nvSpPr>
            <p:cNvPr id="62" name="Shape 60"/>
            <p:cNvSpPr/>
            <p:nvPr/>
          </p:nvSpPr>
          <p:spPr>
            <a:xfrm>
              <a:off x="20922" y="13916"/>
              <a:ext cx="3617" cy="950"/>
            </a:xfrm>
            <a:custGeom>
              <a:avLst/>
              <a:gdLst/>
              <a:ahLst/>
              <a:cxnLst/>
              <a:rect l="l" t="t" r="r" b="b"/>
              <a:pathLst>
                <a:path w="2296583" h="603250">
                  <a:moveTo>
                    <a:pt x="42336" y="0"/>
                  </a:moveTo>
                  <a:lnTo>
                    <a:pt x="2254247" y="0"/>
                  </a:lnTo>
                  <a:cubicBezTo>
                    <a:pt x="2277629" y="0"/>
                    <a:pt x="2296583" y="18955"/>
                    <a:pt x="2296583" y="42336"/>
                  </a:cubicBezTo>
                  <a:lnTo>
                    <a:pt x="2296583" y="560914"/>
                  </a:lnTo>
                  <a:cubicBezTo>
                    <a:pt x="2296583" y="584295"/>
                    <a:pt x="2277629" y="603250"/>
                    <a:pt x="2254247" y="603250"/>
                  </a:cubicBezTo>
                  <a:lnTo>
                    <a:pt x="42336" y="603250"/>
                  </a:lnTo>
                  <a:cubicBezTo>
                    <a:pt x="18955" y="603250"/>
                    <a:pt x="0" y="584295"/>
                    <a:pt x="0" y="560914"/>
                  </a:cubicBezTo>
                  <a:lnTo>
                    <a:pt x="0" y="42336"/>
                  </a:lnTo>
                  <a:cubicBezTo>
                    <a:pt x="0" y="18970"/>
                    <a:pt x="18970" y="0"/>
                    <a:pt x="42336" y="0"/>
                  </a:cubicBezTo>
                  <a:close/>
                </a:path>
              </a:pathLst>
            </a:custGeom>
            <a:solidFill>
              <a:srgbClr val="3D8F8A">
                <a:alpha val="10196"/>
              </a:srgbClr>
            </a:solidFill>
          </p:spPr>
        </p:sp>
        <p:sp>
          <p:nvSpPr>
            <p:cNvPr id="63" name="Shape 61"/>
            <p:cNvSpPr/>
            <p:nvPr/>
          </p:nvSpPr>
          <p:spPr>
            <a:xfrm>
              <a:off x="22561" y="14049"/>
              <a:ext cx="333" cy="333"/>
            </a:xfrm>
            <a:custGeom>
              <a:avLst/>
              <a:gdLst/>
              <a:ahLst/>
              <a:cxnLst/>
              <a:rect l="l" t="t" r="r" b="b"/>
              <a:pathLst>
                <a:path w="211667" h="211667">
                  <a:moveTo>
                    <a:pt x="49609" y="23151"/>
                  </a:moveTo>
                  <a:cubicBezTo>
                    <a:pt x="49609" y="10377"/>
                    <a:pt x="59986" y="0"/>
                    <a:pt x="72760" y="0"/>
                  </a:cubicBezTo>
                  <a:lnTo>
                    <a:pt x="82682" y="0"/>
                  </a:lnTo>
                  <a:cubicBezTo>
                    <a:pt x="90000" y="0"/>
                    <a:pt x="95911" y="5912"/>
                    <a:pt x="95911" y="13229"/>
                  </a:cubicBezTo>
                  <a:lnTo>
                    <a:pt x="95911" y="198438"/>
                  </a:lnTo>
                  <a:cubicBezTo>
                    <a:pt x="95911" y="205755"/>
                    <a:pt x="90000" y="211667"/>
                    <a:pt x="82682" y="211667"/>
                  </a:cubicBezTo>
                  <a:lnTo>
                    <a:pt x="69453" y="211667"/>
                  </a:lnTo>
                  <a:cubicBezTo>
                    <a:pt x="57133" y="211667"/>
                    <a:pt x="46757" y="203233"/>
                    <a:pt x="43822" y="191823"/>
                  </a:cubicBezTo>
                  <a:cubicBezTo>
                    <a:pt x="43532" y="191823"/>
                    <a:pt x="43284" y="191823"/>
                    <a:pt x="42995" y="191823"/>
                  </a:cubicBezTo>
                  <a:cubicBezTo>
                    <a:pt x="24722" y="191823"/>
                    <a:pt x="9922" y="177023"/>
                    <a:pt x="9922" y="158750"/>
                  </a:cubicBezTo>
                  <a:cubicBezTo>
                    <a:pt x="9922" y="151309"/>
                    <a:pt x="12402" y="144446"/>
                    <a:pt x="16536" y="138906"/>
                  </a:cubicBezTo>
                  <a:cubicBezTo>
                    <a:pt x="8516" y="132870"/>
                    <a:pt x="3307" y="123279"/>
                    <a:pt x="3307" y="112448"/>
                  </a:cubicBezTo>
                  <a:cubicBezTo>
                    <a:pt x="3307" y="99674"/>
                    <a:pt x="10583" y="88553"/>
                    <a:pt x="21167" y="83054"/>
                  </a:cubicBezTo>
                  <a:cubicBezTo>
                    <a:pt x="18231" y="78093"/>
                    <a:pt x="16536" y="72306"/>
                    <a:pt x="16536" y="66146"/>
                  </a:cubicBezTo>
                  <a:cubicBezTo>
                    <a:pt x="16536" y="47873"/>
                    <a:pt x="31337" y="33073"/>
                    <a:pt x="49609" y="33073"/>
                  </a:cubicBezTo>
                  <a:lnTo>
                    <a:pt x="49609" y="23151"/>
                  </a:lnTo>
                  <a:close/>
                  <a:moveTo>
                    <a:pt x="162057" y="23151"/>
                  </a:moveTo>
                  <a:lnTo>
                    <a:pt x="162057" y="33073"/>
                  </a:lnTo>
                  <a:cubicBezTo>
                    <a:pt x="180330" y="33073"/>
                    <a:pt x="195130" y="47873"/>
                    <a:pt x="195130" y="66146"/>
                  </a:cubicBezTo>
                  <a:cubicBezTo>
                    <a:pt x="195130" y="72347"/>
                    <a:pt x="193435" y="78135"/>
                    <a:pt x="190500" y="83054"/>
                  </a:cubicBezTo>
                  <a:cubicBezTo>
                    <a:pt x="201125" y="88553"/>
                    <a:pt x="208359" y="99632"/>
                    <a:pt x="208359" y="112448"/>
                  </a:cubicBezTo>
                  <a:cubicBezTo>
                    <a:pt x="208359" y="123279"/>
                    <a:pt x="203150" y="132870"/>
                    <a:pt x="195130" y="138906"/>
                  </a:cubicBezTo>
                  <a:cubicBezTo>
                    <a:pt x="199264" y="144446"/>
                    <a:pt x="201745" y="151309"/>
                    <a:pt x="201745" y="158750"/>
                  </a:cubicBezTo>
                  <a:cubicBezTo>
                    <a:pt x="201745" y="177023"/>
                    <a:pt x="186945" y="191823"/>
                    <a:pt x="168672" y="191823"/>
                  </a:cubicBezTo>
                  <a:cubicBezTo>
                    <a:pt x="168382" y="191823"/>
                    <a:pt x="168134" y="191823"/>
                    <a:pt x="167845" y="191823"/>
                  </a:cubicBezTo>
                  <a:cubicBezTo>
                    <a:pt x="164910" y="203233"/>
                    <a:pt x="154533" y="211667"/>
                    <a:pt x="142214" y="211667"/>
                  </a:cubicBezTo>
                  <a:lnTo>
                    <a:pt x="128984" y="211667"/>
                  </a:lnTo>
                  <a:cubicBezTo>
                    <a:pt x="121667" y="211667"/>
                    <a:pt x="115755" y="205755"/>
                    <a:pt x="115755" y="198438"/>
                  </a:cubicBezTo>
                  <a:lnTo>
                    <a:pt x="115755" y="13229"/>
                  </a:lnTo>
                  <a:cubicBezTo>
                    <a:pt x="115755" y="5912"/>
                    <a:pt x="121667" y="0"/>
                    <a:pt x="128984" y="0"/>
                  </a:cubicBezTo>
                  <a:lnTo>
                    <a:pt x="138906" y="0"/>
                  </a:lnTo>
                  <a:cubicBezTo>
                    <a:pt x="151681" y="0"/>
                    <a:pt x="162057" y="10377"/>
                    <a:pt x="162057" y="23151"/>
                  </a:cubicBezTo>
                  <a:close/>
                </a:path>
              </a:pathLst>
            </a:custGeom>
            <a:solidFill>
              <a:srgbClr val="3D8F8A"/>
            </a:solidFill>
          </p:spPr>
        </p:sp>
        <p:sp>
          <p:nvSpPr>
            <p:cNvPr id="64" name="Text 62"/>
            <p:cNvSpPr/>
            <p:nvPr/>
          </p:nvSpPr>
          <p:spPr>
            <a:xfrm>
              <a:off x="21006" y="14460"/>
              <a:ext cx="3450" cy="267"/>
            </a:xfrm>
            <a:prstGeom prst="rect">
              <a:avLst/>
            </a:prstGeom>
            <a:noFill/>
          </p:spPr>
          <p:txBody>
            <a:bodyPr wrap="square" lIns="0" tIns="0" rIns="0" bIns="0" rtlCol="0" anchor="ctr"/>
            <a:lstStyle/>
            <a:p>
              <a:pPr algn="ctr">
                <a:lnSpc>
                  <a:spcPct val="110000"/>
                </a:lnSpc>
              </a:pPr>
              <a:r>
                <a:rPr lang="en-US" sz="1000" dirty="0">
                  <a:solidFill>
                    <a:srgbClr val="E0E2E6">
                      <a:alpha val="70000"/>
                    </a:srgbClr>
                  </a:solidFill>
                  <a:latin typeface="MiSans" pitchFamily="34" charset="-122"/>
                  <a:ea typeface="MiSans" pitchFamily="34" charset="-122"/>
                  <a:cs typeface="MiSans" pitchFamily="34" charset="-120"/>
                </a:rPr>
                <a:t>HuggingFace</a:t>
              </a:r>
              <a:endParaRPr lang="en-US" sz="1600" dirty="0"/>
            </a:p>
          </p:txBody>
        </p:sp>
      </p:grpSp>
      <p:grpSp>
        <p:nvGrpSpPr>
          <p:cNvPr id="74" name="组合 73"/>
          <p:cNvGrpSpPr/>
          <p:nvPr/>
        </p:nvGrpSpPr>
        <p:grpSpPr>
          <a:xfrm>
            <a:off x="444500" y="7692390"/>
            <a:ext cx="15387320" cy="1153160"/>
            <a:chOff x="700" y="12114"/>
            <a:chExt cx="24232" cy="1816"/>
          </a:xfrm>
        </p:grpSpPr>
        <p:sp>
          <p:nvSpPr>
            <p:cNvPr id="65" name="Shape 63"/>
            <p:cNvSpPr/>
            <p:nvPr/>
          </p:nvSpPr>
          <p:spPr>
            <a:xfrm>
              <a:off x="700" y="12114"/>
              <a:ext cx="24233" cy="1817"/>
            </a:xfrm>
            <a:custGeom>
              <a:avLst/>
              <a:gdLst/>
              <a:ahLst/>
              <a:cxnLst/>
              <a:rect l="l" t="t" r="r" b="b"/>
              <a:pathLst>
                <a:path w="15388167" h="1375833">
                  <a:moveTo>
                    <a:pt x="127003" y="0"/>
                  </a:moveTo>
                  <a:lnTo>
                    <a:pt x="15261163" y="0"/>
                  </a:lnTo>
                  <a:cubicBezTo>
                    <a:pt x="15331305" y="0"/>
                    <a:pt x="15388167" y="56861"/>
                    <a:pt x="15388167" y="127003"/>
                  </a:cubicBezTo>
                  <a:lnTo>
                    <a:pt x="15388167" y="1248830"/>
                  </a:lnTo>
                  <a:cubicBezTo>
                    <a:pt x="15388167" y="1318972"/>
                    <a:pt x="15331305" y="1375833"/>
                    <a:pt x="15261163" y="1375833"/>
                  </a:cubicBezTo>
                  <a:lnTo>
                    <a:pt x="127003" y="1375833"/>
                  </a:lnTo>
                  <a:cubicBezTo>
                    <a:pt x="56861" y="1375833"/>
                    <a:pt x="0" y="1318972"/>
                    <a:pt x="0" y="1248830"/>
                  </a:cubicBezTo>
                  <a:lnTo>
                    <a:pt x="0" y="127003"/>
                  </a:lnTo>
                  <a:cubicBezTo>
                    <a:pt x="0" y="56908"/>
                    <a:pt x="56908" y="0"/>
                    <a:pt x="127003" y="0"/>
                  </a:cubicBezTo>
                  <a:close/>
                </a:path>
              </a:pathLst>
            </a:custGeom>
            <a:gradFill flip="none" rotWithShape="1">
              <a:gsLst>
                <a:gs pos="0">
                  <a:srgbClr val="3D8F8A">
                    <a:alpha val="15000"/>
                  </a:srgbClr>
                </a:gs>
                <a:gs pos="50000">
                  <a:srgbClr val="E5A044">
                    <a:alpha val="10000"/>
                  </a:srgbClr>
                </a:gs>
                <a:gs pos="100000">
                  <a:srgbClr val="3D8F8A">
                    <a:alpha val="15000"/>
                  </a:srgbClr>
                </a:gs>
              </a:gsLst>
              <a:lin ang="0" scaled="1"/>
            </a:gradFill>
            <a:ln w="25400">
              <a:solidFill>
                <a:srgbClr val="E5A044">
                  <a:alpha val="30196"/>
                </a:srgbClr>
              </a:solidFill>
              <a:prstDash val="solid"/>
            </a:ln>
          </p:spPr>
        </p:sp>
        <p:sp>
          <p:nvSpPr>
            <p:cNvPr id="66" name="Shape 64"/>
            <p:cNvSpPr/>
            <p:nvPr/>
          </p:nvSpPr>
          <p:spPr>
            <a:xfrm>
              <a:off x="1117" y="12659"/>
              <a:ext cx="500" cy="327"/>
            </a:xfrm>
            <a:custGeom>
              <a:avLst/>
              <a:gdLst/>
              <a:ahLst/>
              <a:cxnLst/>
              <a:rect l="l" t="t" r="r" b="b"/>
              <a:pathLst>
                <a:path w="317500" h="317500">
                  <a:moveTo>
                    <a:pt x="79375" y="198438"/>
                  </a:moveTo>
                  <a:lnTo>
                    <a:pt x="15193" y="198438"/>
                  </a:lnTo>
                  <a:cubicBezTo>
                    <a:pt x="-248" y="198438"/>
                    <a:pt x="-9736" y="181632"/>
                    <a:pt x="-1798" y="168362"/>
                  </a:cubicBezTo>
                  <a:lnTo>
                    <a:pt x="31006" y="113667"/>
                  </a:lnTo>
                  <a:cubicBezTo>
                    <a:pt x="36401" y="104676"/>
                    <a:pt x="46075" y="99219"/>
                    <a:pt x="56555" y="99219"/>
                  </a:cubicBezTo>
                  <a:lnTo>
                    <a:pt x="115466" y="99219"/>
                  </a:lnTo>
                  <a:cubicBezTo>
                    <a:pt x="162657" y="19286"/>
                    <a:pt x="233040" y="15255"/>
                    <a:pt x="280107" y="22138"/>
                  </a:cubicBezTo>
                  <a:cubicBezTo>
                    <a:pt x="288044" y="23316"/>
                    <a:pt x="294246" y="29518"/>
                    <a:pt x="295362" y="37393"/>
                  </a:cubicBezTo>
                  <a:cubicBezTo>
                    <a:pt x="302245" y="84460"/>
                    <a:pt x="298214" y="154843"/>
                    <a:pt x="218281" y="202034"/>
                  </a:cubicBezTo>
                  <a:lnTo>
                    <a:pt x="218281" y="260945"/>
                  </a:lnTo>
                  <a:cubicBezTo>
                    <a:pt x="218281" y="271425"/>
                    <a:pt x="212824" y="281099"/>
                    <a:pt x="203833" y="286494"/>
                  </a:cubicBezTo>
                  <a:lnTo>
                    <a:pt x="149138" y="319298"/>
                  </a:lnTo>
                  <a:cubicBezTo>
                    <a:pt x="135930" y="327236"/>
                    <a:pt x="119062" y="317686"/>
                    <a:pt x="119062" y="302307"/>
                  </a:cubicBezTo>
                  <a:lnTo>
                    <a:pt x="119062" y="238125"/>
                  </a:lnTo>
                  <a:cubicBezTo>
                    <a:pt x="119062" y="216235"/>
                    <a:pt x="101265" y="198438"/>
                    <a:pt x="79375" y="198438"/>
                  </a:cubicBezTo>
                  <a:lnTo>
                    <a:pt x="79313" y="198438"/>
                  </a:lnTo>
                  <a:close/>
                  <a:moveTo>
                    <a:pt x="248047" y="99219"/>
                  </a:moveTo>
                  <a:cubicBezTo>
                    <a:pt x="248047" y="82791"/>
                    <a:pt x="234709" y="69453"/>
                    <a:pt x="218281" y="69453"/>
                  </a:cubicBezTo>
                  <a:cubicBezTo>
                    <a:pt x="201853" y="69453"/>
                    <a:pt x="188516" y="82791"/>
                    <a:pt x="188516" y="99219"/>
                  </a:cubicBezTo>
                  <a:cubicBezTo>
                    <a:pt x="188516" y="115647"/>
                    <a:pt x="201853" y="128984"/>
                    <a:pt x="218281" y="128984"/>
                  </a:cubicBezTo>
                  <a:cubicBezTo>
                    <a:pt x="234709" y="128984"/>
                    <a:pt x="248047" y="115647"/>
                    <a:pt x="248047" y="99219"/>
                  </a:cubicBezTo>
                  <a:close/>
                </a:path>
              </a:pathLst>
            </a:custGeom>
            <a:solidFill>
              <a:srgbClr val="E5A044"/>
            </a:solidFill>
          </p:spPr>
        </p:sp>
        <p:sp>
          <p:nvSpPr>
            <p:cNvPr id="67" name="Text 65"/>
            <p:cNvSpPr/>
            <p:nvPr/>
          </p:nvSpPr>
          <p:spPr>
            <a:xfrm>
              <a:off x="1942" y="12343"/>
              <a:ext cx="22817" cy="305"/>
            </a:xfrm>
            <a:prstGeom prst="rect">
              <a:avLst/>
            </a:prstGeom>
            <a:noFill/>
          </p:spPr>
          <p:txBody>
            <a:bodyPr wrap="square" lIns="0" tIns="0" rIns="0" bIns="0" rtlCol="0" anchor="ctr"/>
            <a:lstStyle/>
            <a:p>
              <a:pPr>
                <a:lnSpc>
                  <a:spcPct val="120000"/>
                </a:lnSpc>
              </a:pPr>
              <a:r>
                <a:rPr lang="en-US" sz="1665" b="1" dirty="0">
                  <a:solidFill>
                    <a:srgbClr val="E0E2E6"/>
                  </a:solidFill>
                  <a:latin typeface="阿里妈妈数黑体" pitchFamily="34" charset="-122"/>
                  <a:ea typeface="阿里妈妈数黑体" pitchFamily="34" charset="-122"/>
                  <a:cs typeface="阿里妈妈数黑体" pitchFamily="34" charset="-120"/>
                </a:rPr>
                <a:t>清晰的推广路径与广泛的潜在适用性</a:t>
              </a:r>
              <a:endParaRPr lang="en-US" sz="1600" dirty="0"/>
            </a:p>
          </p:txBody>
        </p:sp>
        <p:sp>
          <p:nvSpPr>
            <p:cNvPr id="68" name="Text 66"/>
            <p:cNvSpPr/>
            <p:nvPr/>
          </p:nvSpPr>
          <p:spPr>
            <a:xfrm>
              <a:off x="1942" y="12736"/>
              <a:ext cx="22783" cy="867"/>
            </a:xfrm>
            <a:prstGeom prst="rect">
              <a:avLst/>
            </a:prstGeom>
            <a:noFill/>
          </p:spPr>
          <p:txBody>
            <a:bodyPr wrap="square" lIns="0" tIns="0" rIns="0" bIns="0" rtlCol="0" anchor="ctr"/>
            <a:lstStyle/>
            <a:p>
              <a:pPr>
                <a:lnSpc>
                  <a:spcPct val="140000"/>
                </a:lnSpc>
              </a:pPr>
              <a:r>
                <a:rPr lang="en-US" sz="1335" dirty="0">
                  <a:solidFill>
                    <a:srgbClr val="E0E2E6">
                      <a:alpha val="80000"/>
                    </a:srgbClr>
                  </a:solidFill>
                  <a:latin typeface="MiSans" pitchFamily="34" charset="-122"/>
                  <a:ea typeface="MiSans" pitchFamily="34" charset="-122"/>
                  <a:cs typeface="MiSans" pitchFamily="34" charset="-120"/>
                </a:rPr>
                <a:t>项目具备</a:t>
              </a:r>
              <a:r>
                <a:rPr lang="en-US" sz="1335" b="1" dirty="0">
                  <a:solidFill>
                    <a:srgbClr val="3D8F8A"/>
                  </a:solidFill>
                  <a:latin typeface="MiSans" pitchFamily="34" charset="-122"/>
                  <a:ea typeface="MiSans" pitchFamily="34" charset="-122"/>
                  <a:cs typeface="MiSans" pitchFamily="34" charset="-120"/>
                </a:rPr>
                <a:t>明确的应用场景</a:t>
              </a:r>
              <a:r>
                <a:rPr lang="en-US" sz="1335" dirty="0">
                  <a:solidFill>
                    <a:srgbClr val="E0E2E6">
                      <a:alpha val="80000"/>
                    </a:srgbClr>
                  </a:solidFill>
                  <a:latin typeface="MiSans" pitchFamily="34" charset="-122"/>
                  <a:ea typeface="MiSans" pitchFamily="34" charset="-122"/>
                  <a:cs typeface="MiSans" pitchFamily="34" charset="-120"/>
                </a:rPr>
                <a:t>、</a:t>
              </a:r>
              <a:r>
                <a:rPr lang="en-US" sz="1335" b="1" dirty="0">
                  <a:solidFill>
                    <a:srgbClr val="E5A044"/>
                  </a:solidFill>
                  <a:latin typeface="MiSans" pitchFamily="34" charset="-122"/>
                  <a:ea typeface="MiSans" pitchFamily="34" charset="-122"/>
                  <a:cs typeface="MiSans" pitchFamily="34" charset="-120"/>
                </a:rPr>
                <a:t>显著的价值效益</a:t>
              </a:r>
              <a:r>
                <a:rPr lang="en-US" sz="1335" dirty="0">
                  <a:solidFill>
                    <a:srgbClr val="E0E2E6">
                      <a:alpha val="80000"/>
                    </a:srgbClr>
                  </a:solidFill>
                  <a:latin typeface="MiSans" pitchFamily="34" charset="-122"/>
                  <a:ea typeface="MiSans" pitchFamily="34" charset="-122"/>
                  <a:cs typeface="MiSans" pitchFamily="34" charset="-120"/>
                </a:rPr>
                <a:t>和</a:t>
              </a:r>
              <a:r>
                <a:rPr lang="en-US" sz="1335" b="1" dirty="0">
                  <a:solidFill>
                    <a:srgbClr val="5A6472"/>
                  </a:solidFill>
                  <a:latin typeface="MiSans" pitchFamily="34" charset="-122"/>
                  <a:ea typeface="MiSans" pitchFamily="34" charset="-122"/>
                  <a:cs typeface="MiSans" pitchFamily="34" charset="-120"/>
                </a:rPr>
                <a:t>清晰的推广路径</a:t>
              </a:r>
              <a:r>
                <a:rPr lang="en-US" sz="1335" dirty="0">
                  <a:solidFill>
                    <a:srgbClr val="E0E2E6">
                      <a:alpha val="80000"/>
                    </a:srgbClr>
                  </a:solidFill>
                  <a:latin typeface="MiSans" pitchFamily="34" charset="-122"/>
                  <a:ea typeface="MiSans" pitchFamily="34" charset="-122"/>
                  <a:cs typeface="MiSans" pitchFamily="34" charset="-120"/>
                </a:rPr>
                <a:t>。从浏览器插件起步,逐步扩展至IDE集成、CI/CD插件、企业级解决方案,形成完整的商业化路径。目标用户群体超过</a:t>
              </a:r>
              <a:r>
                <a:rPr lang="en-US" sz="1335" b="1" dirty="0">
                  <a:solidFill>
                    <a:srgbClr val="E5A044"/>
                  </a:solidFill>
                  <a:latin typeface="MiSans" pitchFamily="34" charset="-122"/>
                  <a:ea typeface="MiSans" pitchFamily="34" charset="-122"/>
                  <a:cs typeface="MiSans" pitchFamily="34" charset="-120"/>
                </a:rPr>
                <a:t>3000万</a:t>
              </a:r>
              <a:r>
                <a:rPr lang="en-US" sz="1335" dirty="0">
                  <a:solidFill>
                    <a:srgbClr val="E0E2E6">
                      <a:alpha val="80000"/>
                    </a:srgbClr>
                  </a:solidFill>
                  <a:latin typeface="MiSans" pitchFamily="34" charset="-122"/>
                  <a:ea typeface="MiSans" pitchFamily="34" charset="-122"/>
                  <a:cs typeface="MiSans" pitchFamily="34" charset="-120"/>
                </a:rPr>
                <a:t>,市场潜力巨大。</a:t>
              </a:r>
              <a:endParaRPr lang="en-US" sz="1600" dirty="0"/>
            </a:p>
          </p:txBody>
        </p:sp>
      </p:gr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www.shutterstock.com/bf726e93ce02a3dce5dfff5666c499eebe726d59.jpg"/>
          <p:cNvPicPr>
            <a:picLocks noChangeAspect="1"/>
          </p:cNvPicPr>
          <p:nvPr/>
        </p:nvPicPr>
        <p:blipFill>
          <a:blip r:embed="rId1">
            <a:alphaModFix amt="30000"/>
          </a:blip>
          <a:srcRect t="74" b="74"/>
          <a:stretch>
            <a:fillRect/>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1D21">
                  <a:alpha val="95000"/>
                </a:srgbClr>
              </a:gs>
              <a:gs pos="50000">
                <a:srgbClr val="1A1D21">
                  <a:alpha val="90000"/>
                </a:srgbClr>
              </a:gs>
              <a:gs pos="100000">
                <a:srgbClr val="3D8F8A">
                  <a:alpha val="20000"/>
                </a:srgbClr>
              </a:gs>
            </a:gsLst>
            <a:lin ang="2700000" scaled="1"/>
          </a:gradFill>
        </p:spPr>
      </p:sp>
      <p:sp>
        <p:nvSpPr>
          <p:cNvPr id="4" name="Shape 1"/>
          <p:cNvSpPr/>
          <p:nvPr/>
        </p:nvSpPr>
        <p:spPr>
          <a:xfrm>
            <a:off x="791845" y="749935"/>
            <a:ext cx="7722870" cy="785495"/>
          </a:xfrm>
          <a:custGeom>
            <a:avLst/>
            <a:gdLst/>
            <a:ahLst/>
            <a:cxnLst/>
            <a:rect l="l" t="t" r="r" b="b"/>
            <a:pathLst>
              <a:path w="1384300" h="1219200">
                <a:moveTo>
                  <a:pt x="203204" y="0"/>
                </a:moveTo>
                <a:lnTo>
                  <a:pt x="1181096" y="0"/>
                </a:lnTo>
                <a:cubicBezTo>
                  <a:pt x="1293322" y="0"/>
                  <a:pt x="1384300" y="90978"/>
                  <a:pt x="1384300" y="203204"/>
                </a:cubicBezTo>
                <a:lnTo>
                  <a:pt x="1384300" y="1015996"/>
                </a:lnTo>
                <a:cubicBezTo>
                  <a:pt x="1384300" y="1128222"/>
                  <a:pt x="1293322" y="1219200"/>
                  <a:pt x="1181096" y="1219200"/>
                </a:cubicBezTo>
                <a:lnTo>
                  <a:pt x="203204" y="1219200"/>
                </a:lnTo>
                <a:cubicBezTo>
                  <a:pt x="90978" y="1219200"/>
                  <a:pt x="0" y="1128222"/>
                  <a:pt x="0" y="1015996"/>
                </a:cubicBezTo>
                <a:lnTo>
                  <a:pt x="0" y="203204"/>
                </a:lnTo>
                <a:cubicBezTo>
                  <a:pt x="0" y="91053"/>
                  <a:pt x="91053" y="0"/>
                  <a:pt x="203204" y="0"/>
                </a:cubicBezTo>
                <a:close/>
              </a:path>
            </a:pathLst>
          </a:custGeom>
          <a:solidFill>
            <a:srgbClr val="3D8F8A">
              <a:alpha val="20000"/>
            </a:srgbClr>
          </a:solidFill>
          <a:ln w="25400">
            <a:solidFill>
              <a:srgbClr val="3D8F8A">
                <a:alpha val="40000"/>
              </a:srgbClr>
            </a:solidFill>
            <a:prstDash val="solid"/>
          </a:ln>
        </p:spPr>
      </p:sp>
      <p:sp>
        <p:nvSpPr>
          <p:cNvPr id="6" name="Text 3"/>
          <p:cNvSpPr/>
          <p:nvPr/>
        </p:nvSpPr>
        <p:spPr>
          <a:xfrm>
            <a:off x="3400319" y="2674620"/>
            <a:ext cx="9448800" cy="1143000"/>
          </a:xfrm>
          <a:prstGeom prst="rect">
            <a:avLst/>
          </a:prstGeom>
          <a:noFill/>
        </p:spPr>
        <p:txBody>
          <a:bodyPr wrap="square" lIns="0" tIns="0" rIns="0" bIns="0" rtlCol="0" anchor="ctr"/>
          <a:lstStyle/>
          <a:p>
            <a:pPr algn="ctr">
              <a:lnSpc>
                <a:spcPct val="100000"/>
              </a:lnSpc>
            </a:pPr>
            <a:r>
              <a:rPr lang="en-US" sz="7200" b="1" dirty="0">
                <a:solidFill>
                  <a:srgbClr val="E0E2E6"/>
                </a:solidFill>
                <a:latin typeface="阿里妈妈数黑体" pitchFamily="34" charset="-122"/>
                <a:ea typeface="阿里妈妈数黑体" pitchFamily="34" charset="-122"/>
                <a:cs typeface="阿里妈妈数黑体" pitchFamily="34" charset="-120"/>
              </a:rPr>
              <a:t>让开源项目真正"可用"</a:t>
            </a:r>
            <a:endParaRPr lang="en-US" sz="1600" dirty="0"/>
          </a:p>
        </p:txBody>
      </p:sp>
      <p:sp>
        <p:nvSpPr>
          <p:cNvPr id="7" name="Shape 4"/>
          <p:cNvSpPr/>
          <p:nvPr/>
        </p:nvSpPr>
        <p:spPr>
          <a:xfrm>
            <a:off x="5166413" y="4228253"/>
            <a:ext cx="5913967" cy="1583267"/>
          </a:xfrm>
          <a:custGeom>
            <a:avLst/>
            <a:gdLst/>
            <a:ahLst/>
            <a:cxnLst/>
            <a:rect l="l" t="t" r="r" b="b"/>
            <a:pathLst>
              <a:path w="5913967" h="1583267">
                <a:moveTo>
                  <a:pt x="203196" y="0"/>
                </a:moveTo>
                <a:lnTo>
                  <a:pt x="5710770" y="0"/>
                </a:lnTo>
                <a:cubicBezTo>
                  <a:pt x="5822993" y="0"/>
                  <a:pt x="5913967" y="90974"/>
                  <a:pt x="5913967" y="203196"/>
                </a:cubicBezTo>
                <a:lnTo>
                  <a:pt x="5913967" y="1380070"/>
                </a:lnTo>
                <a:cubicBezTo>
                  <a:pt x="5913967" y="1492293"/>
                  <a:pt x="5822993" y="1583267"/>
                  <a:pt x="5710770" y="1583267"/>
                </a:cubicBezTo>
                <a:lnTo>
                  <a:pt x="203196" y="1583267"/>
                </a:lnTo>
                <a:cubicBezTo>
                  <a:pt x="91049" y="1583267"/>
                  <a:pt x="0" y="1492217"/>
                  <a:pt x="0" y="1380070"/>
                </a:cubicBezTo>
                <a:lnTo>
                  <a:pt x="0" y="203196"/>
                </a:lnTo>
                <a:cubicBezTo>
                  <a:pt x="0" y="90974"/>
                  <a:pt x="90974" y="0"/>
                  <a:pt x="203196" y="0"/>
                </a:cubicBezTo>
                <a:close/>
              </a:path>
            </a:pathLst>
          </a:custGeom>
          <a:gradFill flip="none" rotWithShape="1">
            <a:gsLst>
              <a:gs pos="0">
                <a:srgbClr val="3D8F8A">
                  <a:alpha val="20000"/>
                </a:srgbClr>
              </a:gs>
              <a:gs pos="50000">
                <a:srgbClr val="E5A044">
                  <a:alpha val="15000"/>
                </a:srgbClr>
              </a:gs>
              <a:gs pos="100000">
                <a:srgbClr val="3D8F8A">
                  <a:alpha val="20000"/>
                </a:srgbClr>
              </a:gs>
            </a:gsLst>
            <a:lin ang="0" scaled="1"/>
          </a:gradFill>
          <a:ln w="8467">
            <a:solidFill>
              <a:srgbClr val="3D8F8A">
                <a:alpha val="40000"/>
              </a:srgbClr>
            </a:solidFill>
            <a:prstDash val="solid"/>
          </a:ln>
        </p:spPr>
      </p:sp>
      <p:sp>
        <p:nvSpPr>
          <p:cNvPr id="8" name="Text 5"/>
          <p:cNvSpPr/>
          <p:nvPr/>
        </p:nvSpPr>
        <p:spPr>
          <a:xfrm>
            <a:off x="5665946" y="4638891"/>
            <a:ext cx="4914900" cy="508000"/>
          </a:xfrm>
          <a:prstGeom prst="rect">
            <a:avLst/>
          </a:prstGeom>
          <a:noFill/>
        </p:spPr>
        <p:txBody>
          <a:bodyPr wrap="square" lIns="0" tIns="0" rIns="0" bIns="0" rtlCol="0" anchor="ctr"/>
          <a:lstStyle/>
          <a:p>
            <a:pPr algn="ctr">
              <a:lnSpc>
                <a:spcPct val="90000"/>
              </a:lnSpc>
            </a:pPr>
            <a:r>
              <a:rPr lang="en-US" sz="3600" dirty="0">
                <a:solidFill>
                  <a:srgbClr val="E0E2E6"/>
                </a:solidFill>
                <a:latin typeface="MiSans" pitchFamily="34" charset="-122"/>
                <a:ea typeface="MiSans" pitchFamily="34" charset="-122"/>
                <a:cs typeface="MiSans" pitchFamily="34" charset="-120"/>
              </a:rPr>
              <a:t>代码可见,更要</a:t>
            </a:r>
            <a:r>
              <a:rPr lang="en-US" sz="3600" b="1" dirty="0">
                <a:solidFill>
                  <a:srgbClr val="E5A044"/>
                </a:solidFill>
                <a:latin typeface="MiSans" pitchFamily="34" charset="-122"/>
                <a:ea typeface="MiSans" pitchFamily="34" charset="-122"/>
                <a:cs typeface="MiSans" pitchFamily="34" charset="-120"/>
              </a:rPr>
              <a:t>复现可达</a:t>
            </a:r>
            <a:endParaRPr lang="en-US" sz="1600" dirty="0"/>
          </a:p>
        </p:txBody>
      </p:sp>
      <p:sp>
        <p:nvSpPr>
          <p:cNvPr id="9" name="Shape 6"/>
          <p:cNvSpPr/>
          <p:nvPr/>
        </p:nvSpPr>
        <p:spPr>
          <a:xfrm>
            <a:off x="7311258" y="5350091"/>
            <a:ext cx="1625600" cy="50800"/>
          </a:xfrm>
          <a:custGeom>
            <a:avLst/>
            <a:gdLst/>
            <a:ahLst/>
            <a:cxnLst/>
            <a:rect l="l" t="t" r="r" b="b"/>
            <a:pathLst>
              <a:path w="1625600" h="50800">
                <a:moveTo>
                  <a:pt x="0" y="0"/>
                </a:moveTo>
                <a:lnTo>
                  <a:pt x="1625600" y="0"/>
                </a:lnTo>
                <a:lnTo>
                  <a:pt x="1625600" y="50800"/>
                </a:lnTo>
                <a:lnTo>
                  <a:pt x="0" y="50800"/>
                </a:lnTo>
                <a:lnTo>
                  <a:pt x="0" y="0"/>
                </a:lnTo>
                <a:close/>
              </a:path>
            </a:pathLst>
          </a:custGeom>
          <a:gradFill flip="none" rotWithShape="1">
            <a:gsLst>
              <a:gs pos="0">
                <a:srgbClr val="3D8F8A"/>
              </a:gs>
              <a:gs pos="50000">
                <a:srgbClr val="E5A044"/>
              </a:gs>
              <a:gs pos="100000">
                <a:srgbClr val="3D8F8A"/>
              </a:gs>
            </a:gsLst>
            <a:lin ang="0" scaled="1"/>
          </a:gradFill>
        </p:spPr>
      </p:sp>
      <p:sp>
        <p:nvSpPr>
          <p:cNvPr id="22" name="Shape 19"/>
          <p:cNvSpPr/>
          <p:nvPr/>
        </p:nvSpPr>
        <p:spPr>
          <a:xfrm>
            <a:off x="508000" y="8216904"/>
            <a:ext cx="15240000" cy="8467"/>
          </a:xfrm>
          <a:custGeom>
            <a:avLst/>
            <a:gdLst/>
            <a:ahLst/>
            <a:cxnLst/>
            <a:rect l="l" t="t" r="r" b="b"/>
            <a:pathLst>
              <a:path w="15240000" h="8467">
                <a:moveTo>
                  <a:pt x="0" y="0"/>
                </a:moveTo>
                <a:lnTo>
                  <a:pt x="15240000" y="0"/>
                </a:lnTo>
                <a:lnTo>
                  <a:pt x="15240000" y="8467"/>
                </a:lnTo>
                <a:lnTo>
                  <a:pt x="0" y="8467"/>
                </a:lnTo>
                <a:lnTo>
                  <a:pt x="0" y="0"/>
                </a:lnTo>
                <a:close/>
              </a:path>
            </a:pathLst>
          </a:custGeom>
          <a:solidFill>
            <a:srgbClr val="3D8F8A">
              <a:alpha val="30196"/>
            </a:srgbClr>
          </a:solidFill>
        </p:spPr>
      </p:sp>
      <p:sp>
        <p:nvSpPr>
          <p:cNvPr id="23" name="Shape 20"/>
          <p:cNvSpPr/>
          <p:nvPr/>
        </p:nvSpPr>
        <p:spPr>
          <a:xfrm>
            <a:off x="384175" y="8526361"/>
            <a:ext cx="203200" cy="203200"/>
          </a:xfrm>
          <a:custGeom>
            <a:avLst/>
            <a:gdLst/>
            <a:ahLst/>
            <a:cxnLst/>
            <a:rect l="l" t="t" r="r" b="b"/>
            <a:pathLst>
              <a:path w="203200" h="203200">
                <a:moveTo>
                  <a:pt x="95647" y="34568"/>
                </a:moveTo>
                <a:lnTo>
                  <a:pt x="101600" y="42783"/>
                </a:lnTo>
                <a:lnTo>
                  <a:pt x="107553" y="34568"/>
                </a:lnTo>
                <a:cubicBezTo>
                  <a:pt x="117475" y="20836"/>
                  <a:pt x="133429" y="12700"/>
                  <a:pt x="150376" y="12700"/>
                </a:cubicBezTo>
                <a:cubicBezTo>
                  <a:pt x="179546" y="12700"/>
                  <a:pt x="203200" y="36354"/>
                  <a:pt x="203200" y="65524"/>
                </a:cubicBezTo>
                <a:lnTo>
                  <a:pt x="203200" y="66556"/>
                </a:lnTo>
                <a:cubicBezTo>
                  <a:pt x="203200" y="111085"/>
                  <a:pt x="147677" y="162798"/>
                  <a:pt x="118705" y="184904"/>
                </a:cubicBezTo>
                <a:cubicBezTo>
                  <a:pt x="113784" y="188635"/>
                  <a:pt x="107752" y="190500"/>
                  <a:pt x="101600" y="190500"/>
                </a:cubicBezTo>
                <a:cubicBezTo>
                  <a:pt x="95448" y="190500"/>
                  <a:pt x="89376" y="188674"/>
                  <a:pt x="84495" y="184904"/>
                </a:cubicBezTo>
                <a:cubicBezTo>
                  <a:pt x="55523" y="162798"/>
                  <a:pt x="0" y="111085"/>
                  <a:pt x="0" y="66556"/>
                </a:cubicBezTo>
                <a:lnTo>
                  <a:pt x="0" y="65524"/>
                </a:lnTo>
                <a:cubicBezTo>
                  <a:pt x="0" y="36354"/>
                  <a:pt x="23654" y="12700"/>
                  <a:pt x="52824" y="12700"/>
                </a:cubicBezTo>
                <a:cubicBezTo>
                  <a:pt x="69771" y="12700"/>
                  <a:pt x="85725" y="20836"/>
                  <a:pt x="95647" y="34568"/>
                </a:cubicBezTo>
                <a:close/>
              </a:path>
            </a:pathLst>
          </a:custGeom>
          <a:solidFill>
            <a:srgbClr val="E5A044"/>
          </a:solidFill>
        </p:spPr>
      </p:sp>
      <p:sp>
        <p:nvSpPr>
          <p:cNvPr id="24" name="Text 21"/>
          <p:cNvSpPr/>
          <p:nvPr/>
        </p:nvSpPr>
        <p:spPr>
          <a:xfrm>
            <a:off x="863600" y="8251190"/>
            <a:ext cx="2603500" cy="681355"/>
          </a:xfrm>
          <a:prstGeom prst="rect">
            <a:avLst/>
          </a:prstGeom>
          <a:noFill/>
        </p:spPr>
        <p:txBody>
          <a:bodyPr wrap="square" lIns="0" tIns="0" rIns="0" bIns="0" rtlCol="0" anchor="ctr"/>
          <a:lstStyle/>
          <a:p>
            <a:pPr>
              <a:lnSpc>
                <a:spcPct val="130000"/>
              </a:lnSpc>
            </a:pPr>
            <a:r>
              <a:rPr lang="en-US" sz="3200" b="1" dirty="0">
                <a:solidFill>
                  <a:srgbClr val="E0E2E6">
                    <a:alpha val="60000"/>
                  </a:srgbClr>
                </a:solidFill>
                <a:latin typeface="MiSans" pitchFamily="34" charset="-122"/>
                <a:ea typeface="MiSans" pitchFamily="34" charset="-122"/>
                <a:cs typeface="MiSans" pitchFamily="34" charset="-120"/>
              </a:rPr>
              <a:t>感</a:t>
            </a:r>
            <a:r>
              <a:rPr lang="zh-CN" altLang="en-US" sz="3200" b="1" dirty="0">
                <a:solidFill>
                  <a:srgbClr val="E0E2E6">
                    <a:alpha val="60000"/>
                  </a:srgbClr>
                </a:solidFill>
                <a:latin typeface="MiSans" pitchFamily="34" charset="-122"/>
                <a:ea typeface="MiSans" pitchFamily="34" charset="-122"/>
                <a:cs typeface="MiSans" pitchFamily="34" charset="-120"/>
              </a:rPr>
              <a:t>谢观看</a:t>
            </a:r>
            <a:endParaRPr lang="zh-CN" altLang="en-US" sz="3200" b="1" dirty="0">
              <a:solidFill>
                <a:srgbClr val="E0E2E6">
                  <a:alpha val="60000"/>
                </a:srgbClr>
              </a:solidFill>
              <a:latin typeface="MiSans" pitchFamily="34" charset="-122"/>
              <a:ea typeface="MiSans" pitchFamily="34" charset="-122"/>
              <a:cs typeface="MiSans" pitchFamily="34" charset="-120"/>
            </a:endParaRPr>
          </a:p>
        </p:txBody>
      </p:sp>
      <p:sp>
        <p:nvSpPr>
          <p:cNvPr id="25" name="Shape 22"/>
          <p:cNvSpPr/>
          <p:nvPr/>
        </p:nvSpPr>
        <p:spPr>
          <a:xfrm>
            <a:off x="10119360" y="8526145"/>
            <a:ext cx="4697730" cy="508000"/>
          </a:xfrm>
          <a:custGeom>
            <a:avLst/>
            <a:gdLst/>
            <a:ahLst/>
            <a:cxnLst/>
            <a:rect l="l" t="t" r="r" b="b"/>
            <a:pathLst>
              <a:path w="3898900" h="508000">
                <a:moveTo>
                  <a:pt x="101600" y="0"/>
                </a:moveTo>
                <a:lnTo>
                  <a:pt x="3797300" y="0"/>
                </a:lnTo>
                <a:cubicBezTo>
                  <a:pt x="3853375" y="0"/>
                  <a:pt x="3898900" y="45525"/>
                  <a:pt x="3898900" y="101600"/>
                </a:cubicBezTo>
                <a:lnTo>
                  <a:pt x="3898900" y="406400"/>
                </a:lnTo>
                <a:cubicBezTo>
                  <a:pt x="3898900" y="462475"/>
                  <a:pt x="3853375" y="508000"/>
                  <a:pt x="3797300" y="508000"/>
                </a:cubicBezTo>
                <a:lnTo>
                  <a:pt x="101600" y="508000"/>
                </a:lnTo>
                <a:cubicBezTo>
                  <a:pt x="45525" y="508000"/>
                  <a:pt x="0" y="462475"/>
                  <a:pt x="0" y="406400"/>
                </a:cubicBezTo>
                <a:lnTo>
                  <a:pt x="0" y="101600"/>
                </a:lnTo>
                <a:cubicBezTo>
                  <a:pt x="0" y="45525"/>
                  <a:pt x="45525" y="0"/>
                  <a:pt x="101600" y="0"/>
                </a:cubicBezTo>
                <a:close/>
              </a:path>
            </a:pathLst>
          </a:custGeom>
          <a:solidFill>
            <a:srgbClr val="3D8F8A">
              <a:alpha val="20000"/>
            </a:srgbClr>
          </a:solidFill>
        </p:spPr>
      </p:sp>
      <p:sp>
        <p:nvSpPr>
          <p:cNvPr id="26" name="Text 23"/>
          <p:cNvSpPr/>
          <p:nvPr/>
        </p:nvSpPr>
        <p:spPr>
          <a:xfrm>
            <a:off x="10412095" y="8627745"/>
            <a:ext cx="4232910" cy="271145"/>
          </a:xfrm>
          <a:prstGeom prst="rect">
            <a:avLst/>
          </a:prstGeom>
          <a:noFill/>
        </p:spPr>
        <p:txBody>
          <a:bodyPr wrap="square" lIns="0" tIns="0" rIns="0" bIns="0" rtlCol="0" anchor="ctr"/>
          <a:lstStyle/>
          <a:p>
            <a:pPr>
              <a:lnSpc>
                <a:spcPct val="130000"/>
              </a:lnSpc>
            </a:pPr>
            <a:r>
              <a:rPr lang="zh-CN" altLang="en-US" sz="1400" b="1" dirty="0">
                <a:solidFill>
                  <a:srgbClr val="3D8F8A"/>
                </a:solidFill>
                <a:latin typeface="MiSans" pitchFamily="34" charset="-122"/>
                <a:ea typeface="MiSans" pitchFamily="34" charset="-122"/>
                <a:cs typeface="MiSans" pitchFamily="34" charset="-120"/>
              </a:rPr>
              <a:t>项目仓库：</a:t>
            </a:r>
            <a:r>
              <a:rPr lang="en-US" altLang="zh-CN" sz="1400" b="1" dirty="0">
                <a:solidFill>
                  <a:srgbClr val="3D8F8A"/>
                </a:solidFill>
                <a:latin typeface="MiSans" pitchFamily="34" charset="-122"/>
                <a:ea typeface="MiSans" pitchFamily="34" charset="-122"/>
                <a:cs typeface="MiSans" pitchFamily="34" charset="-120"/>
              </a:rPr>
              <a:t>https://github.com/SSSSizn/OpenRank</a:t>
            </a:r>
            <a:endParaRPr lang="en-US" altLang="zh-CN" sz="1400" b="1" dirty="0">
              <a:solidFill>
                <a:srgbClr val="3D8F8A"/>
              </a:solidFill>
              <a:latin typeface="MiSans" pitchFamily="34" charset="-122"/>
              <a:ea typeface="MiSans" pitchFamily="34" charset="-122"/>
              <a:cs typeface="MiSans" pitchFamily="34" charset="-120"/>
            </a:endParaRPr>
          </a:p>
        </p:txBody>
      </p:sp>
      <p:sp>
        <p:nvSpPr>
          <p:cNvPr id="27" name="Text 24"/>
          <p:cNvSpPr/>
          <p:nvPr/>
        </p:nvSpPr>
        <p:spPr>
          <a:xfrm>
            <a:off x="15023306" y="8627529"/>
            <a:ext cx="825500" cy="304800"/>
          </a:xfrm>
          <a:prstGeom prst="rect">
            <a:avLst/>
          </a:prstGeom>
          <a:noFill/>
        </p:spPr>
        <p:txBody>
          <a:bodyPr wrap="square" lIns="0" tIns="0" rIns="0" bIns="0" rtlCol="0" anchor="ctr"/>
          <a:lstStyle/>
          <a:p>
            <a:pPr>
              <a:lnSpc>
                <a:spcPct val="130000"/>
              </a:lnSpc>
            </a:pPr>
            <a:r>
              <a:rPr lang="en-US" sz="1600" dirty="0">
                <a:solidFill>
                  <a:srgbClr val="E0E2E6">
                    <a:alpha val="40000"/>
                  </a:srgbClr>
                </a:solidFill>
                <a:latin typeface="MiSans" pitchFamily="34" charset="-122"/>
                <a:ea typeface="MiSans" pitchFamily="34" charset="-122"/>
                <a:cs typeface="MiSans" pitchFamily="34" charset="-120"/>
              </a:rPr>
              <a:t>2025.12</a:t>
            </a:r>
            <a:endParaRPr lang="en-US" sz="1600" dirty="0"/>
          </a:p>
        </p:txBody>
      </p:sp>
      <p:sp>
        <p:nvSpPr>
          <p:cNvPr id="29" name="文本框 28"/>
          <p:cNvSpPr txBox="1"/>
          <p:nvPr/>
        </p:nvSpPr>
        <p:spPr>
          <a:xfrm>
            <a:off x="1392555" y="887095"/>
            <a:ext cx="6520815" cy="521970"/>
          </a:xfrm>
          <a:prstGeom prst="rect">
            <a:avLst/>
          </a:prstGeom>
          <a:noFill/>
        </p:spPr>
        <p:txBody>
          <a:bodyPr wrap="square" rtlCol="0">
            <a:spAutoFit/>
          </a:bodyPr>
          <a:p>
            <a:r>
              <a:rPr lang="en-US" sz="2800" b="1" dirty="0">
                <a:solidFill>
                  <a:srgbClr val="3D8F8A"/>
                </a:solidFill>
                <a:latin typeface="微软雅黑" panose="020B0503020204020204" charset="-122"/>
                <a:ea typeface="微软雅黑" panose="020B0503020204020204" charset="-122"/>
                <a:cs typeface="微软雅黑" panose="020B0503020204020204" charset="-122"/>
                <a:sym typeface="+mn-ea"/>
              </a:rPr>
              <a:t>Python开源项目依赖环境自动还原工具</a:t>
            </a:r>
            <a:endParaRPr lang="en-US" altLang="en-US" sz="2800" b="1" dirty="0">
              <a:solidFill>
                <a:srgbClr val="3D8F8A"/>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fade/>
  </p:transition>
</p:sld>
</file>

<file path=ppt/tags/tag1.xml><?xml version="1.0" encoding="utf-8"?>
<p:tagLst xmlns:p="http://schemas.openxmlformats.org/presentationml/2006/main">
  <p:tag name="KSO_WM_DIAGRAM_VIRTUALLY_FRAME" val="{&quot;height&quot;:524,&quot;left&quot;:31.5,&quot;top&quot;:156,&quot;width&quot;:1208.5}"/>
</p:tagLst>
</file>

<file path=ppt/tags/tag2.xml><?xml version="1.0" encoding="utf-8"?>
<p:tagLst xmlns:p="http://schemas.openxmlformats.org/presentationml/2006/main">
  <p:tag name="KSO_WM_DIAGRAM_VIRTUALLY_FRAME" val="{&quot;height&quot;:524,&quot;left&quot;:31.5,&quot;top&quot;:156,&quot;width&quot;:1208.5}"/>
</p:tagLst>
</file>

<file path=ppt/tags/tag3.xml><?xml version="1.0" encoding="utf-8"?>
<p:tagLst xmlns:p="http://schemas.openxmlformats.org/presentationml/2006/main">
  <p:tag name="KSO_WM_DIAGRAM_VIRTUALLY_FRAME" val="{&quot;height&quot;:524,&quot;left&quot;:31.5,&quot;top&quot;:156,&quot;width&quot;:1208.5}"/>
</p:tagLst>
</file>

<file path=ppt/tags/tag4.xml><?xml version="1.0" encoding="utf-8"?>
<p:tagLst xmlns:p="http://schemas.openxmlformats.org/presentationml/2006/main">
  <p:tag name="KSO_WM_DIAGRAM_VIRTUALLY_FRAME" val="{&quot;height&quot;:524,&quot;left&quot;:31.5,&quot;top&quot;:156,&quot;width&quot;:1208.5}"/>
</p:tagLst>
</file>

<file path=ppt/tags/tag5.xml><?xml version="1.0" encoding="utf-8"?>
<p:tagLst xmlns:p="http://schemas.openxmlformats.org/presentationml/2006/main">
  <p:tag name="KSO_WM_DIAGRAM_VIRTUALLY_FRAME" val="{&quot;height&quot;:524,&quot;left&quot;:31.5,&quot;top&quot;:156,&quot;width&quot;:1208.5}"/>
</p:tagLst>
</file>

<file path=ppt/tags/tag6.xml><?xml version="1.0" encoding="utf-8"?>
<p:tagLst xmlns:p="http://schemas.openxmlformats.org/presentationml/2006/main">
  <p:tag name="KSO_WM_DIAGRAM_VIRTUALLY_FRAME" val="{&quot;height&quot;:524,&quot;left&quot;:31.5,&quot;top&quot;:156,&quot;width&quot;:1208.5}"/>
</p:tagLst>
</file>

<file path=ppt/tags/tag7.xml><?xml version="1.0" encoding="utf-8"?>
<p:tagLst xmlns:p="http://schemas.openxmlformats.org/presentationml/2006/main">
  <p:tag name="KSO_WM_DIAGRAM_VIRTUALLY_FRAME" val="{&quot;height&quot;:524,&quot;left&quot;:31.5,&quot;top&quot;:156,&quot;width&quot;:1208.5}"/>
</p:tagLst>
</file>

<file path=ppt/tags/tag8.xml><?xml version="1.0" encoding="utf-8"?>
<p:tagLst xmlns:p="http://schemas.openxmlformats.org/presentationml/2006/main">
  <p:tag name="KSO_WM_DIAGRAM_VIRTUALLY_FRAME" val="{&quot;height&quot;:524,&quot;left&quot;:31.5,&quot;top&quot;:156,&quot;width&quot;:1208.5}"/>
</p:tagLst>
</file>

<file path=ppt/tags/tag9.xml><?xml version="1.0" encoding="utf-8"?>
<p:tagLst xmlns:p="http://schemas.openxmlformats.org/presentationml/2006/main">
  <p:tag name="KSO_WM_DIAGRAM_VIRTUALLY_FRAME" val="{&quot;height&quot;:524,&quot;left&quot;:42,&quot;top&quot;:156,&quot;width&quot;:1198}"/>
</p:tagLst>
</file>

<file path=ppt/tags/tag10.xml><?xml version="1.0" encoding="utf-8"?>
<p:tagLst xmlns:p="http://schemas.openxmlformats.org/presentationml/2006/main">
  <p:tag name="KSO_WM_DIAGRAM_VIRTUALLY_FRAME" val="{&quot;height&quot;:524,&quot;left&quot;:42,&quot;top&quot;:156,&quot;width&quot;:1198}"/>
</p:tagLst>
</file>

<file path=ppt/tags/tag11.xml><?xml version="1.0" encoding="utf-8"?>
<p:tagLst xmlns:p="http://schemas.openxmlformats.org/presentationml/2006/main">
  <p:tag name="KSO_WM_DIAGRAM_VIRTUALLY_FRAME" val="{&quot;height&quot;:524,&quot;left&quot;:42,&quot;top&quot;:156,&quot;width&quot;:1198}"/>
</p:tagLst>
</file>

<file path=ppt/tags/tag12.xml><?xml version="1.0" encoding="utf-8"?>
<p:tagLst xmlns:p="http://schemas.openxmlformats.org/presentationml/2006/main">
  <p:tag name="KSO_WM_DIAGRAM_VIRTUALLY_FRAME" val="{&quot;height&quot;:524,&quot;left&quot;:42,&quot;top&quot;:156,&quot;width&quot;:1198}"/>
</p:tagLst>
</file>

<file path=ppt/tags/tag13.xml><?xml version="1.0" encoding="utf-8"?>
<p:tagLst xmlns:p="http://schemas.openxmlformats.org/presentationml/2006/main">
  <p:tag name="KSO_WM_DIAGRAM_VIRTUALLY_FRAME" val="{&quot;height&quot;:524,&quot;left&quot;:42,&quot;top&quot;:156,&quot;width&quot;:1198}"/>
</p:tagLst>
</file>

<file path=ppt/tags/tag14.xml><?xml version="1.0" encoding="utf-8"?>
<p:tagLst xmlns:p="http://schemas.openxmlformats.org/presentationml/2006/main">
  <p:tag name="KSO_WM_DIAGRAM_VIRTUALLY_FRAME" val="{&quot;height&quot;:524,&quot;left&quot;:42,&quot;top&quot;:156,&quot;width&quot;:1198}"/>
</p:tagLst>
</file>

<file path=ppt/tags/tag15.xml><?xml version="1.0" encoding="utf-8"?>
<p:tagLst xmlns:p="http://schemas.openxmlformats.org/presentationml/2006/main">
  <p:tag name="KSO_WM_DIAGRAM_VIRTUALLY_FRAME" val="{&quot;height&quot;:524,&quot;left&quot;:42,&quot;top&quot;:156,&quot;width&quot;:1198}"/>
</p:tagLst>
</file>

<file path=ppt/tags/tag16.xml><?xml version="1.0" encoding="utf-8"?>
<p:tagLst xmlns:p="http://schemas.openxmlformats.org/presentationml/2006/main">
  <p:tag name="KSO_WM_DIAGRAM_VIRTUALLY_FRAME" val="{&quot;height&quot;:524,&quot;left&quot;:42,&quot;top&quot;:156,&quot;width&quot;:1198}"/>
</p:tagLst>
</file>

<file path=ppt/tags/tag17.xml><?xml version="1.0" encoding="utf-8"?>
<p:tagLst xmlns:p="http://schemas.openxmlformats.org/presentationml/2006/main">
  <p:tag name="KSO_WM_DIAGRAM_VIRTUALLY_FRAME" val="{&quot;height&quot;:524,&quot;left&quot;:42,&quot;top&quot;:156,&quot;width&quot;:1198}"/>
</p:tagLst>
</file>

<file path=ppt/tags/tag18.xml><?xml version="1.0" encoding="utf-8"?>
<p:tagLst xmlns:p="http://schemas.openxmlformats.org/presentationml/2006/main">
  <p:tag name="KSO_WM_DIAGRAM_VIRTUALLY_FRAME" val="{&quot;height&quot;:524,&quot;left&quot;:42,&quot;top&quot;:156,&quot;width&quot;:1198}"/>
</p:tagLst>
</file>

<file path=ppt/tags/tag19.xml><?xml version="1.0" encoding="utf-8"?>
<p:tagLst xmlns:p="http://schemas.openxmlformats.org/presentationml/2006/main">
  <p:tag name="KSO_WM_DIAGRAM_VIRTUALLY_FRAME" val="{&quot;height&quot;:524,&quot;left&quot;:42,&quot;top&quot;:156,&quot;width&quot;:1198}"/>
</p:tagLst>
</file>

<file path=ppt/tags/tag20.xml><?xml version="1.0" encoding="utf-8"?>
<p:tagLst xmlns:p="http://schemas.openxmlformats.org/presentationml/2006/main">
  <p:tag name="KSO_WM_DIAGRAM_VIRTUALLY_FRAME" val="{&quot;height&quot;:524,&quot;left&quot;:42,&quot;top&quot;:156,&quot;width&quot;:1198}"/>
</p:tagLst>
</file>

<file path=ppt/tags/tag21.xml><?xml version="1.0" encoding="utf-8"?>
<p:tagLst xmlns:p="http://schemas.openxmlformats.org/presentationml/2006/main">
  <p:tag name="KSO_WM_DIAGRAM_VIRTUALLY_FRAME" val="{&quot;height&quot;:524,&quot;left&quot;:42,&quot;top&quot;:156,&quot;width&quot;:1198}"/>
</p:tagLst>
</file>

<file path=ppt/tags/tag22.xml><?xml version="1.0" encoding="utf-8"?>
<p:tagLst xmlns:p="http://schemas.openxmlformats.org/presentationml/2006/main">
  <p:tag name="KSO_WM_DIAGRAM_VIRTUALLY_FRAME" val="{&quot;height&quot;:524,&quot;left&quot;:42,&quot;top&quot;:156,&quot;width&quot;:1198}"/>
</p:tagLst>
</file>

<file path=ppt/tags/tag23.xml><?xml version="1.0" encoding="utf-8"?>
<p:tagLst xmlns:p="http://schemas.openxmlformats.org/presentationml/2006/main">
  <p:tag name="KSO_WM_DIAGRAM_VIRTUALLY_FRAME" val="{&quot;height&quot;:524,&quot;left&quot;:42,&quot;top&quot;:156,&quot;width&quot;:1198}"/>
</p:tagLst>
</file>

<file path=ppt/tags/tag24.xml><?xml version="1.0" encoding="utf-8"?>
<p:tagLst xmlns:p="http://schemas.openxmlformats.org/presentationml/2006/main">
  <p:tag name="KSO_WM_DIAGRAM_VIRTUALLY_FRAME" val="{&quot;height&quot;:524,&quot;left&quot;:42,&quot;top&quot;:156,&quot;width&quot;:1198}"/>
</p:tagLst>
</file>

<file path=ppt/tags/tag25.xml><?xml version="1.0" encoding="utf-8"?>
<p:tagLst xmlns:p="http://schemas.openxmlformats.org/presentationml/2006/main">
  <p:tag name="KSO_WM_DIAGRAM_VIRTUALLY_FRAME" val="{&quot;height&quot;:524,&quot;left&quot;:42,&quot;top&quot;:156,&quot;width&quot;:1198}"/>
</p:tagLst>
</file>

<file path=ppt/tags/tag26.xml><?xml version="1.0" encoding="utf-8"?>
<p:tagLst xmlns:p="http://schemas.openxmlformats.org/presentationml/2006/main">
  <p:tag name="KSO_WM_DIAGRAM_VIRTUALLY_FRAME" val="{&quot;height&quot;:524,&quot;left&quot;:42,&quot;top&quot;:156,&quot;width&quot;:1198}"/>
</p:tagLst>
</file>

<file path=ppt/tags/tag27.xml><?xml version="1.0" encoding="utf-8"?>
<p:tagLst xmlns:p="http://schemas.openxmlformats.org/presentationml/2006/main">
  <p:tag name="KSO_WM_DIAGRAM_VIRTUALLY_FRAME" val="{&quot;height&quot;:524,&quot;left&quot;:42,&quot;top&quot;:156,&quot;width&quot;:1198}"/>
</p:tagLst>
</file>

<file path=ppt/tags/tag28.xml><?xml version="1.0" encoding="utf-8"?>
<p:tagLst xmlns:p="http://schemas.openxmlformats.org/presentationml/2006/main">
  <p:tag name="KSO_WM_DIAGRAM_VIRTUALLY_FRAME" val="{&quot;height&quot;:524,&quot;left&quot;:42,&quot;top&quot;:156,&quot;width&quot;:1198}"/>
</p:tagLst>
</file>

<file path=ppt/tags/tag29.xml><?xml version="1.0" encoding="utf-8"?>
<p:tagLst xmlns:p="http://schemas.openxmlformats.org/presentationml/2006/main">
  <p:tag name="KSO_WM_DIAGRAM_VIRTUALLY_FRAME" val="{&quot;height&quot;:524,&quot;left&quot;:42,&quot;top&quot;:156,&quot;width&quot;:1198}"/>
</p:tagLst>
</file>

<file path=ppt/tags/tag30.xml><?xml version="1.0" encoding="utf-8"?>
<p:tagLst xmlns:p="http://schemas.openxmlformats.org/presentationml/2006/main">
  <p:tag name="KSO_WM_DIAGRAM_VIRTUALLY_FRAME" val="{&quot;height&quot;:524,&quot;left&quot;:42,&quot;top&quot;:156,&quot;width&quot;:1198}"/>
</p:tagLst>
</file>

<file path=ppt/tags/tag31.xml><?xml version="1.0" encoding="utf-8"?>
<p:tagLst xmlns:p="http://schemas.openxmlformats.org/presentationml/2006/main">
  <p:tag name="KSO_WM_DIAGRAM_VIRTUALLY_FRAME" val="{&quot;height&quot;:524,&quot;left&quot;:42,&quot;top&quot;:156,&quot;width&quot;:1198}"/>
</p:tagLst>
</file>

<file path=ppt/tags/tag32.xml><?xml version="1.0" encoding="utf-8"?>
<p:tagLst xmlns:p="http://schemas.openxmlformats.org/presentationml/2006/main">
  <p:tag name="KSO_WM_DIAGRAM_VIRTUALLY_FRAME" val="{&quot;height&quot;:524,&quot;left&quot;:42,&quot;top&quot;:156,&quot;width&quot;:1198}"/>
</p:tagLst>
</file>

<file path=ppt/tags/tag33.xml><?xml version="1.0" encoding="utf-8"?>
<p:tagLst xmlns:p="http://schemas.openxmlformats.org/presentationml/2006/main">
  <p:tag name="KSO_WM_DIAGRAM_VIRTUALLY_FRAME" val="{&quot;height&quot;:524,&quot;left&quot;:42,&quot;top&quot;:156,&quot;width&quot;:1198}"/>
</p:tagLst>
</file>

<file path=ppt/tags/tag34.xml><?xml version="1.0" encoding="utf-8"?>
<p:tagLst xmlns:p="http://schemas.openxmlformats.org/presentationml/2006/main">
  <p:tag name="KSO_WM_DIAGRAM_VIRTUALLY_FRAME" val="{&quot;height&quot;:524,&quot;left&quot;:42,&quot;top&quot;:156,&quot;width&quot;:1198}"/>
</p:tagLst>
</file>

<file path=ppt/tags/tag35.xml><?xml version="1.0" encoding="utf-8"?>
<p:tagLst xmlns:p="http://schemas.openxmlformats.org/presentationml/2006/main">
  <p:tag name="KSO_WM_DIAGRAM_VIRTUALLY_FRAME" val="{&quot;height&quot;:524,&quot;left&quot;:42,&quot;top&quot;:156,&quot;width&quot;:1198}"/>
</p:tagLst>
</file>

<file path=ppt/tags/tag36.xml><?xml version="1.0" encoding="utf-8"?>
<p:tagLst xmlns:p="http://schemas.openxmlformats.org/presentationml/2006/main">
  <p:tag name="KSO_WM_DIAGRAM_VIRTUALLY_FRAME" val="{&quot;height&quot;:524,&quot;left&quot;:42,&quot;top&quot;:156,&quot;width&quot;:1198}"/>
</p:tagLst>
</file>

<file path=ppt/tags/tag37.xml><?xml version="1.0" encoding="utf-8"?>
<p:tagLst xmlns:p="http://schemas.openxmlformats.org/presentationml/2006/main">
  <p:tag name="KSO_WM_DIAGRAM_VIRTUALLY_FRAME" val="{&quot;height&quot;:524,&quot;left&quot;:42,&quot;top&quot;:156,&quot;width&quot;:1198}"/>
</p:tagLst>
</file>

<file path=ppt/tags/tag38.xml><?xml version="1.0" encoding="utf-8"?>
<p:tagLst xmlns:p="http://schemas.openxmlformats.org/presentationml/2006/main">
  <p:tag name="KSO_WM_DIAGRAM_VIRTUALLY_FRAME" val="{&quot;height&quot;:524,&quot;left&quot;:42,&quot;top&quot;:156,&quot;width&quot;:1198}"/>
</p:tagLst>
</file>

<file path=ppt/tags/tag39.xml><?xml version="1.0" encoding="utf-8"?>
<p:tagLst xmlns:p="http://schemas.openxmlformats.org/presentationml/2006/main">
  <p:tag name="KSO_WM_DIAGRAM_VIRTUALLY_FRAME" val="{&quot;height&quot;:528.9381889763779,&quot;left&quot;:35,&quot;top&quot;:136.45,&quot;width&quot;:1211.7}"/>
</p:tagLst>
</file>

<file path=ppt/tags/tag40.xml><?xml version="1.0" encoding="utf-8"?>
<p:tagLst xmlns:p="http://schemas.openxmlformats.org/presentationml/2006/main">
  <p:tag name="KSO_WM_DIAGRAM_VIRTUALLY_FRAME" val="{&quot;height&quot;:528.9381889763779,&quot;left&quot;:33.35,&quot;top&quot;:136.45,&quot;width&quot;:1213.35}"/>
</p:tagLst>
</file>

<file path=ppt/tags/tag41.xml><?xml version="1.0" encoding="utf-8"?>
<p:tagLst xmlns:p="http://schemas.openxmlformats.org/presentationml/2006/main">
  <p:tag name="KSO_WM_DIAGRAM_VIRTUALLY_FRAME" val="{&quot;height&quot;:528.9381889763779,&quot;left&quot;:33.35,&quot;top&quot;:136.45,&quot;width&quot;:1213.35}"/>
</p:tagLst>
</file>

<file path=ppt/tags/tag42.xml><?xml version="1.0" encoding="utf-8"?>
<p:tagLst xmlns:p="http://schemas.openxmlformats.org/presentationml/2006/main">
  <p:tag name="KSO_WM_DIAGRAM_VIRTUALLY_FRAME" val="{&quot;height&quot;:528.9381889763779,&quot;left&quot;:33.35,&quot;top&quot;:136.45,&quot;width&quot;:1213.35}"/>
</p:tagLst>
</file>

<file path=ppt/tags/tag43.xml><?xml version="1.0" encoding="utf-8"?>
<p:tagLst xmlns:p="http://schemas.openxmlformats.org/presentationml/2006/main">
  <p:tag name="KSO_WM_DIAGRAM_VIRTUALLY_FRAME" val="{&quot;height&quot;:528.9381889763779,&quot;left&quot;:33.35,&quot;top&quot;:136.45,&quot;width&quot;:1213.35}"/>
</p:tagLst>
</file>

<file path=ppt/tags/tag44.xml><?xml version="1.0" encoding="utf-8"?>
<p:tagLst xmlns:p="http://schemas.openxmlformats.org/presentationml/2006/main">
  <p:tag name="KSO_WM_DIAGRAM_VIRTUALLY_FRAME" val="{&quot;height&quot;:528.9381889763779,&quot;left&quot;:33.35,&quot;top&quot;:136.45,&quot;width&quot;:1213.35}"/>
</p:tagLst>
</file>

<file path=ppt/tags/tag45.xml><?xml version="1.0" encoding="utf-8"?>
<p:tagLst xmlns:p="http://schemas.openxmlformats.org/presentationml/2006/main">
  <p:tag name="KSO_WM_DIAGRAM_VIRTUALLY_FRAME" val="{&quot;height&quot;:528.9381889763779,&quot;left&quot;:33.35,&quot;top&quot;:136.45,&quot;width&quot;:1213.35}"/>
</p:tagLst>
</file>

<file path=ppt/tags/tag46.xml><?xml version="1.0" encoding="utf-8"?>
<p:tagLst xmlns:p="http://schemas.openxmlformats.org/presentationml/2006/main">
  <p:tag name="KSO_WM_DIAGRAM_VIRTUALLY_FRAME" val="{&quot;height&quot;:528.9381889763779,&quot;left&quot;:35,&quot;top&quot;:136.45,&quot;width&quot;:1211.7}"/>
</p:tagLst>
</file>

<file path=ppt/tags/tag47.xml><?xml version="1.0" encoding="utf-8"?>
<p:tagLst xmlns:p="http://schemas.openxmlformats.org/presentationml/2006/main">
  <p:tag name="KSO_WM_DIAGRAM_VIRTUALLY_FRAME" val="{&quot;height&quot;:528.9381889763779,&quot;left&quot;:33.35,&quot;top&quot;:136.45,&quot;width&quot;:1213.35}"/>
</p:tagLst>
</file>

<file path=ppt/tags/tag48.xml><?xml version="1.0" encoding="utf-8"?>
<p:tagLst xmlns:p="http://schemas.openxmlformats.org/presentationml/2006/main">
  <p:tag name="KSO_WM_DIAGRAM_VIRTUALLY_FRAME" val="{&quot;height&quot;:528.9381889763779,&quot;left&quot;:33.35,&quot;top&quot;:136.45,&quot;width&quot;:1213.35}"/>
</p:tagLst>
</file>

<file path=ppt/tags/tag49.xml><?xml version="1.0" encoding="utf-8"?>
<p:tagLst xmlns:p="http://schemas.openxmlformats.org/presentationml/2006/main">
  <p:tag name="KSO_WM_DIAGRAM_VIRTUALLY_FRAME" val="{&quot;height&quot;:528.9381889763779,&quot;left&quot;:33.35,&quot;top&quot;:136.45,&quot;width&quot;:1213.35}"/>
</p:tagLst>
</file>

<file path=ppt/tags/tag50.xml><?xml version="1.0" encoding="utf-8"?>
<p:tagLst xmlns:p="http://schemas.openxmlformats.org/presentationml/2006/main">
  <p:tag name="KSO_WM_DIAGRAM_VIRTUALLY_FRAME" val="{&quot;height&quot;:528.9381889763779,&quot;left&quot;:33.35,&quot;top&quot;:136.45,&quot;width&quot;:1213.35}"/>
</p:tagLst>
</file>

<file path=ppt/tags/tag51.xml><?xml version="1.0" encoding="utf-8"?>
<p:tagLst xmlns:p="http://schemas.openxmlformats.org/presentationml/2006/main">
  <p:tag name="KSO_WM_DIAGRAM_VIRTUALLY_FRAME" val="{&quot;height&quot;:528.9381889763779,&quot;left&quot;:33.35,&quot;top&quot;:136.45,&quot;width&quot;:1213.35}"/>
</p:tagLst>
</file>

<file path=ppt/tags/tag52.xml><?xml version="1.0" encoding="utf-8"?>
<p:tagLst xmlns:p="http://schemas.openxmlformats.org/presentationml/2006/main">
  <p:tag name="KSO_WM_DIAGRAM_VIRTUALLY_FRAME" val="{&quot;height&quot;:528.9381889763779,&quot;left&quot;:33.35,&quot;top&quot;:136.45,&quot;width&quot;:1213.35}"/>
</p:tagLst>
</file>

<file path=ppt/tags/tag53.xml><?xml version="1.0" encoding="utf-8"?>
<p:tagLst xmlns:p="http://schemas.openxmlformats.org/presentationml/2006/main">
  <p:tag name="KSO_WM_DIAGRAM_VIRTUALLY_FRAME" val="{&quot;height&quot;:528.9381889763779,&quot;left&quot;:35,&quot;top&quot;:136.45,&quot;width&quot;:1211.7}"/>
</p:tagLst>
</file>

<file path=ppt/tags/tag54.xml><?xml version="1.0" encoding="utf-8"?>
<p:tagLst xmlns:p="http://schemas.openxmlformats.org/presentationml/2006/main">
  <p:tag name="KSO_WM_DIAGRAM_VIRTUALLY_FRAME" val="{&quot;height&quot;:528.9381889763779,&quot;left&quot;:33.35,&quot;top&quot;:136.45,&quot;width&quot;:1213.35}"/>
</p:tagLst>
</file>

<file path=ppt/tags/tag55.xml><?xml version="1.0" encoding="utf-8"?>
<p:tagLst xmlns:p="http://schemas.openxmlformats.org/presentationml/2006/main">
  <p:tag name="KSO_WM_DIAGRAM_VIRTUALLY_FRAME" val="{&quot;height&quot;:528.9381889763779,&quot;left&quot;:33.35,&quot;top&quot;:136.45,&quot;width&quot;:1213.35}"/>
</p:tagLst>
</file>

<file path=ppt/tags/tag56.xml><?xml version="1.0" encoding="utf-8"?>
<p:tagLst xmlns:p="http://schemas.openxmlformats.org/presentationml/2006/main">
  <p:tag name="KSO_WM_DIAGRAM_VIRTUALLY_FRAME" val="{&quot;height&quot;:528.9381889763779,&quot;left&quot;:33.35,&quot;top&quot;:136.45,&quot;width&quot;:1213.35}"/>
</p:tagLst>
</file>

<file path=ppt/tags/tag57.xml><?xml version="1.0" encoding="utf-8"?>
<p:tagLst xmlns:p="http://schemas.openxmlformats.org/presentationml/2006/main">
  <p:tag name="KSO_WM_DIAGRAM_VIRTUALLY_FRAME" val="{&quot;height&quot;:528.9381889763779,&quot;left&quot;:33.35,&quot;top&quot;:136.45,&quot;width&quot;:1213.35}"/>
</p:tagLst>
</file>

<file path=ppt/tags/tag58.xml><?xml version="1.0" encoding="utf-8"?>
<p:tagLst xmlns:p="http://schemas.openxmlformats.org/presentationml/2006/main">
  <p:tag name="KSO_WM_DIAGRAM_VIRTUALLY_FRAME" val="{&quot;height&quot;:528.9381889763779,&quot;left&quot;:33.35,&quot;top&quot;:136.45,&quot;width&quot;:1213.35}"/>
</p:tagLst>
</file>

<file path=ppt/tags/tag59.xml><?xml version="1.0" encoding="utf-8"?>
<p:tagLst xmlns:p="http://schemas.openxmlformats.org/presentationml/2006/main">
  <p:tag name="KSO_WM_DIAGRAM_VIRTUALLY_FRAME" val="{&quot;height&quot;:528.9381889763779,&quot;left&quot;:33.35,&quot;top&quot;:136.45,&quot;width&quot;:1213.35}"/>
</p:tagLst>
</file>

<file path=ppt/tags/tag60.xml><?xml version="1.0" encoding="utf-8"?>
<p:tagLst xmlns:p="http://schemas.openxmlformats.org/presentationml/2006/main">
  <p:tag name="KSO_WM_DIAGRAM_VIRTUALLY_FRAME" val="{&quot;height&quot;:528.9381889763779,&quot;left&quot;:35,&quot;top&quot;:136.45,&quot;width&quot;:1211.7}"/>
</p:tagLst>
</file>

<file path=ppt/tags/tag61.xml><?xml version="1.0" encoding="utf-8"?>
<p:tagLst xmlns:p="http://schemas.openxmlformats.org/presentationml/2006/main">
  <p:tag name="KSO_WM_DIAGRAM_VIRTUALLY_FRAME" val="{&quot;height&quot;:528.9381889763779,&quot;left&quot;:33.35,&quot;top&quot;:136.45,&quot;width&quot;:1213.35}"/>
</p:tagLst>
</file>

<file path=ppt/tags/tag62.xml><?xml version="1.0" encoding="utf-8"?>
<p:tagLst xmlns:p="http://schemas.openxmlformats.org/presentationml/2006/main">
  <p:tag name="KSO_WM_DIAGRAM_VIRTUALLY_FRAME" val="{&quot;height&quot;:528.9381889763779,&quot;left&quot;:33.35,&quot;top&quot;:136.45,&quot;width&quot;:1213.35}"/>
</p:tagLst>
</file>

<file path=ppt/tags/tag63.xml><?xml version="1.0" encoding="utf-8"?>
<p:tagLst xmlns:p="http://schemas.openxmlformats.org/presentationml/2006/main">
  <p:tag name="KSO_WM_DIAGRAM_VIRTUALLY_FRAME" val="{&quot;height&quot;:528.9381889763779,&quot;left&quot;:33.35,&quot;top&quot;:136.45,&quot;width&quot;:1213.35}"/>
</p:tagLst>
</file>

<file path=ppt/tags/tag64.xml><?xml version="1.0" encoding="utf-8"?>
<p:tagLst xmlns:p="http://schemas.openxmlformats.org/presentationml/2006/main">
  <p:tag name="KSO_WM_DIAGRAM_VIRTUALLY_FRAME" val="{&quot;height&quot;:528.9381889763779,&quot;left&quot;:33.35,&quot;top&quot;:136.45,&quot;width&quot;:1213.35}"/>
</p:tagLst>
</file>

<file path=ppt/tags/tag65.xml><?xml version="1.0" encoding="utf-8"?>
<p:tagLst xmlns:p="http://schemas.openxmlformats.org/presentationml/2006/main">
  <p:tag name="KSO_WM_DIAGRAM_VIRTUALLY_FRAME" val="{&quot;height&quot;:528.9381889763779,&quot;left&quot;:33.35,&quot;top&quot;:136.45,&quot;width&quot;:1213.35}"/>
</p:tagLst>
</file>

<file path=ppt/tags/tag66.xml><?xml version="1.0" encoding="utf-8"?>
<p:tagLst xmlns:p="http://schemas.openxmlformats.org/presentationml/2006/main">
  <p:tag name="KSO_WM_DIAGRAM_VIRTUALLY_FRAME" val="{&quot;height&quot;:528.9381889763779,&quot;left&quot;:33.35,&quot;top&quot;:136.45,&quot;width&quot;:1213.35}"/>
</p:tagLst>
</file>

<file path=ppt/tags/tag67.xml><?xml version="1.0" encoding="utf-8"?>
<p:tagLst xmlns:p="http://schemas.openxmlformats.org/presentationml/2006/main">
  <p:tag name="KSO_WM_DIAGRAM_VIRTUALLY_FRAME" val="{&quot;height&quot;:528.9381889763779,&quot;left&quot;:35,&quot;top&quot;:136.45,&quot;width&quot;:1211.7}"/>
</p:tagLst>
</file>

<file path=ppt/tags/tag68.xml><?xml version="1.0" encoding="utf-8"?>
<p:tagLst xmlns:p="http://schemas.openxmlformats.org/presentationml/2006/main">
  <p:tag name="KSO_WM_DIAGRAM_VIRTUALLY_FRAME" val="{&quot;height&quot;:528.9381889763779,&quot;left&quot;:33.35,&quot;top&quot;:136.45,&quot;width&quot;:1213.35}"/>
</p:tagLst>
</file>

<file path=ppt/tags/tag69.xml><?xml version="1.0" encoding="utf-8"?>
<p:tagLst xmlns:p="http://schemas.openxmlformats.org/presentationml/2006/main">
  <p:tag name="KSO_WM_DIAGRAM_VIRTUALLY_FRAME" val="{&quot;height&quot;:528.9381889763779,&quot;left&quot;:33.35,&quot;top&quot;:136.45,&quot;width&quot;:1213.35}"/>
</p:tagLst>
</file>

<file path=ppt/tags/tag70.xml><?xml version="1.0" encoding="utf-8"?>
<p:tagLst xmlns:p="http://schemas.openxmlformats.org/presentationml/2006/main">
  <p:tag name="KSO_WM_DIAGRAM_VIRTUALLY_FRAME" val="{&quot;height&quot;:528.9381889763779,&quot;left&quot;:33.35,&quot;top&quot;:136.45,&quot;width&quot;:1213.35}"/>
</p:tagLst>
</file>

<file path=ppt/tags/tag71.xml><?xml version="1.0" encoding="utf-8"?>
<p:tagLst xmlns:p="http://schemas.openxmlformats.org/presentationml/2006/main">
  <p:tag name="KSO_WM_DIAGRAM_VIRTUALLY_FRAME" val="{&quot;height&quot;:528.9381889763779,&quot;left&quot;:33.35,&quot;top&quot;:136.45,&quot;width&quot;:1213.35}"/>
</p:tagLst>
</file>

<file path=ppt/tags/tag72.xml><?xml version="1.0" encoding="utf-8"?>
<p:tagLst xmlns:p="http://schemas.openxmlformats.org/presentationml/2006/main">
  <p:tag name="KSO_WM_DIAGRAM_VIRTUALLY_FRAME" val="{&quot;height&quot;:528.9381889763779,&quot;left&quot;:33.35,&quot;top&quot;:136.45,&quot;width&quot;:1213.35}"/>
</p:tagLst>
</file>

<file path=ppt/tags/tag73.xml><?xml version="1.0" encoding="utf-8"?>
<p:tagLst xmlns:p="http://schemas.openxmlformats.org/presentationml/2006/main">
  <p:tag name="KSO_WM_DIAGRAM_VIRTUALLY_FRAME" val="{&quot;height&quot;:528.9381889763779,&quot;left&quot;:33.35,&quot;top&quot;:136.45,&quot;width&quot;:1213.35}"/>
</p:tagLst>
</file>

<file path=ppt/tags/tag74.xml><?xml version="1.0" encoding="utf-8"?>
<p:tagLst xmlns:p="http://schemas.openxmlformats.org/presentationml/2006/main">
  <p:tag name="KSO_WM_DIAGRAM_VIRTUALLY_FRAME" val="{&quot;height&quot;:611.6333070866142,&quot;left&quot;:61.8,&quot;top&quot;:121.7,&quot;width&quot;:1221.9791381835937}"/>
</p:tagLst>
</file>

<file path=ppt/tags/tag75.xml><?xml version="1.0" encoding="utf-8"?>
<p:tagLst xmlns:p="http://schemas.openxmlformats.org/presentationml/2006/main">
  <p:tag name="KSO_WM_DIAGRAM_VIRTUALLY_FRAME" val="{&quot;height&quot;:611.6333070866142,&quot;left&quot;:61.8,&quot;top&quot;:121.7,&quot;width&quot;:1221.9791381835937}"/>
</p:tagLst>
</file>

<file path=ppt/tags/tag76.xml><?xml version="1.0" encoding="utf-8"?>
<p:tagLst xmlns:p="http://schemas.openxmlformats.org/presentationml/2006/main">
  <p:tag name="KSO_WM_DIAGRAM_VIRTUALLY_FRAME" val="{&quot;height&quot;:611.6333070866142,&quot;left&quot;:61.8,&quot;top&quot;:121.7,&quot;width&quot;:1221.9791381835937}"/>
</p:tagLst>
</file>

<file path=ppt/tags/tag77.xml><?xml version="1.0" encoding="utf-8"?>
<p:tagLst xmlns:p="http://schemas.openxmlformats.org/presentationml/2006/main">
  <p:tag name="KSO_WM_DIAGRAM_VIRTUALLY_FRAME" val="{&quot;height&quot;:611.6333070866142,&quot;left&quot;:61.8,&quot;top&quot;:121.7,&quot;width&quot;:1221.9791381835937}"/>
</p:tagLst>
</file>

<file path=ppt/tags/tag78.xml><?xml version="1.0" encoding="utf-8"?>
<p:tagLst xmlns:p="http://schemas.openxmlformats.org/presentationml/2006/main">
  <p:tag name="KSO_WM_DIAGRAM_VIRTUALLY_FRAME" val="{&quot;height&quot;:611.6333070866142,&quot;left&quot;:61.8,&quot;top&quot;:121.7,&quot;width&quot;:1221.9791381835937}"/>
</p:tagLst>
</file>

<file path=ppt/tags/tag79.xml><?xml version="1.0" encoding="utf-8"?>
<p:tagLst xmlns:p="http://schemas.openxmlformats.org/presentationml/2006/main">
  <p:tag name="KSO_WM_DIAGRAM_VIRTUALLY_FRAME" val="{&quot;height&quot;:611.6333070866142,&quot;left&quot;:61.8,&quot;top&quot;:121.7,&quot;width&quot;:1221.9791381835937}"/>
</p:tagLst>
</file>

<file path=ppt/tags/tag80.xml><?xml version="1.0" encoding="utf-8"?>
<p:tagLst xmlns:p="http://schemas.openxmlformats.org/presentationml/2006/main">
  <p:tag name="KSO_WM_DIAGRAM_VIRTUALLY_FRAME" val="{&quot;height&quot;:611.6333070866142,&quot;left&quot;:61.8,&quot;top&quot;:121.7,&quot;width&quot;:1221.9791381835937}"/>
</p:tagLst>
</file>

<file path=ppt/tags/tag81.xml><?xml version="1.0" encoding="utf-8"?>
<p:tagLst xmlns:p="http://schemas.openxmlformats.org/presentationml/2006/main">
  <p:tag name="KSO_WM_DIAGRAM_VIRTUALLY_FRAME" val="{&quot;height&quot;:611.6333070866142,&quot;left&quot;:61.8,&quot;top&quot;:121.7,&quot;width&quot;:1221.9791381835937}"/>
</p:tagLst>
</file>

<file path=ppt/tags/tag82.xml><?xml version="1.0" encoding="utf-8"?>
<p:tagLst xmlns:p="http://schemas.openxmlformats.org/presentationml/2006/main">
  <p:tag name="KSO_WM_DIAGRAM_VIRTUALLY_FRAME" val="{&quot;height&quot;:611.6333070866142,&quot;left&quot;:61.8,&quot;top&quot;:121.7,&quot;width&quot;:1221.9791381835937}"/>
</p:tagLst>
</file>

<file path=ppt/tags/tag83.xml><?xml version="1.0" encoding="utf-8"?>
<p:tagLst xmlns:p="http://schemas.openxmlformats.org/presentationml/2006/main">
  <p:tag name="KSO_WM_DIAGRAM_VIRTUALLY_FRAME" val="{&quot;height&quot;:611.6333070866142,&quot;left&quot;:61.8,&quot;top&quot;:121.7,&quot;width&quot;:1221.9791381835937}"/>
</p:tagLst>
</file>

<file path=ppt/tags/tag84.xml><?xml version="1.0" encoding="utf-8"?>
<p:tagLst xmlns:p="http://schemas.openxmlformats.org/presentationml/2006/main">
  <p:tag name="KSO_WM_DIAGRAM_VIRTUALLY_FRAME" val="{&quot;height&quot;:611.6333070866142,&quot;left&quot;:61.8,&quot;top&quot;:121.7,&quot;width&quot;:1221.9791381835937}"/>
</p:tagLst>
</file>

<file path=ppt/tags/tag85.xml><?xml version="1.0" encoding="utf-8"?>
<p:tagLst xmlns:p="http://schemas.openxmlformats.org/presentationml/2006/main">
  <p:tag name="KSO_WM_DIAGRAM_VIRTUALLY_FRAME" val="{&quot;height&quot;:611.6333070866142,&quot;left&quot;:61.8,&quot;top&quot;:121.7,&quot;width&quot;:1221.9791381835937}"/>
</p:tagLst>
</file>

<file path=ppt/tags/tag86.xml><?xml version="1.0" encoding="utf-8"?>
<p:tagLst xmlns:p="http://schemas.openxmlformats.org/presentationml/2006/main">
  <p:tag name="KSO_WM_DIAGRAM_VIRTUALLY_FRAME" val="{&quot;height&quot;:611.6333070866142,&quot;left&quot;:61.8,&quot;top&quot;:121.7,&quot;width&quot;:1221.9791381835937}"/>
</p:tagLst>
</file>

<file path=ppt/tags/tag87.xml><?xml version="1.0" encoding="utf-8"?>
<p:tagLst xmlns:p="http://schemas.openxmlformats.org/presentationml/2006/main">
  <p:tag name="KSO_WM_DIAGRAM_VIRTUALLY_FRAME" val="{&quot;height&quot;:611.6333070866142,&quot;left&quot;:61.8,&quot;top&quot;:121.7,&quot;width&quot;:1221.9791381835937}"/>
</p:tagLst>
</file>

<file path=ppt/tags/tag88.xml><?xml version="1.0" encoding="utf-8"?>
<p:tagLst xmlns:p="http://schemas.openxmlformats.org/presentationml/2006/main">
  <p:tag name="KSO_WM_DIAGRAM_VIRTUALLY_FRAME" val="{&quot;height&quot;:611.6333070866142,&quot;left&quot;:61.8,&quot;top&quot;:121.7,&quot;width&quot;:1221.9791381835937}"/>
</p:tagLst>
</file>

<file path=ppt/tags/tag89.xml><?xml version="1.0" encoding="utf-8"?>
<p:tagLst xmlns:p="http://schemas.openxmlformats.org/presentationml/2006/main">
  <p:tag name="KSO_WM_DIAGRAM_VIRTUALLY_FRAME" val="{&quot;height&quot;:611.6333070866142,&quot;left&quot;:61.8,&quot;top&quot;:121.7,&quot;width&quot;:1221.9791381835937}"/>
</p:tagLst>
</file>

<file path=ppt/tags/tag90.xml><?xml version="1.0" encoding="utf-8"?>
<p:tagLst xmlns:p="http://schemas.openxmlformats.org/presentationml/2006/main">
  <p:tag name="KSO_WM_DIAGRAM_VIRTUALLY_FRAME" val="{&quot;height&quot;:611.6333070866142,&quot;left&quot;:61.8,&quot;top&quot;:121.7,&quot;width&quot;:1221.9791381835937}"/>
</p:tagLst>
</file>

<file path=ppt/tags/tag91.xml><?xml version="1.0" encoding="utf-8"?>
<p:tagLst xmlns:p="http://schemas.openxmlformats.org/presentationml/2006/main">
  <p:tag name="KSO_WM_DIAGRAM_VIRTUALLY_FRAME" val="{&quot;height&quot;:611.6333070866142,&quot;left&quot;:61.8,&quot;top&quot;:121.7,&quot;width&quot;:1221.9791381835937}"/>
</p:tagLst>
</file>

<file path=ppt/tags/tag92.xml><?xml version="1.0" encoding="utf-8"?>
<p:tagLst xmlns:p="http://schemas.openxmlformats.org/presentationml/2006/main">
  <p:tag name="KSO_WM_DIAGRAM_VIRTUALLY_FRAME" val="{&quot;height&quot;:611.6333070866142,&quot;left&quot;:61.8,&quot;top&quot;:121.7,&quot;width&quot;:1221.9791381835937}"/>
</p:tagLst>
</file>

<file path=ppt/tags/tag93.xml><?xml version="1.0" encoding="utf-8"?>
<p:tagLst xmlns:p="http://schemas.openxmlformats.org/presentationml/2006/main">
  <p:tag name="KSO_WM_DIAGRAM_VIRTUALLY_FRAME" val="{&quot;height&quot;:611.6333070866142,&quot;left&quot;:61.8,&quot;top&quot;:121.7,&quot;width&quot;:1221.9791381835937}"/>
</p:tagLst>
</file>

<file path=ppt/tags/tag94.xml><?xml version="1.0" encoding="utf-8"?>
<p:tagLst xmlns:p="http://schemas.openxmlformats.org/presentationml/2006/main">
  <p:tag name="KSO_WM_DIAGRAM_VIRTUALLY_FRAME" val="{&quot;height&quot;:611.6333070866142,&quot;left&quot;:61.8,&quot;top&quot;:121.7,&quot;width&quot;:1221.9791381835937}"/>
</p:tagLst>
</file>

<file path=ppt/tags/tag95.xml><?xml version="1.0" encoding="utf-8"?>
<p:tagLst xmlns:p="http://schemas.openxmlformats.org/presentationml/2006/main">
  <p:tag name="KSO_WM_DIAGRAM_VIRTUALLY_FRAME" val="{&quot;height&quot;:611.6333070866142,&quot;left&quot;:61.8,&quot;top&quot;:121.7,&quot;width&quot;:1221.9791381835937}"/>
</p:tagLst>
</file>

<file path=ppt/tags/tag96.xml><?xml version="1.0" encoding="utf-8"?>
<p:tagLst xmlns:p="http://schemas.openxmlformats.org/presentationml/2006/main">
  <p:tag name="KSO_WM_DIAGRAM_VIRTUALLY_FRAME" val="{&quot;height&quot;:611.6333070866142,&quot;left&quot;:61.8,&quot;top&quot;:121.7,&quot;width&quot;:1221.9791381835937}"/>
</p:tagLst>
</file>

<file path=ppt/tags/tag97.xml><?xml version="1.0" encoding="utf-8"?>
<p:tagLst xmlns:p="http://schemas.openxmlformats.org/presentationml/2006/main">
  <p:tag name="KSO_WM_DIAGRAM_VIRTUALLY_FRAME" val="{&quot;height&quot;:611.6333070866142,&quot;left&quot;:61.8,&quot;top&quot;:121.7,&quot;width&quot;:1221.9791381835937}"/>
</p:tagLst>
</file>

<file path=ppt/tags/tag98.xml><?xml version="1.0" encoding="utf-8"?>
<p:tagLst xmlns:p="http://schemas.openxmlformats.org/presentationml/2006/main">
  <p:tag name="KSO_WM_DIAGRAM_VIRTUALLY_FRAME" val="{&quot;height&quot;:611.6333070866142,&quot;left&quot;:61.8,&quot;top&quot;:121.7,&quot;width&quot;:1221.9791381835937}"/>
</p:tagLst>
</file>

<file path=ppt/tags/tag99.xml><?xml version="1.0" encoding="utf-8"?>
<p:tagLst xmlns:p="http://schemas.openxmlformats.org/presentationml/2006/main">
  <p:tag name="KSO_WM_DIAGRAM_VIRTUALLY_FRAME" val="{&quot;height&quot;:611.6333070866142,&quot;left&quot;:61.8,&quot;top&quot;:121.7,&quot;width&quot;:1221.9791381835937}"/>
</p:tagLst>
</file>

<file path=ppt/tags/tag100.xml><?xml version="1.0" encoding="utf-8"?>
<p:tagLst xmlns:p="http://schemas.openxmlformats.org/presentationml/2006/main">
  <p:tag name="KSO_WM_DIAGRAM_VIRTUALLY_FRAME" val="{&quot;height&quot;:611.6333070866142,&quot;left&quot;:61.8,&quot;top&quot;:121.7,&quot;width&quot;:1221.9791381835937}"/>
</p:tagLst>
</file>

<file path=ppt/tags/tag101.xml><?xml version="1.0" encoding="utf-8"?>
<p:tagLst xmlns:p="http://schemas.openxmlformats.org/presentationml/2006/main">
  <p:tag name="KSO_WM_DIAGRAM_VIRTUALLY_FRAME" val="{&quot;height&quot;:611.6333070866142,&quot;left&quot;:61.8,&quot;top&quot;:121.7,&quot;width&quot;:1221.9791381835937}"/>
</p:tagLst>
</file>

<file path=ppt/tags/tag102.xml><?xml version="1.0" encoding="utf-8"?>
<p:tagLst xmlns:p="http://schemas.openxmlformats.org/presentationml/2006/main">
  <p:tag name="KSO_WM_DIAGRAM_VIRTUALLY_FRAME" val="{&quot;height&quot;:611.6333070866142,&quot;left&quot;:61.8,&quot;top&quot;:121.7,&quot;width&quot;:1221.9791381835937}"/>
</p:tagLst>
</file>

<file path=ppt/tags/tag103.xml><?xml version="1.0" encoding="utf-8"?>
<p:tagLst xmlns:p="http://schemas.openxmlformats.org/presentationml/2006/main">
  <p:tag name="KSO_WM_DIAGRAM_VIRTUALLY_FRAME" val="{&quot;height&quot;:611.6333070866142,&quot;left&quot;:61.8,&quot;top&quot;:121.7,&quot;width&quot;:1221.9791381835937}"/>
</p:tagLst>
</file>

<file path=ppt/tags/tag104.xml><?xml version="1.0" encoding="utf-8"?>
<p:tagLst xmlns:p="http://schemas.openxmlformats.org/presentationml/2006/main">
  <p:tag name="KSO_WM_DIAGRAM_VIRTUALLY_FRAME" val="{&quot;height&quot;:611.6333070866142,&quot;left&quot;:61.8,&quot;top&quot;:121.7,&quot;width&quot;:1221.9791381835937}"/>
</p:tagLst>
</file>

<file path=ppt/tags/tag105.xml><?xml version="1.0" encoding="utf-8"?>
<p:tagLst xmlns:p="http://schemas.openxmlformats.org/presentationml/2006/main">
  <p:tag name="KSO_WM_DIAGRAM_VIRTUALLY_FRAME" val="{&quot;height&quot;:611.6333070866142,&quot;left&quot;:61.8,&quot;top&quot;:121.7,&quot;width&quot;:1221.9791381835937}"/>
</p:tagLst>
</file>

<file path=ppt/tags/tag106.xml><?xml version="1.0" encoding="utf-8"?>
<p:tagLst xmlns:p="http://schemas.openxmlformats.org/presentationml/2006/main">
  <p:tag name="KSO_WM_DIAGRAM_VIRTUALLY_FRAME" val="{&quot;height&quot;:611.6333070866142,&quot;left&quot;:61.8,&quot;top&quot;:121.7,&quot;width&quot;:1221.9791381835937}"/>
</p:tagLst>
</file>

<file path=ppt/tags/tag107.xml><?xml version="1.0" encoding="utf-8"?>
<p:tagLst xmlns:p="http://schemas.openxmlformats.org/presentationml/2006/main">
  <p:tag name="KSO_WM_DIAGRAM_VIRTUALLY_FRAME" val="{&quot;height&quot;:611.6333070866142,&quot;left&quot;:61.8,&quot;top&quot;:121.7,&quot;width&quot;:1221.9791381835937}"/>
</p:tagLst>
</file>

<file path=ppt/tags/tag108.xml><?xml version="1.0" encoding="utf-8"?>
<p:tagLst xmlns:p="http://schemas.openxmlformats.org/presentationml/2006/main">
  <p:tag name="KSO_WM_DIAGRAM_VIRTUALLY_FRAME" val="{&quot;height&quot;:611.6333070866142,&quot;left&quot;:61.8,&quot;top&quot;:121.7,&quot;width&quot;:1221.9791381835937}"/>
</p:tagLst>
</file>

<file path=ppt/tags/tag109.xml><?xml version="1.0" encoding="utf-8"?>
<p:tagLst xmlns:p="http://schemas.openxmlformats.org/presentationml/2006/main">
  <p:tag name="KSO_WM_DIAGRAM_VIRTUALLY_FRAME" val="{&quot;height&quot;:611.6333070866142,&quot;left&quot;:61.8,&quot;top&quot;:121.7,&quot;width&quot;:1221.9791381835937}"/>
</p:tagLst>
</file>

<file path=ppt/tags/tag110.xml><?xml version="1.0" encoding="utf-8"?>
<p:tagLst xmlns:p="http://schemas.openxmlformats.org/presentationml/2006/main">
  <p:tag name="KSO_WM_DIAGRAM_VIRTUALLY_FRAME" val="{&quot;height&quot;:611.6333070866142,&quot;left&quot;:61.8,&quot;top&quot;:121.7,&quot;width&quot;:1221.9791381835937}"/>
</p:tagLst>
</file>

<file path=ppt/tags/tag111.xml><?xml version="1.0" encoding="utf-8"?>
<p:tagLst xmlns:p="http://schemas.openxmlformats.org/presentationml/2006/main">
  <p:tag name="KSO_WM_DIAGRAM_VIRTUALLY_FRAME" val="{&quot;height&quot;:611.6333070866142,&quot;left&quot;:61.8,&quot;top&quot;:121.7,&quot;width&quot;:1221.9791381835937}"/>
</p:tagLst>
</file>

<file path=ppt/tags/tag112.xml><?xml version="1.0" encoding="utf-8"?>
<p:tagLst xmlns:p="http://schemas.openxmlformats.org/presentationml/2006/main">
  <p:tag name="KSO_WM_DIAGRAM_VIRTUALLY_FRAME" val="{&quot;height&quot;:611.6333070866142,&quot;left&quot;:61.8,&quot;top&quot;:121.7,&quot;width&quot;:1221.9791381835937}"/>
</p:tagLst>
</file>

<file path=ppt/tags/tag113.xml><?xml version="1.0" encoding="utf-8"?>
<p:tagLst xmlns:p="http://schemas.openxmlformats.org/presentationml/2006/main">
  <p:tag name="KSO_WM_DIAGRAM_VIRTUALLY_FRAME" val="{&quot;height&quot;:611.6333070866142,&quot;left&quot;:61.8,&quot;top&quot;:121.7,&quot;width&quot;:1221.9791381835937}"/>
</p:tagLst>
</file>

<file path=ppt/tags/tag114.xml><?xml version="1.0" encoding="utf-8"?>
<p:tagLst xmlns:p="http://schemas.openxmlformats.org/presentationml/2006/main">
  <p:tag name="KSO_WM_DIAGRAM_VIRTUALLY_FRAME" val="{&quot;height&quot;:611.6333070866142,&quot;left&quot;:61.8,&quot;top&quot;:121.7,&quot;width&quot;:1221.9791381835937}"/>
</p:tagLst>
</file>

<file path=ppt/tags/tag115.xml><?xml version="1.0" encoding="utf-8"?>
<p:tagLst xmlns:p="http://schemas.openxmlformats.org/presentationml/2006/main">
  <p:tag name="KSO_WM_DIAGRAM_VIRTUALLY_FRAME" val="{&quot;height&quot;:611.6333070866142,&quot;left&quot;:61.8,&quot;top&quot;:121.7,&quot;width&quot;:1221.9791381835937}"/>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6253</Words>
  <Application>WPS 演示</Application>
  <PresentationFormat>On-screen Show (16:9)</PresentationFormat>
  <Paragraphs>634</Paragraphs>
  <Slides>14</Slides>
  <Notes>14</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14</vt:i4>
      </vt:variant>
    </vt:vector>
  </HeadingPairs>
  <TitlesOfParts>
    <vt:vector size="28" baseType="lpstr">
      <vt:lpstr>Arial</vt:lpstr>
      <vt:lpstr>宋体</vt:lpstr>
      <vt:lpstr>Wingdings</vt:lpstr>
      <vt:lpstr>MiSans</vt:lpstr>
      <vt:lpstr>MiSans</vt:lpstr>
      <vt:lpstr>阿里妈妈数黑体</vt:lpstr>
      <vt:lpstr>阿里妈妈数黑体</vt:lpstr>
      <vt:lpstr>微软雅黑</vt:lpstr>
      <vt:lpstr>Calibri</vt:lpstr>
      <vt:lpstr>Arial Unicode MS</vt:lpstr>
      <vt:lpstr>等线</vt:lpstr>
      <vt:lpstr>黑体</vt:lpstr>
      <vt:lpstr>Custom Theme</vt:lpstr>
      <vt:lpstr>1_Custom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Python开源项目依赖环境自动还原工具</dc:title>
  <dc:creator>Kimi</dc:creator>
  <dc:subject>Python开源项目依赖环境自动还原工具</dc:subject>
  <cp:lastModifiedBy>郭一心</cp:lastModifiedBy>
  <cp:revision>26</cp:revision>
  <dcterms:created xsi:type="dcterms:W3CDTF">2025-12-29T06:08:00Z</dcterms:created>
  <dcterms:modified xsi:type="dcterms:W3CDTF">2025-12-29T14:50:56Z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Python开源项目依赖环境自动还原工具","ContentProducer":"001191110108MACG2KBH8F10000","ProduceID":"19b68934-6f82-8757-8000-000039279d38","ReservedCode1":"","ContentPropagator":"001191110108MACG2KBH8F20000","PropagateID":"19b68934-6f82-8757-8000-000039279d38","ReservedCode2":""}</vt:lpwstr>
  </property>
  <property fmtid="{D5CDD505-2E9C-101B-9397-08002B2CF9AE}" pid="3" name="KSOProductBuildVer">
    <vt:lpwstr>2052-12.1.0.24034</vt:lpwstr>
  </property>
  <property fmtid="{D5CDD505-2E9C-101B-9397-08002B2CF9AE}" pid="4" name="ICV">
    <vt:lpwstr>BC680E2A59EE41C3A5EE5A6DEA5A5678_12</vt:lpwstr>
  </property>
</Properties>
</file>